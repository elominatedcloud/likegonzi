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구매 이후의 브랜드 경험을 제품별 Storybook으로 이어가는 MCM 디지털 라이프 플랫폼입니다. 제품 정보만 관리하는 것이 아니라, 제품과 함께한 시간과 관리 이력을 하나의 이야기로 연결합니다.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핵심 고객 문제는 두 가지입니다. 구매 이후 브랜드 관계가 끊기고, 제품과 함께한 기억과 관리 이력이 흩어집니다. 데이터와 AI 범위는 고객 문제가 아니라 팀의 구현 제약이므로 별도로 관리했습니다.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Primary persona는 실제 조사 결과가 아니라 이번 프로토타입의 의사결정을 위한 가설입니다. 이 사용자는 가격이 아니라 오래 쓴 시간, 여행, 수선 이력으로 자신의 소비를 정당화합니다.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MCM은 일부 제품에 NFC 기반 Digital Product Passport를 운영하고 있습니다. Storybook은 진품성과 소유권을 증명하는 DPP 위에 사진, 기억, 케어, 수선, 리캡을 연결하는 고객 경험 레이어입니다.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사용자는 제품 태그나 패키지의 QR 또는 NFC에서 시작합니다. 제품을 등록하고 사진을 남기며, 관리와 수선 기록을 축적합니다. 이후 리캡과 소유권 이전까지 같은 제품 페이지에서 이어집니다.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현재 프로토타입에서는 내 제품 아카이브, 제품 상세, 제품별 Storybook을 실제 화면으로 확인할 수 있습니다. 이 장의 이미지는 모두 현재 저장소의 실제 구현 캡처입니다.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차별점은 새로운 기능 하나가 아니라 데이터의 연결 방식입니다. 사진과 추억은 My Memory, 구매와 케어와 수선은 Product History로 쌓고, 제품 고유 ID를 기준으로 하나의 타임라인에 합칩니다. 오른쪽 Care 화면은 구현 캡처가 아니라 Figma 목표 화면입니다.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사진 앱은 추억을, DPP는 정체성을, 수선 서비스는 관리 이력을 각각 다룹니다. Storybook은 이 세 흐름과 소유권 이전을 제품 ID 하나로 묶습니다. 이 표는 정량 시장조사가 아닌 기능 범위의 정성 비교입니다.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사업모델은 브랜드 도입형 B2B2C입니다. 핵심 파트너와 자원을 바탕으로 Storybook을 운영하고, 브랜드 SaaS와 구축비를 중심으로 시작해 AI 프리미엄, Care, 소유권 이전으로 수익원을 확장합니다.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핵심 고객은 MCM 제품을 오래 사용하고 기억과 관리 이력을 함께 남기고 싶은 25-35세 경험 중심 소비자입니다. 유통은 별도 앱 마케팅보다 매장, 제품 태그, 공식 온라인, Care 서비스, SNS 공유라는 기존 접점을 활용합니다.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초기에는 브랜드별 UI, 제품 DB, DPP 연동에 대한 구축비와 SaaS 구독이 중심입니다. 이후 검증된 사용 패턴을 기반으로 AI 콘텐츠, Care 연결, Resale과 소유권 이전 수수료를 확장합니다. 현재는 실제 원가와 파일럿 범위가 없으므로 가격을 제시하지 않습니다.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현재 동작하는 기능과 데모 데이터, 다음 연동 범위를 명확히 나눴습니다. 특히 Vision AI 손상 판정은 구현되어 있지 않으며, 현재 카메라는 사진 촬영과 기록 작성에 집중합니다.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파일럿은 한 제품 라인, 한 진입점, 한 Golden Path로 작게 시작합니다. DPP와 제품 ID를 연결하고 Storybook을 활성화한 뒤, 활성화율과 첫 기록, 재방문, Care 전환, 공유 행동을 측정합니다.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Storybook은 MCM의 기존 DPP 자산 위에 기억과 관리 데이터를 연결하는 제안입니다. 다음 단계로 DPP와 제품 데이터 샌드박스, Care 운영 데이터, 단일 제품 라인 파일럿 협업을 요청드립니다.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2" Type="http://schemas.openxmlformats.org/officeDocument/2006/relationships/hyperlink" Target="https://kr.mcmworldwide.com/ko_KR/digital-passport" TargetMode="External"/><Relationship Id="rId3" Type="http://schemas.openxmlformats.org/officeDocument/2006/relationships/hyperlink" Target="https://auraconsortium.com/use-cases/mcm-joins-aura-blockchain-consortium-launching-inaugural-dpp" TargetMode="External"/><Relationship Id="rId1" Type="http://schemas.openxmlformats.org/officeDocument/2006/relationships/image" Target="../media/image-14-1.png"/><Relationship Id="rId4" Type="http://schemas.openxmlformats.org/officeDocument/2006/relationships/slideLayout" Target="../slideLayouts/slideLayout1.xml"/><Relationship Id="rId5"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C1917"/>
        </a:solidFill>
      </p:bgPr>
    </p:bg>
    <p:spTree>
      <p:nvGrpSpPr>
        <p:cNvPr id="1" name=""/>
        <p:cNvGrpSpPr/>
        <p:nvPr/>
      </p:nvGrpSpPr>
      <p:grpSpPr>
        <a:xfrm>
          <a:off x="0" y="0"/>
          <a:ext cx="0" cy="0"/>
          <a:chOff x="0" y="0"/>
          <a:chExt cx="0" cy="0"/>
        </a:xfrm>
      </p:grpSpPr>
      <p:pic>
        <p:nvPicPr>
          <p:cNvPr id="2" name="Image 0" descr="/Users/home/Desktop/likeGonzi/public/camera/record-stark.png">    </p:cNvPr>
          <p:cNvPicPr>
            <a:picLocks noChangeAspect="1"/>
          </p:cNvPicPr>
          <p:nvPr/>
        </p:nvPicPr>
        <p:blipFill>
          <a:blip r:embed="rId1"/>
          <a:srcRect l="0" r="0" t="0" b="0"/>
          <a:stretch/>
        </p:blipFill>
        <p:spPr>
          <a:xfrm>
            <a:off x="5852160" y="0"/>
            <a:ext cx="6336792" cy="6858000"/>
          </a:xfrm>
          <a:prstGeom prst="rect">
            <a:avLst/>
          </a:prstGeom>
        </p:spPr>
      </p:pic>
      <p:sp>
        <p:nvSpPr>
          <p:cNvPr id="3" name="Shape 0"/>
          <p:cNvSpPr/>
          <p:nvPr/>
        </p:nvSpPr>
        <p:spPr>
          <a:xfrm>
            <a:off x="0" y="0"/>
            <a:ext cx="12191695" cy="6858000"/>
          </a:xfrm>
          <a:prstGeom prst="rect">
            <a:avLst/>
          </a:prstGeom>
          <a:solidFill>
            <a:srgbClr val="1C1917">
              <a:alpha val="80000"/>
            </a:srgbClr>
          </a:solidFill>
          <a:ln w="12700">
            <a:solidFill>
              <a:srgbClr val="333333">
                <a:alpha val="0"/>
              </a:srgbClr>
            </a:solidFill>
            <a:prstDash val="solid"/>
          </a:ln>
        </p:spPr>
      </p:sp>
      <p:sp>
        <p:nvSpPr>
          <p:cNvPr id="4" name="Shape 1"/>
          <p:cNvSpPr/>
          <p:nvPr/>
        </p:nvSpPr>
        <p:spPr>
          <a:xfrm>
            <a:off x="0" y="0"/>
            <a:ext cx="6766560" cy="6858000"/>
          </a:xfrm>
          <a:prstGeom prst="rect">
            <a:avLst/>
          </a:prstGeom>
          <a:solidFill>
            <a:srgbClr val="1C1917">
              <a:alpha val="98000"/>
            </a:srgbClr>
          </a:solidFill>
          <a:ln w="12700">
            <a:solidFill>
              <a:srgbClr val="333333">
                <a:alpha val="0"/>
              </a:srgbClr>
            </a:solidFill>
            <a:prstDash val="solid"/>
          </a:ln>
        </p:spPr>
      </p:sp>
      <p:sp>
        <p:nvSpPr>
          <p:cNvPr id="5" name="Shape 2"/>
          <p:cNvSpPr/>
          <p:nvPr/>
        </p:nvSpPr>
        <p:spPr>
          <a:xfrm>
            <a:off x="5669280" y="0"/>
            <a:ext cx="2011680" cy="6858000"/>
          </a:xfrm>
          <a:prstGeom prst="rect">
            <a:avLst/>
          </a:prstGeom>
          <a:solidFill>
            <a:srgbClr val="1C1917">
              <a:alpha val="66000"/>
            </a:srgbClr>
          </a:solidFill>
          <a:ln w="12700">
            <a:solidFill>
              <a:srgbClr val="333333">
                <a:alpha val="0"/>
              </a:srgbClr>
            </a:solidFill>
            <a:prstDash val="solid"/>
          </a:ln>
        </p:spPr>
      </p:sp>
      <p:pic>
        <p:nvPicPr>
          <p:cNvPr id="6" name="Image 1" descr="/Users/home/Desktop/likeGonzi/public/camera/mcm-logo.png">    </p:cNvPr>
          <p:cNvPicPr>
            <a:picLocks noChangeAspect="1"/>
          </p:cNvPicPr>
          <p:nvPr/>
        </p:nvPicPr>
        <p:blipFill>
          <a:blip r:embed="rId2"/>
          <a:stretch>
            <a:fillRect/>
          </a:stretch>
        </p:blipFill>
        <p:spPr>
          <a:xfrm>
            <a:off x="658368" y="530352"/>
            <a:ext cx="502920" cy="384048"/>
          </a:xfrm>
          <a:prstGeom prst="rect">
            <a:avLst/>
          </a:prstGeom>
        </p:spPr>
      </p:pic>
      <p:sp>
        <p:nvSpPr>
          <p:cNvPr id="7" name="Text 3"/>
          <p:cNvSpPr/>
          <p:nvPr/>
        </p:nvSpPr>
        <p:spPr>
          <a:xfrm>
            <a:off x="1325880" y="603504"/>
            <a:ext cx="3474720" cy="228600"/>
          </a:xfrm>
          <a:prstGeom prst="rect">
            <a:avLst/>
          </a:prstGeom>
          <a:noFill/>
          <a:ln/>
        </p:spPr>
        <p:txBody>
          <a:bodyPr wrap="square" lIns="0" tIns="0" rIns="0" bIns="0" rtlCol="0" anchor="ctr">
            <a:normAutofit/>
          </a:bodyPr>
          <a:lstStyle/>
          <a:p>
            <a:pPr indent="0" marL="0">
              <a:buNone/>
            </a:pPr>
            <a:r>
              <a:rPr lang="en-US" sz="1000" spc="240" kern="0" dirty="0">
                <a:solidFill>
                  <a:srgbClr val="FFFFFF"/>
                </a:solidFill>
                <a:latin typeface="Apple SD Gothic Neo" pitchFamily="34" charset="0"/>
                <a:ea typeface="Apple SD Gothic Neo" pitchFamily="34" charset="-122"/>
                <a:cs typeface="Apple SD Gothic Neo" pitchFamily="34" charset="-120"/>
              </a:rPr>
              <a:t>MCM · STORYBOOK</a:t>
            </a:r>
            <a:endParaRPr lang="en-US" sz="1000" dirty="0"/>
          </a:p>
        </p:txBody>
      </p:sp>
      <p:sp>
        <p:nvSpPr>
          <p:cNvPr id="8" name="Text 4"/>
          <p:cNvSpPr/>
          <p:nvPr/>
        </p:nvSpPr>
        <p:spPr>
          <a:xfrm>
            <a:off x="713232" y="1847088"/>
            <a:ext cx="5577840" cy="1298448"/>
          </a:xfrm>
          <a:prstGeom prst="rect">
            <a:avLst/>
          </a:prstGeom>
          <a:noFill/>
          <a:ln/>
        </p:spPr>
        <p:txBody>
          <a:bodyPr wrap="square" lIns="0" tIns="0" rIns="0" bIns="0" rtlCol="0" anchor="t">
            <a:normAutofit/>
          </a:bodyPr>
          <a:lstStyle/>
          <a:p>
            <a:pPr indent="0" marL="0">
              <a:lnSpc>
                <a:spcPct val="88000"/>
              </a:lnSpc>
              <a:buNone/>
            </a:pPr>
            <a:r>
              <a:rPr lang="en-US" sz="3000" b="1" dirty="0">
                <a:solidFill>
                  <a:srgbClr val="FFFFFF"/>
                </a:solidFill>
                <a:latin typeface="Apple SD Gothic Neo" pitchFamily="34" charset="0"/>
                <a:ea typeface="Apple SD Gothic Neo" pitchFamily="34" charset="-122"/>
                <a:cs typeface="Apple SD Gothic Neo" pitchFamily="34" charset="-120"/>
              </a:rPr>
              <a:t>제품의 이력을 넘어,</a:t>
            </a:r>
            <a:endParaRPr lang="en-US" sz="3000" dirty="0"/>
          </a:p>
          <a:p>
            <a:pPr indent="0" marL="0">
              <a:lnSpc>
                <a:spcPct val="88000"/>
              </a:lnSpc>
              <a:buNone/>
            </a:pPr>
            <a:r>
              <a:rPr lang="en-US" sz="3000" b="1" dirty="0">
                <a:solidFill>
                  <a:srgbClr val="FFFFFF"/>
                </a:solidFill>
                <a:latin typeface="Apple SD Gothic Neo" pitchFamily="34" charset="0"/>
                <a:ea typeface="Apple SD Gothic Neo" pitchFamily="34" charset="-122"/>
                <a:cs typeface="Apple SD Gothic Neo" pitchFamily="34" charset="-120"/>
              </a:rPr>
              <a:t>제품과 함께한 삶까지</a:t>
            </a:r>
            <a:endParaRPr lang="en-US" sz="3000" dirty="0"/>
          </a:p>
        </p:txBody>
      </p:sp>
      <p:sp>
        <p:nvSpPr>
          <p:cNvPr id="9" name="Text 5"/>
          <p:cNvSpPr/>
          <p:nvPr/>
        </p:nvSpPr>
        <p:spPr>
          <a:xfrm>
            <a:off x="731520" y="3337560"/>
            <a:ext cx="4389120" cy="310896"/>
          </a:xfrm>
          <a:prstGeom prst="rect">
            <a:avLst/>
          </a:prstGeom>
          <a:noFill/>
          <a:ln/>
        </p:spPr>
        <p:txBody>
          <a:bodyPr wrap="square" lIns="0" tIns="0" rIns="0" bIns="0" rtlCol="0" anchor="ctr">
            <a:normAutofit/>
          </a:bodyPr>
          <a:lstStyle/>
          <a:p>
            <a:pPr indent="0" marL="0">
              <a:buNone/>
            </a:pPr>
            <a:r>
              <a:rPr lang="en-US" sz="1600" b="1" dirty="0">
                <a:solidFill>
                  <a:srgbClr val="C9945A"/>
                </a:solidFill>
                <a:latin typeface="Apple SD Gothic Neo" pitchFamily="34" charset="0"/>
                <a:ea typeface="Apple SD Gothic Neo" pitchFamily="34" charset="-122"/>
                <a:cs typeface="Apple SD Gothic Neo" pitchFamily="34" charset="-120"/>
              </a:rPr>
              <a:t>MCM 디지털 라이프 플랫폼</a:t>
            </a:r>
            <a:endParaRPr lang="en-US" sz="1600" dirty="0"/>
          </a:p>
        </p:txBody>
      </p:sp>
      <p:sp>
        <p:nvSpPr>
          <p:cNvPr id="10" name="Text 6"/>
          <p:cNvSpPr/>
          <p:nvPr/>
        </p:nvSpPr>
        <p:spPr>
          <a:xfrm>
            <a:off x="731520" y="3840480"/>
            <a:ext cx="4892040" cy="621792"/>
          </a:xfrm>
          <a:prstGeom prst="rect">
            <a:avLst/>
          </a:prstGeom>
          <a:noFill/>
          <a:ln/>
        </p:spPr>
        <p:txBody>
          <a:bodyPr wrap="square" lIns="0" tIns="0" rIns="0" bIns="0" rtlCol="0" anchor="t">
            <a:normAutofit/>
          </a:bodyPr>
          <a:lstStyle/>
          <a:p>
            <a:pPr indent="0" marL="0">
              <a:buNone/>
            </a:pPr>
            <a:r>
              <a:rPr lang="en-US" sz="1150" dirty="0">
                <a:solidFill>
                  <a:srgbClr val="B7ADA4"/>
                </a:solidFill>
                <a:latin typeface="Apple SD Gothic Neo" pitchFamily="34" charset="0"/>
                <a:ea typeface="Apple SD Gothic Neo" pitchFamily="34" charset="-122"/>
                <a:cs typeface="Apple SD Gothic Neo" pitchFamily="34" charset="-120"/>
              </a:rPr>
              <a:t>Digital Product Passport 위에 Story · Care · Ownership을 연결하는 반응형 웹 프로토타입</a:t>
            </a:r>
            <a:endParaRPr lang="en-US" sz="1150" dirty="0"/>
          </a:p>
        </p:txBody>
      </p:sp>
      <p:sp>
        <p:nvSpPr>
          <p:cNvPr id="11" name="Text 7"/>
          <p:cNvSpPr/>
          <p:nvPr/>
        </p:nvSpPr>
        <p:spPr>
          <a:xfrm>
            <a:off x="731520" y="6089904"/>
            <a:ext cx="3474720" cy="228600"/>
          </a:xfrm>
          <a:prstGeom prst="rect">
            <a:avLst/>
          </a:prstGeom>
          <a:noFill/>
          <a:ln/>
        </p:spPr>
        <p:txBody>
          <a:bodyPr wrap="square" lIns="0" tIns="0" rIns="0" bIns="0" rtlCol="0" anchor="ctr">
            <a:normAutofit/>
          </a:bodyPr>
          <a:lstStyle/>
          <a:p>
            <a:pPr indent="0" marL="0">
              <a:buNone/>
            </a:pPr>
            <a:r>
              <a:rPr lang="en-US" sz="900" spc="170" kern="0" dirty="0">
                <a:solidFill>
                  <a:srgbClr val="B7ADA4"/>
                </a:solidFill>
                <a:latin typeface="Apple SD Gothic Neo" pitchFamily="34" charset="0"/>
                <a:ea typeface="Apple SD Gothic Neo" pitchFamily="34" charset="-122"/>
                <a:cs typeface="Apple SD Gothic Neo" pitchFamily="34" charset="-120"/>
              </a:rPr>
              <a:t>PROTOTYPE IR  ·  2026.08</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C1917"/>
        </a:solidFill>
      </p:bgPr>
    </p:bg>
    <p:spTree>
      <p:nvGrpSpPr>
        <p:cNvPr id="1" name=""/>
        <p:cNvGrpSpPr/>
        <p:nvPr/>
      </p:nvGrpSpPr>
      <p:grpSpPr>
        <a:xfrm>
          <a:off x="0" y="0"/>
          <a:ext cx="0" cy="0"/>
          <a:chOff x="0" y="0"/>
          <a:chExt cx="0" cy="0"/>
        </a:xfrm>
      </p:grpSpPr>
      <p:sp>
        <p:nvSpPr>
          <p:cNvPr id="2" name="Shape 0"/>
          <p:cNvSpPr/>
          <p:nvPr/>
        </p:nvSpPr>
        <p:spPr>
          <a:xfrm rot="2700000">
            <a:off x="8046720" y="411480"/>
            <a:ext cx="109728" cy="109728"/>
          </a:xfrm>
          <a:prstGeom prst="rect">
            <a:avLst/>
          </a:prstGeom>
          <a:solidFill>
            <a:srgbClr val="C9945A">
              <a:alpha val="18000"/>
            </a:srgbClr>
          </a:solidFill>
          <a:ln w="6350">
            <a:solidFill>
              <a:srgbClr val="C9945A">
                <a:alpha val="10000"/>
              </a:srgbClr>
            </a:solidFill>
            <a:prstDash val="solid"/>
          </a:ln>
        </p:spPr>
      </p:sp>
      <p:sp>
        <p:nvSpPr>
          <p:cNvPr id="3" name="Shape 1"/>
          <p:cNvSpPr/>
          <p:nvPr/>
        </p:nvSpPr>
        <p:spPr>
          <a:xfrm rot="2700000">
            <a:off x="8641080" y="411480"/>
            <a:ext cx="109728" cy="109728"/>
          </a:xfrm>
          <a:prstGeom prst="rect">
            <a:avLst/>
          </a:prstGeom>
          <a:solidFill>
            <a:srgbClr val="C9945A">
              <a:alpha val="18000"/>
            </a:srgbClr>
          </a:solidFill>
          <a:ln w="6350">
            <a:solidFill>
              <a:srgbClr val="C9945A">
                <a:alpha val="10000"/>
              </a:srgbClr>
            </a:solidFill>
            <a:prstDash val="solid"/>
          </a:ln>
        </p:spPr>
      </p:sp>
      <p:sp>
        <p:nvSpPr>
          <p:cNvPr id="4" name="Shape 2"/>
          <p:cNvSpPr/>
          <p:nvPr/>
        </p:nvSpPr>
        <p:spPr>
          <a:xfrm rot="2700000">
            <a:off x="9235440" y="411480"/>
            <a:ext cx="109728" cy="109728"/>
          </a:xfrm>
          <a:prstGeom prst="rect">
            <a:avLst/>
          </a:prstGeom>
          <a:solidFill>
            <a:srgbClr val="C9945A">
              <a:alpha val="18000"/>
            </a:srgbClr>
          </a:solidFill>
          <a:ln w="6350">
            <a:solidFill>
              <a:srgbClr val="C9945A">
                <a:alpha val="10000"/>
              </a:srgbClr>
            </a:solidFill>
            <a:prstDash val="solid"/>
          </a:ln>
        </p:spPr>
      </p:sp>
      <p:sp>
        <p:nvSpPr>
          <p:cNvPr id="5" name="Shape 3"/>
          <p:cNvSpPr/>
          <p:nvPr/>
        </p:nvSpPr>
        <p:spPr>
          <a:xfrm rot="2700000">
            <a:off x="9829800" y="411480"/>
            <a:ext cx="109728" cy="109728"/>
          </a:xfrm>
          <a:prstGeom prst="rect">
            <a:avLst/>
          </a:prstGeom>
          <a:solidFill>
            <a:srgbClr val="C9945A">
              <a:alpha val="18000"/>
            </a:srgbClr>
          </a:solidFill>
          <a:ln w="6350">
            <a:solidFill>
              <a:srgbClr val="C9945A">
                <a:alpha val="10000"/>
              </a:srgbClr>
            </a:solidFill>
            <a:prstDash val="solid"/>
          </a:ln>
        </p:spPr>
      </p:sp>
      <p:sp>
        <p:nvSpPr>
          <p:cNvPr id="6" name="Shape 4"/>
          <p:cNvSpPr/>
          <p:nvPr/>
        </p:nvSpPr>
        <p:spPr>
          <a:xfrm rot="2700000">
            <a:off x="10424160" y="411480"/>
            <a:ext cx="109728" cy="109728"/>
          </a:xfrm>
          <a:prstGeom prst="rect">
            <a:avLst/>
          </a:prstGeom>
          <a:solidFill>
            <a:srgbClr val="C9945A">
              <a:alpha val="18000"/>
            </a:srgbClr>
          </a:solidFill>
          <a:ln w="6350">
            <a:solidFill>
              <a:srgbClr val="C9945A">
                <a:alpha val="10000"/>
              </a:srgbClr>
            </a:solidFill>
            <a:prstDash val="solid"/>
          </a:ln>
        </p:spPr>
      </p:sp>
      <p:sp>
        <p:nvSpPr>
          <p:cNvPr id="7" name="Shape 5"/>
          <p:cNvSpPr/>
          <p:nvPr/>
        </p:nvSpPr>
        <p:spPr>
          <a:xfrm rot="2700000">
            <a:off x="11018520" y="411480"/>
            <a:ext cx="109728" cy="109728"/>
          </a:xfrm>
          <a:prstGeom prst="rect">
            <a:avLst/>
          </a:prstGeom>
          <a:solidFill>
            <a:srgbClr val="C9945A">
              <a:alpha val="18000"/>
            </a:srgbClr>
          </a:solidFill>
          <a:ln w="6350">
            <a:solidFill>
              <a:srgbClr val="C9945A">
                <a:alpha val="10000"/>
              </a:srgbClr>
            </a:solidFill>
            <a:prstDash val="solid"/>
          </a:ln>
        </p:spPr>
      </p:sp>
      <p:sp>
        <p:nvSpPr>
          <p:cNvPr id="8" name="Shape 6"/>
          <p:cNvSpPr/>
          <p:nvPr/>
        </p:nvSpPr>
        <p:spPr>
          <a:xfrm rot="2700000">
            <a:off x="11612880" y="411480"/>
            <a:ext cx="109728" cy="109728"/>
          </a:xfrm>
          <a:prstGeom prst="rect">
            <a:avLst/>
          </a:prstGeom>
          <a:solidFill>
            <a:srgbClr val="C9945A">
              <a:alpha val="18000"/>
            </a:srgbClr>
          </a:solidFill>
          <a:ln w="6350">
            <a:solidFill>
              <a:srgbClr val="C9945A">
                <a:alpha val="10000"/>
              </a:srgbClr>
            </a:solidFill>
            <a:prstDash val="solid"/>
          </a:ln>
        </p:spPr>
      </p:sp>
      <p:sp>
        <p:nvSpPr>
          <p:cNvPr id="9" name="Shape 7"/>
          <p:cNvSpPr/>
          <p:nvPr/>
        </p:nvSpPr>
        <p:spPr>
          <a:xfrm rot="2700000">
            <a:off x="8339328" y="1005840"/>
            <a:ext cx="109728" cy="109728"/>
          </a:xfrm>
          <a:prstGeom prst="rect">
            <a:avLst/>
          </a:prstGeom>
          <a:solidFill>
            <a:srgbClr val="C9945A">
              <a:alpha val="18000"/>
            </a:srgbClr>
          </a:solidFill>
          <a:ln w="6350">
            <a:solidFill>
              <a:srgbClr val="C9945A">
                <a:alpha val="10000"/>
              </a:srgbClr>
            </a:solidFill>
            <a:prstDash val="solid"/>
          </a:ln>
        </p:spPr>
      </p:sp>
      <p:sp>
        <p:nvSpPr>
          <p:cNvPr id="10" name="Shape 8"/>
          <p:cNvSpPr/>
          <p:nvPr/>
        </p:nvSpPr>
        <p:spPr>
          <a:xfrm rot="2700000">
            <a:off x="8933688" y="1005840"/>
            <a:ext cx="109728" cy="109728"/>
          </a:xfrm>
          <a:prstGeom prst="rect">
            <a:avLst/>
          </a:prstGeom>
          <a:solidFill>
            <a:srgbClr val="C9945A">
              <a:alpha val="18000"/>
            </a:srgbClr>
          </a:solidFill>
          <a:ln w="6350">
            <a:solidFill>
              <a:srgbClr val="C9945A">
                <a:alpha val="10000"/>
              </a:srgbClr>
            </a:solidFill>
            <a:prstDash val="solid"/>
          </a:ln>
        </p:spPr>
      </p:sp>
      <p:sp>
        <p:nvSpPr>
          <p:cNvPr id="11" name="Shape 9"/>
          <p:cNvSpPr/>
          <p:nvPr/>
        </p:nvSpPr>
        <p:spPr>
          <a:xfrm rot="2700000">
            <a:off x="9528048" y="1005840"/>
            <a:ext cx="109728" cy="109728"/>
          </a:xfrm>
          <a:prstGeom prst="rect">
            <a:avLst/>
          </a:prstGeom>
          <a:solidFill>
            <a:srgbClr val="C9945A">
              <a:alpha val="18000"/>
            </a:srgbClr>
          </a:solidFill>
          <a:ln w="6350">
            <a:solidFill>
              <a:srgbClr val="C9945A">
                <a:alpha val="10000"/>
              </a:srgbClr>
            </a:solidFill>
            <a:prstDash val="solid"/>
          </a:ln>
        </p:spPr>
      </p:sp>
      <p:sp>
        <p:nvSpPr>
          <p:cNvPr id="12" name="Shape 10"/>
          <p:cNvSpPr/>
          <p:nvPr/>
        </p:nvSpPr>
        <p:spPr>
          <a:xfrm rot="2700000">
            <a:off x="10122408" y="1005840"/>
            <a:ext cx="109728" cy="109728"/>
          </a:xfrm>
          <a:prstGeom prst="rect">
            <a:avLst/>
          </a:prstGeom>
          <a:solidFill>
            <a:srgbClr val="C9945A">
              <a:alpha val="18000"/>
            </a:srgbClr>
          </a:solidFill>
          <a:ln w="6350">
            <a:solidFill>
              <a:srgbClr val="C9945A">
                <a:alpha val="10000"/>
              </a:srgbClr>
            </a:solidFill>
            <a:prstDash val="solid"/>
          </a:ln>
        </p:spPr>
      </p:sp>
      <p:sp>
        <p:nvSpPr>
          <p:cNvPr id="13" name="Shape 11"/>
          <p:cNvSpPr/>
          <p:nvPr/>
        </p:nvSpPr>
        <p:spPr>
          <a:xfrm rot="2700000">
            <a:off x="10716768" y="1005840"/>
            <a:ext cx="109728" cy="109728"/>
          </a:xfrm>
          <a:prstGeom prst="rect">
            <a:avLst/>
          </a:prstGeom>
          <a:solidFill>
            <a:srgbClr val="C9945A">
              <a:alpha val="18000"/>
            </a:srgbClr>
          </a:solidFill>
          <a:ln w="6350">
            <a:solidFill>
              <a:srgbClr val="C9945A">
                <a:alpha val="10000"/>
              </a:srgbClr>
            </a:solidFill>
            <a:prstDash val="solid"/>
          </a:ln>
        </p:spPr>
      </p:sp>
      <p:sp>
        <p:nvSpPr>
          <p:cNvPr id="14" name="Shape 12"/>
          <p:cNvSpPr/>
          <p:nvPr/>
        </p:nvSpPr>
        <p:spPr>
          <a:xfrm rot="2700000">
            <a:off x="11311128" y="1005840"/>
            <a:ext cx="109728" cy="109728"/>
          </a:xfrm>
          <a:prstGeom prst="rect">
            <a:avLst/>
          </a:prstGeom>
          <a:solidFill>
            <a:srgbClr val="C9945A">
              <a:alpha val="18000"/>
            </a:srgbClr>
          </a:solidFill>
          <a:ln w="6350">
            <a:solidFill>
              <a:srgbClr val="C9945A">
                <a:alpha val="10000"/>
              </a:srgbClr>
            </a:solidFill>
            <a:prstDash val="solid"/>
          </a:ln>
        </p:spPr>
      </p:sp>
      <p:sp>
        <p:nvSpPr>
          <p:cNvPr id="15" name="Shape 13"/>
          <p:cNvSpPr/>
          <p:nvPr/>
        </p:nvSpPr>
        <p:spPr>
          <a:xfrm rot="2700000">
            <a:off x="11905488" y="1005840"/>
            <a:ext cx="109728" cy="109728"/>
          </a:xfrm>
          <a:prstGeom prst="rect">
            <a:avLst/>
          </a:prstGeom>
          <a:solidFill>
            <a:srgbClr val="C9945A">
              <a:alpha val="18000"/>
            </a:srgbClr>
          </a:solidFill>
          <a:ln w="6350">
            <a:solidFill>
              <a:srgbClr val="C9945A">
                <a:alpha val="10000"/>
              </a:srgbClr>
            </a:solidFill>
            <a:prstDash val="solid"/>
          </a:ln>
        </p:spPr>
      </p:sp>
      <p:sp>
        <p:nvSpPr>
          <p:cNvPr id="16" name="Shape 14"/>
          <p:cNvSpPr/>
          <p:nvPr/>
        </p:nvSpPr>
        <p:spPr>
          <a:xfrm rot="2700000">
            <a:off x="8046720" y="1600200"/>
            <a:ext cx="109728" cy="109728"/>
          </a:xfrm>
          <a:prstGeom prst="rect">
            <a:avLst/>
          </a:prstGeom>
          <a:solidFill>
            <a:srgbClr val="C9945A">
              <a:alpha val="18000"/>
            </a:srgbClr>
          </a:solidFill>
          <a:ln w="6350">
            <a:solidFill>
              <a:srgbClr val="C9945A">
                <a:alpha val="10000"/>
              </a:srgbClr>
            </a:solidFill>
            <a:prstDash val="solid"/>
          </a:ln>
        </p:spPr>
      </p:sp>
      <p:sp>
        <p:nvSpPr>
          <p:cNvPr id="17" name="Shape 15"/>
          <p:cNvSpPr/>
          <p:nvPr/>
        </p:nvSpPr>
        <p:spPr>
          <a:xfrm rot="2700000">
            <a:off x="8641080" y="1600200"/>
            <a:ext cx="109728" cy="109728"/>
          </a:xfrm>
          <a:prstGeom prst="rect">
            <a:avLst/>
          </a:prstGeom>
          <a:solidFill>
            <a:srgbClr val="C9945A">
              <a:alpha val="18000"/>
            </a:srgbClr>
          </a:solidFill>
          <a:ln w="6350">
            <a:solidFill>
              <a:srgbClr val="C9945A">
                <a:alpha val="10000"/>
              </a:srgbClr>
            </a:solidFill>
            <a:prstDash val="solid"/>
          </a:ln>
        </p:spPr>
      </p:sp>
      <p:sp>
        <p:nvSpPr>
          <p:cNvPr id="18" name="Shape 16"/>
          <p:cNvSpPr/>
          <p:nvPr/>
        </p:nvSpPr>
        <p:spPr>
          <a:xfrm rot="2700000">
            <a:off x="9235440" y="1600200"/>
            <a:ext cx="109728" cy="109728"/>
          </a:xfrm>
          <a:prstGeom prst="rect">
            <a:avLst/>
          </a:prstGeom>
          <a:solidFill>
            <a:srgbClr val="C9945A">
              <a:alpha val="18000"/>
            </a:srgbClr>
          </a:solidFill>
          <a:ln w="6350">
            <a:solidFill>
              <a:srgbClr val="C9945A">
                <a:alpha val="10000"/>
              </a:srgbClr>
            </a:solidFill>
            <a:prstDash val="solid"/>
          </a:ln>
        </p:spPr>
      </p:sp>
      <p:sp>
        <p:nvSpPr>
          <p:cNvPr id="19" name="Shape 17"/>
          <p:cNvSpPr/>
          <p:nvPr/>
        </p:nvSpPr>
        <p:spPr>
          <a:xfrm rot="2700000">
            <a:off x="9829800" y="1600200"/>
            <a:ext cx="109728" cy="109728"/>
          </a:xfrm>
          <a:prstGeom prst="rect">
            <a:avLst/>
          </a:prstGeom>
          <a:solidFill>
            <a:srgbClr val="C9945A">
              <a:alpha val="18000"/>
            </a:srgbClr>
          </a:solidFill>
          <a:ln w="6350">
            <a:solidFill>
              <a:srgbClr val="C9945A">
                <a:alpha val="10000"/>
              </a:srgbClr>
            </a:solidFill>
            <a:prstDash val="solid"/>
          </a:ln>
        </p:spPr>
      </p:sp>
      <p:sp>
        <p:nvSpPr>
          <p:cNvPr id="20" name="Shape 18"/>
          <p:cNvSpPr/>
          <p:nvPr/>
        </p:nvSpPr>
        <p:spPr>
          <a:xfrm rot="2700000">
            <a:off x="10424160" y="1600200"/>
            <a:ext cx="109728" cy="109728"/>
          </a:xfrm>
          <a:prstGeom prst="rect">
            <a:avLst/>
          </a:prstGeom>
          <a:solidFill>
            <a:srgbClr val="C9945A">
              <a:alpha val="18000"/>
            </a:srgbClr>
          </a:solidFill>
          <a:ln w="6350">
            <a:solidFill>
              <a:srgbClr val="C9945A">
                <a:alpha val="10000"/>
              </a:srgbClr>
            </a:solidFill>
            <a:prstDash val="solid"/>
          </a:ln>
        </p:spPr>
      </p:sp>
      <p:sp>
        <p:nvSpPr>
          <p:cNvPr id="21" name="Shape 19"/>
          <p:cNvSpPr/>
          <p:nvPr/>
        </p:nvSpPr>
        <p:spPr>
          <a:xfrm rot="2700000">
            <a:off x="11018520" y="1600200"/>
            <a:ext cx="109728" cy="109728"/>
          </a:xfrm>
          <a:prstGeom prst="rect">
            <a:avLst/>
          </a:prstGeom>
          <a:solidFill>
            <a:srgbClr val="C9945A">
              <a:alpha val="18000"/>
            </a:srgbClr>
          </a:solidFill>
          <a:ln w="6350">
            <a:solidFill>
              <a:srgbClr val="C9945A">
                <a:alpha val="10000"/>
              </a:srgbClr>
            </a:solidFill>
            <a:prstDash val="solid"/>
          </a:ln>
        </p:spPr>
      </p:sp>
      <p:sp>
        <p:nvSpPr>
          <p:cNvPr id="22" name="Shape 20"/>
          <p:cNvSpPr/>
          <p:nvPr/>
        </p:nvSpPr>
        <p:spPr>
          <a:xfrm rot="2700000">
            <a:off x="11612880" y="1600200"/>
            <a:ext cx="109728" cy="109728"/>
          </a:xfrm>
          <a:prstGeom prst="rect">
            <a:avLst/>
          </a:prstGeom>
          <a:solidFill>
            <a:srgbClr val="C9945A">
              <a:alpha val="18000"/>
            </a:srgbClr>
          </a:solidFill>
          <a:ln w="6350">
            <a:solidFill>
              <a:srgbClr val="C9945A">
                <a:alpha val="10000"/>
              </a:srgbClr>
            </a:solidFill>
            <a:prstDash val="solid"/>
          </a:ln>
        </p:spPr>
      </p:sp>
      <p:sp>
        <p:nvSpPr>
          <p:cNvPr id="23" name="Text 21"/>
          <p:cNvSpPr/>
          <p:nvPr/>
        </p:nvSpPr>
        <p:spPr>
          <a:xfrm>
            <a:off x="685800" y="411480"/>
            <a:ext cx="2926080" cy="201168"/>
          </a:xfrm>
          <a:prstGeom prst="rect">
            <a:avLst/>
          </a:prstGeom>
          <a:noFill/>
          <a:ln/>
        </p:spPr>
        <p:txBody>
          <a:bodyPr wrap="square" lIns="0" tIns="0" rIns="0" bIns="0" rtlCol="0" anchor="ctr">
            <a:normAutofit/>
          </a:bodyPr>
          <a:lstStyle/>
          <a:p>
            <a:pPr indent="0" marL="0">
              <a:buNone/>
            </a:pPr>
            <a:r>
              <a:rPr lang="en-US" sz="900" b="1" spc="210" kern="0" dirty="0">
                <a:solidFill>
                  <a:srgbClr val="C9945A"/>
                </a:solidFill>
                <a:latin typeface="Apple SD Gothic Neo" pitchFamily="34" charset="0"/>
                <a:ea typeface="Apple SD Gothic Neo" pitchFamily="34" charset="-122"/>
                <a:cs typeface="Apple SD Gothic Neo" pitchFamily="34" charset="-120"/>
              </a:rPr>
              <a:t>PROBLEM</a:t>
            </a:r>
            <a:endParaRPr lang="en-US" sz="900" dirty="0"/>
          </a:p>
        </p:txBody>
      </p:sp>
      <p:sp>
        <p:nvSpPr>
          <p:cNvPr id="24" name="Text 22"/>
          <p:cNvSpPr/>
          <p:nvPr/>
        </p:nvSpPr>
        <p:spPr>
          <a:xfrm>
            <a:off x="685800" y="749808"/>
            <a:ext cx="10789920" cy="841248"/>
          </a:xfrm>
          <a:prstGeom prst="rect">
            <a:avLst/>
          </a:prstGeom>
          <a:noFill/>
          <a:ln/>
        </p:spPr>
        <p:txBody>
          <a:bodyPr wrap="square" lIns="0" tIns="0" rIns="0" bIns="0" rtlCol="0" anchor="t">
            <a:normAutofit/>
          </a:bodyPr>
          <a:lstStyle/>
          <a:p>
            <a:pPr indent="0" marL="0">
              <a:lnSpc>
                <a:spcPct val="88000"/>
              </a:lnSpc>
              <a:buNone/>
            </a:pPr>
            <a:r>
              <a:rPr lang="en-US" sz="2600" b="1" dirty="0">
                <a:solidFill>
                  <a:srgbClr val="FFFFFF"/>
                </a:solidFill>
                <a:latin typeface="Apple SD Gothic Neo" pitchFamily="34" charset="0"/>
                <a:ea typeface="Apple SD Gothic Neo" pitchFamily="34" charset="-122"/>
                <a:cs typeface="Apple SD Gothic Neo" pitchFamily="34" charset="-120"/>
              </a:rPr>
              <a:t>구매는 끝났지만,</a:t>
            </a:r>
            <a:endParaRPr lang="en-US" sz="2600" dirty="0"/>
          </a:p>
          <a:p>
            <a:pPr indent="0" marL="0">
              <a:lnSpc>
                <a:spcPct val="88000"/>
              </a:lnSpc>
              <a:buNone/>
            </a:pPr>
            <a:r>
              <a:rPr lang="en-US" sz="2600" b="1" dirty="0">
                <a:solidFill>
                  <a:srgbClr val="FFFFFF"/>
                </a:solidFill>
                <a:latin typeface="Apple SD Gothic Neo" pitchFamily="34" charset="0"/>
                <a:ea typeface="Apple SD Gothic Neo" pitchFamily="34" charset="-122"/>
                <a:cs typeface="Apple SD Gothic Neo" pitchFamily="34" charset="-120"/>
              </a:rPr>
              <a:t>제품의 이야기는 시작되지 못합니다</a:t>
            </a:r>
            <a:endParaRPr lang="en-US" sz="2600" dirty="0"/>
          </a:p>
        </p:txBody>
      </p:sp>
      <p:sp>
        <p:nvSpPr>
          <p:cNvPr id="25" name="Text 23"/>
          <p:cNvSpPr/>
          <p:nvPr/>
        </p:nvSpPr>
        <p:spPr>
          <a:xfrm>
            <a:off x="694944" y="1581912"/>
            <a:ext cx="9875520" cy="347472"/>
          </a:xfrm>
          <a:prstGeom prst="rect">
            <a:avLst/>
          </a:prstGeom>
          <a:noFill/>
          <a:ln/>
        </p:spPr>
        <p:txBody>
          <a:bodyPr wrap="square" lIns="0" tIns="0" rIns="0" bIns="0" rtlCol="0" anchor="t">
            <a:normAutofit/>
          </a:bodyPr>
          <a:lstStyle/>
          <a:p>
            <a:pPr indent="0" marL="0">
              <a:buNone/>
            </a:pPr>
            <a:r>
              <a:rPr lang="en-US" sz="1150" dirty="0">
                <a:solidFill>
                  <a:srgbClr val="B7ADA4"/>
                </a:solidFill>
                <a:latin typeface="Apple SD Gothic Neo" pitchFamily="34" charset="0"/>
                <a:ea typeface="Apple SD Gothic Neo" pitchFamily="34" charset="-122"/>
                <a:cs typeface="Apple SD Gothic Neo" pitchFamily="34" charset="-120"/>
              </a:rPr>
              <a:t>고객 문제와 해커톤 구현 제약을 분리해 정의했습니다.</a:t>
            </a:r>
            <a:endParaRPr lang="en-US" sz="1150" dirty="0"/>
          </a:p>
        </p:txBody>
      </p:sp>
      <p:sp>
        <p:nvSpPr>
          <p:cNvPr id="26" name="Text 24"/>
          <p:cNvSpPr/>
          <p:nvPr/>
        </p:nvSpPr>
        <p:spPr>
          <a:xfrm>
            <a:off x="658368" y="6473952"/>
            <a:ext cx="2286000" cy="182880"/>
          </a:xfrm>
          <a:prstGeom prst="rect">
            <a:avLst/>
          </a:prstGeom>
          <a:noFill/>
          <a:ln/>
        </p:spPr>
        <p:txBody>
          <a:bodyPr wrap="square" lIns="0" tIns="0" rIns="0" bIns="0" rtlCol="0" anchor="ctr">
            <a:normAutofit/>
          </a:bodyPr>
          <a:lstStyle/>
          <a:p>
            <a:pPr indent="0" marL="0">
              <a:buNone/>
            </a:pPr>
            <a:r>
              <a:rPr lang="en-US" sz="850" spc="140" kern="0" dirty="0">
                <a:solidFill>
                  <a:srgbClr val="B7ADA4"/>
                </a:solidFill>
                <a:latin typeface="Apple SD Gothic Neo" pitchFamily="34" charset="0"/>
                <a:ea typeface="Apple SD Gothic Neo" pitchFamily="34" charset="-122"/>
                <a:cs typeface="Apple SD Gothic Neo" pitchFamily="34" charset="-120"/>
              </a:rPr>
              <a:t>MCM · STORYBOOK</a:t>
            </a:r>
            <a:endParaRPr lang="en-US" sz="850" dirty="0"/>
          </a:p>
        </p:txBody>
      </p:sp>
      <p:sp>
        <p:nvSpPr>
          <p:cNvPr id="27" name="Text 25"/>
          <p:cNvSpPr/>
          <p:nvPr/>
        </p:nvSpPr>
        <p:spPr>
          <a:xfrm>
            <a:off x="11155680" y="6473952"/>
            <a:ext cx="384048" cy="182880"/>
          </a:xfrm>
          <a:prstGeom prst="rect">
            <a:avLst/>
          </a:prstGeom>
          <a:noFill/>
          <a:ln/>
        </p:spPr>
        <p:txBody>
          <a:bodyPr wrap="square" lIns="0" tIns="0" rIns="0" bIns="0" rtlCol="0" anchor="ctr">
            <a:normAutofit/>
          </a:bodyPr>
          <a:lstStyle/>
          <a:p>
            <a:pPr algn="r" indent="0" marL="0">
              <a:buNone/>
            </a:pPr>
            <a:r>
              <a:rPr lang="en-US" sz="850" dirty="0">
                <a:solidFill>
                  <a:srgbClr val="B7ADA4"/>
                </a:solidFill>
                <a:latin typeface="Apple SD Gothic Neo" pitchFamily="34" charset="0"/>
                <a:ea typeface="Apple SD Gothic Neo" pitchFamily="34" charset="-122"/>
                <a:cs typeface="Apple SD Gothic Neo" pitchFamily="34" charset="-120"/>
              </a:rPr>
              <a:t>02</a:t>
            </a:r>
            <a:endParaRPr lang="en-US" sz="850" dirty="0"/>
          </a:p>
        </p:txBody>
      </p:sp>
      <p:sp>
        <p:nvSpPr>
          <p:cNvPr id="28" name="Shape 26"/>
          <p:cNvSpPr/>
          <p:nvPr/>
        </p:nvSpPr>
        <p:spPr>
          <a:xfrm>
            <a:off x="713232" y="2240280"/>
            <a:ext cx="3429000" cy="2331720"/>
          </a:xfrm>
          <a:prstGeom prst="roundRect">
            <a:avLst>
              <a:gd name="adj" fmla="val 5490"/>
            </a:avLst>
          </a:prstGeom>
          <a:solidFill>
            <a:srgbClr val="24201E"/>
          </a:solidFill>
          <a:ln w="10160">
            <a:solidFill>
              <a:srgbClr val="3A3330"/>
            </a:solidFill>
            <a:prstDash val="solid"/>
          </a:ln>
        </p:spPr>
      </p:sp>
      <p:sp>
        <p:nvSpPr>
          <p:cNvPr id="29" name="Text 27"/>
          <p:cNvSpPr/>
          <p:nvPr/>
        </p:nvSpPr>
        <p:spPr>
          <a:xfrm>
            <a:off x="969264" y="2441448"/>
            <a:ext cx="365760" cy="228600"/>
          </a:xfrm>
          <a:prstGeom prst="rect">
            <a:avLst/>
          </a:prstGeom>
          <a:noFill/>
          <a:ln/>
        </p:spPr>
        <p:txBody>
          <a:bodyPr wrap="square" lIns="0" tIns="0" rIns="0" bIns="0" rtlCol="0" anchor="ctr">
            <a:normAutofit/>
          </a:bodyPr>
          <a:lstStyle/>
          <a:p>
            <a:pPr indent="0" marL="0">
              <a:buNone/>
            </a:pPr>
            <a:r>
              <a:rPr lang="en-US" sz="950" b="1" dirty="0">
                <a:solidFill>
                  <a:srgbClr val="C9945A"/>
                </a:solidFill>
                <a:latin typeface="Apple SD Gothic Neo" pitchFamily="34" charset="0"/>
                <a:ea typeface="Apple SD Gothic Neo" pitchFamily="34" charset="-122"/>
                <a:cs typeface="Apple SD Gothic Neo" pitchFamily="34" charset="-120"/>
              </a:rPr>
              <a:t>01</a:t>
            </a:r>
            <a:endParaRPr lang="en-US" sz="950" dirty="0"/>
          </a:p>
        </p:txBody>
      </p:sp>
      <p:sp>
        <p:nvSpPr>
          <p:cNvPr id="30" name="Text 28"/>
          <p:cNvSpPr/>
          <p:nvPr/>
        </p:nvSpPr>
        <p:spPr>
          <a:xfrm>
            <a:off x="969264" y="2770632"/>
            <a:ext cx="2916936" cy="384048"/>
          </a:xfrm>
          <a:prstGeom prst="rect">
            <a:avLst/>
          </a:prstGeom>
          <a:noFill/>
          <a:ln/>
        </p:spPr>
        <p:txBody>
          <a:bodyPr wrap="square" lIns="0" tIns="0" rIns="0" bIns="0" rtlCol="0" anchor="ctr">
            <a:normAutofit/>
          </a:bodyPr>
          <a:lstStyle/>
          <a:p>
            <a:pPr indent="0" marL="0">
              <a:buNone/>
            </a:pPr>
            <a:r>
              <a:rPr lang="en-US" sz="1500" b="1" dirty="0">
                <a:solidFill>
                  <a:srgbClr val="FFFFFF"/>
                </a:solidFill>
                <a:latin typeface="Apple SD Gothic Neo" pitchFamily="34" charset="0"/>
                <a:ea typeface="Apple SD Gothic Neo" pitchFamily="34" charset="-122"/>
                <a:cs typeface="Apple SD Gothic Neo" pitchFamily="34" charset="-120"/>
              </a:rPr>
              <a:t>브랜드 경험의 단절</a:t>
            </a:r>
            <a:endParaRPr lang="en-US" sz="1500" dirty="0"/>
          </a:p>
        </p:txBody>
      </p:sp>
      <p:sp>
        <p:nvSpPr>
          <p:cNvPr id="31" name="Text 29"/>
          <p:cNvSpPr/>
          <p:nvPr/>
        </p:nvSpPr>
        <p:spPr>
          <a:xfrm>
            <a:off x="969264" y="3246120"/>
            <a:ext cx="2916936" cy="1124712"/>
          </a:xfrm>
          <a:prstGeom prst="rect">
            <a:avLst/>
          </a:prstGeom>
          <a:noFill/>
          <a:ln/>
        </p:spPr>
        <p:txBody>
          <a:bodyPr wrap="square" lIns="0" tIns="0" rIns="0" bIns="0" rtlCol="0" anchor="t">
            <a:normAutofit/>
          </a:bodyPr>
          <a:lstStyle/>
          <a:p>
            <a:pPr indent="0" marL="0">
              <a:lnSpc>
                <a:spcPct val="106000"/>
              </a:lnSpc>
              <a:buNone/>
            </a:pPr>
            <a:r>
              <a:rPr lang="en-US" sz="1050" dirty="0">
                <a:solidFill>
                  <a:srgbClr val="B7ADA4"/>
                </a:solidFill>
                <a:latin typeface="Apple SD Gothic Neo" pitchFamily="34" charset="0"/>
                <a:ea typeface="Apple SD Gothic Neo" pitchFamily="34" charset="-122"/>
                <a:cs typeface="Apple SD Gothic Neo" pitchFamily="34" charset="-120"/>
              </a:rPr>
              <a:t>구매 이후 접점이 안내·프로모션·A/S에 머물러 관계가 이어지지 않습니다.</a:t>
            </a:r>
            <a:endParaRPr lang="en-US" sz="1050" dirty="0"/>
          </a:p>
        </p:txBody>
      </p:sp>
      <p:sp>
        <p:nvSpPr>
          <p:cNvPr id="32" name="Shape 30"/>
          <p:cNvSpPr/>
          <p:nvPr/>
        </p:nvSpPr>
        <p:spPr>
          <a:xfrm>
            <a:off x="4526280" y="2240280"/>
            <a:ext cx="3429000" cy="2331720"/>
          </a:xfrm>
          <a:prstGeom prst="roundRect">
            <a:avLst>
              <a:gd name="adj" fmla="val 5490"/>
            </a:avLst>
          </a:prstGeom>
          <a:solidFill>
            <a:srgbClr val="24201E"/>
          </a:solidFill>
          <a:ln w="10160">
            <a:solidFill>
              <a:srgbClr val="3A3330"/>
            </a:solidFill>
            <a:prstDash val="solid"/>
          </a:ln>
        </p:spPr>
      </p:sp>
      <p:sp>
        <p:nvSpPr>
          <p:cNvPr id="33" name="Text 31"/>
          <p:cNvSpPr/>
          <p:nvPr/>
        </p:nvSpPr>
        <p:spPr>
          <a:xfrm>
            <a:off x="4782312" y="2441448"/>
            <a:ext cx="365760" cy="228600"/>
          </a:xfrm>
          <a:prstGeom prst="rect">
            <a:avLst/>
          </a:prstGeom>
          <a:noFill/>
          <a:ln/>
        </p:spPr>
        <p:txBody>
          <a:bodyPr wrap="square" lIns="0" tIns="0" rIns="0" bIns="0" rtlCol="0" anchor="ctr">
            <a:normAutofit/>
          </a:bodyPr>
          <a:lstStyle/>
          <a:p>
            <a:pPr indent="0" marL="0">
              <a:buNone/>
            </a:pPr>
            <a:r>
              <a:rPr lang="en-US" sz="950" b="1" dirty="0">
                <a:solidFill>
                  <a:srgbClr val="C9945A"/>
                </a:solidFill>
                <a:latin typeface="Apple SD Gothic Neo" pitchFamily="34" charset="0"/>
                <a:ea typeface="Apple SD Gothic Neo" pitchFamily="34" charset="-122"/>
                <a:cs typeface="Apple SD Gothic Neo" pitchFamily="34" charset="-120"/>
              </a:rPr>
              <a:t>02</a:t>
            </a:r>
            <a:endParaRPr lang="en-US" sz="950" dirty="0"/>
          </a:p>
        </p:txBody>
      </p:sp>
      <p:sp>
        <p:nvSpPr>
          <p:cNvPr id="34" name="Text 32"/>
          <p:cNvSpPr/>
          <p:nvPr/>
        </p:nvSpPr>
        <p:spPr>
          <a:xfrm>
            <a:off x="4782312" y="2770632"/>
            <a:ext cx="2916936" cy="384048"/>
          </a:xfrm>
          <a:prstGeom prst="rect">
            <a:avLst/>
          </a:prstGeom>
          <a:noFill/>
          <a:ln/>
        </p:spPr>
        <p:txBody>
          <a:bodyPr wrap="square" lIns="0" tIns="0" rIns="0" bIns="0" rtlCol="0" anchor="ctr">
            <a:normAutofit/>
          </a:bodyPr>
          <a:lstStyle/>
          <a:p>
            <a:pPr indent="0" marL="0">
              <a:buNone/>
            </a:pPr>
            <a:r>
              <a:rPr lang="en-US" sz="1500" b="1" dirty="0">
                <a:solidFill>
                  <a:srgbClr val="FFFFFF"/>
                </a:solidFill>
                <a:latin typeface="Apple SD Gothic Neo" pitchFamily="34" charset="0"/>
                <a:ea typeface="Apple SD Gothic Neo" pitchFamily="34" charset="-122"/>
                <a:cs typeface="Apple SD Gothic Neo" pitchFamily="34" charset="-120"/>
              </a:rPr>
              <a:t>기록과 이력의 파편화</a:t>
            </a:r>
            <a:endParaRPr lang="en-US" sz="1500" dirty="0"/>
          </a:p>
        </p:txBody>
      </p:sp>
      <p:sp>
        <p:nvSpPr>
          <p:cNvPr id="35" name="Text 33"/>
          <p:cNvSpPr/>
          <p:nvPr/>
        </p:nvSpPr>
        <p:spPr>
          <a:xfrm>
            <a:off x="4782312" y="3246120"/>
            <a:ext cx="2916936" cy="1124712"/>
          </a:xfrm>
          <a:prstGeom prst="rect">
            <a:avLst/>
          </a:prstGeom>
          <a:noFill/>
          <a:ln/>
        </p:spPr>
        <p:txBody>
          <a:bodyPr wrap="square" lIns="0" tIns="0" rIns="0" bIns="0" rtlCol="0" anchor="t">
            <a:normAutofit/>
          </a:bodyPr>
          <a:lstStyle/>
          <a:p>
            <a:pPr indent="0" marL="0">
              <a:lnSpc>
                <a:spcPct val="106000"/>
              </a:lnSpc>
              <a:buNone/>
            </a:pPr>
            <a:r>
              <a:rPr lang="en-US" sz="1050" dirty="0">
                <a:solidFill>
                  <a:srgbClr val="B7ADA4"/>
                </a:solidFill>
                <a:latin typeface="Apple SD Gothic Neo" pitchFamily="34" charset="0"/>
                <a:ea typeface="Apple SD Gothic Neo" pitchFamily="34" charset="-122"/>
                <a:cs typeface="Apple SD Gothic Neo" pitchFamily="34" charset="-120"/>
              </a:rPr>
              <a:t>사진·장소·추억·관리·수선 정보가 서로 다른 서비스와 시스템에 흩어집니다.</a:t>
            </a:r>
            <a:endParaRPr lang="en-US" sz="1050" dirty="0"/>
          </a:p>
        </p:txBody>
      </p:sp>
      <p:sp>
        <p:nvSpPr>
          <p:cNvPr id="36" name="Shape 34"/>
          <p:cNvSpPr/>
          <p:nvPr/>
        </p:nvSpPr>
        <p:spPr>
          <a:xfrm>
            <a:off x="8339328" y="2240280"/>
            <a:ext cx="3429000" cy="2331720"/>
          </a:xfrm>
          <a:prstGeom prst="roundRect">
            <a:avLst>
              <a:gd name="adj" fmla="val 5490"/>
            </a:avLst>
          </a:prstGeom>
          <a:solidFill>
            <a:srgbClr val="24201E"/>
          </a:solidFill>
          <a:ln w="10160">
            <a:solidFill>
              <a:srgbClr val="3A3330"/>
            </a:solidFill>
            <a:prstDash val="solid"/>
          </a:ln>
        </p:spPr>
      </p:sp>
      <p:sp>
        <p:nvSpPr>
          <p:cNvPr id="37" name="Text 35"/>
          <p:cNvSpPr/>
          <p:nvPr/>
        </p:nvSpPr>
        <p:spPr>
          <a:xfrm>
            <a:off x="8595360" y="2441448"/>
            <a:ext cx="365760" cy="228600"/>
          </a:xfrm>
          <a:prstGeom prst="rect">
            <a:avLst/>
          </a:prstGeom>
          <a:noFill/>
          <a:ln/>
        </p:spPr>
        <p:txBody>
          <a:bodyPr wrap="square" lIns="0" tIns="0" rIns="0" bIns="0" rtlCol="0" anchor="ctr">
            <a:normAutofit/>
          </a:bodyPr>
          <a:lstStyle/>
          <a:p>
            <a:pPr indent="0" marL="0">
              <a:buNone/>
            </a:pPr>
            <a:r>
              <a:rPr lang="en-US" sz="950" b="1" dirty="0">
                <a:solidFill>
                  <a:srgbClr val="C9945A"/>
                </a:solidFill>
                <a:latin typeface="Apple SD Gothic Neo" pitchFamily="34" charset="0"/>
                <a:ea typeface="Apple SD Gothic Neo" pitchFamily="34" charset="-122"/>
                <a:cs typeface="Apple SD Gothic Neo" pitchFamily="34" charset="-120"/>
              </a:rPr>
              <a:t>03</a:t>
            </a:r>
            <a:endParaRPr lang="en-US" sz="950" dirty="0"/>
          </a:p>
        </p:txBody>
      </p:sp>
      <p:sp>
        <p:nvSpPr>
          <p:cNvPr id="38" name="Text 36"/>
          <p:cNvSpPr/>
          <p:nvPr/>
        </p:nvSpPr>
        <p:spPr>
          <a:xfrm>
            <a:off x="8595360" y="2770632"/>
            <a:ext cx="2916936" cy="384048"/>
          </a:xfrm>
          <a:prstGeom prst="rect">
            <a:avLst/>
          </a:prstGeom>
          <a:noFill/>
          <a:ln/>
        </p:spPr>
        <p:txBody>
          <a:bodyPr wrap="square" lIns="0" tIns="0" rIns="0" bIns="0" rtlCol="0" anchor="ctr">
            <a:normAutofit/>
          </a:bodyPr>
          <a:lstStyle/>
          <a:p>
            <a:pPr indent="0" marL="0">
              <a:buNone/>
            </a:pPr>
            <a:r>
              <a:rPr lang="en-US" sz="1500" b="1" dirty="0">
                <a:solidFill>
                  <a:srgbClr val="FFFFFF"/>
                </a:solidFill>
                <a:latin typeface="Apple SD Gothic Neo" pitchFamily="34" charset="0"/>
                <a:ea typeface="Apple SD Gothic Neo" pitchFamily="34" charset="-122"/>
                <a:cs typeface="Apple SD Gothic Neo" pitchFamily="34" charset="-120"/>
              </a:rPr>
              <a:t>제품 정보만 있는 DPP</a:t>
            </a:r>
            <a:endParaRPr lang="en-US" sz="1500" dirty="0"/>
          </a:p>
        </p:txBody>
      </p:sp>
      <p:sp>
        <p:nvSpPr>
          <p:cNvPr id="39" name="Text 37"/>
          <p:cNvSpPr/>
          <p:nvPr/>
        </p:nvSpPr>
        <p:spPr>
          <a:xfrm>
            <a:off x="8595360" y="3246120"/>
            <a:ext cx="2916936" cy="1124712"/>
          </a:xfrm>
          <a:prstGeom prst="rect">
            <a:avLst/>
          </a:prstGeom>
          <a:noFill/>
          <a:ln/>
        </p:spPr>
        <p:txBody>
          <a:bodyPr wrap="square" lIns="0" tIns="0" rIns="0" bIns="0" rtlCol="0" anchor="t">
            <a:normAutofit/>
          </a:bodyPr>
          <a:lstStyle/>
          <a:p>
            <a:pPr indent="0" marL="0">
              <a:lnSpc>
                <a:spcPct val="106000"/>
              </a:lnSpc>
              <a:buNone/>
            </a:pPr>
            <a:r>
              <a:rPr lang="en-US" sz="1050" dirty="0">
                <a:solidFill>
                  <a:srgbClr val="B7ADA4"/>
                </a:solidFill>
                <a:latin typeface="Apple SD Gothic Neo" pitchFamily="34" charset="0"/>
                <a:ea typeface="Apple SD Gothic Neo" pitchFamily="34" charset="-122"/>
                <a:cs typeface="Apple SD Gothic Neo" pitchFamily="34" charset="-120"/>
              </a:rPr>
              <a:t>진품성과 출처는 증명하지만, 고객이 왜 오래 간직했는지는 남기기 어렵습니다.</a:t>
            </a:r>
            <a:endParaRPr lang="en-US" sz="1050" dirty="0"/>
          </a:p>
        </p:txBody>
      </p:sp>
      <p:sp>
        <p:nvSpPr>
          <p:cNvPr id="40" name="Shape 38"/>
          <p:cNvSpPr/>
          <p:nvPr/>
        </p:nvSpPr>
        <p:spPr>
          <a:xfrm>
            <a:off x="731520" y="4956048"/>
            <a:ext cx="10716768" cy="0"/>
          </a:xfrm>
          <a:prstGeom prst="line">
            <a:avLst/>
          </a:prstGeom>
          <a:noFill/>
          <a:ln w="10160">
            <a:solidFill>
              <a:srgbClr val="3A3330"/>
            </a:solidFill>
            <a:prstDash val="solid"/>
          </a:ln>
        </p:spPr>
      </p:sp>
      <p:sp>
        <p:nvSpPr>
          <p:cNvPr id="41" name="Text 39"/>
          <p:cNvSpPr/>
          <p:nvPr/>
        </p:nvSpPr>
        <p:spPr>
          <a:xfrm>
            <a:off x="749808" y="5193792"/>
            <a:ext cx="1554480" cy="201168"/>
          </a:xfrm>
          <a:prstGeom prst="rect">
            <a:avLst/>
          </a:prstGeom>
          <a:noFill/>
          <a:ln/>
        </p:spPr>
        <p:txBody>
          <a:bodyPr wrap="square" lIns="0" tIns="0" rIns="0" bIns="0" rtlCol="0" anchor="ctr">
            <a:normAutofit/>
          </a:bodyPr>
          <a:lstStyle/>
          <a:p>
            <a:pPr indent="0" marL="0">
              <a:buNone/>
            </a:pPr>
            <a:r>
              <a:rPr lang="en-US" sz="850" b="1" spc="150" kern="0" dirty="0">
                <a:solidFill>
                  <a:srgbClr val="C9945A"/>
                </a:solidFill>
                <a:latin typeface="Apple SD Gothic Neo" pitchFamily="34" charset="0"/>
                <a:ea typeface="Apple SD Gothic Neo" pitchFamily="34" charset="-122"/>
                <a:cs typeface="Apple SD Gothic Neo" pitchFamily="34" charset="-120"/>
              </a:rPr>
              <a:t>TEAM CONSTRAINTS</a:t>
            </a:r>
            <a:endParaRPr lang="en-US" sz="850" dirty="0"/>
          </a:p>
        </p:txBody>
      </p:sp>
      <p:sp>
        <p:nvSpPr>
          <p:cNvPr id="42" name="Text 40"/>
          <p:cNvSpPr/>
          <p:nvPr/>
        </p:nvSpPr>
        <p:spPr>
          <a:xfrm>
            <a:off x="2212848" y="5166360"/>
            <a:ext cx="7955280" cy="256032"/>
          </a:xfrm>
          <a:prstGeom prst="rect">
            <a:avLst/>
          </a:prstGeom>
          <a:noFill/>
          <a:ln/>
        </p:spPr>
        <p:txBody>
          <a:bodyPr wrap="square" lIns="0" tIns="0" rIns="0" bIns="0" rtlCol="0" anchor="ctr">
            <a:normAutofit/>
          </a:bodyPr>
          <a:lstStyle/>
          <a:p>
            <a:pPr indent="0" marL="0">
              <a:buNone/>
            </a:pPr>
            <a:r>
              <a:rPr lang="en-US" sz="1050" dirty="0">
                <a:solidFill>
                  <a:srgbClr val="B7ADA4"/>
                </a:solidFill>
                <a:latin typeface="Apple SD Gothic Neo" pitchFamily="34" charset="0"/>
                <a:ea typeface="Apple SD Gothic Neo" pitchFamily="34" charset="-122"/>
                <a:cs typeface="Apple SD Gothic Neo" pitchFamily="34" charset="-120"/>
              </a:rPr>
              <a:t>브랜드 내부 데이터 접근 · 직접 시스템 연동 · 제한된 개발 기간 · Vision AI 범위</a:t>
            </a:r>
            <a:endParaRPr lang="en-US" sz="1050" dirty="0"/>
          </a:p>
        </p:txBody>
      </p:sp>
      <p:sp>
        <p:nvSpPr>
          <p:cNvPr id="43" name="Text 41"/>
          <p:cNvSpPr/>
          <p:nvPr/>
        </p:nvSpPr>
        <p:spPr>
          <a:xfrm>
            <a:off x="749808" y="5623560"/>
            <a:ext cx="7863840" cy="228600"/>
          </a:xfrm>
          <a:prstGeom prst="rect">
            <a:avLst/>
          </a:prstGeom>
          <a:noFill/>
          <a:ln/>
        </p:spPr>
        <p:txBody>
          <a:bodyPr wrap="square" lIns="0" tIns="0" rIns="0" bIns="0" rtlCol="0" anchor="ctr">
            <a:normAutofit/>
          </a:bodyPr>
          <a:lstStyle/>
          <a:p>
            <a:pPr indent="0" marL="0">
              <a:buNone/>
            </a:pPr>
            <a:r>
              <a:rPr lang="en-US" sz="950" dirty="0">
                <a:solidFill>
                  <a:srgbClr val="827A75"/>
                </a:solidFill>
                <a:latin typeface="Apple SD Gothic Neo" pitchFamily="34" charset="0"/>
                <a:ea typeface="Apple SD Gothic Neo" pitchFamily="34" charset="-122"/>
                <a:cs typeface="Apple SD Gothic Neo" pitchFamily="34" charset="-120"/>
              </a:rPr>
              <a:t>※ 구현 제약은 고객 문제로 과장하지 않고 MVP 범위 판단 기준으로 사용합니다.</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8F5"/>
        </a:solidFill>
      </p:bgPr>
    </p:bg>
    <p:spTree>
      <p:nvGrpSpPr>
        <p:cNvPr id="1" name=""/>
        <p:cNvGrpSpPr/>
        <p:nvPr/>
      </p:nvGrpSpPr>
      <p:grpSpPr>
        <a:xfrm>
          <a:off x="0" y="0"/>
          <a:ext cx="0" cy="0"/>
          <a:chOff x="0" y="0"/>
          <a:chExt cx="0" cy="0"/>
        </a:xfrm>
      </p:grpSpPr>
      <p:sp>
        <p:nvSpPr>
          <p:cNvPr id="2" name="Shape 0"/>
          <p:cNvSpPr/>
          <p:nvPr/>
        </p:nvSpPr>
        <p:spPr>
          <a:xfrm rot="2700000">
            <a:off x="8046720" y="411480"/>
            <a:ext cx="109728" cy="109728"/>
          </a:xfrm>
          <a:prstGeom prst="rect">
            <a:avLst/>
          </a:prstGeom>
          <a:solidFill>
            <a:srgbClr val="8B5A2B">
              <a:alpha val="10000"/>
            </a:srgbClr>
          </a:solidFill>
          <a:ln w="6350">
            <a:solidFill>
              <a:srgbClr val="8B5A2B">
                <a:alpha val="2000"/>
              </a:srgbClr>
            </a:solidFill>
            <a:prstDash val="solid"/>
          </a:ln>
        </p:spPr>
      </p:sp>
      <p:sp>
        <p:nvSpPr>
          <p:cNvPr id="3" name="Shape 1"/>
          <p:cNvSpPr/>
          <p:nvPr/>
        </p:nvSpPr>
        <p:spPr>
          <a:xfrm rot="2700000">
            <a:off x="8641080" y="411480"/>
            <a:ext cx="109728" cy="109728"/>
          </a:xfrm>
          <a:prstGeom prst="rect">
            <a:avLst/>
          </a:prstGeom>
          <a:solidFill>
            <a:srgbClr val="8B5A2B">
              <a:alpha val="10000"/>
            </a:srgbClr>
          </a:solidFill>
          <a:ln w="6350">
            <a:solidFill>
              <a:srgbClr val="8B5A2B">
                <a:alpha val="2000"/>
              </a:srgbClr>
            </a:solidFill>
            <a:prstDash val="solid"/>
          </a:ln>
        </p:spPr>
      </p:sp>
      <p:sp>
        <p:nvSpPr>
          <p:cNvPr id="4" name="Shape 2"/>
          <p:cNvSpPr/>
          <p:nvPr/>
        </p:nvSpPr>
        <p:spPr>
          <a:xfrm rot="2700000">
            <a:off x="9235440" y="411480"/>
            <a:ext cx="109728" cy="109728"/>
          </a:xfrm>
          <a:prstGeom prst="rect">
            <a:avLst/>
          </a:prstGeom>
          <a:solidFill>
            <a:srgbClr val="8B5A2B">
              <a:alpha val="10000"/>
            </a:srgbClr>
          </a:solidFill>
          <a:ln w="6350">
            <a:solidFill>
              <a:srgbClr val="8B5A2B">
                <a:alpha val="2000"/>
              </a:srgbClr>
            </a:solidFill>
            <a:prstDash val="solid"/>
          </a:ln>
        </p:spPr>
      </p:sp>
      <p:sp>
        <p:nvSpPr>
          <p:cNvPr id="5" name="Shape 3"/>
          <p:cNvSpPr/>
          <p:nvPr/>
        </p:nvSpPr>
        <p:spPr>
          <a:xfrm rot="2700000">
            <a:off x="9829800" y="411480"/>
            <a:ext cx="109728" cy="109728"/>
          </a:xfrm>
          <a:prstGeom prst="rect">
            <a:avLst/>
          </a:prstGeom>
          <a:solidFill>
            <a:srgbClr val="8B5A2B">
              <a:alpha val="10000"/>
            </a:srgbClr>
          </a:solidFill>
          <a:ln w="6350">
            <a:solidFill>
              <a:srgbClr val="8B5A2B">
                <a:alpha val="2000"/>
              </a:srgbClr>
            </a:solidFill>
            <a:prstDash val="solid"/>
          </a:ln>
        </p:spPr>
      </p:sp>
      <p:sp>
        <p:nvSpPr>
          <p:cNvPr id="6" name="Shape 4"/>
          <p:cNvSpPr/>
          <p:nvPr/>
        </p:nvSpPr>
        <p:spPr>
          <a:xfrm rot="2700000">
            <a:off x="10424160" y="411480"/>
            <a:ext cx="109728" cy="109728"/>
          </a:xfrm>
          <a:prstGeom prst="rect">
            <a:avLst/>
          </a:prstGeom>
          <a:solidFill>
            <a:srgbClr val="8B5A2B">
              <a:alpha val="10000"/>
            </a:srgbClr>
          </a:solidFill>
          <a:ln w="6350">
            <a:solidFill>
              <a:srgbClr val="8B5A2B">
                <a:alpha val="2000"/>
              </a:srgbClr>
            </a:solidFill>
            <a:prstDash val="solid"/>
          </a:ln>
        </p:spPr>
      </p:sp>
      <p:sp>
        <p:nvSpPr>
          <p:cNvPr id="7" name="Shape 5"/>
          <p:cNvSpPr/>
          <p:nvPr/>
        </p:nvSpPr>
        <p:spPr>
          <a:xfrm rot="2700000">
            <a:off x="11018520" y="411480"/>
            <a:ext cx="109728" cy="109728"/>
          </a:xfrm>
          <a:prstGeom prst="rect">
            <a:avLst/>
          </a:prstGeom>
          <a:solidFill>
            <a:srgbClr val="8B5A2B">
              <a:alpha val="10000"/>
            </a:srgbClr>
          </a:solidFill>
          <a:ln w="6350">
            <a:solidFill>
              <a:srgbClr val="8B5A2B">
                <a:alpha val="2000"/>
              </a:srgbClr>
            </a:solidFill>
            <a:prstDash val="solid"/>
          </a:ln>
        </p:spPr>
      </p:sp>
      <p:sp>
        <p:nvSpPr>
          <p:cNvPr id="8" name="Shape 6"/>
          <p:cNvSpPr/>
          <p:nvPr/>
        </p:nvSpPr>
        <p:spPr>
          <a:xfrm rot="2700000">
            <a:off x="11612880" y="411480"/>
            <a:ext cx="109728" cy="109728"/>
          </a:xfrm>
          <a:prstGeom prst="rect">
            <a:avLst/>
          </a:prstGeom>
          <a:solidFill>
            <a:srgbClr val="8B5A2B">
              <a:alpha val="10000"/>
            </a:srgbClr>
          </a:solidFill>
          <a:ln w="6350">
            <a:solidFill>
              <a:srgbClr val="8B5A2B">
                <a:alpha val="2000"/>
              </a:srgbClr>
            </a:solidFill>
            <a:prstDash val="solid"/>
          </a:ln>
        </p:spPr>
      </p:sp>
      <p:sp>
        <p:nvSpPr>
          <p:cNvPr id="9" name="Shape 7"/>
          <p:cNvSpPr/>
          <p:nvPr/>
        </p:nvSpPr>
        <p:spPr>
          <a:xfrm rot="2700000">
            <a:off x="8339328" y="1005840"/>
            <a:ext cx="109728" cy="109728"/>
          </a:xfrm>
          <a:prstGeom prst="rect">
            <a:avLst/>
          </a:prstGeom>
          <a:solidFill>
            <a:srgbClr val="8B5A2B">
              <a:alpha val="10000"/>
            </a:srgbClr>
          </a:solidFill>
          <a:ln w="6350">
            <a:solidFill>
              <a:srgbClr val="8B5A2B">
                <a:alpha val="2000"/>
              </a:srgbClr>
            </a:solidFill>
            <a:prstDash val="solid"/>
          </a:ln>
        </p:spPr>
      </p:sp>
      <p:sp>
        <p:nvSpPr>
          <p:cNvPr id="10" name="Shape 8"/>
          <p:cNvSpPr/>
          <p:nvPr/>
        </p:nvSpPr>
        <p:spPr>
          <a:xfrm rot="2700000">
            <a:off x="8933688" y="1005840"/>
            <a:ext cx="109728" cy="109728"/>
          </a:xfrm>
          <a:prstGeom prst="rect">
            <a:avLst/>
          </a:prstGeom>
          <a:solidFill>
            <a:srgbClr val="8B5A2B">
              <a:alpha val="10000"/>
            </a:srgbClr>
          </a:solidFill>
          <a:ln w="6350">
            <a:solidFill>
              <a:srgbClr val="8B5A2B">
                <a:alpha val="2000"/>
              </a:srgbClr>
            </a:solidFill>
            <a:prstDash val="solid"/>
          </a:ln>
        </p:spPr>
      </p:sp>
      <p:sp>
        <p:nvSpPr>
          <p:cNvPr id="11" name="Shape 9"/>
          <p:cNvSpPr/>
          <p:nvPr/>
        </p:nvSpPr>
        <p:spPr>
          <a:xfrm rot="2700000">
            <a:off x="9528048" y="1005840"/>
            <a:ext cx="109728" cy="109728"/>
          </a:xfrm>
          <a:prstGeom prst="rect">
            <a:avLst/>
          </a:prstGeom>
          <a:solidFill>
            <a:srgbClr val="8B5A2B">
              <a:alpha val="10000"/>
            </a:srgbClr>
          </a:solidFill>
          <a:ln w="6350">
            <a:solidFill>
              <a:srgbClr val="8B5A2B">
                <a:alpha val="2000"/>
              </a:srgbClr>
            </a:solidFill>
            <a:prstDash val="solid"/>
          </a:ln>
        </p:spPr>
      </p:sp>
      <p:sp>
        <p:nvSpPr>
          <p:cNvPr id="12" name="Shape 10"/>
          <p:cNvSpPr/>
          <p:nvPr/>
        </p:nvSpPr>
        <p:spPr>
          <a:xfrm rot="2700000">
            <a:off x="10122408" y="1005840"/>
            <a:ext cx="109728" cy="109728"/>
          </a:xfrm>
          <a:prstGeom prst="rect">
            <a:avLst/>
          </a:prstGeom>
          <a:solidFill>
            <a:srgbClr val="8B5A2B">
              <a:alpha val="10000"/>
            </a:srgbClr>
          </a:solidFill>
          <a:ln w="6350">
            <a:solidFill>
              <a:srgbClr val="8B5A2B">
                <a:alpha val="2000"/>
              </a:srgbClr>
            </a:solidFill>
            <a:prstDash val="solid"/>
          </a:ln>
        </p:spPr>
      </p:sp>
      <p:sp>
        <p:nvSpPr>
          <p:cNvPr id="13" name="Shape 11"/>
          <p:cNvSpPr/>
          <p:nvPr/>
        </p:nvSpPr>
        <p:spPr>
          <a:xfrm rot="2700000">
            <a:off x="10716768" y="1005840"/>
            <a:ext cx="109728" cy="109728"/>
          </a:xfrm>
          <a:prstGeom prst="rect">
            <a:avLst/>
          </a:prstGeom>
          <a:solidFill>
            <a:srgbClr val="8B5A2B">
              <a:alpha val="10000"/>
            </a:srgbClr>
          </a:solidFill>
          <a:ln w="6350">
            <a:solidFill>
              <a:srgbClr val="8B5A2B">
                <a:alpha val="2000"/>
              </a:srgbClr>
            </a:solidFill>
            <a:prstDash val="solid"/>
          </a:ln>
        </p:spPr>
      </p:sp>
      <p:sp>
        <p:nvSpPr>
          <p:cNvPr id="14" name="Shape 12"/>
          <p:cNvSpPr/>
          <p:nvPr/>
        </p:nvSpPr>
        <p:spPr>
          <a:xfrm rot="2700000">
            <a:off x="11311128" y="1005840"/>
            <a:ext cx="109728" cy="109728"/>
          </a:xfrm>
          <a:prstGeom prst="rect">
            <a:avLst/>
          </a:prstGeom>
          <a:solidFill>
            <a:srgbClr val="8B5A2B">
              <a:alpha val="10000"/>
            </a:srgbClr>
          </a:solidFill>
          <a:ln w="6350">
            <a:solidFill>
              <a:srgbClr val="8B5A2B">
                <a:alpha val="2000"/>
              </a:srgbClr>
            </a:solidFill>
            <a:prstDash val="solid"/>
          </a:ln>
        </p:spPr>
      </p:sp>
      <p:sp>
        <p:nvSpPr>
          <p:cNvPr id="15" name="Shape 13"/>
          <p:cNvSpPr/>
          <p:nvPr/>
        </p:nvSpPr>
        <p:spPr>
          <a:xfrm rot="2700000">
            <a:off x="11905488" y="1005840"/>
            <a:ext cx="109728" cy="109728"/>
          </a:xfrm>
          <a:prstGeom prst="rect">
            <a:avLst/>
          </a:prstGeom>
          <a:solidFill>
            <a:srgbClr val="8B5A2B">
              <a:alpha val="10000"/>
            </a:srgbClr>
          </a:solidFill>
          <a:ln w="6350">
            <a:solidFill>
              <a:srgbClr val="8B5A2B">
                <a:alpha val="2000"/>
              </a:srgbClr>
            </a:solidFill>
            <a:prstDash val="solid"/>
          </a:ln>
        </p:spPr>
      </p:sp>
      <p:sp>
        <p:nvSpPr>
          <p:cNvPr id="16" name="Shape 14"/>
          <p:cNvSpPr/>
          <p:nvPr/>
        </p:nvSpPr>
        <p:spPr>
          <a:xfrm rot="2700000">
            <a:off x="8046720" y="1600200"/>
            <a:ext cx="109728" cy="109728"/>
          </a:xfrm>
          <a:prstGeom prst="rect">
            <a:avLst/>
          </a:prstGeom>
          <a:solidFill>
            <a:srgbClr val="8B5A2B">
              <a:alpha val="10000"/>
            </a:srgbClr>
          </a:solidFill>
          <a:ln w="6350">
            <a:solidFill>
              <a:srgbClr val="8B5A2B">
                <a:alpha val="2000"/>
              </a:srgbClr>
            </a:solidFill>
            <a:prstDash val="solid"/>
          </a:ln>
        </p:spPr>
      </p:sp>
      <p:sp>
        <p:nvSpPr>
          <p:cNvPr id="17" name="Shape 15"/>
          <p:cNvSpPr/>
          <p:nvPr/>
        </p:nvSpPr>
        <p:spPr>
          <a:xfrm rot="2700000">
            <a:off x="8641080" y="1600200"/>
            <a:ext cx="109728" cy="109728"/>
          </a:xfrm>
          <a:prstGeom prst="rect">
            <a:avLst/>
          </a:prstGeom>
          <a:solidFill>
            <a:srgbClr val="8B5A2B">
              <a:alpha val="10000"/>
            </a:srgbClr>
          </a:solidFill>
          <a:ln w="6350">
            <a:solidFill>
              <a:srgbClr val="8B5A2B">
                <a:alpha val="2000"/>
              </a:srgbClr>
            </a:solidFill>
            <a:prstDash val="solid"/>
          </a:ln>
        </p:spPr>
      </p:sp>
      <p:sp>
        <p:nvSpPr>
          <p:cNvPr id="18" name="Shape 16"/>
          <p:cNvSpPr/>
          <p:nvPr/>
        </p:nvSpPr>
        <p:spPr>
          <a:xfrm rot="2700000">
            <a:off x="9235440" y="1600200"/>
            <a:ext cx="109728" cy="109728"/>
          </a:xfrm>
          <a:prstGeom prst="rect">
            <a:avLst/>
          </a:prstGeom>
          <a:solidFill>
            <a:srgbClr val="8B5A2B">
              <a:alpha val="10000"/>
            </a:srgbClr>
          </a:solidFill>
          <a:ln w="6350">
            <a:solidFill>
              <a:srgbClr val="8B5A2B">
                <a:alpha val="2000"/>
              </a:srgbClr>
            </a:solidFill>
            <a:prstDash val="solid"/>
          </a:ln>
        </p:spPr>
      </p:sp>
      <p:sp>
        <p:nvSpPr>
          <p:cNvPr id="19" name="Shape 17"/>
          <p:cNvSpPr/>
          <p:nvPr/>
        </p:nvSpPr>
        <p:spPr>
          <a:xfrm rot="2700000">
            <a:off x="9829800" y="1600200"/>
            <a:ext cx="109728" cy="109728"/>
          </a:xfrm>
          <a:prstGeom prst="rect">
            <a:avLst/>
          </a:prstGeom>
          <a:solidFill>
            <a:srgbClr val="8B5A2B">
              <a:alpha val="10000"/>
            </a:srgbClr>
          </a:solidFill>
          <a:ln w="6350">
            <a:solidFill>
              <a:srgbClr val="8B5A2B">
                <a:alpha val="2000"/>
              </a:srgbClr>
            </a:solidFill>
            <a:prstDash val="solid"/>
          </a:ln>
        </p:spPr>
      </p:sp>
      <p:sp>
        <p:nvSpPr>
          <p:cNvPr id="20" name="Shape 18"/>
          <p:cNvSpPr/>
          <p:nvPr/>
        </p:nvSpPr>
        <p:spPr>
          <a:xfrm rot="2700000">
            <a:off x="10424160" y="1600200"/>
            <a:ext cx="109728" cy="109728"/>
          </a:xfrm>
          <a:prstGeom prst="rect">
            <a:avLst/>
          </a:prstGeom>
          <a:solidFill>
            <a:srgbClr val="8B5A2B">
              <a:alpha val="10000"/>
            </a:srgbClr>
          </a:solidFill>
          <a:ln w="6350">
            <a:solidFill>
              <a:srgbClr val="8B5A2B">
                <a:alpha val="2000"/>
              </a:srgbClr>
            </a:solidFill>
            <a:prstDash val="solid"/>
          </a:ln>
        </p:spPr>
      </p:sp>
      <p:sp>
        <p:nvSpPr>
          <p:cNvPr id="21" name="Shape 19"/>
          <p:cNvSpPr/>
          <p:nvPr/>
        </p:nvSpPr>
        <p:spPr>
          <a:xfrm rot="2700000">
            <a:off x="11018520" y="1600200"/>
            <a:ext cx="109728" cy="109728"/>
          </a:xfrm>
          <a:prstGeom prst="rect">
            <a:avLst/>
          </a:prstGeom>
          <a:solidFill>
            <a:srgbClr val="8B5A2B">
              <a:alpha val="10000"/>
            </a:srgbClr>
          </a:solidFill>
          <a:ln w="6350">
            <a:solidFill>
              <a:srgbClr val="8B5A2B">
                <a:alpha val="2000"/>
              </a:srgbClr>
            </a:solidFill>
            <a:prstDash val="solid"/>
          </a:ln>
        </p:spPr>
      </p:sp>
      <p:sp>
        <p:nvSpPr>
          <p:cNvPr id="22" name="Shape 20"/>
          <p:cNvSpPr/>
          <p:nvPr/>
        </p:nvSpPr>
        <p:spPr>
          <a:xfrm rot="2700000">
            <a:off x="11612880" y="1600200"/>
            <a:ext cx="109728" cy="109728"/>
          </a:xfrm>
          <a:prstGeom prst="rect">
            <a:avLst/>
          </a:prstGeom>
          <a:solidFill>
            <a:srgbClr val="8B5A2B">
              <a:alpha val="10000"/>
            </a:srgbClr>
          </a:solidFill>
          <a:ln w="6350">
            <a:solidFill>
              <a:srgbClr val="8B5A2B">
                <a:alpha val="2000"/>
              </a:srgbClr>
            </a:solidFill>
            <a:prstDash val="solid"/>
          </a:ln>
        </p:spPr>
      </p:sp>
      <p:sp>
        <p:nvSpPr>
          <p:cNvPr id="23" name="Text 21"/>
          <p:cNvSpPr/>
          <p:nvPr/>
        </p:nvSpPr>
        <p:spPr>
          <a:xfrm>
            <a:off x="685800" y="411480"/>
            <a:ext cx="2926080" cy="201168"/>
          </a:xfrm>
          <a:prstGeom prst="rect">
            <a:avLst/>
          </a:prstGeom>
          <a:noFill/>
          <a:ln/>
        </p:spPr>
        <p:txBody>
          <a:bodyPr wrap="square" lIns="0" tIns="0" rIns="0" bIns="0" rtlCol="0" anchor="ctr">
            <a:normAutofit/>
          </a:bodyPr>
          <a:lstStyle/>
          <a:p>
            <a:pPr indent="0" marL="0">
              <a:buNone/>
            </a:pPr>
            <a:r>
              <a:rPr lang="en-US" sz="900" b="1" spc="210" kern="0" dirty="0">
                <a:solidFill>
                  <a:srgbClr val="8B5A2B"/>
                </a:solidFill>
                <a:latin typeface="Apple SD Gothic Neo" pitchFamily="34" charset="0"/>
                <a:ea typeface="Apple SD Gothic Neo" pitchFamily="34" charset="-122"/>
                <a:cs typeface="Apple SD Gothic Neo" pitchFamily="34" charset="-120"/>
              </a:rPr>
              <a:t>USER INSIGHT</a:t>
            </a:r>
            <a:endParaRPr lang="en-US" sz="900" dirty="0"/>
          </a:p>
        </p:txBody>
      </p:sp>
      <p:sp>
        <p:nvSpPr>
          <p:cNvPr id="24" name="Text 22"/>
          <p:cNvSpPr/>
          <p:nvPr/>
        </p:nvSpPr>
        <p:spPr>
          <a:xfrm>
            <a:off x="685800" y="749808"/>
            <a:ext cx="10789920" cy="841248"/>
          </a:xfrm>
          <a:prstGeom prst="rect">
            <a:avLst/>
          </a:prstGeom>
          <a:noFill/>
          <a:ln/>
        </p:spPr>
        <p:txBody>
          <a:bodyPr wrap="square" lIns="0" tIns="0" rIns="0" bIns="0" rtlCol="0" anchor="t">
            <a:normAutofit/>
          </a:bodyPr>
          <a:lstStyle/>
          <a:p>
            <a:pPr indent="0" marL="0">
              <a:lnSpc>
                <a:spcPct val="88000"/>
              </a:lnSpc>
              <a:buNone/>
            </a:pPr>
            <a:r>
              <a:rPr lang="en-US" sz="2600" b="1" dirty="0">
                <a:solidFill>
                  <a:srgbClr val="1C1917"/>
                </a:solidFill>
                <a:latin typeface="Apple SD Gothic Neo" pitchFamily="34" charset="0"/>
                <a:ea typeface="Apple SD Gothic Neo" pitchFamily="34" charset="-122"/>
                <a:cs typeface="Apple SD Gothic Neo" pitchFamily="34" charset="-120"/>
              </a:rPr>
              <a:t>가격보다 시간을 기록할 때,</a:t>
            </a:r>
            <a:endParaRPr lang="en-US" sz="2600" dirty="0"/>
          </a:p>
          <a:p>
            <a:pPr indent="0" marL="0">
              <a:lnSpc>
                <a:spcPct val="88000"/>
              </a:lnSpc>
              <a:buNone/>
            </a:pPr>
            <a:r>
              <a:rPr lang="en-US" sz="2600" b="1" dirty="0">
                <a:solidFill>
                  <a:srgbClr val="1C1917"/>
                </a:solidFill>
                <a:latin typeface="Apple SD Gothic Neo" pitchFamily="34" charset="0"/>
                <a:ea typeface="Apple SD Gothic Neo" pitchFamily="34" charset="-122"/>
                <a:cs typeface="Apple SD Gothic Neo" pitchFamily="34" charset="-120"/>
              </a:rPr>
              <a:t>소비는 관계가 됩니다</a:t>
            </a:r>
            <a:endParaRPr lang="en-US" sz="2600" dirty="0"/>
          </a:p>
        </p:txBody>
      </p:sp>
      <p:sp>
        <p:nvSpPr>
          <p:cNvPr id="25" name="Text 23"/>
          <p:cNvSpPr/>
          <p:nvPr/>
        </p:nvSpPr>
        <p:spPr>
          <a:xfrm>
            <a:off x="694944" y="1581912"/>
            <a:ext cx="9875520" cy="347472"/>
          </a:xfrm>
          <a:prstGeom prst="rect">
            <a:avLst/>
          </a:prstGeom>
          <a:noFill/>
          <a:ln/>
        </p:spPr>
        <p:txBody>
          <a:bodyPr wrap="square" lIns="0" tIns="0" rIns="0" bIns="0" rtlCol="0" anchor="t">
            <a:normAutofit/>
          </a:bodyPr>
          <a:lstStyle/>
          <a:p>
            <a:pPr indent="0" marL="0">
              <a:buNone/>
            </a:pPr>
            <a:r>
              <a:rPr lang="en-US" sz="1150" dirty="0">
                <a:solidFill>
                  <a:srgbClr val="77706A"/>
                </a:solidFill>
                <a:latin typeface="Apple SD Gothic Neo" pitchFamily="34" charset="0"/>
                <a:ea typeface="Apple SD Gothic Neo" pitchFamily="34" charset="-122"/>
                <a:cs typeface="Apple SD Gothic Neo" pitchFamily="34" charset="-120"/>
              </a:rPr>
              <a:t>Primary persona hypothesis · 서지우, 28세, 경험 중심 소비자</a:t>
            </a:r>
            <a:endParaRPr lang="en-US" sz="1150" dirty="0"/>
          </a:p>
        </p:txBody>
      </p:sp>
      <p:sp>
        <p:nvSpPr>
          <p:cNvPr id="26" name="Text 24"/>
          <p:cNvSpPr/>
          <p:nvPr/>
        </p:nvSpPr>
        <p:spPr>
          <a:xfrm>
            <a:off x="658368" y="6473952"/>
            <a:ext cx="2286000" cy="182880"/>
          </a:xfrm>
          <a:prstGeom prst="rect">
            <a:avLst/>
          </a:prstGeom>
          <a:noFill/>
          <a:ln/>
        </p:spPr>
        <p:txBody>
          <a:bodyPr wrap="square" lIns="0" tIns="0" rIns="0" bIns="0" rtlCol="0" anchor="ctr">
            <a:normAutofit/>
          </a:bodyPr>
          <a:lstStyle/>
          <a:p>
            <a:pPr indent="0" marL="0">
              <a:buNone/>
            </a:pPr>
            <a:r>
              <a:rPr lang="en-US" sz="850" spc="140" kern="0" dirty="0">
                <a:solidFill>
                  <a:srgbClr val="77706A"/>
                </a:solidFill>
                <a:latin typeface="Apple SD Gothic Neo" pitchFamily="34" charset="0"/>
                <a:ea typeface="Apple SD Gothic Neo" pitchFamily="34" charset="-122"/>
                <a:cs typeface="Apple SD Gothic Neo" pitchFamily="34" charset="-120"/>
              </a:rPr>
              <a:t>MCM · STORYBOOK</a:t>
            </a:r>
            <a:endParaRPr lang="en-US" sz="850" dirty="0"/>
          </a:p>
        </p:txBody>
      </p:sp>
      <p:sp>
        <p:nvSpPr>
          <p:cNvPr id="27" name="Text 25"/>
          <p:cNvSpPr/>
          <p:nvPr/>
        </p:nvSpPr>
        <p:spPr>
          <a:xfrm>
            <a:off x="11155680" y="6473952"/>
            <a:ext cx="384048" cy="182880"/>
          </a:xfrm>
          <a:prstGeom prst="rect">
            <a:avLst/>
          </a:prstGeom>
          <a:noFill/>
          <a:ln/>
        </p:spPr>
        <p:txBody>
          <a:bodyPr wrap="square" lIns="0" tIns="0" rIns="0" bIns="0" rtlCol="0" anchor="ctr">
            <a:normAutofit/>
          </a:bodyPr>
          <a:lstStyle/>
          <a:p>
            <a:pPr algn="r" indent="0" marL="0">
              <a:buNone/>
            </a:pPr>
            <a:r>
              <a:rPr lang="en-US" sz="850" dirty="0">
                <a:solidFill>
                  <a:srgbClr val="77706A"/>
                </a:solidFill>
                <a:latin typeface="Apple SD Gothic Neo" pitchFamily="34" charset="0"/>
                <a:ea typeface="Apple SD Gothic Neo" pitchFamily="34" charset="-122"/>
                <a:cs typeface="Apple SD Gothic Neo" pitchFamily="34" charset="-120"/>
              </a:rPr>
              <a:t>03</a:t>
            </a:r>
            <a:endParaRPr lang="en-US" sz="850" dirty="0"/>
          </a:p>
        </p:txBody>
      </p:sp>
      <p:sp>
        <p:nvSpPr>
          <p:cNvPr id="28" name="Shape 26"/>
          <p:cNvSpPr/>
          <p:nvPr/>
        </p:nvSpPr>
        <p:spPr>
          <a:xfrm>
            <a:off x="713232" y="2212848"/>
            <a:ext cx="2971800" cy="3401568"/>
          </a:xfrm>
          <a:prstGeom prst="roundRect">
            <a:avLst>
              <a:gd name="adj" fmla="val 4308"/>
            </a:avLst>
          </a:prstGeom>
          <a:solidFill>
            <a:srgbClr val="FFFFFF"/>
          </a:solidFill>
          <a:ln w="10160">
            <a:solidFill>
              <a:srgbClr val="E9E0D6"/>
            </a:solidFill>
            <a:prstDash val="solid"/>
          </a:ln>
          <a:effectLst>
            <a:outerShdw sx="100000" sy="100000" kx="0" ky="0" algn="bl" rotWithShape="0" blurRad="25400" dist="50800" dir="2700000">
              <a:srgbClr val="1C1917">
                <a:alpha val="13000"/>
              </a:srgbClr>
            </a:outerShdw>
          </a:effectLst>
        </p:spPr>
      </p:sp>
      <p:sp>
        <p:nvSpPr>
          <p:cNvPr id="29" name="Text 27"/>
          <p:cNvSpPr/>
          <p:nvPr/>
        </p:nvSpPr>
        <p:spPr>
          <a:xfrm>
            <a:off x="987552" y="2514600"/>
            <a:ext cx="2286000" cy="210312"/>
          </a:xfrm>
          <a:prstGeom prst="rect">
            <a:avLst/>
          </a:prstGeom>
          <a:noFill/>
          <a:ln/>
        </p:spPr>
        <p:txBody>
          <a:bodyPr wrap="square" lIns="0" tIns="0" rIns="0" bIns="0" rtlCol="0" anchor="ctr">
            <a:normAutofit/>
          </a:bodyPr>
          <a:lstStyle/>
          <a:p>
            <a:pPr indent="0" marL="0">
              <a:buNone/>
            </a:pPr>
            <a:r>
              <a:rPr lang="en-US" sz="850" b="1" spc="160" kern="0" dirty="0">
                <a:solidFill>
                  <a:srgbClr val="8B5A2B"/>
                </a:solidFill>
                <a:latin typeface="Apple SD Gothic Neo" pitchFamily="34" charset="0"/>
                <a:ea typeface="Apple SD Gothic Neo" pitchFamily="34" charset="-122"/>
                <a:cs typeface="Apple SD Gothic Neo" pitchFamily="34" charset="-120"/>
              </a:rPr>
              <a:t>PRIMARY PERSONA</a:t>
            </a:r>
            <a:endParaRPr lang="en-US" sz="850" dirty="0"/>
          </a:p>
        </p:txBody>
      </p:sp>
      <p:sp>
        <p:nvSpPr>
          <p:cNvPr id="30" name="Text 28"/>
          <p:cNvSpPr/>
          <p:nvPr/>
        </p:nvSpPr>
        <p:spPr>
          <a:xfrm>
            <a:off x="987552" y="2926080"/>
            <a:ext cx="2286000" cy="420624"/>
          </a:xfrm>
          <a:prstGeom prst="rect">
            <a:avLst/>
          </a:prstGeom>
          <a:noFill/>
          <a:ln/>
        </p:spPr>
        <p:txBody>
          <a:bodyPr wrap="square" lIns="0" tIns="0" rIns="0" bIns="0" rtlCol="0" anchor="ctr">
            <a:normAutofit/>
          </a:bodyPr>
          <a:lstStyle/>
          <a:p>
            <a:pPr indent="0" marL="0">
              <a:buNone/>
            </a:pPr>
            <a:r>
              <a:rPr lang="en-US" sz="2200" b="1" dirty="0">
                <a:solidFill>
                  <a:srgbClr val="1C1917"/>
                </a:solidFill>
                <a:latin typeface="Apple SD Gothic Neo" pitchFamily="34" charset="0"/>
                <a:ea typeface="Apple SD Gothic Neo" pitchFamily="34" charset="-122"/>
                <a:cs typeface="Apple SD Gothic Neo" pitchFamily="34" charset="-120"/>
              </a:rPr>
              <a:t>서지우 · 28</a:t>
            </a:r>
            <a:endParaRPr lang="en-US" sz="2200" dirty="0"/>
          </a:p>
        </p:txBody>
      </p:sp>
      <p:sp>
        <p:nvSpPr>
          <p:cNvPr id="31" name="Text 29"/>
          <p:cNvSpPr/>
          <p:nvPr/>
        </p:nvSpPr>
        <p:spPr>
          <a:xfrm>
            <a:off x="987552" y="3566160"/>
            <a:ext cx="2240280" cy="1005840"/>
          </a:xfrm>
          <a:prstGeom prst="rect">
            <a:avLst/>
          </a:prstGeom>
          <a:noFill/>
          <a:ln/>
        </p:spPr>
        <p:txBody>
          <a:bodyPr wrap="square" lIns="0" tIns="0" rIns="0" bIns="0" rtlCol="0" anchor="t">
            <a:normAutofit/>
          </a:bodyPr>
          <a:lstStyle/>
          <a:p>
            <a:pPr indent="0" marL="0">
              <a:lnSpc>
                <a:spcPct val="108000"/>
              </a:lnSpc>
              <a:buNone/>
            </a:pPr>
            <a:r>
              <a:rPr lang="en-US" sz="1200" dirty="0">
                <a:solidFill>
                  <a:srgbClr val="77706A"/>
                </a:solidFill>
                <a:latin typeface="Apple SD Gothic Neo" pitchFamily="34" charset="0"/>
                <a:ea typeface="Apple SD Gothic Neo" pitchFamily="34" charset="-122"/>
                <a:cs typeface="Apple SD Gothic Neo" pitchFamily="34" charset="-120"/>
              </a:rPr>
              <a:t>뷰티 브랜드 마케터</a:t>
            </a:r>
            <a:endParaRPr lang="en-US" sz="1200" dirty="0"/>
          </a:p>
          <a:p>
            <a:pPr indent="0" marL="0">
              <a:lnSpc>
                <a:spcPct val="108000"/>
              </a:lnSpc>
              <a:buNone/>
            </a:pPr>
            <a:r>
              <a:rPr lang="en-US" sz="1200" dirty="0">
                <a:solidFill>
                  <a:srgbClr val="77706A"/>
                </a:solidFill>
                <a:latin typeface="Apple SD Gothic Neo" pitchFamily="34" charset="0"/>
                <a:ea typeface="Apple SD Gothic Neo" pitchFamily="34" charset="-122"/>
                <a:cs typeface="Apple SD Gothic Neo" pitchFamily="34" charset="-120"/>
              </a:rPr>
              <a:t>첫 자가 구매 MCM 백팩</a:t>
            </a:r>
            <a:endParaRPr lang="en-US" sz="1200" dirty="0"/>
          </a:p>
          <a:p>
            <a:pPr indent="0" marL="0">
              <a:lnSpc>
                <a:spcPct val="108000"/>
              </a:lnSpc>
              <a:buNone/>
            </a:pPr>
            <a:r>
              <a:rPr lang="en-US" sz="1200" dirty="0">
                <a:solidFill>
                  <a:srgbClr val="77706A"/>
                </a:solidFill>
                <a:latin typeface="Apple SD Gothic Neo" pitchFamily="34" charset="0"/>
                <a:ea typeface="Apple SD Gothic Neo" pitchFamily="34" charset="-122"/>
                <a:cs typeface="Apple SD Gothic Neo" pitchFamily="34" charset="-120"/>
              </a:rPr>
              <a:t>주 4회 사용 · 앱 설치에 인색</a:t>
            </a:r>
            <a:endParaRPr lang="en-US" sz="1200" dirty="0"/>
          </a:p>
        </p:txBody>
      </p:sp>
      <p:sp>
        <p:nvSpPr>
          <p:cNvPr id="32" name="Text 30"/>
          <p:cNvSpPr/>
          <p:nvPr/>
        </p:nvSpPr>
        <p:spPr>
          <a:xfrm>
            <a:off x="987552" y="4754880"/>
            <a:ext cx="2267712" cy="566928"/>
          </a:xfrm>
          <a:prstGeom prst="rect">
            <a:avLst/>
          </a:prstGeom>
          <a:noFill/>
          <a:ln/>
        </p:spPr>
        <p:txBody>
          <a:bodyPr wrap="square" lIns="0" tIns="0" rIns="0" bIns="0" rtlCol="0" anchor="t">
            <a:normAutofit/>
          </a:bodyPr>
          <a:lstStyle/>
          <a:p>
            <a:pPr indent="0" marL="0">
              <a:buNone/>
            </a:pPr>
            <a:r>
              <a:rPr lang="en-US" sz="1400" b="1" dirty="0">
                <a:solidFill>
                  <a:srgbClr val="8B5A2B"/>
                </a:solidFill>
                <a:latin typeface="Apple SD Gothic Neo" pitchFamily="34" charset="0"/>
                <a:ea typeface="Apple SD Gothic Neo" pitchFamily="34" charset="-122"/>
                <a:cs typeface="Apple SD Gothic Neo" pitchFamily="34" charset="-120"/>
              </a:rPr>
              <a:t>“무리해서 산 게 아니라</a:t>
            </a:r>
            <a:endParaRPr lang="en-US" sz="1400" dirty="0"/>
          </a:p>
          <a:p>
            <a:pPr indent="0" marL="0">
              <a:buNone/>
            </a:pPr>
            <a:r>
              <a:rPr lang="en-US" sz="1400" b="1" dirty="0">
                <a:solidFill>
                  <a:srgbClr val="8B5A2B"/>
                </a:solidFill>
                <a:latin typeface="Apple SD Gothic Neo" pitchFamily="34" charset="0"/>
                <a:ea typeface="Apple SD Gothic Neo" pitchFamily="34" charset="-122"/>
                <a:cs typeface="Apple SD Gothic Neo" pitchFamily="34" charset="-120"/>
              </a:rPr>
              <a:t>오래 잘 쓰고 있어요.”</a:t>
            </a:r>
            <a:endParaRPr lang="en-US" sz="1400" dirty="0"/>
          </a:p>
        </p:txBody>
      </p:sp>
      <p:sp>
        <p:nvSpPr>
          <p:cNvPr id="33" name="Shape 31"/>
          <p:cNvSpPr/>
          <p:nvPr/>
        </p:nvSpPr>
        <p:spPr>
          <a:xfrm rot="2700000">
            <a:off x="4315968" y="2505456"/>
            <a:ext cx="146304" cy="146304"/>
          </a:xfrm>
          <a:prstGeom prst="rect">
            <a:avLst/>
          </a:prstGeom>
          <a:solidFill>
            <a:srgbClr val="8B5A2B"/>
          </a:solidFill>
          <a:ln w="6350">
            <a:solidFill>
              <a:srgbClr val="8B5A2B">
                <a:alpha val="92000"/>
              </a:srgbClr>
            </a:solidFill>
            <a:prstDash val="solid"/>
          </a:ln>
        </p:spPr>
      </p:sp>
      <p:sp>
        <p:nvSpPr>
          <p:cNvPr id="34" name="Shape 32"/>
          <p:cNvSpPr/>
          <p:nvPr/>
        </p:nvSpPr>
        <p:spPr>
          <a:xfrm>
            <a:off x="4389120" y="2724912"/>
            <a:ext cx="0" cy="786384"/>
          </a:xfrm>
          <a:prstGeom prst="line">
            <a:avLst/>
          </a:prstGeom>
          <a:noFill/>
          <a:ln w="12700">
            <a:solidFill>
              <a:srgbClr val="A48F7A"/>
            </a:solidFill>
            <a:prstDash val="solid"/>
          </a:ln>
        </p:spPr>
      </p:sp>
      <p:sp>
        <p:nvSpPr>
          <p:cNvPr id="35" name="Text 33"/>
          <p:cNvSpPr/>
          <p:nvPr/>
        </p:nvSpPr>
        <p:spPr>
          <a:xfrm>
            <a:off x="4754880" y="2395728"/>
            <a:ext cx="2011680" cy="347472"/>
          </a:xfrm>
          <a:prstGeom prst="rect">
            <a:avLst/>
          </a:prstGeom>
          <a:noFill/>
          <a:ln/>
        </p:spPr>
        <p:txBody>
          <a:bodyPr wrap="square" lIns="0" tIns="0" rIns="0" bIns="0" rtlCol="0" anchor="ctr">
            <a:normAutofit/>
          </a:bodyPr>
          <a:lstStyle/>
          <a:p>
            <a:pPr indent="0" marL="0">
              <a:buNone/>
            </a:pPr>
            <a:r>
              <a:rPr lang="en-US" sz="1700" b="1" dirty="0">
                <a:solidFill>
                  <a:srgbClr val="1C1917"/>
                </a:solidFill>
                <a:latin typeface="Apple SD Gothic Neo" pitchFamily="34" charset="0"/>
                <a:ea typeface="Apple SD Gothic Neo" pitchFamily="34" charset="-122"/>
                <a:cs typeface="Apple SD Gothic Neo" pitchFamily="34" charset="-120"/>
              </a:rPr>
              <a:t>3년 썼다</a:t>
            </a:r>
            <a:endParaRPr lang="en-US" sz="1700" dirty="0"/>
          </a:p>
        </p:txBody>
      </p:sp>
      <p:sp>
        <p:nvSpPr>
          <p:cNvPr id="36" name="Text 34"/>
          <p:cNvSpPr/>
          <p:nvPr/>
        </p:nvSpPr>
        <p:spPr>
          <a:xfrm>
            <a:off x="6812280" y="2423160"/>
            <a:ext cx="3886200" cy="310896"/>
          </a:xfrm>
          <a:prstGeom prst="rect">
            <a:avLst/>
          </a:prstGeom>
          <a:noFill/>
          <a:ln/>
        </p:spPr>
        <p:txBody>
          <a:bodyPr wrap="square" lIns="0" tIns="0" rIns="0" bIns="0" rtlCol="0" anchor="ctr">
            <a:normAutofit/>
          </a:bodyPr>
          <a:lstStyle/>
          <a:p>
            <a:pPr indent="0" marL="0">
              <a:buNone/>
            </a:pPr>
            <a:r>
              <a:rPr lang="en-US" sz="1100" dirty="0">
                <a:solidFill>
                  <a:srgbClr val="77706A"/>
                </a:solidFill>
                <a:latin typeface="Apple SD Gothic Neo" pitchFamily="34" charset="0"/>
                <a:ea typeface="Apple SD Gothic Neo" pitchFamily="34" charset="-122"/>
                <a:cs typeface="Apple SD Gothic Neo" pitchFamily="34" charset="-120"/>
              </a:rPr>
              <a:t>충동구매가 아니라는 증거</a:t>
            </a:r>
            <a:endParaRPr lang="en-US" sz="1100" dirty="0"/>
          </a:p>
        </p:txBody>
      </p:sp>
      <p:sp>
        <p:nvSpPr>
          <p:cNvPr id="37" name="Shape 35"/>
          <p:cNvSpPr/>
          <p:nvPr/>
        </p:nvSpPr>
        <p:spPr>
          <a:xfrm rot="2700000">
            <a:off x="4315968" y="3575304"/>
            <a:ext cx="146304" cy="146304"/>
          </a:xfrm>
          <a:prstGeom prst="rect">
            <a:avLst/>
          </a:prstGeom>
          <a:solidFill>
            <a:srgbClr val="8B5A2B"/>
          </a:solidFill>
          <a:ln w="6350">
            <a:solidFill>
              <a:srgbClr val="8B5A2B">
                <a:alpha val="92000"/>
              </a:srgbClr>
            </a:solidFill>
            <a:prstDash val="solid"/>
          </a:ln>
        </p:spPr>
      </p:sp>
      <p:sp>
        <p:nvSpPr>
          <p:cNvPr id="38" name="Shape 36"/>
          <p:cNvSpPr/>
          <p:nvPr/>
        </p:nvSpPr>
        <p:spPr>
          <a:xfrm>
            <a:off x="4389120" y="3794760"/>
            <a:ext cx="0" cy="786384"/>
          </a:xfrm>
          <a:prstGeom prst="line">
            <a:avLst/>
          </a:prstGeom>
          <a:noFill/>
          <a:ln w="12700">
            <a:solidFill>
              <a:srgbClr val="A48F7A"/>
            </a:solidFill>
            <a:prstDash val="solid"/>
          </a:ln>
        </p:spPr>
      </p:sp>
      <p:sp>
        <p:nvSpPr>
          <p:cNvPr id="39" name="Text 37"/>
          <p:cNvSpPr/>
          <p:nvPr/>
        </p:nvSpPr>
        <p:spPr>
          <a:xfrm>
            <a:off x="4754880" y="3465576"/>
            <a:ext cx="2011680" cy="347472"/>
          </a:xfrm>
          <a:prstGeom prst="rect">
            <a:avLst/>
          </a:prstGeom>
          <a:noFill/>
          <a:ln/>
        </p:spPr>
        <p:txBody>
          <a:bodyPr wrap="square" lIns="0" tIns="0" rIns="0" bIns="0" rtlCol="0" anchor="ctr">
            <a:normAutofit/>
          </a:bodyPr>
          <a:lstStyle/>
          <a:p>
            <a:pPr indent="0" marL="0">
              <a:buNone/>
            </a:pPr>
            <a:r>
              <a:rPr lang="en-US" sz="1700" b="1" dirty="0">
                <a:solidFill>
                  <a:srgbClr val="1C1917"/>
                </a:solidFill>
                <a:latin typeface="Apple SD Gothic Neo" pitchFamily="34" charset="0"/>
                <a:ea typeface="Apple SD Gothic Neo" pitchFamily="34" charset="-122"/>
                <a:cs typeface="Apple SD Gothic Neo" pitchFamily="34" charset="-120"/>
              </a:rPr>
              <a:t>파리에 같이 갔다</a:t>
            </a:r>
            <a:endParaRPr lang="en-US" sz="1700" dirty="0"/>
          </a:p>
        </p:txBody>
      </p:sp>
      <p:sp>
        <p:nvSpPr>
          <p:cNvPr id="40" name="Text 38"/>
          <p:cNvSpPr/>
          <p:nvPr/>
        </p:nvSpPr>
        <p:spPr>
          <a:xfrm>
            <a:off x="6812280" y="3493008"/>
            <a:ext cx="3886200" cy="310896"/>
          </a:xfrm>
          <a:prstGeom prst="rect">
            <a:avLst/>
          </a:prstGeom>
          <a:noFill/>
          <a:ln/>
        </p:spPr>
        <p:txBody>
          <a:bodyPr wrap="square" lIns="0" tIns="0" rIns="0" bIns="0" rtlCol="0" anchor="ctr">
            <a:normAutofit/>
          </a:bodyPr>
          <a:lstStyle/>
          <a:p>
            <a:pPr indent="0" marL="0">
              <a:buNone/>
            </a:pPr>
            <a:r>
              <a:rPr lang="en-US" sz="1100" dirty="0">
                <a:solidFill>
                  <a:srgbClr val="77706A"/>
                </a:solidFill>
                <a:latin typeface="Apple SD Gothic Neo" pitchFamily="34" charset="0"/>
                <a:ea typeface="Apple SD Gothic Neo" pitchFamily="34" charset="-122"/>
                <a:cs typeface="Apple SD Gothic Neo" pitchFamily="34" charset="-120"/>
              </a:rPr>
              <a:t>제품이 삶에 들어왔다는 기록</a:t>
            </a:r>
            <a:endParaRPr lang="en-US" sz="1100" dirty="0"/>
          </a:p>
        </p:txBody>
      </p:sp>
      <p:sp>
        <p:nvSpPr>
          <p:cNvPr id="41" name="Shape 39"/>
          <p:cNvSpPr/>
          <p:nvPr/>
        </p:nvSpPr>
        <p:spPr>
          <a:xfrm rot="2700000">
            <a:off x="4315968" y="4645152"/>
            <a:ext cx="146304" cy="146304"/>
          </a:xfrm>
          <a:prstGeom prst="rect">
            <a:avLst/>
          </a:prstGeom>
          <a:solidFill>
            <a:srgbClr val="8B5A2B"/>
          </a:solidFill>
          <a:ln w="6350">
            <a:solidFill>
              <a:srgbClr val="8B5A2B">
                <a:alpha val="92000"/>
              </a:srgbClr>
            </a:solidFill>
            <a:prstDash val="solid"/>
          </a:ln>
        </p:spPr>
      </p:sp>
      <p:sp>
        <p:nvSpPr>
          <p:cNvPr id="42" name="Text 40"/>
          <p:cNvSpPr/>
          <p:nvPr/>
        </p:nvSpPr>
        <p:spPr>
          <a:xfrm>
            <a:off x="4754880" y="4535424"/>
            <a:ext cx="2011680" cy="347472"/>
          </a:xfrm>
          <a:prstGeom prst="rect">
            <a:avLst/>
          </a:prstGeom>
          <a:noFill/>
          <a:ln/>
        </p:spPr>
        <p:txBody>
          <a:bodyPr wrap="square" lIns="0" tIns="0" rIns="0" bIns="0" rtlCol="0" anchor="ctr">
            <a:normAutofit/>
          </a:bodyPr>
          <a:lstStyle/>
          <a:p>
            <a:pPr indent="0" marL="0">
              <a:buNone/>
            </a:pPr>
            <a:r>
              <a:rPr lang="en-US" sz="1700" b="1" dirty="0">
                <a:solidFill>
                  <a:srgbClr val="1C1917"/>
                </a:solidFill>
                <a:latin typeface="Apple SD Gothic Neo" pitchFamily="34" charset="0"/>
                <a:ea typeface="Apple SD Gothic Neo" pitchFamily="34" charset="-122"/>
                <a:cs typeface="Apple SD Gothic Neo" pitchFamily="34" charset="-120"/>
              </a:rPr>
              <a:t>수선을 받았다</a:t>
            </a:r>
            <a:endParaRPr lang="en-US" sz="1700" dirty="0"/>
          </a:p>
        </p:txBody>
      </p:sp>
      <p:sp>
        <p:nvSpPr>
          <p:cNvPr id="43" name="Text 41"/>
          <p:cNvSpPr/>
          <p:nvPr/>
        </p:nvSpPr>
        <p:spPr>
          <a:xfrm>
            <a:off x="6812280" y="4562856"/>
            <a:ext cx="3886200" cy="310896"/>
          </a:xfrm>
          <a:prstGeom prst="rect">
            <a:avLst/>
          </a:prstGeom>
          <a:noFill/>
          <a:ln/>
        </p:spPr>
        <p:txBody>
          <a:bodyPr wrap="square" lIns="0" tIns="0" rIns="0" bIns="0" rtlCol="0" anchor="ctr">
            <a:normAutofit/>
          </a:bodyPr>
          <a:lstStyle/>
          <a:p>
            <a:pPr indent="0" marL="0">
              <a:buNone/>
            </a:pPr>
            <a:r>
              <a:rPr lang="en-US" sz="1100" dirty="0">
                <a:solidFill>
                  <a:srgbClr val="77706A"/>
                </a:solidFill>
                <a:latin typeface="Apple SD Gothic Neo" pitchFamily="34" charset="0"/>
                <a:ea typeface="Apple SD Gothic Neo" pitchFamily="34" charset="-122"/>
                <a:cs typeface="Apple SD Gothic Neo" pitchFamily="34" charset="-120"/>
              </a:rPr>
              <a:t>나는 관리하는 사람이라는 태도</a:t>
            </a:r>
            <a:endParaRPr lang="en-US" sz="1100" dirty="0"/>
          </a:p>
        </p:txBody>
      </p:sp>
      <p:sp>
        <p:nvSpPr>
          <p:cNvPr id="44" name="Shape 42"/>
          <p:cNvSpPr/>
          <p:nvPr/>
        </p:nvSpPr>
        <p:spPr>
          <a:xfrm>
            <a:off x="4270248" y="5413248"/>
            <a:ext cx="6720840" cy="658368"/>
          </a:xfrm>
          <a:prstGeom prst="roundRect">
            <a:avLst>
              <a:gd name="adj" fmla="val 19444"/>
            </a:avLst>
          </a:prstGeom>
          <a:solidFill>
            <a:srgbClr val="1C1917"/>
          </a:solidFill>
          <a:ln w="10160">
            <a:solidFill>
              <a:srgbClr val="1C1917"/>
            </a:solidFill>
            <a:prstDash val="solid"/>
          </a:ln>
        </p:spPr>
      </p:sp>
      <p:sp>
        <p:nvSpPr>
          <p:cNvPr id="45" name="Text 43"/>
          <p:cNvSpPr/>
          <p:nvPr/>
        </p:nvSpPr>
        <p:spPr>
          <a:xfrm>
            <a:off x="4590288" y="5559552"/>
            <a:ext cx="6126480" cy="301752"/>
          </a:xfrm>
          <a:prstGeom prst="rect">
            <a:avLst/>
          </a:prstGeom>
          <a:noFill/>
          <a:ln/>
        </p:spPr>
        <p:txBody>
          <a:bodyPr wrap="square" lIns="0" tIns="0" rIns="0" bIns="0" rtlCol="0" anchor="ctr">
            <a:normAutofit/>
          </a:bodyPr>
          <a:lstStyle/>
          <a:p>
            <a:pPr algn="ctr" indent="0" marL="0">
              <a:buNone/>
            </a:pPr>
            <a:r>
              <a:rPr lang="en-US" sz="1350" b="1" dirty="0">
                <a:solidFill>
                  <a:srgbClr val="FFFFFF"/>
                </a:solidFill>
                <a:latin typeface="Apple SD Gothic Neo" pitchFamily="34" charset="0"/>
                <a:ea typeface="Apple SD Gothic Neo" pitchFamily="34" charset="-122"/>
                <a:cs typeface="Apple SD Gothic Neo" pitchFamily="34" charset="-120"/>
              </a:rPr>
              <a:t>Storybook은 자랑 도구가 아니라, 오래 쓴 시간을 증명하는 관계의 기록입니다.</a:t>
            </a:r>
            <a:endParaRPr lang="en-US" sz="13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C1917"/>
        </a:solidFill>
      </p:bgPr>
    </p:bg>
    <p:spTree>
      <p:nvGrpSpPr>
        <p:cNvPr id="1" name=""/>
        <p:cNvGrpSpPr/>
        <p:nvPr/>
      </p:nvGrpSpPr>
      <p:grpSpPr>
        <a:xfrm>
          <a:off x="0" y="0"/>
          <a:ext cx="0" cy="0"/>
          <a:chOff x="0" y="0"/>
          <a:chExt cx="0" cy="0"/>
        </a:xfrm>
      </p:grpSpPr>
      <p:sp>
        <p:nvSpPr>
          <p:cNvPr id="2" name="Shape 0"/>
          <p:cNvSpPr/>
          <p:nvPr/>
        </p:nvSpPr>
        <p:spPr>
          <a:xfrm rot="2700000">
            <a:off x="8046720" y="411480"/>
            <a:ext cx="109728" cy="109728"/>
          </a:xfrm>
          <a:prstGeom prst="rect">
            <a:avLst/>
          </a:prstGeom>
          <a:solidFill>
            <a:srgbClr val="C9945A">
              <a:alpha val="18000"/>
            </a:srgbClr>
          </a:solidFill>
          <a:ln w="6350">
            <a:solidFill>
              <a:srgbClr val="C9945A">
                <a:alpha val="10000"/>
              </a:srgbClr>
            </a:solidFill>
            <a:prstDash val="solid"/>
          </a:ln>
        </p:spPr>
      </p:sp>
      <p:sp>
        <p:nvSpPr>
          <p:cNvPr id="3" name="Shape 1"/>
          <p:cNvSpPr/>
          <p:nvPr/>
        </p:nvSpPr>
        <p:spPr>
          <a:xfrm rot="2700000">
            <a:off x="8641080" y="411480"/>
            <a:ext cx="109728" cy="109728"/>
          </a:xfrm>
          <a:prstGeom prst="rect">
            <a:avLst/>
          </a:prstGeom>
          <a:solidFill>
            <a:srgbClr val="C9945A">
              <a:alpha val="18000"/>
            </a:srgbClr>
          </a:solidFill>
          <a:ln w="6350">
            <a:solidFill>
              <a:srgbClr val="C9945A">
                <a:alpha val="10000"/>
              </a:srgbClr>
            </a:solidFill>
            <a:prstDash val="solid"/>
          </a:ln>
        </p:spPr>
      </p:sp>
      <p:sp>
        <p:nvSpPr>
          <p:cNvPr id="4" name="Shape 2"/>
          <p:cNvSpPr/>
          <p:nvPr/>
        </p:nvSpPr>
        <p:spPr>
          <a:xfrm rot="2700000">
            <a:off x="9235440" y="411480"/>
            <a:ext cx="109728" cy="109728"/>
          </a:xfrm>
          <a:prstGeom prst="rect">
            <a:avLst/>
          </a:prstGeom>
          <a:solidFill>
            <a:srgbClr val="C9945A">
              <a:alpha val="18000"/>
            </a:srgbClr>
          </a:solidFill>
          <a:ln w="6350">
            <a:solidFill>
              <a:srgbClr val="C9945A">
                <a:alpha val="10000"/>
              </a:srgbClr>
            </a:solidFill>
            <a:prstDash val="solid"/>
          </a:ln>
        </p:spPr>
      </p:sp>
      <p:sp>
        <p:nvSpPr>
          <p:cNvPr id="5" name="Shape 3"/>
          <p:cNvSpPr/>
          <p:nvPr/>
        </p:nvSpPr>
        <p:spPr>
          <a:xfrm rot="2700000">
            <a:off x="9829800" y="411480"/>
            <a:ext cx="109728" cy="109728"/>
          </a:xfrm>
          <a:prstGeom prst="rect">
            <a:avLst/>
          </a:prstGeom>
          <a:solidFill>
            <a:srgbClr val="C9945A">
              <a:alpha val="18000"/>
            </a:srgbClr>
          </a:solidFill>
          <a:ln w="6350">
            <a:solidFill>
              <a:srgbClr val="C9945A">
                <a:alpha val="10000"/>
              </a:srgbClr>
            </a:solidFill>
            <a:prstDash val="solid"/>
          </a:ln>
        </p:spPr>
      </p:sp>
      <p:sp>
        <p:nvSpPr>
          <p:cNvPr id="6" name="Shape 4"/>
          <p:cNvSpPr/>
          <p:nvPr/>
        </p:nvSpPr>
        <p:spPr>
          <a:xfrm rot="2700000">
            <a:off x="10424160" y="411480"/>
            <a:ext cx="109728" cy="109728"/>
          </a:xfrm>
          <a:prstGeom prst="rect">
            <a:avLst/>
          </a:prstGeom>
          <a:solidFill>
            <a:srgbClr val="C9945A">
              <a:alpha val="18000"/>
            </a:srgbClr>
          </a:solidFill>
          <a:ln w="6350">
            <a:solidFill>
              <a:srgbClr val="C9945A">
                <a:alpha val="10000"/>
              </a:srgbClr>
            </a:solidFill>
            <a:prstDash val="solid"/>
          </a:ln>
        </p:spPr>
      </p:sp>
      <p:sp>
        <p:nvSpPr>
          <p:cNvPr id="7" name="Shape 5"/>
          <p:cNvSpPr/>
          <p:nvPr/>
        </p:nvSpPr>
        <p:spPr>
          <a:xfrm rot="2700000">
            <a:off x="11018520" y="411480"/>
            <a:ext cx="109728" cy="109728"/>
          </a:xfrm>
          <a:prstGeom prst="rect">
            <a:avLst/>
          </a:prstGeom>
          <a:solidFill>
            <a:srgbClr val="C9945A">
              <a:alpha val="18000"/>
            </a:srgbClr>
          </a:solidFill>
          <a:ln w="6350">
            <a:solidFill>
              <a:srgbClr val="C9945A">
                <a:alpha val="10000"/>
              </a:srgbClr>
            </a:solidFill>
            <a:prstDash val="solid"/>
          </a:ln>
        </p:spPr>
      </p:sp>
      <p:sp>
        <p:nvSpPr>
          <p:cNvPr id="8" name="Shape 6"/>
          <p:cNvSpPr/>
          <p:nvPr/>
        </p:nvSpPr>
        <p:spPr>
          <a:xfrm rot="2700000">
            <a:off x="11612880" y="411480"/>
            <a:ext cx="109728" cy="109728"/>
          </a:xfrm>
          <a:prstGeom prst="rect">
            <a:avLst/>
          </a:prstGeom>
          <a:solidFill>
            <a:srgbClr val="C9945A">
              <a:alpha val="18000"/>
            </a:srgbClr>
          </a:solidFill>
          <a:ln w="6350">
            <a:solidFill>
              <a:srgbClr val="C9945A">
                <a:alpha val="10000"/>
              </a:srgbClr>
            </a:solidFill>
            <a:prstDash val="solid"/>
          </a:ln>
        </p:spPr>
      </p:sp>
      <p:sp>
        <p:nvSpPr>
          <p:cNvPr id="9" name="Shape 7"/>
          <p:cNvSpPr/>
          <p:nvPr/>
        </p:nvSpPr>
        <p:spPr>
          <a:xfrm rot="2700000">
            <a:off x="8339328" y="1005840"/>
            <a:ext cx="109728" cy="109728"/>
          </a:xfrm>
          <a:prstGeom prst="rect">
            <a:avLst/>
          </a:prstGeom>
          <a:solidFill>
            <a:srgbClr val="C9945A">
              <a:alpha val="18000"/>
            </a:srgbClr>
          </a:solidFill>
          <a:ln w="6350">
            <a:solidFill>
              <a:srgbClr val="C9945A">
                <a:alpha val="10000"/>
              </a:srgbClr>
            </a:solidFill>
            <a:prstDash val="solid"/>
          </a:ln>
        </p:spPr>
      </p:sp>
      <p:sp>
        <p:nvSpPr>
          <p:cNvPr id="10" name="Shape 8"/>
          <p:cNvSpPr/>
          <p:nvPr/>
        </p:nvSpPr>
        <p:spPr>
          <a:xfrm rot="2700000">
            <a:off x="8933688" y="1005840"/>
            <a:ext cx="109728" cy="109728"/>
          </a:xfrm>
          <a:prstGeom prst="rect">
            <a:avLst/>
          </a:prstGeom>
          <a:solidFill>
            <a:srgbClr val="C9945A">
              <a:alpha val="18000"/>
            </a:srgbClr>
          </a:solidFill>
          <a:ln w="6350">
            <a:solidFill>
              <a:srgbClr val="C9945A">
                <a:alpha val="10000"/>
              </a:srgbClr>
            </a:solidFill>
            <a:prstDash val="solid"/>
          </a:ln>
        </p:spPr>
      </p:sp>
      <p:sp>
        <p:nvSpPr>
          <p:cNvPr id="11" name="Shape 9"/>
          <p:cNvSpPr/>
          <p:nvPr/>
        </p:nvSpPr>
        <p:spPr>
          <a:xfrm rot="2700000">
            <a:off x="9528048" y="1005840"/>
            <a:ext cx="109728" cy="109728"/>
          </a:xfrm>
          <a:prstGeom prst="rect">
            <a:avLst/>
          </a:prstGeom>
          <a:solidFill>
            <a:srgbClr val="C9945A">
              <a:alpha val="18000"/>
            </a:srgbClr>
          </a:solidFill>
          <a:ln w="6350">
            <a:solidFill>
              <a:srgbClr val="C9945A">
                <a:alpha val="10000"/>
              </a:srgbClr>
            </a:solidFill>
            <a:prstDash val="solid"/>
          </a:ln>
        </p:spPr>
      </p:sp>
      <p:sp>
        <p:nvSpPr>
          <p:cNvPr id="12" name="Shape 10"/>
          <p:cNvSpPr/>
          <p:nvPr/>
        </p:nvSpPr>
        <p:spPr>
          <a:xfrm rot="2700000">
            <a:off x="10122408" y="1005840"/>
            <a:ext cx="109728" cy="109728"/>
          </a:xfrm>
          <a:prstGeom prst="rect">
            <a:avLst/>
          </a:prstGeom>
          <a:solidFill>
            <a:srgbClr val="C9945A">
              <a:alpha val="18000"/>
            </a:srgbClr>
          </a:solidFill>
          <a:ln w="6350">
            <a:solidFill>
              <a:srgbClr val="C9945A">
                <a:alpha val="10000"/>
              </a:srgbClr>
            </a:solidFill>
            <a:prstDash val="solid"/>
          </a:ln>
        </p:spPr>
      </p:sp>
      <p:sp>
        <p:nvSpPr>
          <p:cNvPr id="13" name="Shape 11"/>
          <p:cNvSpPr/>
          <p:nvPr/>
        </p:nvSpPr>
        <p:spPr>
          <a:xfrm rot="2700000">
            <a:off x="10716768" y="1005840"/>
            <a:ext cx="109728" cy="109728"/>
          </a:xfrm>
          <a:prstGeom prst="rect">
            <a:avLst/>
          </a:prstGeom>
          <a:solidFill>
            <a:srgbClr val="C9945A">
              <a:alpha val="18000"/>
            </a:srgbClr>
          </a:solidFill>
          <a:ln w="6350">
            <a:solidFill>
              <a:srgbClr val="C9945A">
                <a:alpha val="10000"/>
              </a:srgbClr>
            </a:solidFill>
            <a:prstDash val="solid"/>
          </a:ln>
        </p:spPr>
      </p:sp>
      <p:sp>
        <p:nvSpPr>
          <p:cNvPr id="14" name="Shape 12"/>
          <p:cNvSpPr/>
          <p:nvPr/>
        </p:nvSpPr>
        <p:spPr>
          <a:xfrm rot="2700000">
            <a:off x="11311128" y="1005840"/>
            <a:ext cx="109728" cy="109728"/>
          </a:xfrm>
          <a:prstGeom prst="rect">
            <a:avLst/>
          </a:prstGeom>
          <a:solidFill>
            <a:srgbClr val="C9945A">
              <a:alpha val="18000"/>
            </a:srgbClr>
          </a:solidFill>
          <a:ln w="6350">
            <a:solidFill>
              <a:srgbClr val="C9945A">
                <a:alpha val="10000"/>
              </a:srgbClr>
            </a:solidFill>
            <a:prstDash val="solid"/>
          </a:ln>
        </p:spPr>
      </p:sp>
      <p:sp>
        <p:nvSpPr>
          <p:cNvPr id="15" name="Shape 13"/>
          <p:cNvSpPr/>
          <p:nvPr/>
        </p:nvSpPr>
        <p:spPr>
          <a:xfrm rot="2700000">
            <a:off x="11905488" y="1005840"/>
            <a:ext cx="109728" cy="109728"/>
          </a:xfrm>
          <a:prstGeom prst="rect">
            <a:avLst/>
          </a:prstGeom>
          <a:solidFill>
            <a:srgbClr val="C9945A">
              <a:alpha val="18000"/>
            </a:srgbClr>
          </a:solidFill>
          <a:ln w="6350">
            <a:solidFill>
              <a:srgbClr val="C9945A">
                <a:alpha val="10000"/>
              </a:srgbClr>
            </a:solidFill>
            <a:prstDash val="solid"/>
          </a:ln>
        </p:spPr>
      </p:sp>
      <p:sp>
        <p:nvSpPr>
          <p:cNvPr id="16" name="Shape 14"/>
          <p:cNvSpPr/>
          <p:nvPr/>
        </p:nvSpPr>
        <p:spPr>
          <a:xfrm rot="2700000">
            <a:off x="8046720" y="1600200"/>
            <a:ext cx="109728" cy="109728"/>
          </a:xfrm>
          <a:prstGeom prst="rect">
            <a:avLst/>
          </a:prstGeom>
          <a:solidFill>
            <a:srgbClr val="C9945A">
              <a:alpha val="18000"/>
            </a:srgbClr>
          </a:solidFill>
          <a:ln w="6350">
            <a:solidFill>
              <a:srgbClr val="C9945A">
                <a:alpha val="10000"/>
              </a:srgbClr>
            </a:solidFill>
            <a:prstDash val="solid"/>
          </a:ln>
        </p:spPr>
      </p:sp>
      <p:sp>
        <p:nvSpPr>
          <p:cNvPr id="17" name="Shape 15"/>
          <p:cNvSpPr/>
          <p:nvPr/>
        </p:nvSpPr>
        <p:spPr>
          <a:xfrm rot="2700000">
            <a:off x="8641080" y="1600200"/>
            <a:ext cx="109728" cy="109728"/>
          </a:xfrm>
          <a:prstGeom prst="rect">
            <a:avLst/>
          </a:prstGeom>
          <a:solidFill>
            <a:srgbClr val="C9945A">
              <a:alpha val="18000"/>
            </a:srgbClr>
          </a:solidFill>
          <a:ln w="6350">
            <a:solidFill>
              <a:srgbClr val="C9945A">
                <a:alpha val="10000"/>
              </a:srgbClr>
            </a:solidFill>
            <a:prstDash val="solid"/>
          </a:ln>
        </p:spPr>
      </p:sp>
      <p:sp>
        <p:nvSpPr>
          <p:cNvPr id="18" name="Shape 16"/>
          <p:cNvSpPr/>
          <p:nvPr/>
        </p:nvSpPr>
        <p:spPr>
          <a:xfrm rot="2700000">
            <a:off x="9235440" y="1600200"/>
            <a:ext cx="109728" cy="109728"/>
          </a:xfrm>
          <a:prstGeom prst="rect">
            <a:avLst/>
          </a:prstGeom>
          <a:solidFill>
            <a:srgbClr val="C9945A">
              <a:alpha val="18000"/>
            </a:srgbClr>
          </a:solidFill>
          <a:ln w="6350">
            <a:solidFill>
              <a:srgbClr val="C9945A">
                <a:alpha val="10000"/>
              </a:srgbClr>
            </a:solidFill>
            <a:prstDash val="solid"/>
          </a:ln>
        </p:spPr>
      </p:sp>
      <p:sp>
        <p:nvSpPr>
          <p:cNvPr id="19" name="Shape 17"/>
          <p:cNvSpPr/>
          <p:nvPr/>
        </p:nvSpPr>
        <p:spPr>
          <a:xfrm rot="2700000">
            <a:off x="9829800" y="1600200"/>
            <a:ext cx="109728" cy="109728"/>
          </a:xfrm>
          <a:prstGeom prst="rect">
            <a:avLst/>
          </a:prstGeom>
          <a:solidFill>
            <a:srgbClr val="C9945A">
              <a:alpha val="18000"/>
            </a:srgbClr>
          </a:solidFill>
          <a:ln w="6350">
            <a:solidFill>
              <a:srgbClr val="C9945A">
                <a:alpha val="10000"/>
              </a:srgbClr>
            </a:solidFill>
            <a:prstDash val="solid"/>
          </a:ln>
        </p:spPr>
      </p:sp>
      <p:sp>
        <p:nvSpPr>
          <p:cNvPr id="20" name="Shape 18"/>
          <p:cNvSpPr/>
          <p:nvPr/>
        </p:nvSpPr>
        <p:spPr>
          <a:xfrm rot="2700000">
            <a:off x="10424160" y="1600200"/>
            <a:ext cx="109728" cy="109728"/>
          </a:xfrm>
          <a:prstGeom prst="rect">
            <a:avLst/>
          </a:prstGeom>
          <a:solidFill>
            <a:srgbClr val="C9945A">
              <a:alpha val="18000"/>
            </a:srgbClr>
          </a:solidFill>
          <a:ln w="6350">
            <a:solidFill>
              <a:srgbClr val="C9945A">
                <a:alpha val="10000"/>
              </a:srgbClr>
            </a:solidFill>
            <a:prstDash val="solid"/>
          </a:ln>
        </p:spPr>
      </p:sp>
      <p:sp>
        <p:nvSpPr>
          <p:cNvPr id="21" name="Shape 19"/>
          <p:cNvSpPr/>
          <p:nvPr/>
        </p:nvSpPr>
        <p:spPr>
          <a:xfrm rot="2700000">
            <a:off x="11018520" y="1600200"/>
            <a:ext cx="109728" cy="109728"/>
          </a:xfrm>
          <a:prstGeom prst="rect">
            <a:avLst/>
          </a:prstGeom>
          <a:solidFill>
            <a:srgbClr val="C9945A">
              <a:alpha val="18000"/>
            </a:srgbClr>
          </a:solidFill>
          <a:ln w="6350">
            <a:solidFill>
              <a:srgbClr val="C9945A">
                <a:alpha val="10000"/>
              </a:srgbClr>
            </a:solidFill>
            <a:prstDash val="solid"/>
          </a:ln>
        </p:spPr>
      </p:sp>
      <p:sp>
        <p:nvSpPr>
          <p:cNvPr id="22" name="Shape 20"/>
          <p:cNvSpPr/>
          <p:nvPr/>
        </p:nvSpPr>
        <p:spPr>
          <a:xfrm rot="2700000">
            <a:off x="11612880" y="1600200"/>
            <a:ext cx="109728" cy="109728"/>
          </a:xfrm>
          <a:prstGeom prst="rect">
            <a:avLst/>
          </a:prstGeom>
          <a:solidFill>
            <a:srgbClr val="C9945A">
              <a:alpha val="18000"/>
            </a:srgbClr>
          </a:solidFill>
          <a:ln w="6350">
            <a:solidFill>
              <a:srgbClr val="C9945A">
                <a:alpha val="10000"/>
              </a:srgbClr>
            </a:solidFill>
            <a:prstDash val="solid"/>
          </a:ln>
        </p:spPr>
      </p:sp>
      <p:sp>
        <p:nvSpPr>
          <p:cNvPr id="23" name="Text 21"/>
          <p:cNvSpPr/>
          <p:nvPr/>
        </p:nvSpPr>
        <p:spPr>
          <a:xfrm>
            <a:off x="685800" y="411480"/>
            <a:ext cx="2926080" cy="201168"/>
          </a:xfrm>
          <a:prstGeom prst="rect">
            <a:avLst/>
          </a:prstGeom>
          <a:noFill/>
          <a:ln/>
        </p:spPr>
        <p:txBody>
          <a:bodyPr wrap="square" lIns="0" tIns="0" rIns="0" bIns="0" rtlCol="0" anchor="ctr">
            <a:normAutofit/>
          </a:bodyPr>
          <a:lstStyle/>
          <a:p>
            <a:pPr indent="0" marL="0">
              <a:buNone/>
            </a:pPr>
            <a:r>
              <a:rPr lang="en-US" sz="900" b="1" spc="210" kern="0" dirty="0">
                <a:solidFill>
                  <a:srgbClr val="C9945A"/>
                </a:solidFill>
                <a:latin typeface="Apple SD Gothic Neo" pitchFamily="34" charset="0"/>
                <a:ea typeface="Apple SD Gothic Neo" pitchFamily="34" charset="-122"/>
                <a:cs typeface="Apple SD Gothic Neo" pitchFamily="34" charset="-120"/>
              </a:rPr>
              <a:t>SOLUTION</a:t>
            </a:r>
            <a:endParaRPr lang="en-US" sz="900" dirty="0"/>
          </a:p>
        </p:txBody>
      </p:sp>
      <p:sp>
        <p:nvSpPr>
          <p:cNvPr id="24" name="Text 22"/>
          <p:cNvSpPr/>
          <p:nvPr/>
        </p:nvSpPr>
        <p:spPr>
          <a:xfrm>
            <a:off x="685800" y="749808"/>
            <a:ext cx="10789920" cy="841248"/>
          </a:xfrm>
          <a:prstGeom prst="rect">
            <a:avLst/>
          </a:prstGeom>
          <a:noFill/>
          <a:ln/>
        </p:spPr>
        <p:txBody>
          <a:bodyPr wrap="square" lIns="0" tIns="0" rIns="0" bIns="0" rtlCol="0" anchor="t">
            <a:normAutofit/>
          </a:bodyPr>
          <a:lstStyle/>
          <a:p>
            <a:pPr indent="0" marL="0">
              <a:lnSpc>
                <a:spcPct val="88000"/>
              </a:lnSpc>
              <a:buNone/>
            </a:pPr>
            <a:r>
              <a:rPr lang="en-US" sz="2600" b="1" dirty="0">
                <a:solidFill>
                  <a:srgbClr val="FFFFFF"/>
                </a:solidFill>
                <a:latin typeface="Apple SD Gothic Neo" pitchFamily="34" charset="0"/>
                <a:ea typeface="Apple SD Gothic Neo" pitchFamily="34" charset="-122"/>
                <a:cs typeface="Apple SD Gothic Neo" pitchFamily="34" charset="-120"/>
              </a:rPr>
              <a:t>DPP가 제품을 증명하고,</a:t>
            </a:r>
            <a:endParaRPr lang="en-US" sz="2600" dirty="0"/>
          </a:p>
          <a:p>
            <a:pPr indent="0" marL="0">
              <a:lnSpc>
                <a:spcPct val="88000"/>
              </a:lnSpc>
              <a:buNone/>
            </a:pPr>
            <a:r>
              <a:rPr lang="en-US" sz="2600" b="1" dirty="0">
                <a:solidFill>
                  <a:srgbClr val="FFFFFF"/>
                </a:solidFill>
                <a:latin typeface="Apple SD Gothic Neo" pitchFamily="34" charset="0"/>
                <a:ea typeface="Apple SD Gothic Neo" pitchFamily="34" charset="-122"/>
                <a:cs typeface="Apple SD Gothic Neo" pitchFamily="34" charset="-120"/>
              </a:rPr>
              <a:t>Storybook이 관계를 증명합니다</a:t>
            </a:r>
            <a:endParaRPr lang="en-US" sz="2600" dirty="0"/>
          </a:p>
        </p:txBody>
      </p:sp>
      <p:sp>
        <p:nvSpPr>
          <p:cNvPr id="25" name="Text 23"/>
          <p:cNvSpPr/>
          <p:nvPr/>
        </p:nvSpPr>
        <p:spPr>
          <a:xfrm>
            <a:off x="694944" y="1581912"/>
            <a:ext cx="9875520" cy="347472"/>
          </a:xfrm>
          <a:prstGeom prst="rect">
            <a:avLst/>
          </a:prstGeom>
          <a:noFill/>
          <a:ln/>
        </p:spPr>
        <p:txBody>
          <a:bodyPr wrap="square" lIns="0" tIns="0" rIns="0" bIns="0" rtlCol="0" anchor="t">
            <a:normAutofit/>
          </a:bodyPr>
          <a:lstStyle/>
          <a:p>
            <a:pPr indent="0" marL="0">
              <a:buNone/>
            </a:pPr>
            <a:r>
              <a:rPr lang="en-US" sz="1150" dirty="0">
                <a:solidFill>
                  <a:srgbClr val="B7ADA4"/>
                </a:solidFill>
                <a:latin typeface="Apple SD Gothic Neo" pitchFamily="34" charset="0"/>
                <a:ea typeface="Apple SD Gothic Neo" pitchFamily="34" charset="-122"/>
                <a:cs typeface="Apple SD Gothic Neo" pitchFamily="34" charset="-120"/>
              </a:rPr>
              <a:t>기존 Digital Product Passport를 대체하지 않고 고객 경험 레이어를 확장합니다.</a:t>
            </a:r>
            <a:endParaRPr lang="en-US" sz="1150" dirty="0"/>
          </a:p>
        </p:txBody>
      </p:sp>
      <p:sp>
        <p:nvSpPr>
          <p:cNvPr id="26" name="Text 24"/>
          <p:cNvSpPr/>
          <p:nvPr/>
        </p:nvSpPr>
        <p:spPr>
          <a:xfrm>
            <a:off x="658368" y="6473952"/>
            <a:ext cx="2286000" cy="182880"/>
          </a:xfrm>
          <a:prstGeom prst="rect">
            <a:avLst/>
          </a:prstGeom>
          <a:noFill/>
          <a:ln/>
        </p:spPr>
        <p:txBody>
          <a:bodyPr wrap="square" lIns="0" tIns="0" rIns="0" bIns="0" rtlCol="0" anchor="ctr">
            <a:normAutofit/>
          </a:bodyPr>
          <a:lstStyle/>
          <a:p>
            <a:pPr indent="0" marL="0">
              <a:buNone/>
            </a:pPr>
            <a:r>
              <a:rPr lang="en-US" sz="850" spc="140" kern="0" dirty="0">
                <a:solidFill>
                  <a:srgbClr val="B7ADA4"/>
                </a:solidFill>
                <a:latin typeface="Apple SD Gothic Neo" pitchFamily="34" charset="0"/>
                <a:ea typeface="Apple SD Gothic Neo" pitchFamily="34" charset="-122"/>
                <a:cs typeface="Apple SD Gothic Neo" pitchFamily="34" charset="-120"/>
              </a:rPr>
              <a:t>MCM · STORYBOOK</a:t>
            </a:r>
            <a:endParaRPr lang="en-US" sz="850" dirty="0"/>
          </a:p>
        </p:txBody>
      </p:sp>
      <p:sp>
        <p:nvSpPr>
          <p:cNvPr id="27" name="Text 25"/>
          <p:cNvSpPr/>
          <p:nvPr/>
        </p:nvSpPr>
        <p:spPr>
          <a:xfrm>
            <a:off x="11155680" y="6473952"/>
            <a:ext cx="384048" cy="182880"/>
          </a:xfrm>
          <a:prstGeom prst="rect">
            <a:avLst/>
          </a:prstGeom>
          <a:noFill/>
          <a:ln/>
        </p:spPr>
        <p:txBody>
          <a:bodyPr wrap="square" lIns="0" tIns="0" rIns="0" bIns="0" rtlCol="0" anchor="ctr">
            <a:normAutofit/>
          </a:bodyPr>
          <a:lstStyle/>
          <a:p>
            <a:pPr algn="r" indent="0" marL="0">
              <a:buNone/>
            </a:pPr>
            <a:r>
              <a:rPr lang="en-US" sz="850" dirty="0">
                <a:solidFill>
                  <a:srgbClr val="B7ADA4"/>
                </a:solidFill>
                <a:latin typeface="Apple SD Gothic Neo" pitchFamily="34" charset="0"/>
                <a:ea typeface="Apple SD Gothic Neo" pitchFamily="34" charset="-122"/>
                <a:cs typeface="Apple SD Gothic Neo" pitchFamily="34" charset="-120"/>
              </a:rPr>
              <a:t>04</a:t>
            </a:r>
            <a:endParaRPr lang="en-US" sz="850" dirty="0"/>
          </a:p>
        </p:txBody>
      </p:sp>
      <p:sp>
        <p:nvSpPr>
          <p:cNvPr id="28" name="Shape 26"/>
          <p:cNvSpPr/>
          <p:nvPr/>
        </p:nvSpPr>
        <p:spPr>
          <a:xfrm>
            <a:off x="749808" y="2194560"/>
            <a:ext cx="5120640" cy="3273552"/>
          </a:xfrm>
          <a:prstGeom prst="roundRect">
            <a:avLst>
              <a:gd name="adj" fmla="val 3911"/>
            </a:avLst>
          </a:prstGeom>
          <a:solidFill>
            <a:srgbClr val="24201E"/>
          </a:solidFill>
          <a:ln w="10160">
            <a:solidFill>
              <a:srgbClr val="3B3430"/>
            </a:solidFill>
            <a:prstDash val="solid"/>
          </a:ln>
        </p:spPr>
      </p:sp>
      <p:sp>
        <p:nvSpPr>
          <p:cNvPr id="29" name="Text 27"/>
          <p:cNvSpPr/>
          <p:nvPr/>
        </p:nvSpPr>
        <p:spPr>
          <a:xfrm>
            <a:off x="1051560" y="2523744"/>
            <a:ext cx="2743200" cy="201168"/>
          </a:xfrm>
          <a:prstGeom prst="rect">
            <a:avLst/>
          </a:prstGeom>
          <a:noFill/>
          <a:ln/>
        </p:spPr>
        <p:txBody>
          <a:bodyPr wrap="square" lIns="0" tIns="0" rIns="0" bIns="0" rtlCol="0" anchor="ctr">
            <a:normAutofit/>
          </a:bodyPr>
          <a:lstStyle/>
          <a:p>
            <a:pPr indent="0" marL="0">
              <a:buNone/>
            </a:pPr>
            <a:r>
              <a:rPr lang="en-US" sz="850" b="1" spc="170" kern="0" dirty="0">
                <a:solidFill>
                  <a:srgbClr val="C9945A"/>
                </a:solidFill>
                <a:latin typeface="Apple SD Gothic Neo" pitchFamily="34" charset="0"/>
                <a:ea typeface="Apple SD Gothic Neo" pitchFamily="34" charset="-122"/>
                <a:cs typeface="Apple SD Gothic Neo" pitchFamily="34" charset="-120"/>
              </a:rPr>
              <a:t>OFFICIAL DPP LAYER</a:t>
            </a:r>
            <a:endParaRPr lang="en-US" sz="850" dirty="0"/>
          </a:p>
        </p:txBody>
      </p:sp>
      <p:sp>
        <p:nvSpPr>
          <p:cNvPr id="30" name="Text 28"/>
          <p:cNvSpPr/>
          <p:nvPr/>
        </p:nvSpPr>
        <p:spPr>
          <a:xfrm>
            <a:off x="1051560" y="2880360"/>
            <a:ext cx="4160520" cy="384048"/>
          </a:xfrm>
          <a:prstGeom prst="rect">
            <a:avLst/>
          </a:prstGeom>
          <a:noFill/>
          <a:ln/>
        </p:spPr>
        <p:txBody>
          <a:bodyPr wrap="square" lIns="0" tIns="0" rIns="0" bIns="0" rtlCol="0" anchor="ctr">
            <a:normAutofit/>
          </a:bodyPr>
          <a:lstStyle/>
          <a:p>
            <a:pPr indent="0" marL="0">
              <a:buNone/>
            </a:pPr>
            <a:r>
              <a:rPr lang="en-US" sz="2000" b="1" dirty="0">
                <a:solidFill>
                  <a:srgbClr val="FFFFFF"/>
                </a:solidFill>
                <a:latin typeface="Apple SD Gothic Neo" pitchFamily="34" charset="0"/>
                <a:ea typeface="Apple SD Gothic Neo" pitchFamily="34" charset="-122"/>
                <a:cs typeface="Apple SD Gothic Neo" pitchFamily="34" charset="-120"/>
              </a:rPr>
              <a:t>제품이 어디서 왔는가</a:t>
            </a:r>
            <a:endParaRPr lang="en-US" sz="2000" dirty="0"/>
          </a:p>
        </p:txBody>
      </p:sp>
      <p:sp>
        <p:nvSpPr>
          <p:cNvPr id="31" name="Shape 29"/>
          <p:cNvSpPr/>
          <p:nvPr/>
        </p:nvSpPr>
        <p:spPr>
          <a:xfrm>
            <a:off x="1078992" y="3630168"/>
            <a:ext cx="118872" cy="118872"/>
          </a:xfrm>
          <a:prstGeom prst="ellipse">
            <a:avLst/>
          </a:prstGeom>
          <a:solidFill>
            <a:srgbClr val="C9945A"/>
          </a:solidFill>
          <a:ln w="5080">
            <a:solidFill>
              <a:srgbClr val="C9945A"/>
            </a:solidFill>
            <a:prstDash val="solid"/>
          </a:ln>
        </p:spPr>
      </p:sp>
      <p:sp>
        <p:nvSpPr>
          <p:cNvPr id="32" name="Text 30"/>
          <p:cNvSpPr/>
          <p:nvPr/>
        </p:nvSpPr>
        <p:spPr>
          <a:xfrm>
            <a:off x="1353312" y="3547872"/>
            <a:ext cx="3291840" cy="274320"/>
          </a:xfrm>
          <a:prstGeom prst="rect">
            <a:avLst/>
          </a:prstGeom>
          <a:noFill/>
          <a:ln/>
        </p:spPr>
        <p:txBody>
          <a:bodyPr wrap="square" lIns="0" tIns="0" rIns="0" bIns="0" rtlCol="0" anchor="ctr">
            <a:normAutofit/>
          </a:bodyPr>
          <a:lstStyle/>
          <a:p>
            <a:pPr indent="0" marL="0">
              <a:buNone/>
            </a:pPr>
            <a:r>
              <a:rPr lang="en-US" sz="1150" dirty="0">
                <a:solidFill>
                  <a:srgbClr val="B7ADA4"/>
                </a:solidFill>
                <a:latin typeface="Apple SD Gothic Neo" pitchFamily="34" charset="0"/>
                <a:ea typeface="Apple SD Gothic Neo" pitchFamily="34" charset="-122"/>
                <a:cs typeface="Apple SD Gothic Neo" pitchFamily="34" charset="-120"/>
              </a:rPr>
              <a:t>진품성·소유권</a:t>
            </a:r>
            <a:endParaRPr lang="en-US" sz="1150" dirty="0"/>
          </a:p>
        </p:txBody>
      </p:sp>
      <p:sp>
        <p:nvSpPr>
          <p:cNvPr id="33" name="Shape 31"/>
          <p:cNvSpPr/>
          <p:nvPr/>
        </p:nvSpPr>
        <p:spPr>
          <a:xfrm>
            <a:off x="1078992" y="4114800"/>
            <a:ext cx="118872" cy="118872"/>
          </a:xfrm>
          <a:prstGeom prst="ellipse">
            <a:avLst/>
          </a:prstGeom>
          <a:solidFill>
            <a:srgbClr val="C9945A"/>
          </a:solidFill>
          <a:ln w="5080">
            <a:solidFill>
              <a:srgbClr val="C9945A"/>
            </a:solidFill>
            <a:prstDash val="solid"/>
          </a:ln>
        </p:spPr>
      </p:sp>
      <p:sp>
        <p:nvSpPr>
          <p:cNvPr id="34" name="Text 32"/>
          <p:cNvSpPr/>
          <p:nvPr/>
        </p:nvSpPr>
        <p:spPr>
          <a:xfrm>
            <a:off x="1353312" y="4032504"/>
            <a:ext cx="3291840" cy="274320"/>
          </a:xfrm>
          <a:prstGeom prst="rect">
            <a:avLst/>
          </a:prstGeom>
          <a:noFill/>
          <a:ln/>
        </p:spPr>
        <p:txBody>
          <a:bodyPr wrap="square" lIns="0" tIns="0" rIns="0" bIns="0" rtlCol="0" anchor="ctr">
            <a:normAutofit/>
          </a:bodyPr>
          <a:lstStyle/>
          <a:p>
            <a:pPr indent="0" marL="0">
              <a:buNone/>
            </a:pPr>
            <a:r>
              <a:rPr lang="en-US" sz="1150" dirty="0">
                <a:solidFill>
                  <a:srgbClr val="B7ADA4"/>
                </a:solidFill>
                <a:latin typeface="Apple SD Gothic Neo" pitchFamily="34" charset="0"/>
                <a:ea typeface="Apple SD Gothic Neo" pitchFamily="34" charset="-122"/>
                <a:cs typeface="Apple SD Gothic Neo" pitchFamily="34" charset="-120"/>
              </a:rPr>
              <a:t>소재·제조·유통</a:t>
            </a:r>
            <a:endParaRPr lang="en-US" sz="1150" dirty="0"/>
          </a:p>
        </p:txBody>
      </p:sp>
      <p:sp>
        <p:nvSpPr>
          <p:cNvPr id="35" name="Shape 33"/>
          <p:cNvSpPr/>
          <p:nvPr/>
        </p:nvSpPr>
        <p:spPr>
          <a:xfrm>
            <a:off x="1078992" y="4599432"/>
            <a:ext cx="118872" cy="118872"/>
          </a:xfrm>
          <a:prstGeom prst="ellipse">
            <a:avLst/>
          </a:prstGeom>
          <a:solidFill>
            <a:srgbClr val="C9945A"/>
          </a:solidFill>
          <a:ln w="5080">
            <a:solidFill>
              <a:srgbClr val="C9945A"/>
            </a:solidFill>
            <a:prstDash val="solid"/>
          </a:ln>
        </p:spPr>
      </p:sp>
      <p:sp>
        <p:nvSpPr>
          <p:cNvPr id="36" name="Text 34"/>
          <p:cNvSpPr/>
          <p:nvPr/>
        </p:nvSpPr>
        <p:spPr>
          <a:xfrm>
            <a:off x="1353312" y="4517136"/>
            <a:ext cx="3291840" cy="274320"/>
          </a:xfrm>
          <a:prstGeom prst="rect">
            <a:avLst/>
          </a:prstGeom>
          <a:noFill/>
          <a:ln/>
        </p:spPr>
        <p:txBody>
          <a:bodyPr wrap="square" lIns="0" tIns="0" rIns="0" bIns="0" rtlCol="0" anchor="ctr">
            <a:normAutofit/>
          </a:bodyPr>
          <a:lstStyle/>
          <a:p>
            <a:pPr indent="0" marL="0">
              <a:buNone/>
            </a:pPr>
            <a:r>
              <a:rPr lang="en-US" sz="1150" dirty="0">
                <a:solidFill>
                  <a:srgbClr val="B7ADA4"/>
                </a:solidFill>
                <a:latin typeface="Apple SD Gothic Neo" pitchFamily="34" charset="0"/>
                <a:ea typeface="Apple SD Gothic Neo" pitchFamily="34" charset="-122"/>
                <a:cs typeface="Apple SD Gothic Neo" pitchFamily="34" charset="-120"/>
              </a:rPr>
              <a:t>환경 영향·인증</a:t>
            </a:r>
            <a:endParaRPr lang="en-US" sz="1150" dirty="0"/>
          </a:p>
        </p:txBody>
      </p:sp>
      <p:sp>
        <p:nvSpPr>
          <p:cNvPr id="37" name="Text 35"/>
          <p:cNvSpPr/>
          <p:nvPr/>
        </p:nvSpPr>
        <p:spPr>
          <a:xfrm>
            <a:off x="1051560" y="5010912"/>
            <a:ext cx="2011680" cy="219456"/>
          </a:xfrm>
          <a:prstGeom prst="rect">
            <a:avLst/>
          </a:prstGeom>
          <a:noFill/>
          <a:ln/>
        </p:spPr>
        <p:txBody>
          <a:bodyPr wrap="square" lIns="0" tIns="0" rIns="0" bIns="0" rtlCol="0" anchor="ctr">
            <a:normAutofit/>
          </a:bodyPr>
          <a:lstStyle/>
          <a:p>
            <a:pPr indent="0" marL="0">
              <a:buNone/>
            </a:pPr>
            <a:r>
              <a:rPr lang="en-US" sz="950" dirty="0">
                <a:solidFill>
                  <a:srgbClr val="817973"/>
                </a:solidFill>
                <a:latin typeface="Apple SD Gothic Neo" pitchFamily="34" charset="0"/>
                <a:ea typeface="Apple SD Gothic Neo" pitchFamily="34" charset="-122"/>
                <a:cs typeface="Apple SD Gothic Neo" pitchFamily="34" charset="-120"/>
              </a:rPr>
              <a:t>MCM 기존 자산</a:t>
            </a:r>
            <a:endParaRPr lang="en-US" sz="950" dirty="0"/>
          </a:p>
        </p:txBody>
      </p:sp>
      <p:sp>
        <p:nvSpPr>
          <p:cNvPr id="38" name="Shape 36"/>
          <p:cNvSpPr/>
          <p:nvPr/>
        </p:nvSpPr>
        <p:spPr>
          <a:xfrm>
            <a:off x="6263640" y="2194560"/>
            <a:ext cx="5166360" cy="3273552"/>
          </a:xfrm>
          <a:prstGeom prst="roundRect">
            <a:avLst>
              <a:gd name="adj" fmla="val 3911"/>
            </a:avLst>
          </a:prstGeom>
          <a:solidFill>
            <a:srgbClr val="8B5A2B"/>
          </a:solidFill>
          <a:ln w="10160">
            <a:solidFill>
              <a:srgbClr val="8B5A2B"/>
            </a:solidFill>
            <a:prstDash val="solid"/>
          </a:ln>
        </p:spPr>
      </p:sp>
      <p:sp>
        <p:nvSpPr>
          <p:cNvPr id="39" name="Text 37"/>
          <p:cNvSpPr/>
          <p:nvPr/>
        </p:nvSpPr>
        <p:spPr>
          <a:xfrm>
            <a:off x="6583680" y="2523744"/>
            <a:ext cx="2743200" cy="201168"/>
          </a:xfrm>
          <a:prstGeom prst="rect">
            <a:avLst/>
          </a:prstGeom>
          <a:noFill/>
          <a:ln/>
        </p:spPr>
        <p:txBody>
          <a:bodyPr wrap="square" lIns="0" tIns="0" rIns="0" bIns="0" rtlCol="0" anchor="ctr">
            <a:normAutofit/>
          </a:bodyPr>
          <a:lstStyle/>
          <a:p>
            <a:pPr indent="0" marL="0">
              <a:buNone/>
            </a:pPr>
            <a:r>
              <a:rPr lang="en-US" sz="850" b="1" spc="170" kern="0" dirty="0">
                <a:solidFill>
                  <a:srgbClr val="FFFFFF"/>
                </a:solidFill>
                <a:latin typeface="Apple SD Gothic Neo" pitchFamily="34" charset="0"/>
                <a:ea typeface="Apple SD Gothic Neo" pitchFamily="34" charset="-122"/>
                <a:cs typeface="Apple SD Gothic Neo" pitchFamily="34" charset="-120"/>
              </a:rPr>
              <a:t>MEMORY GRAPH LAYER</a:t>
            </a:r>
            <a:endParaRPr lang="en-US" sz="850" dirty="0"/>
          </a:p>
        </p:txBody>
      </p:sp>
      <p:sp>
        <p:nvSpPr>
          <p:cNvPr id="40" name="Text 38"/>
          <p:cNvSpPr/>
          <p:nvPr/>
        </p:nvSpPr>
        <p:spPr>
          <a:xfrm>
            <a:off x="6583680" y="2880360"/>
            <a:ext cx="4251960" cy="384048"/>
          </a:xfrm>
          <a:prstGeom prst="rect">
            <a:avLst/>
          </a:prstGeom>
          <a:noFill/>
          <a:ln/>
        </p:spPr>
        <p:txBody>
          <a:bodyPr wrap="square" lIns="0" tIns="0" rIns="0" bIns="0" rtlCol="0" anchor="ctr">
            <a:normAutofit/>
          </a:bodyPr>
          <a:lstStyle/>
          <a:p>
            <a:pPr indent="0" marL="0">
              <a:buNone/>
            </a:pPr>
            <a:r>
              <a:rPr lang="en-US" sz="2000" b="1" dirty="0">
                <a:solidFill>
                  <a:srgbClr val="FFFFFF"/>
                </a:solidFill>
                <a:latin typeface="Apple SD Gothic Neo" pitchFamily="34" charset="0"/>
                <a:ea typeface="Apple SD Gothic Neo" pitchFamily="34" charset="-122"/>
                <a:cs typeface="Apple SD Gothic Neo" pitchFamily="34" charset="-120"/>
              </a:rPr>
              <a:t>제품과 어떻게 살아왔는가</a:t>
            </a:r>
            <a:endParaRPr lang="en-US" sz="2000" dirty="0"/>
          </a:p>
        </p:txBody>
      </p:sp>
      <p:sp>
        <p:nvSpPr>
          <p:cNvPr id="41" name="Shape 39"/>
          <p:cNvSpPr/>
          <p:nvPr/>
        </p:nvSpPr>
        <p:spPr>
          <a:xfrm>
            <a:off x="6611112" y="3630168"/>
            <a:ext cx="118872" cy="118872"/>
          </a:xfrm>
          <a:prstGeom prst="ellipse">
            <a:avLst/>
          </a:prstGeom>
          <a:solidFill>
            <a:srgbClr val="C9945A"/>
          </a:solidFill>
          <a:ln w="5080">
            <a:solidFill>
              <a:srgbClr val="C9945A"/>
            </a:solidFill>
            <a:prstDash val="solid"/>
          </a:ln>
        </p:spPr>
      </p:sp>
      <p:sp>
        <p:nvSpPr>
          <p:cNvPr id="42" name="Text 40"/>
          <p:cNvSpPr/>
          <p:nvPr/>
        </p:nvSpPr>
        <p:spPr>
          <a:xfrm>
            <a:off x="6885432" y="3547872"/>
            <a:ext cx="3566160" cy="274320"/>
          </a:xfrm>
          <a:prstGeom prst="rect">
            <a:avLst/>
          </a:prstGeom>
          <a:noFill/>
          <a:ln/>
        </p:spPr>
        <p:txBody>
          <a:bodyPr wrap="square" lIns="0" tIns="0" rIns="0" bIns="0" rtlCol="0" anchor="ctr">
            <a:normAutofit/>
          </a:bodyPr>
          <a:lstStyle/>
          <a:p>
            <a:pPr indent="0" marL="0">
              <a:buNone/>
            </a:pPr>
            <a:r>
              <a:rPr lang="en-US" sz="1150" dirty="0">
                <a:solidFill>
                  <a:srgbClr val="FFFFFF"/>
                </a:solidFill>
                <a:latin typeface="Apple SD Gothic Neo" pitchFamily="34" charset="0"/>
                <a:ea typeface="Apple SD Gothic Neo" pitchFamily="34" charset="-122"/>
                <a:cs typeface="Apple SD Gothic Neo" pitchFamily="34" charset="-120"/>
              </a:rPr>
              <a:t>사진·날짜·장소·메모</a:t>
            </a:r>
            <a:endParaRPr lang="en-US" sz="1150" dirty="0"/>
          </a:p>
        </p:txBody>
      </p:sp>
      <p:sp>
        <p:nvSpPr>
          <p:cNvPr id="43" name="Shape 41"/>
          <p:cNvSpPr/>
          <p:nvPr/>
        </p:nvSpPr>
        <p:spPr>
          <a:xfrm>
            <a:off x="6611112" y="4114800"/>
            <a:ext cx="118872" cy="118872"/>
          </a:xfrm>
          <a:prstGeom prst="ellipse">
            <a:avLst/>
          </a:prstGeom>
          <a:solidFill>
            <a:srgbClr val="C9945A"/>
          </a:solidFill>
          <a:ln w="5080">
            <a:solidFill>
              <a:srgbClr val="C9945A"/>
            </a:solidFill>
            <a:prstDash val="solid"/>
          </a:ln>
        </p:spPr>
      </p:sp>
      <p:sp>
        <p:nvSpPr>
          <p:cNvPr id="44" name="Text 42"/>
          <p:cNvSpPr/>
          <p:nvPr/>
        </p:nvSpPr>
        <p:spPr>
          <a:xfrm>
            <a:off x="6885432" y="4032504"/>
            <a:ext cx="3566160" cy="274320"/>
          </a:xfrm>
          <a:prstGeom prst="rect">
            <a:avLst/>
          </a:prstGeom>
          <a:noFill/>
          <a:ln/>
        </p:spPr>
        <p:txBody>
          <a:bodyPr wrap="square" lIns="0" tIns="0" rIns="0" bIns="0" rtlCol="0" anchor="ctr">
            <a:normAutofit/>
          </a:bodyPr>
          <a:lstStyle/>
          <a:p>
            <a:pPr indent="0" marL="0">
              <a:buNone/>
            </a:pPr>
            <a:r>
              <a:rPr lang="en-US" sz="1150" dirty="0">
                <a:solidFill>
                  <a:srgbClr val="FFFFFF"/>
                </a:solidFill>
                <a:latin typeface="Apple SD Gothic Neo" pitchFamily="34" charset="0"/>
                <a:ea typeface="Apple SD Gothic Neo" pitchFamily="34" charset="-122"/>
                <a:cs typeface="Apple SD Gothic Neo" pitchFamily="34" charset="-120"/>
              </a:rPr>
              <a:t>케어·수선 전후 이력</a:t>
            </a:r>
            <a:endParaRPr lang="en-US" sz="1150" dirty="0"/>
          </a:p>
        </p:txBody>
      </p:sp>
      <p:sp>
        <p:nvSpPr>
          <p:cNvPr id="45" name="Shape 43"/>
          <p:cNvSpPr/>
          <p:nvPr/>
        </p:nvSpPr>
        <p:spPr>
          <a:xfrm>
            <a:off x="6611112" y="4599432"/>
            <a:ext cx="118872" cy="118872"/>
          </a:xfrm>
          <a:prstGeom prst="ellipse">
            <a:avLst/>
          </a:prstGeom>
          <a:solidFill>
            <a:srgbClr val="C9945A"/>
          </a:solidFill>
          <a:ln w="5080">
            <a:solidFill>
              <a:srgbClr val="C9945A"/>
            </a:solidFill>
            <a:prstDash val="solid"/>
          </a:ln>
        </p:spPr>
      </p:sp>
      <p:sp>
        <p:nvSpPr>
          <p:cNvPr id="46" name="Text 44"/>
          <p:cNvSpPr/>
          <p:nvPr/>
        </p:nvSpPr>
        <p:spPr>
          <a:xfrm>
            <a:off x="6885432" y="4517136"/>
            <a:ext cx="3566160" cy="274320"/>
          </a:xfrm>
          <a:prstGeom prst="rect">
            <a:avLst/>
          </a:prstGeom>
          <a:noFill/>
          <a:ln/>
        </p:spPr>
        <p:txBody>
          <a:bodyPr wrap="square" lIns="0" tIns="0" rIns="0" bIns="0" rtlCol="0" anchor="ctr">
            <a:normAutofit/>
          </a:bodyPr>
          <a:lstStyle/>
          <a:p>
            <a:pPr indent="0" marL="0">
              <a:buNone/>
            </a:pPr>
            <a:r>
              <a:rPr lang="en-US" sz="1150" dirty="0">
                <a:solidFill>
                  <a:srgbClr val="FFFFFF"/>
                </a:solidFill>
                <a:latin typeface="Apple SD Gothic Neo" pitchFamily="34" charset="0"/>
                <a:ea typeface="Apple SD Gothic Neo" pitchFamily="34" charset="-122"/>
                <a:cs typeface="Apple SD Gothic Neo" pitchFamily="34" charset="-120"/>
              </a:rPr>
              <a:t>Story·Recap·소유권 이전</a:t>
            </a:r>
            <a:endParaRPr lang="en-US" sz="1150" dirty="0"/>
          </a:p>
        </p:txBody>
      </p:sp>
      <p:sp>
        <p:nvSpPr>
          <p:cNvPr id="47" name="Text 45"/>
          <p:cNvSpPr/>
          <p:nvPr/>
        </p:nvSpPr>
        <p:spPr>
          <a:xfrm>
            <a:off x="6583680" y="5010912"/>
            <a:ext cx="2468880" cy="219456"/>
          </a:xfrm>
          <a:prstGeom prst="rect">
            <a:avLst/>
          </a:prstGeom>
          <a:noFill/>
          <a:ln/>
        </p:spPr>
        <p:txBody>
          <a:bodyPr wrap="square" lIns="0" tIns="0" rIns="0" bIns="0" rtlCol="0" anchor="ctr">
            <a:normAutofit/>
          </a:bodyPr>
          <a:lstStyle/>
          <a:p>
            <a:pPr indent="0" marL="0">
              <a:buNone/>
            </a:pPr>
            <a:r>
              <a:rPr lang="en-US" sz="950" dirty="0">
                <a:solidFill>
                  <a:srgbClr val="F2DCC7"/>
                </a:solidFill>
                <a:latin typeface="Apple SD Gothic Neo" pitchFamily="34" charset="0"/>
                <a:ea typeface="Apple SD Gothic Neo" pitchFamily="34" charset="-122"/>
                <a:cs typeface="Apple SD Gothic Neo" pitchFamily="34" charset="-120"/>
              </a:rPr>
              <a:t>Storybook 확장 레이어</a:t>
            </a:r>
            <a:endParaRPr lang="en-US" sz="950" dirty="0"/>
          </a:p>
        </p:txBody>
      </p:sp>
      <p:sp>
        <p:nvSpPr>
          <p:cNvPr id="48" name="Shape 46"/>
          <p:cNvSpPr/>
          <p:nvPr/>
        </p:nvSpPr>
        <p:spPr>
          <a:xfrm>
            <a:off x="5815584" y="3438144"/>
            <a:ext cx="530352" cy="676656"/>
          </a:xfrm>
          <a:prstGeom prst="chevron">
            <a:avLst/>
          </a:prstGeom>
          <a:solidFill>
            <a:srgbClr val="FAF8F5"/>
          </a:solidFill>
          <a:ln w="12700">
            <a:solidFill>
              <a:srgbClr val="333333">
                <a:alpha val="0"/>
              </a:srgbClr>
            </a:solidFill>
            <a:prstDash val="solid"/>
          </a:ln>
        </p:spPr>
      </p:sp>
      <p:sp>
        <p:nvSpPr>
          <p:cNvPr id="49" name="Text 47"/>
          <p:cNvSpPr/>
          <p:nvPr/>
        </p:nvSpPr>
        <p:spPr>
          <a:xfrm>
            <a:off x="768096" y="5870448"/>
            <a:ext cx="8503920" cy="201168"/>
          </a:xfrm>
          <a:prstGeom prst="rect">
            <a:avLst/>
          </a:prstGeom>
          <a:noFill/>
          <a:ln/>
        </p:spPr>
        <p:txBody>
          <a:bodyPr wrap="square" lIns="0" tIns="0" rIns="0" bIns="0" rtlCol="0" anchor="ctr">
            <a:normAutofit/>
          </a:bodyPr>
          <a:lstStyle/>
          <a:p>
            <a:pPr indent="0" marL="0">
              <a:buNone/>
            </a:pPr>
            <a:r>
              <a:rPr lang="en-US" sz="800" dirty="0">
                <a:solidFill>
                  <a:srgbClr val="77706A"/>
                </a:solidFill>
                <a:latin typeface="Apple SD Gothic Neo" pitchFamily="34" charset="0"/>
                <a:ea typeface="Apple SD Gothic Neo" pitchFamily="34" charset="-122"/>
                <a:cs typeface="Apple SD Gothic Neo" pitchFamily="34" charset="-120"/>
              </a:rPr>
              <a:t>Source: MCM 공식 Digital Product Passport · Aura Blockchain Consortium (확인 2026.08.15)</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8F5"/>
        </a:solidFill>
      </p:bgPr>
    </p:bg>
    <p:spTree>
      <p:nvGrpSpPr>
        <p:cNvPr id="1" name=""/>
        <p:cNvGrpSpPr/>
        <p:nvPr/>
      </p:nvGrpSpPr>
      <p:grpSpPr>
        <a:xfrm>
          <a:off x="0" y="0"/>
          <a:ext cx="0" cy="0"/>
          <a:chOff x="0" y="0"/>
          <a:chExt cx="0" cy="0"/>
        </a:xfrm>
      </p:grpSpPr>
      <p:sp>
        <p:nvSpPr>
          <p:cNvPr id="2" name="Shape 0"/>
          <p:cNvSpPr/>
          <p:nvPr/>
        </p:nvSpPr>
        <p:spPr>
          <a:xfrm rot="2700000">
            <a:off x="8046720" y="411480"/>
            <a:ext cx="109728" cy="109728"/>
          </a:xfrm>
          <a:prstGeom prst="rect">
            <a:avLst/>
          </a:prstGeom>
          <a:solidFill>
            <a:srgbClr val="8B5A2B">
              <a:alpha val="10000"/>
            </a:srgbClr>
          </a:solidFill>
          <a:ln w="6350">
            <a:solidFill>
              <a:srgbClr val="8B5A2B">
                <a:alpha val="2000"/>
              </a:srgbClr>
            </a:solidFill>
            <a:prstDash val="solid"/>
          </a:ln>
        </p:spPr>
      </p:sp>
      <p:sp>
        <p:nvSpPr>
          <p:cNvPr id="3" name="Shape 1"/>
          <p:cNvSpPr/>
          <p:nvPr/>
        </p:nvSpPr>
        <p:spPr>
          <a:xfrm rot="2700000">
            <a:off x="8641080" y="411480"/>
            <a:ext cx="109728" cy="109728"/>
          </a:xfrm>
          <a:prstGeom prst="rect">
            <a:avLst/>
          </a:prstGeom>
          <a:solidFill>
            <a:srgbClr val="8B5A2B">
              <a:alpha val="10000"/>
            </a:srgbClr>
          </a:solidFill>
          <a:ln w="6350">
            <a:solidFill>
              <a:srgbClr val="8B5A2B">
                <a:alpha val="2000"/>
              </a:srgbClr>
            </a:solidFill>
            <a:prstDash val="solid"/>
          </a:ln>
        </p:spPr>
      </p:sp>
      <p:sp>
        <p:nvSpPr>
          <p:cNvPr id="4" name="Shape 2"/>
          <p:cNvSpPr/>
          <p:nvPr/>
        </p:nvSpPr>
        <p:spPr>
          <a:xfrm rot="2700000">
            <a:off x="9235440" y="411480"/>
            <a:ext cx="109728" cy="109728"/>
          </a:xfrm>
          <a:prstGeom prst="rect">
            <a:avLst/>
          </a:prstGeom>
          <a:solidFill>
            <a:srgbClr val="8B5A2B">
              <a:alpha val="10000"/>
            </a:srgbClr>
          </a:solidFill>
          <a:ln w="6350">
            <a:solidFill>
              <a:srgbClr val="8B5A2B">
                <a:alpha val="2000"/>
              </a:srgbClr>
            </a:solidFill>
            <a:prstDash val="solid"/>
          </a:ln>
        </p:spPr>
      </p:sp>
      <p:sp>
        <p:nvSpPr>
          <p:cNvPr id="5" name="Shape 3"/>
          <p:cNvSpPr/>
          <p:nvPr/>
        </p:nvSpPr>
        <p:spPr>
          <a:xfrm rot="2700000">
            <a:off x="9829800" y="411480"/>
            <a:ext cx="109728" cy="109728"/>
          </a:xfrm>
          <a:prstGeom prst="rect">
            <a:avLst/>
          </a:prstGeom>
          <a:solidFill>
            <a:srgbClr val="8B5A2B">
              <a:alpha val="10000"/>
            </a:srgbClr>
          </a:solidFill>
          <a:ln w="6350">
            <a:solidFill>
              <a:srgbClr val="8B5A2B">
                <a:alpha val="2000"/>
              </a:srgbClr>
            </a:solidFill>
            <a:prstDash val="solid"/>
          </a:ln>
        </p:spPr>
      </p:sp>
      <p:sp>
        <p:nvSpPr>
          <p:cNvPr id="6" name="Shape 4"/>
          <p:cNvSpPr/>
          <p:nvPr/>
        </p:nvSpPr>
        <p:spPr>
          <a:xfrm rot="2700000">
            <a:off x="10424160" y="411480"/>
            <a:ext cx="109728" cy="109728"/>
          </a:xfrm>
          <a:prstGeom prst="rect">
            <a:avLst/>
          </a:prstGeom>
          <a:solidFill>
            <a:srgbClr val="8B5A2B">
              <a:alpha val="10000"/>
            </a:srgbClr>
          </a:solidFill>
          <a:ln w="6350">
            <a:solidFill>
              <a:srgbClr val="8B5A2B">
                <a:alpha val="2000"/>
              </a:srgbClr>
            </a:solidFill>
            <a:prstDash val="solid"/>
          </a:ln>
        </p:spPr>
      </p:sp>
      <p:sp>
        <p:nvSpPr>
          <p:cNvPr id="7" name="Shape 5"/>
          <p:cNvSpPr/>
          <p:nvPr/>
        </p:nvSpPr>
        <p:spPr>
          <a:xfrm rot="2700000">
            <a:off x="11018520" y="411480"/>
            <a:ext cx="109728" cy="109728"/>
          </a:xfrm>
          <a:prstGeom prst="rect">
            <a:avLst/>
          </a:prstGeom>
          <a:solidFill>
            <a:srgbClr val="8B5A2B">
              <a:alpha val="10000"/>
            </a:srgbClr>
          </a:solidFill>
          <a:ln w="6350">
            <a:solidFill>
              <a:srgbClr val="8B5A2B">
                <a:alpha val="2000"/>
              </a:srgbClr>
            </a:solidFill>
            <a:prstDash val="solid"/>
          </a:ln>
        </p:spPr>
      </p:sp>
      <p:sp>
        <p:nvSpPr>
          <p:cNvPr id="8" name="Shape 6"/>
          <p:cNvSpPr/>
          <p:nvPr/>
        </p:nvSpPr>
        <p:spPr>
          <a:xfrm rot="2700000">
            <a:off x="11612880" y="411480"/>
            <a:ext cx="109728" cy="109728"/>
          </a:xfrm>
          <a:prstGeom prst="rect">
            <a:avLst/>
          </a:prstGeom>
          <a:solidFill>
            <a:srgbClr val="8B5A2B">
              <a:alpha val="10000"/>
            </a:srgbClr>
          </a:solidFill>
          <a:ln w="6350">
            <a:solidFill>
              <a:srgbClr val="8B5A2B">
                <a:alpha val="2000"/>
              </a:srgbClr>
            </a:solidFill>
            <a:prstDash val="solid"/>
          </a:ln>
        </p:spPr>
      </p:sp>
      <p:sp>
        <p:nvSpPr>
          <p:cNvPr id="9" name="Shape 7"/>
          <p:cNvSpPr/>
          <p:nvPr/>
        </p:nvSpPr>
        <p:spPr>
          <a:xfrm rot="2700000">
            <a:off x="8339328" y="1005840"/>
            <a:ext cx="109728" cy="109728"/>
          </a:xfrm>
          <a:prstGeom prst="rect">
            <a:avLst/>
          </a:prstGeom>
          <a:solidFill>
            <a:srgbClr val="8B5A2B">
              <a:alpha val="10000"/>
            </a:srgbClr>
          </a:solidFill>
          <a:ln w="6350">
            <a:solidFill>
              <a:srgbClr val="8B5A2B">
                <a:alpha val="2000"/>
              </a:srgbClr>
            </a:solidFill>
            <a:prstDash val="solid"/>
          </a:ln>
        </p:spPr>
      </p:sp>
      <p:sp>
        <p:nvSpPr>
          <p:cNvPr id="10" name="Shape 8"/>
          <p:cNvSpPr/>
          <p:nvPr/>
        </p:nvSpPr>
        <p:spPr>
          <a:xfrm rot="2700000">
            <a:off x="8933688" y="1005840"/>
            <a:ext cx="109728" cy="109728"/>
          </a:xfrm>
          <a:prstGeom prst="rect">
            <a:avLst/>
          </a:prstGeom>
          <a:solidFill>
            <a:srgbClr val="8B5A2B">
              <a:alpha val="10000"/>
            </a:srgbClr>
          </a:solidFill>
          <a:ln w="6350">
            <a:solidFill>
              <a:srgbClr val="8B5A2B">
                <a:alpha val="2000"/>
              </a:srgbClr>
            </a:solidFill>
            <a:prstDash val="solid"/>
          </a:ln>
        </p:spPr>
      </p:sp>
      <p:sp>
        <p:nvSpPr>
          <p:cNvPr id="11" name="Shape 9"/>
          <p:cNvSpPr/>
          <p:nvPr/>
        </p:nvSpPr>
        <p:spPr>
          <a:xfrm rot="2700000">
            <a:off x="9528048" y="1005840"/>
            <a:ext cx="109728" cy="109728"/>
          </a:xfrm>
          <a:prstGeom prst="rect">
            <a:avLst/>
          </a:prstGeom>
          <a:solidFill>
            <a:srgbClr val="8B5A2B">
              <a:alpha val="10000"/>
            </a:srgbClr>
          </a:solidFill>
          <a:ln w="6350">
            <a:solidFill>
              <a:srgbClr val="8B5A2B">
                <a:alpha val="2000"/>
              </a:srgbClr>
            </a:solidFill>
            <a:prstDash val="solid"/>
          </a:ln>
        </p:spPr>
      </p:sp>
      <p:sp>
        <p:nvSpPr>
          <p:cNvPr id="12" name="Shape 10"/>
          <p:cNvSpPr/>
          <p:nvPr/>
        </p:nvSpPr>
        <p:spPr>
          <a:xfrm rot="2700000">
            <a:off x="10122408" y="1005840"/>
            <a:ext cx="109728" cy="109728"/>
          </a:xfrm>
          <a:prstGeom prst="rect">
            <a:avLst/>
          </a:prstGeom>
          <a:solidFill>
            <a:srgbClr val="8B5A2B">
              <a:alpha val="10000"/>
            </a:srgbClr>
          </a:solidFill>
          <a:ln w="6350">
            <a:solidFill>
              <a:srgbClr val="8B5A2B">
                <a:alpha val="2000"/>
              </a:srgbClr>
            </a:solidFill>
            <a:prstDash val="solid"/>
          </a:ln>
        </p:spPr>
      </p:sp>
      <p:sp>
        <p:nvSpPr>
          <p:cNvPr id="13" name="Shape 11"/>
          <p:cNvSpPr/>
          <p:nvPr/>
        </p:nvSpPr>
        <p:spPr>
          <a:xfrm rot="2700000">
            <a:off x="10716768" y="1005840"/>
            <a:ext cx="109728" cy="109728"/>
          </a:xfrm>
          <a:prstGeom prst="rect">
            <a:avLst/>
          </a:prstGeom>
          <a:solidFill>
            <a:srgbClr val="8B5A2B">
              <a:alpha val="10000"/>
            </a:srgbClr>
          </a:solidFill>
          <a:ln w="6350">
            <a:solidFill>
              <a:srgbClr val="8B5A2B">
                <a:alpha val="2000"/>
              </a:srgbClr>
            </a:solidFill>
            <a:prstDash val="solid"/>
          </a:ln>
        </p:spPr>
      </p:sp>
      <p:sp>
        <p:nvSpPr>
          <p:cNvPr id="14" name="Shape 12"/>
          <p:cNvSpPr/>
          <p:nvPr/>
        </p:nvSpPr>
        <p:spPr>
          <a:xfrm rot="2700000">
            <a:off x="11311128" y="1005840"/>
            <a:ext cx="109728" cy="109728"/>
          </a:xfrm>
          <a:prstGeom prst="rect">
            <a:avLst/>
          </a:prstGeom>
          <a:solidFill>
            <a:srgbClr val="8B5A2B">
              <a:alpha val="10000"/>
            </a:srgbClr>
          </a:solidFill>
          <a:ln w="6350">
            <a:solidFill>
              <a:srgbClr val="8B5A2B">
                <a:alpha val="2000"/>
              </a:srgbClr>
            </a:solidFill>
            <a:prstDash val="solid"/>
          </a:ln>
        </p:spPr>
      </p:sp>
      <p:sp>
        <p:nvSpPr>
          <p:cNvPr id="15" name="Shape 13"/>
          <p:cNvSpPr/>
          <p:nvPr/>
        </p:nvSpPr>
        <p:spPr>
          <a:xfrm rot="2700000">
            <a:off x="11905488" y="1005840"/>
            <a:ext cx="109728" cy="109728"/>
          </a:xfrm>
          <a:prstGeom prst="rect">
            <a:avLst/>
          </a:prstGeom>
          <a:solidFill>
            <a:srgbClr val="8B5A2B">
              <a:alpha val="10000"/>
            </a:srgbClr>
          </a:solidFill>
          <a:ln w="6350">
            <a:solidFill>
              <a:srgbClr val="8B5A2B">
                <a:alpha val="2000"/>
              </a:srgbClr>
            </a:solidFill>
            <a:prstDash val="solid"/>
          </a:ln>
        </p:spPr>
      </p:sp>
      <p:sp>
        <p:nvSpPr>
          <p:cNvPr id="16" name="Shape 14"/>
          <p:cNvSpPr/>
          <p:nvPr/>
        </p:nvSpPr>
        <p:spPr>
          <a:xfrm rot="2700000">
            <a:off x="8046720" y="1600200"/>
            <a:ext cx="109728" cy="109728"/>
          </a:xfrm>
          <a:prstGeom prst="rect">
            <a:avLst/>
          </a:prstGeom>
          <a:solidFill>
            <a:srgbClr val="8B5A2B">
              <a:alpha val="10000"/>
            </a:srgbClr>
          </a:solidFill>
          <a:ln w="6350">
            <a:solidFill>
              <a:srgbClr val="8B5A2B">
                <a:alpha val="2000"/>
              </a:srgbClr>
            </a:solidFill>
            <a:prstDash val="solid"/>
          </a:ln>
        </p:spPr>
      </p:sp>
      <p:sp>
        <p:nvSpPr>
          <p:cNvPr id="17" name="Shape 15"/>
          <p:cNvSpPr/>
          <p:nvPr/>
        </p:nvSpPr>
        <p:spPr>
          <a:xfrm rot="2700000">
            <a:off x="8641080" y="1600200"/>
            <a:ext cx="109728" cy="109728"/>
          </a:xfrm>
          <a:prstGeom prst="rect">
            <a:avLst/>
          </a:prstGeom>
          <a:solidFill>
            <a:srgbClr val="8B5A2B">
              <a:alpha val="10000"/>
            </a:srgbClr>
          </a:solidFill>
          <a:ln w="6350">
            <a:solidFill>
              <a:srgbClr val="8B5A2B">
                <a:alpha val="2000"/>
              </a:srgbClr>
            </a:solidFill>
            <a:prstDash val="solid"/>
          </a:ln>
        </p:spPr>
      </p:sp>
      <p:sp>
        <p:nvSpPr>
          <p:cNvPr id="18" name="Shape 16"/>
          <p:cNvSpPr/>
          <p:nvPr/>
        </p:nvSpPr>
        <p:spPr>
          <a:xfrm rot="2700000">
            <a:off x="9235440" y="1600200"/>
            <a:ext cx="109728" cy="109728"/>
          </a:xfrm>
          <a:prstGeom prst="rect">
            <a:avLst/>
          </a:prstGeom>
          <a:solidFill>
            <a:srgbClr val="8B5A2B">
              <a:alpha val="10000"/>
            </a:srgbClr>
          </a:solidFill>
          <a:ln w="6350">
            <a:solidFill>
              <a:srgbClr val="8B5A2B">
                <a:alpha val="2000"/>
              </a:srgbClr>
            </a:solidFill>
            <a:prstDash val="solid"/>
          </a:ln>
        </p:spPr>
      </p:sp>
      <p:sp>
        <p:nvSpPr>
          <p:cNvPr id="19" name="Shape 17"/>
          <p:cNvSpPr/>
          <p:nvPr/>
        </p:nvSpPr>
        <p:spPr>
          <a:xfrm rot="2700000">
            <a:off x="9829800" y="1600200"/>
            <a:ext cx="109728" cy="109728"/>
          </a:xfrm>
          <a:prstGeom prst="rect">
            <a:avLst/>
          </a:prstGeom>
          <a:solidFill>
            <a:srgbClr val="8B5A2B">
              <a:alpha val="10000"/>
            </a:srgbClr>
          </a:solidFill>
          <a:ln w="6350">
            <a:solidFill>
              <a:srgbClr val="8B5A2B">
                <a:alpha val="2000"/>
              </a:srgbClr>
            </a:solidFill>
            <a:prstDash val="solid"/>
          </a:ln>
        </p:spPr>
      </p:sp>
      <p:sp>
        <p:nvSpPr>
          <p:cNvPr id="20" name="Shape 18"/>
          <p:cNvSpPr/>
          <p:nvPr/>
        </p:nvSpPr>
        <p:spPr>
          <a:xfrm rot="2700000">
            <a:off x="10424160" y="1600200"/>
            <a:ext cx="109728" cy="109728"/>
          </a:xfrm>
          <a:prstGeom prst="rect">
            <a:avLst/>
          </a:prstGeom>
          <a:solidFill>
            <a:srgbClr val="8B5A2B">
              <a:alpha val="10000"/>
            </a:srgbClr>
          </a:solidFill>
          <a:ln w="6350">
            <a:solidFill>
              <a:srgbClr val="8B5A2B">
                <a:alpha val="2000"/>
              </a:srgbClr>
            </a:solidFill>
            <a:prstDash val="solid"/>
          </a:ln>
        </p:spPr>
      </p:sp>
      <p:sp>
        <p:nvSpPr>
          <p:cNvPr id="21" name="Shape 19"/>
          <p:cNvSpPr/>
          <p:nvPr/>
        </p:nvSpPr>
        <p:spPr>
          <a:xfrm rot="2700000">
            <a:off x="11018520" y="1600200"/>
            <a:ext cx="109728" cy="109728"/>
          </a:xfrm>
          <a:prstGeom prst="rect">
            <a:avLst/>
          </a:prstGeom>
          <a:solidFill>
            <a:srgbClr val="8B5A2B">
              <a:alpha val="10000"/>
            </a:srgbClr>
          </a:solidFill>
          <a:ln w="6350">
            <a:solidFill>
              <a:srgbClr val="8B5A2B">
                <a:alpha val="2000"/>
              </a:srgbClr>
            </a:solidFill>
            <a:prstDash val="solid"/>
          </a:ln>
        </p:spPr>
      </p:sp>
      <p:sp>
        <p:nvSpPr>
          <p:cNvPr id="22" name="Shape 20"/>
          <p:cNvSpPr/>
          <p:nvPr/>
        </p:nvSpPr>
        <p:spPr>
          <a:xfrm rot="2700000">
            <a:off x="11612880" y="1600200"/>
            <a:ext cx="109728" cy="109728"/>
          </a:xfrm>
          <a:prstGeom prst="rect">
            <a:avLst/>
          </a:prstGeom>
          <a:solidFill>
            <a:srgbClr val="8B5A2B">
              <a:alpha val="10000"/>
            </a:srgbClr>
          </a:solidFill>
          <a:ln w="6350">
            <a:solidFill>
              <a:srgbClr val="8B5A2B">
                <a:alpha val="2000"/>
              </a:srgbClr>
            </a:solidFill>
            <a:prstDash val="solid"/>
          </a:ln>
        </p:spPr>
      </p:sp>
      <p:sp>
        <p:nvSpPr>
          <p:cNvPr id="23" name="Text 21"/>
          <p:cNvSpPr/>
          <p:nvPr/>
        </p:nvSpPr>
        <p:spPr>
          <a:xfrm>
            <a:off x="685800" y="411480"/>
            <a:ext cx="2926080" cy="201168"/>
          </a:xfrm>
          <a:prstGeom prst="rect">
            <a:avLst/>
          </a:prstGeom>
          <a:noFill/>
          <a:ln/>
        </p:spPr>
        <p:txBody>
          <a:bodyPr wrap="square" lIns="0" tIns="0" rIns="0" bIns="0" rtlCol="0" anchor="ctr">
            <a:normAutofit/>
          </a:bodyPr>
          <a:lstStyle/>
          <a:p>
            <a:pPr indent="0" marL="0">
              <a:buNone/>
            </a:pPr>
            <a:r>
              <a:rPr lang="en-US" sz="900" b="1" spc="210" kern="0" dirty="0">
                <a:solidFill>
                  <a:srgbClr val="8B5A2B"/>
                </a:solidFill>
                <a:latin typeface="Apple SD Gothic Neo" pitchFamily="34" charset="0"/>
                <a:ea typeface="Apple SD Gothic Neo" pitchFamily="34" charset="-122"/>
                <a:cs typeface="Apple SD Gothic Neo" pitchFamily="34" charset="-120"/>
              </a:rPr>
              <a:t>CUSTOMER JOURNEY</a:t>
            </a:r>
            <a:endParaRPr lang="en-US" sz="900" dirty="0"/>
          </a:p>
        </p:txBody>
      </p:sp>
      <p:sp>
        <p:nvSpPr>
          <p:cNvPr id="24" name="Text 22"/>
          <p:cNvSpPr/>
          <p:nvPr/>
        </p:nvSpPr>
        <p:spPr>
          <a:xfrm>
            <a:off x="685800" y="749808"/>
            <a:ext cx="10789920" cy="841248"/>
          </a:xfrm>
          <a:prstGeom prst="rect">
            <a:avLst/>
          </a:prstGeom>
          <a:noFill/>
          <a:ln/>
        </p:spPr>
        <p:txBody>
          <a:bodyPr wrap="square" lIns="0" tIns="0" rIns="0" bIns="0" rtlCol="0" anchor="t">
            <a:normAutofit/>
          </a:bodyPr>
          <a:lstStyle/>
          <a:p>
            <a:pPr indent="0" marL="0">
              <a:lnSpc>
                <a:spcPct val="88000"/>
              </a:lnSpc>
              <a:buNone/>
            </a:pPr>
            <a:r>
              <a:rPr lang="en-US" sz="2600" b="1" dirty="0">
                <a:solidFill>
                  <a:srgbClr val="1C1917"/>
                </a:solidFill>
                <a:latin typeface="Apple SD Gothic Neo" pitchFamily="34" charset="0"/>
                <a:ea typeface="Apple SD Gothic Neo" pitchFamily="34" charset="-122"/>
                <a:cs typeface="Apple SD Gothic Neo" pitchFamily="34" charset="-120"/>
              </a:rPr>
              <a:t>한 번의 터치에서 시작해,</a:t>
            </a:r>
            <a:endParaRPr lang="en-US" sz="2600" dirty="0"/>
          </a:p>
          <a:p>
            <a:pPr indent="0" marL="0">
              <a:lnSpc>
                <a:spcPct val="88000"/>
              </a:lnSpc>
              <a:buNone/>
            </a:pPr>
            <a:r>
              <a:rPr lang="en-US" sz="2600" b="1" dirty="0">
                <a:solidFill>
                  <a:srgbClr val="1C1917"/>
                </a:solidFill>
                <a:latin typeface="Apple SD Gothic Neo" pitchFamily="34" charset="0"/>
                <a:ea typeface="Apple SD Gothic Neo" pitchFamily="34" charset="-122"/>
                <a:cs typeface="Apple SD Gothic Neo" pitchFamily="34" charset="-120"/>
              </a:rPr>
              <a:t>제품의 다음 소유자까지 이어집니다</a:t>
            </a:r>
            <a:endParaRPr lang="en-US" sz="2600" dirty="0"/>
          </a:p>
        </p:txBody>
      </p:sp>
      <p:sp>
        <p:nvSpPr>
          <p:cNvPr id="25" name="Text 23"/>
          <p:cNvSpPr/>
          <p:nvPr/>
        </p:nvSpPr>
        <p:spPr>
          <a:xfrm>
            <a:off x="694944" y="1581912"/>
            <a:ext cx="9875520" cy="347472"/>
          </a:xfrm>
          <a:prstGeom prst="rect">
            <a:avLst/>
          </a:prstGeom>
          <a:noFill/>
          <a:ln/>
        </p:spPr>
        <p:txBody>
          <a:bodyPr wrap="square" lIns="0" tIns="0" rIns="0" bIns="0" rtlCol="0" anchor="t">
            <a:normAutofit/>
          </a:bodyPr>
          <a:lstStyle/>
          <a:p>
            <a:pPr indent="0" marL="0">
              <a:buNone/>
            </a:pPr>
            <a:r>
              <a:rPr lang="en-US" sz="1150" dirty="0">
                <a:solidFill>
                  <a:srgbClr val="77706A"/>
                </a:solidFill>
                <a:latin typeface="Apple SD Gothic Neo" pitchFamily="34" charset="0"/>
                <a:ea typeface="Apple SD Gothic Neo" pitchFamily="34" charset="-122"/>
                <a:cs typeface="Apple SD Gothic Neo" pitchFamily="34" charset="-120"/>
              </a:rPr>
              <a:t>앱 설치 없이 제품 페이지에서 구매·사용·관리·수선·리캡·이전을 연결합니다.</a:t>
            </a:r>
            <a:endParaRPr lang="en-US" sz="1150" dirty="0"/>
          </a:p>
        </p:txBody>
      </p:sp>
      <p:sp>
        <p:nvSpPr>
          <p:cNvPr id="26" name="Text 24"/>
          <p:cNvSpPr/>
          <p:nvPr/>
        </p:nvSpPr>
        <p:spPr>
          <a:xfrm>
            <a:off x="658368" y="6473952"/>
            <a:ext cx="2286000" cy="182880"/>
          </a:xfrm>
          <a:prstGeom prst="rect">
            <a:avLst/>
          </a:prstGeom>
          <a:noFill/>
          <a:ln/>
        </p:spPr>
        <p:txBody>
          <a:bodyPr wrap="square" lIns="0" tIns="0" rIns="0" bIns="0" rtlCol="0" anchor="ctr">
            <a:normAutofit/>
          </a:bodyPr>
          <a:lstStyle/>
          <a:p>
            <a:pPr indent="0" marL="0">
              <a:buNone/>
            </a:pPr>
            <a:r>
              <a:rPr lang="en-US" sz="850" spc="140" kern="0" dirty="0">
                <a:solidFill>
                  <a:srgbClr val="77706A"/>
                </a:solidFill>
                <a:latin typeface="Apple SD Gothic Neo" pitchFamily="34" charset="0"/>
                <a:ea typeface="Apple SD Gothic Neo" pitchFamily="34" charset="-122"/>
                <a:cs typeface="Apple SD Gothic Neo" pitchFamily="34" charset="-120"/>
              </a:rPr>
              <a:t>MCM · STORYBOOK</a:t>
            </a:r>
            <a:endParaRPr lang="en-US" sz="850" dirty="0"/>
          </a:p>
        </p:txBody>
      </p:sp>
      <p:sp>
        <p:nvSpPr>
          <p:cNvPr id="27" name="Text 25"/>
          <p:cNvSpPr/>
          <p:nvPr/>
        </p:nvSpPr>
        <p:spPr>
          <a:xfrm>
            <a:off x="11155680" y="6473952"/>
            <a:ext cx="384048" cy="182880"/>
          </a:xfrm>
          <a:prstGeom prst="rect">
            <a:avLst/>
          </a:prstGeom>
          <a:noFill/>
          <a:ln/>
        </p:spPr>
        <p:txBody>
          <a:bodyPr wrap="square" lIns="0" tIns="0" rIns="0" bIns="0" rtlCol="0" anchor="ctr">
            <a:normAutofit/>
          </a:bodyPr>
          <a:lstStyle/>
          <a:p>
            <a:pPr algn="r" indent="0" marL="0">
              <a:buNone/>
            </a:pPr>
            <a:r>
              <a:rPr lang="en-US" sz="850" dirty="0">
                <a:solidFill>
                  <a:srgbClr val="77706A"/>
                </a:solidFill>
                <a:latin typeface="Apple SD Gothic Neo" pitchFamily="34" charset="0"/>
                <a:ea typeface="Apple SD Gothic Neo" pitchFamily="34" charset="-122"/>
                <a:cs typeface="Apple SD Gothic Neo" pitchFamily="34" charset="-120"/>
              </a:rPr>
              <a:t>05</a:t>
            </a:r>
            <a:endParaRPr lang="en-US" sz="850" dirty="0"/>
          </a:p>
        </p:txBody>
      </p:sp>
      <p:sp>
        <p:nvSpPr>
          <p:cNvPr id="28" name="Shape 26"/>
          <p:cNvSpPr/>
          <p:nvPr/>
        </p:nvSpPr>
        <p:spPr>
          <a:xfrm>
            <a:off x="2194560" y="3172968"/>
            <a:ext cx="411480" cy="0"/>
          </a:xfrm>
          <a:prstGeom prst="line">
            <a:avLst/>
          </a:prstGeom>
          <a:noFill/>
          <a:ln w="15240">
            <a:solidFill>
              <a:srgbClr val="A48F7A"/>
            </a:solidFill>
            <a:prstDash val="solid"/>
            <a:headEnd type="none"/>
            <a:tailEnd type="triangle"/>
          </a:ln>
        </p:spPr>
      </p:sp>
      <p:sp>
        <p:nvSpPr>
          <p:cNvPr id="29" name="Shape 27"/>
          <p:cNvSpPr/>
          <p:nvPr/>
        </p:nvSpPr>
        <p:spPr>
          <a:xfrm>
            <a:off x="1188720" y="2496312"/>
            <a:ext cx="621792" cy="621792"/>
          </a:xfrm>
          <a:prstGeom prst="ellipse">
            <a:avLst/>
          </a:prstGeom>
          <a:solidFill>
            <a:srgbClr val="1C1917"/>
          </a:solidFill>
          <a:ln w="12700">
            <a:solidFill>
              <a:srgbClr val="1C1917"/>
            </a:solidFill>
            <a:prstDash val="solid"/>
          </a:ln>
        </p:spPr>
      </p:sp>
      <p:sp>
        <p:nvSpPr>
          <p:cNvPr id="30" name="Text 28"/>
          <p:cNvSpPr/>
          <p:nvPr/>
        </p:nvSpPr>
        <p:spPr>
          <a:xfrm>
            <a:off x="1188720" y="2624328"/>
            <a:ext cx="621792" cy="219456"/>
          </a:xfrm>
          <a:prstGeom prst="rect">
            <a:avLst/>
          </a:prstGeom>
          <a:noFill/>
          <a:ln/>
        </p:spPr>
        <p:txBody>
          <a:bodyPr wrap="square" lIns="0" tIns="0" rIns="0" bIns="0" rtlCol="0" anchor="ctr">
            <a:normAutofit/>
          </a:bodyPr>
          <a:lstStyle/>
          <a:p>
            <a:pPr algn="ctr" indent="0" marL="0">
              <a:buNone/>
            </a:pPr>
            <a:r>
              <a:rPr lang="en-US" sz="950" b="1" dirty="0">
                <a:solidFill>
                  <a:srgbClr val="FFFFFF"/>
                </a:solidFill>
                <a:latin typeface="Apple SD Gothic Neo" pitchFamily="34" charset="0"/>
                <a:ea typeface="Apple SD Gothic Neo" pitchFamily="34" charset="-122"/>
                <a:cs typeface="Apple SD Gothic Neo" pitchFamily="34" charset="-120"/>
              </a:rPr>
              <a:t>01</a:t>
            </a:r>
            <a:endParaRPr lang="en-US" sz="950" dirty="0"/>
          </a:p>
        </p:txBody>
      </p:sp>
      <p:sp>
        <p:nvSpPr>
          <p:cNvPr id="31" name="Text 29"/>
          <p:cNvSpPr/>
          <p:nvPr/>
        </p:nvSpPr>
        <p:spPr>
          <a:xfrm>
            <a:off x="658368" y="3438144"/>
            <a:ext cx="1691640" cy="182880"/>
          </a:xfrm>
          <a:prstGeom prst="rect">
            <a:avLst/>
          </a:prstGeom>
          <a:noFill/>
          <a:ln/>
        </p:spPr>
        <p:txBody>
          <a:bodyPr wrap="square" lIns="0" tIns="0" rIns="0" bIns="0" rtlCol="0" anchor="ctr">
            <a:normAutofit/>
          </a:bodyPr>
          <a:lstStyle/>
          <a:p>
            <a:pPr algn="ctr" indent="0" marL="0">
              <a:buNone/>
            </a:pPr>
            <a:r>
              <a:rPr lang="en-US" sz="800" b="1" spc="120" kern="0" dirty="0">
                <a:solidFill>
                  <a:srgbClr val="8B5A2B"/>
                </a:solidFill>
                <a:latin typeface="Apple SD Gothic Neo" pitchFamily="34" charset="0"/>
                <a:ea typeface="Apple SD Gothic Neo" pitchFamily="34" charset="-122"/>
                <a:cs typeface="Apple SD Gothic Neo" pitchFamily="34" charset="-120"/>
              </a:rPr>
              <a:t>TOUCH</a:t>
            </a:r>
            <a:endParaRPr lang="en-US" sz="800" dirty="0"/>
          </a:p>
        </p:txBody>
      </p:sp>
      <p:sp>
        <p:nvSpPr>
          <p:cNvPr id="32" name="Text 30"/>
          <p:cNvSpPr/>
          <p:nvPr/>
        </p:nvSpPr>
        <p:spPr>
          <a:xfrm>
            <a:off x="658368" y="3767328"/>
            <a:ext cx="1691640" cy="310896"/>
          </a:xfrm>
          <a:prstGeom prst="rect">
            <a:avLst/>
          </a:prstGeom>
          <a:noFill/>
          <a:ln/>
        </p:spPr>
        <p:txBody>
          <a:bodyPr wrap="square" lIns="0" tIns="0" rIns="0" bIns="0" rtlCol="0" anchor="ctr">
            <a:normAutofit/>
          </a:bodyPr>
          <a:lstStyle/>
          <a:p>
            <a:pPr algn="ctr" indent="0" marL="0">
              <a:buNone/>
            </a:pPr>
            <a:r>
              <a:rPr lang="en-US" sz="1500" b="1" dirty="0">
                <a:solidFill>
                  <a:srgbClr val="1C1917"/>
                </a:solidFill>
                <a:latin typeface="Apple SD Gothic Neo" pitchFamily="34" charset="0"/>
                <a:ea typeface="Apple SD Gothic Neo" pitchFamily="34" charset="-122"/>
                <a:cs typeface="Apple SD Gothic Neo" pitchFamily="34" charset="-120"/>
              </a:rPr>
              <a:t>QR / NFC</a:t>
            </a:r>
            <a:endParaRPr lang="en-US" sz="1500" dirty="0"/>
          </a:p>
        </p:txBody>
      </p:sp>
      <p:sp>
        <p:nvSpPr>
          <p:cNvPr id="33" name="Text 31"/>
          <p:cNvSpPr/>
          <p:nvPr/>
        </p:nvSpPr>
        <p:spPr>
          <a:xfrm>
            <a:off x="685800" y="4187952"/>
            <a:ext cx="1645920" cy="475488"/>
          </a:xfrm>
          <a:prstGeom prst="rect">
            <a:avLst/>
          </a:prstGeom>
          <a:noFill/>
          <a:ln/>
        </p:spPr>
        <p:txBody>
          <a:bodyPr wrap="square" lIns="0" tIns="0" rIns="0" bIns="0" rtlCol="0" anchor="t">
            <a:normAutofit/>
          </a:bodyPr>
          <a:lstStyle/>
          <a:p>
            <a:pPr algn="ctr" indent="0" marL="0">
              <a:buNone/>
            </a:pPr>
            <a:r>
              <a:rPr lang="en-US" sz="950" dirty="0">
                <a:solidFill>
                  <a:srgbClr val="77706A"/>
                </a:solidFill>
                <a:latin typeface="Apple SD Gothic Neo" pitchFamily="34" charset="0"/>
                <a:ea typeface="Apple SD Gothic Neo" pitchFamily="34" charset="-122"/>
                <a:cs typeface="Apple SD Gothic Neo" pitchFamily="34" charset="-120"/>
              </a:rPr>
              <a:t>제품 태그·패키지</a:t>
            </a:r>
            <a:endParaRPr lang="en-US" sz="950" dirty="0"/>
          </a:p>
        </p:txBody>
      </p:sp>
      <p:sp>
        <p:nvSpPr>
          <p:cNvPr id="34" name="Shape 32"/>
          <p:cNvSpPr/>
          <p:nvPr/>
        </p:nvSpPr>
        <p:spPr>
          <a:xfrm>
            <a:off x="4096512" y="3172968"/>
            <a:ext cx="411480" cy="0"/>
          </a:xfrm>
          <a:prstGeom prst="line">
            <a:avLst/>
          </a:prstGeom>
          <a:noFill/>
          <a:ln w="15240">
            <a:solidFill>
              <a:srgbClr val="A48F7A"/>
            </a:solidFill>
            <a:prstDash val="solid"/>
            <a:headEnd type="none"/>
            <a:tailEnd type="triangle"/>
          </a:ln>
        </p:spPr>
      </p:sp>
      <p:sp>
        <p:nvSpPr>
          <p:cNvPr id="35" name="Shape 33"/>
          <p:cNvSpPr/>
          <p:nvPr/>
        </p:nvSpPr>
        <p:spPr>
          <a:xfrm>
            <a:off x="3090672" y="2496312"/>
            <a:ext cx="621792" cy="621792"/>
          </a:xfrm>
          <a:prstGeom prst="ellipse">
            <a:avLst/>
          </a:prstGeom>
          <a:solidFill>
            <a:srgbClr val="1C1917"/>
          </a:solidFill>
          <a:ln w="12700">
            <a:solidFill>
              <a:srgbClr val="1C1917"/>
            </a:solidFill>
            <a:prstDash val="solid"/>
          </a:ln>
        </p:spPr>
      </p:sp>
      <p:sp>
        <p:nvSpPr>
          <p:cNvPr id="36" name="Text 34"/>
          <p:cNvSpPr/>
          <p:nvPr/>
        </p:nvSpPr>
        <p:spPr>
          <a:xfrm>
            <a:off x="3090672" y="2624328"/>
            <a:ext cx="621792" cy="219456"/>
          </a:xfrm>
          <a:prstGeom prst="rect">
            <a:avLst/>
          </a:prstGeom>
          <a:noFill/>
          <a:ln/>
        </p:spPr>
        <p:txBody>
          <a:bodyPr wrap="square" lIns="0" tIns="0" rIns="0" bIns="0" rtlCol="0" anchor="ctr">
            <a:normAutofit/>
          </a:bodyPr>
          <a:lstStyle/>
          <a:p>
            <a:pPr algn="ctr" indent="0" marL="0">
              <a:buNone/>
            </a:pPr>
            <a:r>
              <a:rPr lang="en-US" sz="950" b="1" dirty="0">
                <a:solidFill>
                  <a:srgbClr val="FFFFFF"/>
                </a:solidFill>
                <a:latin typeface="Apple SD Gothic Neo" pitchFamily="34" charset="0"/>
                <a:ea typeface="Apple SD Gothic Neo" pitchFamily="34" charset="-122"/>
                <a:cs typeface="Apple SD Gothic Neo" pitchFamily="34" charset="-120"/>
              </a:rPr>
              <a:t>02</a:t>
            </a:r>
            <a:endParaRPr lang="en-US" sz="950" dirty="0"/>
          </a:p>
        </p:txBody>
      </p:sp>
      <p:sp>
        <p:nvSpPr>
          <p:cNvPr id="37" name="Text 35"/>
          <p:cNvSpPr/>
          <p:nvPr/>
        </p:nvSpPr>
        <p:spPr>
          <a:xfrm>
            <a:off x="2560320" y="3438144"/>
            <a:ext cx="1691640" cy="182880"/>
          </a:xfrm>
          <a:prstGeom prst="rect">
            <a:avLst/>
          </a:prstGeom>
          <a:noFill/>
          <a:ln/>
        </p:spPr>
        <p:txBody>
          <a:bodyPr wrap="square" lIns="0" tIns="0" rIns="0" bIns="0" rtlCol="0" anchor="ctr">
            <a:normAutofit/>
          </a:bodyPr>
          <a:lstStyle/>
          <a:p>
            <a:pPr algn="ctr" indent="0" marL="0">
              <a:buNone/>
            </a:pPr>
            <a:r>
              <a:rPr lang="en-US" sz="800" b="1" spc="120" kern="0" dirty="0">
                <a:solidFill>
                  <a:srgbClr val="8B5A2B"/>
                </a:solidFill>
                <a:latin typeface="Apple SD Gothic Neo" pitchFamily="34" charset="0"/>
                <a:ea typeface="Apple SD Gothic Neo" pitchFamily="34" charset="-122"/>
                <a:cs typeface="Apple SD Gothic Neo" pitchFamily="34" charset="-120"/>
              </a:rPr>
              <a:t>ACTIVATE</a:t>
            </a:r>
            <a:endParaRPr lang="en-US" sz="800" dirty="0"/>
          </a:p>
        </p:txBody>
      </p:sp>
      <p:sp>
        <p:nvSpPr>
          <p:cNvPr id="38" name="Text 36"/>
          <p:cNvSpPr/>
          <p:nvPr/>
        </p:nvSpPr>
        <p:spPr>
          <a:xfrm>
            <a:off x="2560320" y="3767328"/>
            <a:ext cx="1691640" cy="310896"/>
          </a:xfrm>
          <a:prstGeom prst="rect">
            <a:avLst/>
          </a:prstGeom>
          <a:noFill/>
          <a:ln/>
        </p:spPr>
        <p:txBody>
          <a:bodyPr wrap="square" lIns="0" tIns="0" rIns="0" bIns="0" rtlCol="0" anchor="ctr">
            <a:normAutofit/>
          </a:bodyPr>
          <a:lstStyle/>
          <a:p>
            <a:pPr algn="ctr" indent="0" marL="0">
              <a:buNone/>
            </a:pPr>
            <a:r>
              <a:rPr lang="en-US" sz="1500" b="1" dirty="0">
                <a:solidFill>
                  <a:srgbClr val="1C1917"/>
                </a:solidFill>
                <a:latin typeface="Apple SD Gothic Neo" pitchFamily="34" charset="0"/>
                <a:ea typeface="Apple SD Gothic Neo" pitchFamily="34" charset="-122"/>
                <a:cs typeface="Apple SD Gothic Neo" pitchFamily="34" charset="-120"/>
              </a:rPr>
              <a:t>제품 등록</a:t>
            </a:r>
            <a:endParaRPr lang="en-US" sz="1500" dirty="0"/>
          </a:p>
        </p:txBody>
      </p:sp>
      <p:sp>
        <p:nvSpPr>
          <p:cNvPr id="39" name="Text 37"/>
          <p:cNvSpPr/>
          <p:nvPr/>
        </p:nvSpPr>
        <p:spPr>
          <a:xfrm>
            <a:off x="2587752" y="4187952"/>
            <a:ext cx="1645920" cy="475488"/>
          </a:xfrm>
          <a:prstGeom prst="rect">
            <a:avLst/>
          </a:prstGeom>
          <a:noFill/>
          <a:ln/>
        </p:spPr>
        <p:txBody>
          <a:bodyPr wrap="square" lIns="0" tIns="0" rIns="0" bIns="0" rtlCol="0" anchor="t">
            <a:normAutofit/>
          </a:bodyPr>
          <a:lstStyle/>
          <a:p>
            <a:pPr algn="ctr" indent="0" marL="0">
              <a:buNone/>
            </a:pPr>
            <a:r>
              <a:rPr lang="en-US" sz="950" dirty="0">
                <a:solidFill>
                  <a:srgbClr val="77706A"/>
                </a:solidFill>
                <a:latin typeface="Apple SD Gothic Neo" pitchFamily="34" charset="0"/>
                <a:ea typeface="Apple SD Gothic Neo" pitchFamily="34" charset="-122"/>
                <a:cs typeface="Apple SD Gothic Neo" pitchFamily="34" charset="-120"/>
              </a:rPr>
              <a:t>개인 Storybook 시작</a:t>
            </a:r>
            <a:endParaRPr lang="en-US" sz="950" dirty="0"/>
          </a:p>
        </p:txBody>
      </p:sp>
      <p:sp>
        <p:nvSpPr>
          <p:cNvPr id="40" name="Shape 38"/>
          <p:cNvSpPr/>
          <p:nvPr/>
        </p:nvSpPr>
        <p:spPr>
          <a:xfrm>
            <a:off x="5998464" y="3172968"/>
            <a:ext cx="411480" cy="0"/>
          </a:xfrm>
          <a:prstGeom prst="line">
            <a:avLst/>
          </a:prstGeom>
          <a:noFill/>
          <a:ln w="15240">
            <a:solidFill>
              <a:srgbClr val="A48F7A"/>
            </a:solidFill>
            <a:prstDash val="solid"/>
            <a:headEnd type="none"/>
            <a:tailEnd type="triangle"/>
          </a:ln>
        </p:spPr>
      </p:sp>
      <p:sp>
        <p:nvSpPr>
          <p:cNvPr id="41" name="Shape 39"/>
          <p:cNvSpPr/>
          <p:nvPr/>
        </p:nvSpPr>
        <p:spPr>
          <a:xfrm>
            <a:off x="4992624" y="2496312"/>
            <a:ext cx="621792" cy="621792"/>
          </a:xfrm>
          <a:prstGeom prst="ellipse">
            <a:avLst/>
          </a:prstGeom>
          <a:solidFill>
            <a:srgbClr val="8B5A2B"/>
          </a:solidFill>
          <a:ln w="12700">
            <a:solidFill>
              <a:srgbClr val="8B5A2B"/>
            </a:solidFill>
            <a:prstDash val="solid"/>
          </a:ln>
        </p:spPr>
      </p:sp>
      <p:sp>
        <p:nvSpPr>
          <p:cNvPr id="42" name="Text 40"/>
          <p:cNvSpPr/>
          <p:nvPr/>
        </p:nvSpPr>
        <p:spPr>
          <a:xfrm>
            <a:off x="4992624" y="2624328"/>
            <a:ext cx="621792" cy="219456"/>
          </a:xfrm>
          <a:prstGeom prst="rect">
            <a:avLst/>
          </a:prstGeom>
          <a:noFill/>
          <a:ln/>
        </p:spPr>
        <p:txBody>
          <a:bodyPr wrap="square" lIns="0" tIns="0" rIns="0" bIns="0" rtlCol="0" anchor="ctr">
            <a:normAutofit/>
          </a:bodyPr>
          <a:lstStyle/>
          <a:p>
            <a:pPr algn="ctr" indent="0" marL="0">
              <a:buNone/>
            </a:pPr>
            <a:r>
              <a:rPr lang="en-US" sz="950" b="1" dirty="0">
                <a:solidFill>
                  <a:srgbClr val="FFFFFF"/>
                </a:solidFill>
                <a:latin typeface="Apple SD Gothic Neo" pitchFamily="34" charset="0"/>
                <a:ea typeface="Apple SD Gothic Neo" pitchFamily="34" charset="-122"/>
                <a:cs typeface="Apple SD Gothic Neo" pitchFamily="34" charset="-120"/>
              </a:rPr>
              <a:t>03</a:t>
            </a:r>
            <a:endParaRPr lang="en-US" sz="950" dirty="0"/>
          </a:p>
        </p:txBody>
      </p:sp>
      <p:sp>
        <p:nvSpPr>
          <p:cNvPr id="43" name="Text 41"/>
          <p:cNvSpPr/>
          <p:nvPr/>
        </p:nvSpPr>
        <p:spPr>
          <a:xfrm>
            <a:off x="4462272" y="3438144"/>
            <a:ext cx="1691640" cy="182880"/>
          </a:xfrm>
          <a:prstGeom prst="rect">
            <a:avLst/>
          </a:prstGeom>
          <a:noFill/>
          <a:ln/>
        </p:spPr>
        <p:txBody>
          <a:bodyPr wrap="square" lIns="0" tIns="0" rIns="0" bIns="0" rtlCol="0" anchor="ctr">
            <a:normAutofit/>
          </a:bodyPr>
          <a:lstStyle/>
          <a:p>
            <a:pPr algn="ctr" indent="0" marL="0">
              <a:buNone/>
            </a:pPr>
            <a:r>
              <a:rPr lang="en-US" sz="800" b="1" spc="120" kern="0" dirty="0">
                <a:solidFill>
                  <a:srgbClr val="8B5A2B"/>
                </a:solidFill>
                <a:latin typeface="Apple SD Gothic Neo" pitchFamily="34" charset="0"/>
                <a:ea typeface="Apple SD Gothic Neo" pitchFamily="34" charset="-122"/>
                <a:cs typeface="Apple SD Gothic Neo" pitchFamily="34" charset="-120"/>
              </a:rPr>
              <a:t>RECORD</a:t>
            </a:r>
            <a:endParaRPr lang="en-US" sz="800" dirty="0"/>
          </a:p>
        </p:txBody>
      </p:sp>
      <p:sp>
        <p:nvSpPr>
          <p:cNvPr id="44" name="Text 42"/>
          <p:cNvSpPr/>
          <p:nvPr/>
        </p:nvSpPr>
        <p:spPr>
          <a:xfrm>
            <a:off x="4462272" y="3767328"/>
            <a:ext cx="1691640" cy="310896"/>
          </a:xfrm>
          <a:prstGeom prst="rect">
            <a:avLst/>
          </a:prstGeom>
          <a:noFill/>
          <a:ln/>
        </p:spPr>
        <p:txBody>
          <a:bodyPr wrap="square" lIns="0" tIns="0" rIns="0" bIns="0" rtlCol="0" anchor="ctr">
            <a:normAutofit/>
          </a:bodyPr>
          <a:lstStyle/>
          <a:p>
            <a:pPr algn="ctr" indent="0" marL="0">
              <a:buNone/>
            </a:pPr>
            <a:r>
              <a:rPr lang="en-US" sz="1500" b="1" dirty="0">
                <a:solidFill>
                  <a:srgbClr val="1C1917"/>
                </a:solidFill>
                <a:latin typeface="Apple SD Gothic Neo" pitchFamily="34" charset="0"/>
                <a:ea typeface="Apple SD Gothic Neo" pitchFamily="34" charset="-122"/>
                <a:cs typeface="Apple SD Gothic Neo" pitchFamily="34" charset="-120"/>
              </a:rPr>
              <a:t>사진 기록</a:t>
            </a:r>
            <a:endParaRPr lang="en-US" sz="1500" dirty="0"/>
          </a:p>
        </p:txBody>
      </p:sp>
      <p:sp>
        <p:nvSpPr>
          <p:cNvPr id="45" name="Text 43"/>
          <p:cNvSpPr/>
          <p:nvPr/>
        </p:nvSpPr>
        <p:spPr>
          <a:xfrm>
            <a:off x="4489704" y="4187952"/>
            <a:ext cx="1645920" cy="475488"/>
          </a:xfrm>
          <a:prstGeom prst="rect">
            <a:avLst/>
          </a:prstGeom>
          <a:noFill/>
          <a:ln/>
        </p:spPr>
        <p:txBody>
          <a:bodyPr wrap="square" lIns="0" tIns="0" rIns="0" bIns="0" rtlCol="0" anchor="t">
            <a:normAutofit/>
          </a:bodyPr>
          <a:lstStyle/>
          <a:p>
            <a:pPr algn="ctr" indent="0" marL="0">
              <a:buNone/>
            </a:pPr>
            <a:r>
              <a:rPr lang="en-US" sz="950" dirty="0">
                <a:solidFill>
                  <a:srgbClr val="77706A"/>
                </a:solidFill>
                <a:latin typeface="Apple SD Gothic Neo" pitchFamily="34" charset="0"/>
                <a:ea typeface="Apple SD Gothic Neo" pitchFamily="34" charset="-122"/>
                <a:cs typeface="Apple SD Gothic Neo" pitchFamily="34" charset="-120"/>
              </a:rPr>
              <a:t>날짜·장소·메모</a:t>
            </a:r>
            <a:endParaRPr lang="en-US" sz="950" dirty="0"/>
          </a:p>
        </p:txBody>
      </p:sp>
      <p:sp>
        <p:nvSpPr>
          <p:cNvPr id="46" name="Shape 44"/>
          <p:cNvSpPr/>
          <p:nvPr/>
        </p:nvSpPr>
        <p:spPr>
          <a:xfrm>
            <a:off x="7900416" y="3172968"/>
            <a:ext cx="411480" cy="0"/>
          </a:xfrm>
          <a:prstGeom prst="line">
            <a:avLst/>
          </a:prstGeom>
          <a:noFill/>
          <a:ln w="15240">
            <a:solidFill>
              <a:srgbClr val="A48F7A"/>
            </a:solidFill>
            <a:prstDash val="solid"/>
            <a:headEnd type="none"/>
            <a:tailEnd type="triangle"/>
          </a:ln>
        </p:spPr>
      </p:sp>
      <p:sp>
        <p:nvSpPr>
          <p:cNvPr id="47" name="Shape 45"/>
          <p:cNvSpPr/>
          <p:nvPr/>
        </p:nvSpPr>
        <p:spPr>
          <a:xfrm>
            <a:off x="6894576" y="2496312"/>
            <a:ext cx="621792" cy="621792"/>
          </a:xfrm>
          <a:prstGeom prst="ellipse">
            <a:avLst/>
          </a:prstGeom>
          <a:solidFill>
            <a:srgbClr val="8B5A2B"/>
          </a:solidFill>
          <a:ln w="12700">
            <a:solidFill>
              <a:srgbClr val="8B5A2B"/>
            </a:solidFill>
            <a:prstDash val="solid"/>
          </a:ln>
        </p:spPr>
      </p:sp>
      <p:sp>
        <p:nvSpPr>
          <p:cNvPr id="48" name="Text 46"/>
          <p:cNvSpPr/>
          <p:nvPr/>
        </p:nvSpPr>
        <p:spPr>
          <a:xfrm>
            <a:off x="6894576" y="2624328"/>
            <a:ext cx="621792" cy="219456"/>
          </a:xfrm>
          <a:prstGeom prst="rect">
            <a:avLst/>
          </a:prstGeom>
          <a:noFill/>
          <a:ln/>
        </p:spPr>
        <p:txBody>
          <a:bodyPr wrap="square" lIns="0" tIns="0" rIns="0" bIns="0" rtlCol="0" anchor="ctr">
            <a:normAutofit/>
          </a:bodyPr>
          <a:lstStyle/>
          <a:p>
            <a:pPr algn="ctr" indent="0" marL="0">
              <a:buNone/>
            </a:pPr>
            <a:r>
              <a:rPr lang="en-US" sz="950" b="1" dirty="0">
                <a:solidFill>
                  <a:srgbClr val="FFFFFF"/>
                </a:solidFill>
                <a:latin typeface="Apple SD Gothic Neo" pitchFamily="34" charset="0"/>
                <a:ea typeface="Apple SD Gothic Neo" pitchFamily="34" charset="-122"/>
                <a:cs typeface="Apple SD Gothic Neo" pitchFamily="34" charset="-120"/>
              </a:rPr>
              <a:t>04</a:t>
            </a:r>
            <a:endParaRPr lang="en-US" sz="950" dirty="0"/>
          </a:p>
        </p:txBody>
      </p:sp>
      <p:sp>
        <p:nvSpPr>
          <p:cNvPr id="49" name="Text 47"/>
          <p:cNvSpPr/>
          <p:nvPr/>
        </p:nvSpPr>
        <p:spPr>
          <a:xfrm>
            <a:off x="6364224" y="3438144"/>
            <a:ext cx="1691640" cy="182880"/>
          </a:xfrm>
          <a:prstGeom prst="rect">
            <a:avLst/>
          </a:prstGeom>
          <a:noFill/>
          <a:ln/>
        </p:spPr>
        <p:txBody>
          <a:bodyPr wrap="square" lIns="0" tIns="0" rIns="0" bIns="0" rtlCol="0" anchor="ctr">
            <a:normAutofit/>
          </a:bodyPr>
          <a:lstStyle/>
          <a:p>
            <a:pPr algn="ctr" indent="0" marL="0">
              <a:buNone/>
            </a:pPr>
            <a:r>
              <a:rPr lang="en-US" sz="800" b="1" spc="120" kern="0" dirty="0">
                <a:solidFill>
                  <a:srgbClr val="8B5A2B"/>
                </a:solidFill>
                <a:latin typeface="Apple SD Gothic Neo" pitchFamily="34" charset="0"/>
                <a:ea typeface="Apple SD Gothic Neo" pitchFamily="34" charset="-122"/>
                <a:cs typeface="Apple SD Gothic Neo" pitchFamily="34" charset="-120"/>
              </a:rPr>
              <a:t>CARE</a:t>
            </a:r>
            <a:endParaRPr lang="en-US" sz="800" dirty="0"/>
          </a:p>
        </p:txBody>
      </p:sp>
      <p:sp>
        <p:nvSpPr>
          <p:cNvPr id="50" name="Text 48"/>
          <p:cNvSpPr/>
          <p:nvPr/>
        </p:nvSpPr>
        <p:spPr>
          <a:xfrm>
            <a:off x="6364224" y="3767328"/>
            <a:ext cx="1691640" cy="310896"/>
          </a:xfrm>
          <a:prstGeom prst="rect">
            <a:avLst/>
          </a:prstGeom>
          <a:noFill/>
          <a:ln/>
        </p:spPr>
        <p:txBody>
          <a:bodyPr wrap="square" lIns="0" tIns="0" rIns="0" bIns="0" rtlCol="0" anchor="ctr">
            <a:normAutofit/>
          </a:bodyPr>
          <a:lstStyle/>
          <a:p>
            <a:pPr algn="ctr" indent="0" marL="0">
              <a:buNone/>
            </a:pPr>
            <a:r>
              <a:rPr lang="en-US" sz="1500" b="1" dirty="0">
                <a:solidFill>
                  <a:srgbClr val="1C1917"/>
                </a:solidFill>
                <a:latin typeface="Apple SD Gothic Neo" pitchFamily="34" charset="0"/>
                <a:ea typeface="Apple SD Gothic Neo" pitchFamily="34" charset="-122"/>
                <a:cs typeface="Apple SD Gothic Neo" pitchFamily="34" charset="-120"/>
              </a:rPr>
              <a:t>관리·수선</a:t>
            </a:r>
            <a:endParaRPr lang="en-US" sz="1500" dirty="0"/>
          </a:p>
        </p:txBody>
      </p:sp>
      <p:sp>
        <p:nvSpPr>
          <p:cNvPr id="51" name="Text 49"/>
          <p:cNvSpPr/>
          <p:nvPr/>
        </p:nvSpPr>
        <p:spPr>
          <a:xfrm>
            <a:off x="6391656" y="4187952"/>
            <a:ext cx="1645920" cy="475488"/>
          </a:xfrm>
          <a:prstGeom prst="rect">
            <a:avLst/>
          </a:prstGeom>
          <a:noFill/>
          <a:ln/>
        </p:spPr>
        <p:txBody>
          <a:bodyPr wrap="square" lIns="0" tIns="0" rIns="0" bIns="0" rtlCol="0" anchor="t">
            <a:normAutofit/>
          </a:bodyPr>
          <a:lstStyle/>
          <a:p>
            <a:pPr algn="ctr" indent="0" marL="0">
              <a:buNone/>
            </a:pPr>
            <a:r>
              <a:rPr lang="en-US" sz="950" dirty="0">
                <a:solidFill>
                  <a:srgbClr val="77706A"/>
                </a:solidFill>
                <a:latin typeface="Apple SD Gothic Neo" pitchFamily="34" charset="0"/>
                <a:ea typeface="Apple SD Gothic Neo" pitchFamily="34" charset="-122"/>
                <a:cs typeface="Apple SD Gothic Neo" pitchFamily="34" charset="-120"/>
              </a:rPr>
              <a:t>전후 사진·작업 내용</a:t>
            </a:r>
            <a:endParaRPr lang="en-US" sz="950" dirty="0"/>
          </a:p>
        </p:txBody>
      </p:sp>
      <p:sp>
        <p:nvSpPr>
          <p:cNvPr id="52" name="Shape 50"/>
          <p:cNvSpPr/>
          <p:nvPr/>
        </p:nvSpPr>
        <p:spPr>
          <a:xfrm>
            <a:off x="9802368" y="3172968"/>
            <a:ext cx="411480" cy="0"/>
          </a:xfrm>
          <a:prstGeom prst="line">
            <a:avLst/>
          </a:prstGeom>
          <a:noFill/>
          <a:ln w="15240">
            <a:solidFill>
              <a:srgbClr val="A48F7A"/>
            </a:solidFill>
            <a:prstDash val="solid"/>
            <a:headEnd type="none"/>
            <a:tailEnd type="triangle"/>
          </a:ln>
        </p:spPr>
      </p:sp>
      <p:sp>
        <p:nvSpPr>
          <p:cNvPr id="53" name="Shape 51"/>
          <p:cNvSpPr/>
          <p:nvPr/>
        </p:nvSpPr>
        <p:spPr>
          <a:xfrm>
            <a:off x="8796528" y="2496312"/>
            <a:ext cx="621792" cy="621792"/>
          </a:xfrm>
          <a:prstGeom prst="ellipse">
            <a:avLst/>
          </a:prstGeom>
          <a:solidFill>
            <a:srgbClr val="8B5A2B"/>
          </a:solidFill>
          <a:ln w="12700">
            <a:solidFill>
              <a:srgbClr val="8B5A2B"/>
            </a:solidFill>
            <a:prstDash val="solid"/>
          </a:ln>
        </p:spPr>
      </p:sp>
      <p:sp>
        <p:nvSpPr>
          <p:cNvPr id="54" name="Text 52"/>
          <p:cNvSpPr/>
          <p:nvPr/>
        </p:nvSpPr>
        <p:spPr>
          <a:xfrm>
            <a:off x="8796528" y="2624328"/>
            <a:ext cx="621792" cy="219456"/>
          </a:xfrm>
          <a:prstGeom prst="rect">
            <a:avLst/>
          </a:prstGeom>
          <a:noFill/>
          <a:ln/>
        </p:spPr>
        <p:txBody>
          <a:bodyPr wrap="square" lIns="0" tIns="0" rIns="0" bIns="0" rtlCol="0" anchor="ctr">
            <a:normAutofit/>
          </a:bodyPr>
          <a:lstStyle/>
          <a:p>
            <a:pPr algn="ctr" indent="0" marL="0">
              <a:buNone/>
            </a:pPr>
            <a:r>
              <a:rPr lang="en-US" sz="950" b="1" dirty="0">
                <a:solidFill>
                  <a:srgbClr val="FFFFFF"/>
                </a:solidFill>
                <a:latin typeface="Apple SD Gothic Neo" pitchFamily="34" charset="0"/>
                <a:ea typeface="Apple SD Gothic Neo" pitchFamily="34" charset="-122"/>
                <a:cs typeface="Apple SD Gothic Neo" pitchFamily="34" charset="-120"/>
              </a:rPr>
              <a:t>05</a:t>
            </a:r>
            <a:endParaRPr lang="en-US" sz="950" dirty="0"/>
          </a:p>
        </p:txBody>
      </p:sp>
      <p:sp>
        <p:nvSpPr>
          <p:cNvPr id="55" name="Text 53"/>
          <p:cNvSpPr/>
          <p:nvPr/>
        </p:nvSpPr>
        <p:spPr>
          <a:xfrm>
            <a:off x="8266176" y="3438144"/>
            <a:ext cx="1691640" cy="182880"/>
          </a:xfrm>
          <a:prstGeom prst="rect">
            <a:avLst/>
          </a:prstGeom>
          <a:noFill/>
          <a:ln/>
        </p:spPr>
        <p:txBody>
          <a:bodyPr wrap="square" lIns="0" tIns="0" rIns="0" bIns="0" rtlCol="0" anchor="ctr">
            <a:normAutofit/>
          </a:bodyPr>
          <a:lstStyle/>
          <a:p>
            <a:pPr algn="ctr" indent="0" marL="0">
              <a:buNone/>
            </a:pPr>
            <a:r>
              <a:rPr lang="en-US" sz="800" b="1" spc="120" kern="0" dirty="0">
                <a:solidFill>
                  <a:srgbClr val="8B5A2B"/>
                </a:solidFill>
                <a:latin typeface="Apple SD Gothic Neo" pitchFamily="34" charset="0"/>
                <a:ea typeface="Apple SD Gothic Neo" pitchFamily="34" charset="-122"/>
                <a:cs typeface="Apple SD Gothic Neo" pitchFamily="34" charset="-120"/>
              </a:rPr>
              <a:t>RECAP</a:t>
            </a:r>
            <a:endParaRPr lang="en-US" sz="800" dirty="0"/>
          </a:p>
        </p:txBody>
      </p:sp>
      <p:sp>
        <p:nvSpPr>
          <p:cNvPr id="56" name="Text 54"/>
          <p:cNvSpPr/>
          <p:nvPr/>
        </p:nvSpPr>
        <p:spPr>
          <a:xfrm>
            <a:off x="8266176" y="3767328"/>
            <a:ext cx="1691640" cy="310896"/>
          </a:xfrm>
          <a:prstGeom prst="rect">
            <a:avLst/>
          </a:prstGeom>
          <a:noFill/>
          <a:ln/>
        </p:spPr>
        <p:txBody>
          <a:bodyPr wrap="square" lIns="0" tIns="0" rIns="0" bIns="0" rtlCol="0" anchor="ctr">
            <a:normAutofit/>
          </a:bodyPr>
          <a:lstStyle/>
          <a:p>
            <a:pPr algn="ctr" indent="0" marL="0">
              <a:buNone/>
            </a:pPr>
            <a:r>
              <a:rPr lang="en-US" sz="1500" b="1" dirty="0">
                <a:solidFill>
                  <a:srgbClr val="1C1917"/>
                </a:solidFill>
                <a:latin typeface="Apple SD Gothic Neo" pitchFamily="34" charset="0"/>
                <a:ea typeface="Apple SD Gothic Neo" pitchFamily="34" charset="-122"/>
                <a:cs typeface="Apple SD Gothic Neo" pitchFamily="34" charset="-120"/>
              </a:rPr>
              <a:t>AI Story</a:t>
            </a:r>
            <a:endParaRPr lang="en-US" sz="1500" dirty="0"/>
          </a:p>
        </p:txBody>
      </p:sp>
      <p:sp>
        <p:nvSpPr>
          <p:cNvPr id="57" name="Text 55"/>
          <p:cNvSpPr/>
          <p:nvPr/>
        </p:nvSpPr>
        <p:spPr>
          <a:xfrm>
            <a:off x="8293608" y="4187952"/>
            <a:ext cx="1645920" cy="475488"/>
          </a:xfrm>
          <a:prstGeom prst="rect">
            <a:avLst/>
          </a:prstGeom>
          <a:noFill/>
          <a:ln/>
        </p:spPr>
        <p:txBody>
          <a:bodyPr wrap="square" lIns="0" tIns="0" rIns="0" bIns="0" rtlCol="0" anchor="t">
            <a:normAutofit/>
          </a:bodyPr>
          <a:lstStyle/>
          <a:p>
            <a:pPr algn="ctr" indent="0" marL="0">
              <a:buNone/>
            </a:pPr>
            <a:r>
              <a:rPr lang="en-US" sz="950" dirty="0">
                <a:solidFill>
                  <a:srgbClr val="77706A"/>
                </a:solidFill>
                <a:latin typeface="Apple SD Gothic Neo" pitchFamily="34" charset="0"/>
                <a:ea typeface="Apple SD Gothic Neo" pitchFamily="34" charset="-122"/>
                <a:cs typeface="Apple SD Gothic Neo" pitchFamily="34" charset="-120"/>
              </a:rPr>
              <a:t>누적 경험 재구성</a:t>
            </a:r>
            <a:endParaRPr lang="en-US" sz="950" dirty="0"/>
          </a:p>
        </p:txBody>
      </p:sp>
      <p:sp>
        <p:nvSpPr>
          <p:cNvPr id="58" name="Shape 56"/>
          <p:cNvSpPr/>
          <p:nvPr/>
        </p:nvSpPr>
        <p:spPr>
          <a:xfrm>
            <a:off x="10698480" y="2496312"/>
            <a:ext cx="621792" cy="621792"/>
          </a:xfrm>
          <a:prstGeom prst="ellipse">
            <a:avLst/>
          </a:prstGeom>
          <a:solidFill>
            <a:srgbClr val="8B5A2B"/>
          </a:solidFill>
          <a:ln w="12700">
            <a:solidFill>
              <a:srgbClr val="8B5A2B"/>
            </a:solidFill>
            <a:prstDash val="solid"/>
          </a:ln>
        </p:spPr>
      </p:sp>
      <p:sp>
        <p:nvSpPr>
          <p:cNvPr id="59" name="Text 57"/>
          <p:cNvSpPr/>
          <p:nvPr/>
        </p:nvSpPr>
        <p:spPr>
          <a:xfrm>
            <a:off x="10698480" y="2624328"/>
            <a:ext cx="621792" cy="219456"/>
          </a:xfrm>
          <a:prstGeom prst="rect">
            <a:avLst/>
          </a:prstGeom>
          <a:noFill/>
          <a:ln/>
        </p:spPr>
        <p:txBody>
          <a:bodyPr wrap="square" lIns="0" tIns="0" rIns="0" bIns="0" rtlCol="0" anchor="ctr">
            <a:normAutofit/>
          </a:bodyPr>
          <a:lstStyle/>
          <a:p>
            <a:pPr algn="ctr" indent="0" marL="0">
              <a:buNone/>
            </a:pPr>
            <a:r>
              <a:rPr lang="en-US" sz="950" b="1" dirty="0">
                <a:solidFill>
                  <a:srgbClr val="FFFFFF"/>
                </a:solidFill>
                <a:latin typeface="Apple SD Gothic Neo" pitchFamily="34" charset="0"/>
                <a:ea typeface="Apple SD Gothic Neo" pitchFamily="34" charset="-122"/>
                <a:cs typeface="Apple SD Gothic Neo" pitchFamily="34" charset="-120"/>
              </a:rPr>
              <a:t>06</a:t>
            </a:r>
            <a:endParaRPr lang="en-US" sz="950" dirty="0"/>
          </a:p>
        </p:txBody>
      </p:sp>
      <p:sp>
        <p:nvSpPr>
          <p:cNvPr id="60" name="Text 58"/>
          <p:cNvSpPr/>
          <p:nvPr/>
        </p:nvSpPr>
        <p:spPr>
          <a:xfrm>
            <a:off x="10168128" y="3438144"/>
            <a:ext cx="1691640" cy="182880"/>
          </a:xfrm>
          <a:prstGeom prst="rect">
            <a:avLst/>
          </a:prstGeom>
          <a:noFill/>
          <a:ln/>
        </p:spPr>
        <p:txBody>
          <a:bodyPr wrap="square" lIns="0" tIns="0" rIns="0" bIns="0" rtlCol="0" anchor="ctr">
            <a:normAutofit/>
          </a:bodyPr>
          <a:lstStyle/>
          <a:p>
            <a:pPr algn="ctr" indent="0" marL="0">
              <a:buNone/>
            </a:pPr>
            <a:r>
              <a:rPr lang="en-US" sz="800" b="1" spc="120" kern="0" dirty="0">
                <a:solidFill>
                  <a:srgbClr val="8B5A2B"/>
                </a:solidFill>
                <a:latin typeface="Apple SD Gothic Neo" pitchFamily="34" charset="0"/>
                <a:ea typeface="Apple SD Gothic Neo" pitchFamily="34" charset="-122"/>
                <a:cs typeface="Apple SD Gothic Neo" pitchFamily="34" charset="-120"/>
              </a:rPr>
              <a:t>CONTINUE</a:t>
            </a:r>
            <a:endParaRPr lang="en-US" sz="800" dirty="0"/>
          </a:p>
        </p:txBody>
      </p:sp>
      <p:sp>
        <p:nvSpPr>
          <p:cNvPr id="61" name="Text 59"/>
          <p:cNvSpPr/>
          <p:nvPr/>
        </p:nvSpPr>
        <p:spPr>
          <a:xfrm>
            <a:off x="10168128" y="3767328"/>
            <a:ext cx="1691640" cy="310896"/>
          </a:xfrm>
          <a:prstGeom prst="rect">
            <a:avLst/>
          </a:prstGeom>
          <a:noFill/>
          <a:ln/>
        </p:spPr>
        <p:txBody>
          <a:bodyPr wrap="square" lIns="0" tIns="0" rIns="0" bIns="0" rtlCol="0" anchor="ctr">
            <a:normAutofit/>
          </a:bodyPr>
          <a:lstStyle/>
          <a:p>
            <a:pPr algn="ctr" indent="0" marL="0">
              <a:buNone/>
            </a:pPr>
            <a:r>
              <a:rPr lang="en-US" sz="1500" b="1" dirty="0">
                <a:solidFill>
                  <a:srgbClr val="1C1917"/>
                </a:solidFill>
                <a:latin typeface="Apple SD Gothic Neo" pitchFamily="34" charset="0"/>
                <a:ea typeface="Apple SD Gothic Neo" pitchFamily="34" charset="-122"/>
                <a:cs typeface="Apple SD Gothic Neo" pitchFamily="34" charset="-120"/>
              </a:rPr>
              <a:t>소유권 이전</a:t>
            </a:r>
            <a:endParaRPr lang="en-US" sz="1500" dirty="0"/>
          </a:p>
        </p:txBody>
      </p:sp>
      <p:sp>
        <p:nvSpPr>
          <p:cNvPr id="62" name="Text 60"/>
          <p:cNvSpPr/>
          <p:nvPr/>
        </p:nvSpPr>
        <p:spPr>
          <a:xfrm>
            <a:off x="10195560" y="4187952"/>
            <a:ext cx="1645920" cy="475488"/>
          </a:xfrm>
          <a:prstGeom prst="rect">
            <a:avLst/>
          </a:prstGeom>
          <a:noFill/>
          <a:ln/>
        </p:spPr>
        <p:txBody>
          <a:bodyPr wrap="square" lIns="0" tIns="0" rIns="0" bIns="0" rtlCol="0" anchor="t">
            <a:normAutofit/>
          </a:bodyPr>
          <a:lstStyle/>
          <a:p>
            <a:pPr algn="ctr" indent="0" marL="0">
              <a:buNone/>
            </a:pPr>
            <a:r>
              <a:rPr lang="en-US" sz="950" dirty="0">
                <a:solidFill>
                  <a:srgbClr val="77706A"/>
                </a:solidFill>
                <a:latin typeface="Apple SD Gothic Neo" pitchFamily="34" charset="0"/>
                <a:ea typeface="Apple SD Gothic Neo" pitchFamily="34" charset="-122"/>
                <a:cs typeface="Apple SD Gothic Neo" pitchFamily="34" charset="-120"/>
              </a:rPr>
              <a:t>다음 생애주기 연결</a:t>
            </a:r>
            <a:endParaRPr lang="en-US" sz="950" dirty="0"/>
          </a:p>
        </p:txBody>
      </p:sp>
      <p:sp>
        <p:nvSpPr>
          <p:cNvPr id="63" name="Shape 61"/>
          <p:cNvSpPr/>
          <p:nvPr/>
        </p:nvSpPr>
        <p:spPr>
          <a:xfrm>
            <a:off x="2331720" y="5239512"/>
            <a:ext cx="7525512" cy="576072"/>
          </a:xfrm>
          <a:prstGeom prst="roundRect">
            <a:avLst>
              <a:gd name="adj" fmla="val 22222"/>
            </a:avLst>
          </a:prstGeom>
          <a:solidFill>
            <a:srgbClr val="FFFFFF"/>
          </a:solidFill>
          <a:ln w="10160">
            <a:solidFill>
              <a:srgbClr val="E9E0D6"/>
            </a:solidFill>
            <a:prstDash val="solid"/>
          </a:ln>
        </p:spPr>
      </p:sp>
      <p:sp>
        <p:nvSpPr>
          <p:cNvPr id="64" name="Text 62"/>
          <p:cNvSpPr/>
          <p:nvPr/>
        </p:nvSpPr>
        <p:spPr>
          <a:xfrm>
            <a:off x="2606040" y="5394960"/>
            <a:ext cx="6986016" cy="237744"/>
          </a:xfrm>
          <a:prstGeom prst="rect">
            <a:avLst/>
          </a:prstGeom>
          <a:noFill/>
          <a:ln/>
        </p:spPr>
        <p:txBody>
          <a:bodyPr wrap="square" lIns="0" tIns="0" rIns="0" bIns="0" rtlCol="0" anchor="ctr">
            <a:normAutofit/>
          </a:bodyPr>
          <a:lstStyle/>
          <a:p>
            <a:pPr algn="ctr" indent="0" marL="0">
              <a:buNone/>
            </a:pPr>
            <a:r>
              <a:rPr lang="en-US" sz="1200" b="1" dirty="0">
                <a:solidFill>
                  <a:srgbClr val="8B5A2B"/>
                </a:solidFill>
                <a:latin typeface="Apple SD Gothic Neo" pitchFamily="34" charset="0"/>
                <a:ea typeface="Apple SD Gothic Neo" pitchFamily="34" charset="-122"/>
                <a:cs typeface="Apple SD Gothic Neo" pitchFamily="34" charset="-120"/>
              </a:rPr>
              <a:t>Golden Path  ·  제품 접점 → 첫 기록 → 반복 관리 → 브랜드 재방문</a:t>
            </a:r>
            <a:endParaRPr lang="en-US" sz="1200" dirty="0"/>
          </a:p>
        </p:txBody>
      </p:sp>
      <p:sp>
        <p:nvSpPr>
          <p:cNvPr id="65" name="Text 63"/>
          <p:cNvSpPr/>
          <p:nvPr/>
        </p:nvSpPr>
        <p:spPr>
          <a:xfrm>
            <a:off x="731520" y="6016752"/>
            <a:ext cx="5943600" cy="201168"/>
          </a:xfrm>
          <a:prstGeom prst="rect">
            <a:avLst/>
          </a:prstGeom>
          <a:noFill/>
          <a:ln/>
        </p:spPr>
        <p:txBody>
          <a:bodyPr wrap="square" lIns="0" tIns="0" rIns="0" bIns="0" rtlCol="0" anchor="ctr">
            <a:normAutofit/>
          </a:bodyPr>
          <a:lstStyle/>
          <a:p>
            <a:pPr indent="0" marL="0">
              <a:buNone/>
            </a:pPr>
            <a:r>
              <a:rPr lang="en-US" sz="850" dirty="0">
                <a:solidFill>
                  <a:srgbClr val="77706A"/>
                </a:solidFill>
                <a:latin typeface="Apple SD Gothic Neo" pitchFamily="34" charset="0"/>
                <a:ea typeface="Apple SD Gothic Neo" pitchFamily="34" charset="-122"/>
                <a:cs typeface="Apple SD Gothic Neo" pitchFamily="34" charset="-120"/>
              </a:rPr>
              <a:t>※ NFC·브랜드 시스템 직접 연동은 파일럿 단계의 제안 범위입니다.</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C1917"/>
        </a:solidFill>
      </p:bgPr>
    </p:bg>
    <p:spTree>
      <p:nvGrpSpPr>
        <p:cNvPr id="1" name=""/>
        <p:cNvGrpSpPr/>
        <p:nvPr/>
      </p:nvGrpSpPr>
      <p:grpSpPr>
        <a:xfrm>
          <a:off x="0" y="0"/>
          <a:ext cx="0" cy="0"/>
          <a:chOff x="0" y="0"/>
          <a:chExt cx="0" cy="0"/>
        </a:xfrm>
      </p:grpSpPr>
      <p:sp>
        <p:nvSpPr>
          <p:cNvPr id="2" name="Text 0"/>
          <p:cNvSpPr/>
          <p:nvPr/>
        </p:nvSpPr>
        <p:spPr>
          <a:xfrm>
            <a:off x="685800" y="411480"/>
            <a:ext cx="2926080" cy="201168"/>
          </a:xfrm>
          <a:prstGeom prst="rect">
            <a:avLst/>
          </a:prstGeom>
          <a:noFill/>
          <a:ln/>
        </p:spPr>
        <p:txBody>
          <a:bodyPr wrap="square" lIns="0" tIns="0" rIns="0" bIns="0" rtlCol="0" anchor="ctr">
            <a:normAutofit/>
          </a:bodyPr>
          <a:lstStyle/>
          <a:p>
            <a:pPr indent="0" marL="0">
              <a:buNone/>
            </a:pPr>
            <a:r>
              <a:rPr lang="en-US" sz="900" b="1" spc="210" kern="0" dirty="0">
                <a:solidFill>
                  <a:srgbClr val="C9945A"/>
                </a:solidFill>
                <a:latin typeface="Apple SD Gothic Neo" pitchFamily="34" charset="0"/>
                <a:ea typeface="Apple SD Gothic Neo" pitchFamily="34" charset="-122"/>
                <a:cs typeface="Apple SD Gothic Neo" pitchFamily="34" charset="-120"/>
              </a:rPr>
              <a:t>PRODUCT DEMO</a:t>
            </a:r>
            <a:endParaRPr lang="en-US" sz="900" dirty="0"/>
          </a:p>
        </p:txBody>
      </p:sp>
      <p:sp>
        <p:nvSpPr>
          <p:cNvPr id="3" name="Text 1"/>
          <p:cNvSpPr/>
          <p:nvPr/>
        </p:nvSpPr>
        <p:spPr>
          <a:xfrm>
            <a:off x="685800" y="749808"/>
            <a:ext cx="10789920" cy="841248"/>
          </a:xfrm>
          <a:prstGeom prst="rect">
            <a:avLst/>
          </a:prstGeom>
          <a:noFill/>
          <a:ln/>
        </p:spPr>
        <p:txBody>
          <a:bodyPr wrap="square" lIns="0" tIns="0" rIns="0" bIns="0" rtlCol="0" anchor="t">
            <a:normAutofit/>
          </a:bodyPr>
          <a:lstStyle/>
          <a:p>
            <a:pPr indent="0" marL="0">
              <a:lnSpc>
                <a:spcPct val="88000"/>
              </a:lnSpc>
              <a:buNone/>
            </a:pPr>
            <a:r>
              <a:rPr lang="en-US" sz="2600" b="1" dirty="0">
                <a:solidFill>
                  <a:srgbClr val="FFFFFF"/>
                </a:solidFill>
                <a:latin typeface="Apple SD Gothic Neo" pitchFamily="34" charset="0"/>
                <a:ea typeface="Apple SD Gothic Neo" pitchFamily="34" charset="-122"/>
                <a:cs typeface="Apple SD Gothic Neo" pitchFamily="34" charset="-120"/>
              </a:rPr>
              <a:t>이미 동작하는 화면으로</a:t>
            </a:r>
            <a:endParaRPr lang="en-US" sz="2600" dirty="0"/>
          </a:p>
          <a:p>
            <a:pPr indent="0" marL="0">
              <a:lnSpc>
                <a:spcPct val="88000"/>
              </a:lnSpc>
              <a:buNone/>
            </a:pPr>
            <a:r>
              <a:rPr lang="en-US" sz="2600" b="1" dirty="0">
                <a:solidFill>
                  <a:srgbClr val="FFFFFF"/>
                </a:solidFill>
                <a:latin typeface="Apple SD Gothic Neo" pitchFamily="34" charset="0"/>
                <a:ea typeface="Apple SD Gothic Neo" pitchFamily="34" charset="-122"/>
                <a:cs typeface="Apple SD Gothic Neo" pitchFamily="34" charset="-120"/>
              </a:rPr>
              <a:t>핵심 경험을 검증합니다</a:t>
            </a:r>
            <a:endParaRPr lang="en-US" sz="2600" dirty="0"/>
          </a:p>
        </p:txBody>
      </p:sp>
      <p:sp>
        <p:nvSpPr>
          <p:cNvPr id="4" name="Text 2"/>
          <p:cNvSpPr/>
          <p:nvPr/>
        </p:nvSpPr>
        <p:spPr>
          <a:xfrm>
            <a:off x="694944" y="1581912"/>
            <a:ext cx="9875520" cy="347472"/>
          </a:xfrm>
          <a:prstGeom prst="rect">
            <a:avLst/>
          </a:prstGeom>
          <a:noFill/>
          <a:ln/>
        </p:spPr>
        <p:txBody>
          <a:bodyPr wrap="square" lIns="0" tIns="0" rIns="0" bIns="0" rtlCol="0" anchor="t">
            <a:normAutofit/>
          </a:bodyPr>
          <a:lstStyle/>
          <a:p>
            <a:pPr indent="0" marL="0">
              <a:buNone/>
            </a:pPr>
            <a:r>
              <a:rPr lang="en-US" sz="1150" dirty="0">
                <a:solidFill>
                  <a:srgbClr val="B7ADA4"/>
                </a:solidFill>
                <a:latin typeface="Apple SD Gothic Neo" pitchFamily="34" charset="0"/>
                <a:ea typeface="Apple SD Gothic Neo" pitchFamily="34" charset="-122"/>
                <a:cs typeface="Apple SD Gothic Neo" pitchFamily="34" charset="-120"/>
              </a:rPr>
              <a:t>현재 프로토타입의 실제 UI 캡처입니다.</a:t>
            </a:r>
            <a:endParaRPr lang="en-US" sz="1150" dirty="0"/>
          </a:p>
        </p:txBody>
      </p:sp>
      <p:sp>
        <p:nvSpPr>
          <p:cNvPr id="5" name="Text 3"/>
          <p:cNvSpPr/>
          <p:nvPr/>
        </p:nvSpPr>
        <p:spPr>
          <a:xfrm>
            <a:off x="658368" y="6473952"/>
            <a:ext cx="2286000" cy="182880"/>
          </a:xfrm>
          <a:prstGeom prst="rect">
            <a:avLst/>
          </a:prstGeom>
          <a:noFill/>
          <a:ln/>
        </p:spPr>
        <p:txBody>
          <a:bodyPr wrap="square" lIns="0" tIns="0" rIns="0" bIns="0" rtlCol="0" anchor="ctr">
            <a:normAutofit/>
          </a:bodyPr>
          <a:lstStyle/>
          <a:p>
            <a:pPr indent="0" marL="0">
              <a:buNone/>
            </a:pPr>
            <a:r>
              <a:rPr lang="en-US" sz="850" spc="140" kern="0" dirty="0">
                <a:solidFill>
                  <a:srgbClr val="B7ADA4"/>
                </a:solidFill>
                <a:latin typeface="Apple SD Gothic Neo" pitchFamily="34" charset="0"/>
                <a:ea typeface="Apple SD Gothic Neo" pitchFamily="34" charset="-122"/>
                <a:cs typeface="Apple SD Gothic Neo" pitchFamily="34" charset="-120"/>
              </a:rPr>
              <a:t>MCM · STORYBOOK</a:t>
            </a:r>
            <a:endParaRPr lang="en-US" sz="850" dirty="0"/>
          </a:p>
        </p:txBody>
      </p:sp>
      <p:sp>
        <p:nvSpPr>
          <p:cNvPr id="6" name="Text 4"/>
          <p:cNvSpPr/>
          <p:nvPr/>
        </p:nvSpPr>
        <p:spPr>
          <a:xfrm>
            <a:off x="11155680" y="6473952"/>
            <a:ext cx="384048" cy="182880"/>
          </a:xfrm>
          <a:prstGeom prst="rect">
            <a:avLst/>
          </a:prstGeom>
          <a:noFill/>
          <a:ln/>
        </p:spPr>
        <p:txBody>
          <a:bodyPr wrap="square" lIns="0" tIns="0" rIns="0" bIns="0" rtlCol="0" anchor="ctr">
            <a:normAutofit/>
          </a:bodyPr>
          <a:lstStyle/>
          <a:p>
            <a:pPr algn="r" indent="0" marL="0">
              <a:buNone/>
            </a:pPr>
            <a:r>
              <a:rPr lang="en-US" sz="850" dirty="0">
                <a:solidFill>
                  <a:srgbClr val="B7ADA4"/>
                </a:solidFill>
                <a:latin typeface="Apple SD Gothic Neo" pitchFamily="34" charset="0"/>
                <a:ea typeface="Apple SD Gothic Neo" pitchFamily="34" charset="-122"/>
                <a:cs typeface="Apple SD Gothic Neo" pitchFamily="34" charset="-120"/>
              </a:rPr>
              <a:t>06</a:t>
            </a:r>
            <a:endParaRPr lang="en-US" sz="850" dirty="0"/>
          </a:p>
        </p:txBody>
      </p:sp>
      <p:sp>
        <p:nvSpPr>
          <p:cNvPr id="7" name="Text 5"/>
          <p:cNvSpPr/>
          <p:nvPr/>
        </p:nvSpPr>
        <p:spPr>
          <a:xfrm>
            <a:off x="749808" y="2432304"/>
            <a:ext cx="384048" cy="219456"/>
          </a:xfrm>
          <a:prstGeom prst="rect">
            <a:avLst/>
          </a:prstGeom>
          <a:noFill/>
          <a:ln/>
        </p:spPr>
        <p:txBody>
          <a:bodyPr wrap="square" lIns="0" tIns="0" rIns="0" bIns="0" rtlCol="0" anchor="ctr">
            <a:normAutofit/>
          </a:bodyPr>
          <a:lstStyle/>
          <a:p>
            <a:pPr indent="0" marL="0">
              <a:buNone/>
            </a:pPr>
            <a:r>
              <a:rPr lang="en-US" sz="950" b="1" dirty="0">
                <a:solidFill>
                  <a:srgbClr val="C9945A"/>
                </a:solidFill>
                <a:latin typeface="Apple SD Gothic Neo" pitchFamily="34" charset="0"/>
                <a:ea typeface="Apple SD Gothic Neo" pitchFamily="34" charset="-122"/>
                <a:cs typeface="Apple SD Gothic Neo" pitchFamily="34" charset="-120"/>
              </a:rPr>
              <a:t>01</a:t>
            </a:r>
            <a:endParaRPr lang="en-US" sz="950" dirty="0"/>
          </a:p>
        </p:txBody>
      </p:sp>
      <p:sp>
        <p:nvSpPr>
          <p:cNvPr id="8" name="Text 6"/>
          <p:cNvSpPr/>
          <p:nvPr/>
        </p:nvSpPr>
        <p:spPr>
          <a:xfrm>
            <a:off x="1225296" y="2331720"/>
            <a:ext cx="2103120" cy="347472"/>
          </a:xfrm>
          <a:prstGeom prst="rect">
            <a:avLst/>
          </a:prstGeom>
          <a:noFill/>
          <a:ln/>
        </p:spPr>
        <p:txBody>
          <a:bodyPr wrap="square" lIns="0" tIns="0" rIns="0" bIns="0" rtlCol="0" anchor="ctr">
            <a:normAutofit/>
          </a:bodyPr>
          <a:lstStyle/>
          <a:p>
            <a:pPr indent="0" marL="0">
              <a:buNone/>
            </a:pPr>
            <a:r>
              <a:rPr lang="en-US" sz="1500" b="1" dirty="0">
                <a:solidFill>
                  <a:srgbClr val="FFFFFF"/>
                </a:solidFill>
                <a:latin typeface="Apple SD Gothic Neo" pitchFamily="34" charset="0"/>
                <a:ea typeface="Apple SD Gothic Neo" pitchFamily="34" charset="-122"/>
                <a:cs typeface="Apple SD Gothic Neo" pitchFamily="34" charset="-120"/>
              </a:rPr>
              <a:t>내 제품 아카이브</a:t>
            </a:r>
            <a:endParaRPr lang="en-US" sz="1500" dirty="0"/>
          </a:p>
        </p:txBody>
      </p:sp>
      <p:sp>
        <p:nvSpPr>
          <p:cNvPr id="9" name="Text 7"/>
          <p:cNvSpPr/>
          <p:nvPr/>
        </p:nvSpPr>
        <p:spPr>
          <a:xfrm>
            <a:off x="768096" y="2834640"/>
            <a:ext cx="2542032" cy="713232"/>
          </a:xfrm>
          <a:prstGeom prst="rect">
            <a:avLst/>
          </a:prstGeom>
          <a:noFill/>
          <a:ln/>
        </p:spPr>
        <p:txBody>
          <a:bodyPr wrap="square" lIns="0" tIns="0" rIns="0" bIns="0" rtlCol="0" anchor="t">
            <a:normAutofit/>
          </a:bodyPr>
          <a:lstStyle/>
          <a:p>
            <a:pPr indent="0" marL="0">
              <a:buNone/>
            </a:pPr>
            <a:r>
              <a:rPr lang="en-US" sz="1050" dirty="0">
                <a:solidFill>
                  <a:srgbClr val="B7ADA4"/>
                </a:solidFill>
                <a:latin typeface="Apple SD Gothic Neo" pitchFamily="34" charset="0"/>
                <a:ea typeface="Apple SD Gothic Neo" pitchFamily="34" charset="-122"/>
                <a:cs typeface="Apple SD Gothic Neo" pitchFamily="34" charset="-120"/>
              </a:rPr>
              <a:t>제품을 소유 단위로 모으고</a:t>
            </a:r>
            <a:endParaRPr lang="en-US" sz="1050" dirty="0"/>
          </a:p>
          <a:p>
            <a:pPr indent="0" marL="0">
              <a:buNone/>
            </a:pPr>
            <a:r>
              <a:rPr lang="en-US" sz="1050" dirty="0">
                <a:solidFill>
                  <a:srgbClr val="B7ADA4"/>
                </a:solidFill>
                <a:latin typeface="Apple SD Gothic Neo" pitchFamily="34" charset="0"/>
                <a:ea typeface="Apple SD Gothic Neo" pitchFamily="34" charset="-122"/>
                <a:cs typeface="Apple SD Gothic Neo" pitchFamily="34" charset="-120"/>
              </a:rPr>
              <a:t>케어 알림과 기록으로 연결</a:t>
            </a:r>
            <a:endParaRPr lang="en-US" sz="1050" dirty="0"/>
          </a:p>
        </p:txBody>
      </p:sp>
      <p:sp>
        <p:nvSpPr>
          <p:cNvPr id="10" name="Shape 8"/>
          <p:cNvSpPr/>
          <p:nvPr/>
        </p:nvSpPr>
        <p:spPr>
          <a:xfrm>
            <a:off x="758952" y="3776472"/>
            <a:ext cx="2468880" cy="0"/>
          </a:xfrm>
          <a:prstGeom prst="line">
            <a:avLst/>
          </a:prstGeom>
          <a:noFill/>
          <a:ln w="10160">
            <a:solidFill>
              <a:srgbClr val="403936"/>
            </a:solidFill>
            <a:prstDash val="solid"/>
          </a:ln>
        </p:spPr>
      </p:sp>
      <p:sp>
        <p:nvSpPr>
          <p:cNvPr id="11" name="Text 9"/>
          <p:cNvSpPr/>
          <p:nvPr/>
        </p:nvSpPr>
        <p:spPr>
          <a:xfrm>
            <a:off x="749808" y="4078224"/>
            <a:ext cx="384048" cy="219456"/>
          </a:xfrm>
          <a:prstGeom prst="rect">
            <a:avLst/>
          </a:prstGeom>
          <a:noFill/>
          <a:ln/>
        </p:spPr>
        <p:txBody>
          <a:bodyPr wrap="square" lIns="0" tIns="0" rIns="0" bIns="0" rtlCol="0" anchor="ctr">
            <a:normAutofit/>
          </a:bodyPr>
          <a:lstStyle/>
          <a:p>
            <a:pPr indent="0" marL="0">
              <a:buNone/>
            </a:pPr>
            <a:r>
              <a:rPr lang="en-US" sz="950" b="1" dirty="0">
                <a:solidFill>
                  <a:srgbClr val="C9945A"/>
                </a:solidFill>
                <a:latin typeface="Apple SD Gothic Neo" pitchFamily="34" charset="0"/>
                <a:ea typeface="Apple SD Gothic Neo" pitchFamily="34" charset="-122"/>
                <a:cs typeface="Apple SD Gothic Neo" pitchFamily="34" charset="-120"/>
              </a:rPr>
              <a:t>02</a:t>
            </a:r>
            <a:endParaRPr lang="en-US" sz="950" dirty="0"/>
          </a:p>
        </p:txBody>
      </p:sp>
      <p:sp>
        <p:nvSpPr>
          <p:cNvPr id="12" name="Text 10"/>
          <p:cNvSpPr/>
          <p:nvPr/>
        </p:nvSpPr>
        <p:spPr>
          <a:xfrm>
            <a:off x="1225296" y="3977640"/>
            <a:ext cx="2103120" cy="347472"/>
          </a:xfrm>
          <a:prstGeom prst="rect">
            <a:avLst/>
          </a:prstGeom>
          <a:noFill/>
          <a:ln/>
        </p:spPr>
        <p:txBody>
          <a:bodyPr wrap="square" lIns="0" tIns="0" rIns="0" bIns="0" rtlCol="0" anchor="ctr">
            <a:normAutofit/>
          </a:bodyPr>
          <a:lstStyle/>
          <a:p>
            <a:pPr indent="0" marL="0">
              <a:buNone/>
            </a:pPr>
            <a:r>
              <a:rPr lang="en-US" sz="1500" b="1" dirty="0">
                <a:solidFill>
                  <a:srgbClr val="FFFFFF"/>
                </a:solidFill>
                <a:latin typeface="Apple SD Gothic Neo" pitchFamily="34" charset="0"/>
                <a:ea typeface="Apple SD Gothic Neo" pitchFamily="34" charset="-122"/>
                <a:cs typeface="Apple SD Gothic Neo" pitchFamily="34" charset="-120"/>
              </a:rPr>
              <a:t>제품별 Storybook</a:t>
            </a:r>
            <a:endParaRPr lang="en-US" sz="1500" dirty="0"/>
          </a:p>
        </p:txBody>
      </p:sp>
      <p:sp>
        <p:nvSpPr>
          <p:cNvPr id="13" name="Text 11"/>
          <p:cNvSpPr/>
          <p:nvPr/>
        </p:nvSpPr>
        <p:spPr>
          <a:xfrm>
            <a:off x="768096" y="4480560"/>
            <a:ext cx="2542032" cy="713232"/>
          </a:xfrm>
          <a:prstGeom prst="rect">
            <a:avLst/>
          </a:prstGeom>
          <a:noFill/>
          <a:ln/>
        </p:spPr>
        <p:txBody>
          <a:bodyPr wrap="square" lIns="0" tIns="0" rIns="0" bIns="0" rtlCol="0" anchor="t">
            <a:normAutofit/>
          </a:bodyPr>
          <a:lstStyle/>
          <a:p>
            <a:pPr indent="0" marL="0">
              <a:buNone/>
            </a:pPr>
            <a:r>
              <a:rPr lang="en-US" sz="1050" dirty="0">
                <a:solidFill>
                  <a:srgbClr val="B7ADA4"/>
                </a:solidFill>
                <a:latin typeface="Apple SD Gothic Neo" pitchFamily="34" charset="0"/>
                <a:ea typeface="Apple SD Gothic Neo" pitchFamily="34" charset="-122"/>
                <a:cs typeface="Apple SD Gothic Neo" pitchFamily="34" charset="-120"/>
              </a:rPr>
              <a:t>구매 정보·상태·추억 수를</a:t>
            </a:r>
            <a:endParaRPr lang="en-US" sz="1050" dirty="0"/>
          </a:p>
          <a:p>
            <a:pPr indent="0" marL="0">
              <a:buNone/>
            </a:pPr>
            <a:r>
              <a:rPr lang="en-US" sz="1050" dirty="0">
                <a:solidFill>
                  <a:srgbClr val="B7ADA4"/>
                </a:solidFill>
                <a:latin typeface="Apple SD Gothic Neo" pitchFamily="34" charset="0"/>
                <a:ea typeface="Apple SD Gothic Neo" pitchFamily="34" charset="-122"/>
                <a:cs typeface="Apple SD Gothic Neo" pitchFamily="34" charset="-120"/>
              </a:rPr>
              <a:t>제품 카드에서 한눈에 확인</a:t>
            </a:r>
            <a:endParaRPr lang="en-US" sz="1050" dirty="0"/>
          </a:p>
        </p:txBody>
      </p:sp>
      <p:sp>
        <p:nvSpPr>
          <p:cNvPr id="14" name="Shape 12"/>
          <p:cNvSpPr/>
          <p:nvPr/>
        </p:nvSpPr>
        <p:spPr>
          <a:xfrm>
            <a:off x="3858768" y="1600200"/>
            <a:ext cx="1993392" cy="4315968"/>
          </a:xfrm>
          <a:prstGeom prst="roundRect">
            <a:avLst/>
          </a:prstGeom>
          <a:solidFill>
            <a:srgbClr val="1C1917"/>
          </a:solidFill>
          <a:ln w="12700">
            <a:solidFill>
              <a:srgbClr val="55483E"/>
            </a:solidFill>
            <a:prstDash val="solid"/>
          </a:ln>
          <a:effectLst>
            <a:outerShdw sx="100000" sy="100000" kx="0" ky="0" algn="bl" rotWithShape="0" blurRad="38100" dist="50800" dir="2700000">
              <a:srgbClr val="000000">
                <a:alpha val="24000"/>
              </a:srgbClr>
            </a:outerShdw>
          </a:effectLst>
        </p:spPr>
      </p:sp>
      <p:pic>
        <p:nvPicPr>
          <p:cNvPr id="15" name="Image 0" descr="/Users/home/Desktop/likeGonzi/tmp/ir-assets/home-top.png">    </p:cNvPr>
          <p:cNvPicPr>
            <a:picLocks noChangeAspect="1"/>
          </p:cNvPicPr>
          <p:nvPr/>
        </p:nvPicPr>
        <p:blipFill>
          <a:blip r:embed="rId1"/>
          <a:srcRect l="0" r="0" t="0" b="0"/>
          <a:stretch/>
        </p:blipFill>
        <p:spPr>
          <a:xfrm>
            <a:off x="3941064" y="1700784"/>
            <a:ext cx="1828800" cy="4114800"/>
          </a:xfrm>
          <a:prstGeom prst="rect">
            <a:avLst/>
          </a:prstGeom>
        </p:spPr>
      </p:pic>
      <p:sp>
        <p:nvSpPr>
          <p:cNvPr id="16" name="Text 13"/>
          <p:cNvSpPr/>
          <p:nvPr/>
        </p:nvSpPr>
        <p:spPr>
          <a:xfrm>
            <a:off x="3858768" y="6062472"/>
            <a:ext cx="1993392" cy="237744"/>
          </a:xfrm>
          <a:prstGeom prst="rect">
            <a:avLst/>
          </a:prstGeom>
          <a:noFill/>
          <a:ln/>
        </p:spPr>
        <p:txBody>
          <a:bodyPr wrap="square" lIns="0" tIns="0" rIns="0" bIns="0" rtlCol="0" anchor="ctr">
            <a:normAutofit/>
          </a:bodyPr>
          <a:lstStyle/>
          <a:p>
            <a:pPr algn="ctr" indent="0" marL="0">
              <a:buNone/>
            </a:pPr>
            <a:r>
              <a:rPr lang="en-US" sz="950" dirty="0">
                <a:solidFill>
                  <a:srgbClr val="B7ADA4"/>
                </a:solidFill>
                <a:latin typeface="Apple SD Gothic Neo" pitchFamily="34" charset="0"/>
                <a:ea typeface="Apple SD Gothic Neo" pitchFamily="34" charset="-122"/>
                <a:cs typeface="Apple SD Gothic Neo" pitchFamily="34" charset="-120"/>
              </a:rPr>
              <a:t>HOME</a:t>
            </a:r>
            <a:endParaRPr lang="en-US" sz="950" dirty="0"/>
          </a:p>
        </p:txBody>
      </p:sp>
      <p:sp>
        <p:nvSpPr>
          <p:cNvPr id="17" name="Shape 14"/>
          <p:cNvSpPr/>
          <p:nvPr/>
        </p:nvSpPr>
        <p:spPr>
          <a:xfrm>
            <a:off x="6492240" y="1600200"/>
            <a:ext cx="1993392" cy="4315968"/>
          </a:xfrm>
          <a:prstGeom prst="roundRect">
            <a:avLst/>
          </a:prstGeom>
          <a:solidFill>
            <a:srgbClr val="1C1917"/>
          </a:solidFill>
          <a:ln w="12700">
            <a:solidFill>
              <a:srgbClr val="55483E"/>
            </a:solidFill>
            <a:prstDash val="solid"/>
          </a:ln>
          <a:effectLst>
            <a:outerShdw sx="100000" sy="100000" kx="0" ky="0" algn="bl" rotWithShape="0" blurRad="38100" dist="50800" dir="2700000">
              <a:srgbClr val="000000">
                <a:alpha val="24000"/>
              </a:srgbClr>
            </a:outerShdw>
          </a:effectLst>
        </p:spPr>
      </p:sp>
      <p:pic>
        <p:nvPicPr>
          <p:cNvPr id="18" name="Image 1" descr="/Users/home/Desktop/likeGonzi/tmp/ir-assets/product-top.png">    </p:cNvPr>
          <p:cNvPicPr>
            <a:picLocks noChangeAspect="1"/>
          </p:cNvPicPr>
          <p:nvPr/>
        </p:nvPicPr>
        <p:blipFill>
          <a:blip r:embed="rId2"/>
          <a:srcRect l="0" r="0" t="0" b="0"/>
          <a:stretch/>
        </p:blipFill>
        <p:spPr>
          <a:xfrm>
            <a:off x="6574536" y="1700784"/>
            <a:ext cx="1828800" cy="4114800"/>
          </a:xfrm>
          <a:prstGeom prst="rect">
            <a:avLst/>
          </a:prstGeom>
        </p:spPr>
      </p:pic>
      <p:sp>
        <p:nvSpPr>
          <p:cNvPr id="19" name="Text 15"/>
          <p:cNvSpPr/>
          <p:nvPr/>
        </p:nvSpPr>
        <p:spPr>
          <a:xfrm>
            <a:off x="6492240" y="6062472"/>
            <a:ext cx="1993392" cy="237744"/>
          </a:xfrm>
          <a:prstGeom prst="rect">
            <a:avLst/>
          </a:prstGeom>
          <a:noFill/>
          <a:ln/>
        </p:spPr>
        <p:txBody>
          <a:bodyPr wrap="square" lIns="0" tIns="0" rIns="0" bIns="0" rtlCol="0" anchor="ctr">
            <a:normAutofit/>
          </a:bodyPr>
          <a:lstStyle/>
          <a:p>
            <a:pPr algn="ctr" indent="0" marL="0">
              <a:buNone/>
            </a:pPr>
            <a:r>
              <a:rPr lang="en-US" sz="950" dirty="0">
                <a:solidFill>
                  <a:srgbClr val="B7ADA4"/>
                </a:solidFill>
                <a:latin typeface="Apple SD Gothic Neo" pitchFamily="34" charset="0"/>
                <a:ea typeface="Apple SD Gothic Neo" pitchFamily="34" charset="-122"/>
                <a:cs typeface="Apple SD Gothic Neo" pitchFamily="34" charset="-120"/>
              </a:rPr>
              <a:t>PRODUCT</a:t>
            </a:r>
            <a:endParaRPr lang="en-US" sz="950" dirty="0"/>
          </a:p>
        </p:txBody>
      </p:sp>
      <p:sp>
        <p:nvSpPr>
          <p:cNvPr id="20" name="Shape 16"/>
          <p:cNvSpPr/>
          <p:nvPr/>
        </p:nvSpPr>
        <p:spPr>
          <a:xfrm>
            <a:off x="9125712" y="1600200"/>
            <a:ext cx="1993392" cy="4315968"/>
          </a:xfrm>
          <a:prstGeom prst="roundRect">
            <a:avLst/>
          </a:prstGeom>
          <a:solidFill>
            <a:srgbClr val="1C1917"/>
          </a:solidFill>
          <a:ln w="12700">
            <a:solidFill>
              <a:srgbClr val="55483E"/>
            </a:solidFill>
            <a:prstDash val="solid"/>
          </a:ln>
          <a:effectLst>
            <a:outerShdw sx="100000" sy="100000" kx="0" ky="0" algn="bl" rotWithShape="0" blurRad="38100" dist="50800" dir="2700000">
              <a:srgbClr val="000000">
                <a:alpha val="24000"/>
              </a:srgbClr>
            </a:outerShdw>
          </a:effectLst>
        </p:spPr>
      </p:sp>
      <p:pic>
        <p:nvPicPr>
          <p:cNvPr id="21" name="Image 2" descr="/Users/home/Desktop/likeGonzi/tmp/ir-assets/storybook-top.png">    </p:cNvPr>
          <p:cNvPicPr>
            <a:picLocks noChangeAspect="1"/>
          </p:cNvPicPr>
          <p:nvPr/>
        </p:nvPicPr>
        <p:blipFill>
          <a:blip r:embed="rId3"/>
          <a:srcRect l="0" r="0" t="0" b="0"/>
          <a:stretch/>
        </p:blipFill>
        <p:spPr>
          <a:xfrm>
            <a:off x="9208008" y="1700784"/>
            <a:ext cx="1828800" cy="4114800"/>
          </a:xfrm>
          <a:prstGeom prst="rect">
            <a:avLst/>
          </a:prstGeom>
        </p:spPr>
      </p:pic>
      <p:sp>
        <p:nvSpPr>
          <p:cNvPr id="22" name="Text 17"/>
          <p:cNvSpPr/>
          <p:nvPr/>
        </p:nvSpPr>
        <p:spPr>
          <a:xfrm>
            <a:off x="9125712" y="6062472"/>
            <a:ext cx="1993392" cy="237744"/>
          </a:xfrm>
          <a:prstGeom prst="rect">
            <a:avLst/>
          </a:prstGeom>
          <a:noFill/>
          <a:ln/>
        </p:spPr>
        <p:txBody>
          <a:bodyPr wrap="square" lIns="0" tIns="0" rIns="0" bIns="0" rtlCol="0" anchor="ctr">
            <a:normAutofit/>
          </a:bodyPr>
          <a:lstStyle/>
          <a:p>
            <a:pPr algn="ctr" indent="0" marL="0">
              <a:buNone/>
            </a:pPr>
            <a:r>
              <a:rPr lang="en-US" sz="950" dirty="0">
                <a:solidFill>
                  <a:srgbClr val="B7ADA4"/>
                </a:solidFill>
                <a:latin typeface="Apple SD Gothic Neo" pitchFamily="34" charset="0"/>
                <a:ea typeface="Apple SD Gothic Neo" pitchFamily="34" charset="-122"/>
                <a:cs typeface="Apple SD Gothic Neo" pitchFamily="34" charset="-120"/>
              </a:rPr>
              <a:t>STORYBOOK</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8F5"/>
        </a:solidFill>
      </p:bgPr>
    </p:bg>
    <p:spTree>
      <p:nvGrpSpPr>
        <p:cNvPr id="1" name=""/>
        <p:cNvGrpSpPr/>
        <p:nvPr/>
      </p:nvGrpSpPr>
      <p:grpSpPr>
        <a:xfrm>
          <a:off x="0" y="0"/>
          <a:ext cx="0" cy="0"/>
          <a:chOff x="0" y="0"/>
          <a:chExt cx="0" cy="0"/>
        </a:xfrm>
      </p:grpSpPr>
      <p:sp>
        <p:nvSpPr>
          <p:cNvPr id="2" name="Text 0"/>
          <p:cNvSpPr/>
          <p:nvPr/>
        </p:nvSpPr>
        <p:spPr>
          <a:xfrm>
            <a:off x="685800" y="411480"/>
            <a:ext cx="2926080" cy="201168"/>
          </a:xfrm>
          <a:prstGeom prst="rect">
            <a:avLst/>
          </a:prstGeom>
          <a:noFill/>
          <a:ln/>
        </p:spPr>
        <p:txBody>
          <a:bodyPr wrap="square" lIns="0" tIns="0" rIns="0" bIns="0" rtlCol="0" anchor="ctr">
            <a:normAutofit/>
          </a:bodyPr>
          <a:lstStyle/>
          <a:p>
            <a:pPr indent="0" marL="0">
              <a:buNone/>
            </a:pPr>
            <a:r>
              <a:rPr lang="en-US" sz="900" b="1" spc="210" kern="0" dirty="0">
                <a:solidFill>
                  <a:srgbClr val="8B5A2B"/>
                </a:solidFill>
                <a:latin typeface="Apple SD Gothic Neo" pitchFamily="34" charset="0"/>
                <a:ea typeface="Apple SD Gothic Neo" pitchFamily="34" charset="-122"/>
                <a:cs typeface="Apple SD Gothic Neo" pitchFamily="34" charset="-120"/>
              </a:rPr>
              <a:t>CORE EXPERIENCE</a:t>
            </a:r>
            <a:endParaRPr lang="en-US" sz="900" dirty="0"/>
          </a:p>
        </p:txBody>
      </p:sp>
      <p:sp>
        <p:nvSpPr>
          <p:cNvPr id="3" name="Text 1"/>
          <p:cNvSpPr/>
          <p:nvPr/>
        </p:nvSpPr>
        <p:spPr>
          <a:xfrm>
            <a:off x="685800" y="749808"/>
            <a:ext cx="10789920" cy="841248"/>
          </a:xfrm>
          <a:prstGeom prst="rect">
            <a:avLst/>
          </a:prstGeom>
          <a:noFill/>
          <a:ln/>
        </p:spPr>
        <p:txBody>
          <a:bodyPr wrap="square" lIns="0" tIns="0" rIns="0" bIns="0" rtlCol="0" anchor="t">
            <a:normAutofit/>
          </a:bodyPr>
          <a:lstStyle/>
          <a:p>
            <a:pPr indent="0" marL="0">
              <a:lnSpc>
                <a:spcPct val="88000"/>
              </a:lnSpc>
              <a:buNone/>
            </a:pPr>
            <a:r>
              <a:rPr lang="en-US" sz="2600" b="1" dirty="0">
                <a:solidFill>
                  <a:srgbClr val="1C1917"/>
                </a:solidFill>
                <a:latin typeface="Apple SD Gothic Neo" pitchFamily="34" charset="0"/>
                <a:ea typeface="Apple SD Gothic Neo" pitchFamily="34" charset="-122"/>
                <a:cs typeface="Apple SD Gothic Neo" pitchFamily="34" charset="-120"/>
              </a:rPr>
              <a:t>개인의 추억과 제품 이력을</a:t>
            </a:r>
            <a:endParaRPr lang="en-US" sz="2600" dirty="0"/>
          </a:p>
          <a:p>
            <a:pPr indent="0" marL="0">
              <a:lnSpc>
                <a:spcPct val="88000"/>
              </a:lnSpc>
              <a:buNone/>
            </a:pPr>
            <a:r>
              <a:rPr lang="en-US" sz="2600" b="1" dirty="0">
                <a:solidFill>
                  <a:srgbClr val="1C1917"/>
                </a:solidFill>
                <a:latin typeface="Apple SD Gothic Neo" pitchFamily="34" charset="0"/>
                <a:ea typeface="Apple SD Gothic Neo" pitchFamily="34" charset="-122"/>
                <a:cs typeface="Apple SD Gothic Neo" pitchFamily="34" charset="-120"/>
              </a:rPr>
              <a:t>같은 타임라인에 쌓습니다</a:t>
            </a:r>
            <a:endParaRPr lang="en-US" sz="2600" dirty="0"/>
          </a:p>
        </p:txBody>
      </p:sp>
      <p:sp>
        <p:nvSpPr>
          <p:cNvPr id="4" name="Text 2"/>
          <p:cNvSpPr/>
          <p:nvPr/>
        </p:nvSpPr>
        <p:spPr>
          <a:xfrm>
            <a:off x="694944" y="1581912"/>
            <a:ext cx="9875520" cy="347472"/>
          </a:xfrm>
          <a:prstGeom prst="rect">
            <a:avLst/>
          </a:prstGeom>
          <a:noFill/>
          <a:ln/>
        </p:spPr>
        <p:txBody>
          <a:bodyPr wrap="square" lIns="0" tIns="0" rIns="0" bIns="0" rtlCol="0" anchor="t">
            <a:normAutofit/>
          </a:bodyPr>
          <a:lstStyle/>
          <a:p>
            <a:pPr indent="0" marL="0">
              <a:buNone/>
            </a:pPr>
            <a:r>
              <a:rPr lang="en-US" sz="1150" dirty="0">
                <a:solidFill>
                  <a:srgbClr val="77706A"/>
                </a:solidFill>
                <a:latin typeface="Apple SD Gothic Neo" pitchFamily="34" charset="0"/>
                <a:ea typeface="Apple SD Gothic Neo" pitchFamily="34" charset="-122"/>
                <a:cs typeface="Apple SD Gothic Neo" pitchFamily="34" charset="-120"/>
              </a:rPr>
              <a:t>기억과 관리가 분리되지 않을 때 제품의 생애주기가 하나의 이야기로 보입니다.</a:t>
            </a:r>
            <a:endParaRPr lang="en-US" sz="1150" dirty="0"/>
          </a:p>
        </p:txBody>
      </p:sp>
      <p:sp>
        <p:nvSpPr>
          <p:cNvPr id="5" name="Text 3"/>
          <p:cNvSpPr/>
          <p:nvPr/>
        </p:nvSpPr>
        <p:spPr>
          <a:xfrm>
            <a:off x="658368" y="6473952"/>
            <a:ext cx="2286000" cy="182880"/>
          </a:xfrm>
          <a:prstGeom prst="rect">
            <a:avLst/>
          </a:prstGeom>
          <a:noFill/>
          <a:ln/>
        </p:spPr>
        <p:txBody>
          <a:bodyPr wrap="square" lIns="0" tIns="0" rIns="0" bIns="0" rtlCol="0" anchor="ctr">
            <a:normAutofit/>
          </a:bodyPr>
          <a:lstStyle/>
          <a:p>
            <a:pPr indent="0" marL="0">
              <a:buNone/>
            </a:pPr>
            <a:r>
              <a:rPr lang="en-US" sz="850" spc="140" kern="0" dirty="0">
                <a:solidFill>
                  <a:srgbClr val="77706A"/>
                </a:solidFill>
                <a:latin typeface="Apple SD Gothic Neo" pitchFamily="34" charset="0"/>
                <a:ea typeface="Apple SD Gothic Neo" pitchFamily="34" charset="-122"/>
                <a:cs typeface="Apple SD Gothic Neo" pitchFamily="34" charset="-120"/>
              </a:rPr>
              <a:t>MCM · STORYBOOK</a:t>
            </a:r>
            <a:endParaRPr lang="en-US" sz="850" dirty="0"/>
          </a:p>
        </p:txBody>
      </p:sp>
      <p:sp>
        <p:nvSpPr>
          <p:cNvPr id="6" name="Text 4"/>
          <p:cNvSpPr/>
          <p:nvPr/>
        </p:nvSpPr>
        <p:spPr>
          <a:xfrm>
            <a:off x="11155680" y="6473952"/>
            <a:ext cx="384048" cy="182880"/>
          </a:xfrm>
          <a:prstGeom prst="rect">
            <a:avLst/>
          </a:prstGeom>
          <a:noFill/>
          <a:ln/>
        </p:spPr>
        <p:txBody>
          <a:bodyPr wrap="square" lIns="0" tIns="0" rIns="0" bIns="0" rtlCol="0" anchor="ctr">
            <a:normAutofit/>
          </a:bodyPr>
          <a:lstStyle/>
          <a:p>
            <a:pPr algn="r" indent="0" marL="0">
              <a:buNone/>
            </a:pPr>
            <a:r>
              <a:rPr lang="en-US" sz="850" dirty="0">
                <a:solidFill>
                  <a:srgbClr val="77706A"/>
                </a:solidFill>
                <a:latin typeface="Apple SD Gothic Neo" pitchFamily="34" charset="0"/>
                <a:ea typeface="Apple SD Gothic Neo" pitchFamily="34" charset="-122"/>
                <a:cs typeface="Apple SD Gothic Neo" pitchFamily="34" charset="-120"/>
              </a:rPr>
              <a:t>07</a:t>
            </a:r>
            <a:endParaRPr lang="en-US" sz="850" dirty="0"/>
          </a:p>
        </p:txBody>
      </p:sp>
      <p:sp>
        <p:nvSpPr>
          <p:cNvPr id="7" name="Shape 5"/>
          <p:cNvSpPr/>
          <p:nvPr/>
        </p:nvSpPr>
        <p:spPr>
          <a:xfrm>
            <a:off x="713232" y="2157984"/>
            <a:ext cx="3931920" cy="3456432"/>
          </a:xfrm>
          <a:prstGeom prst="roundRect">
            <a:avLst>
              <a:gd name="adj" fmla="val 3704"/>
            </a:avLst>
          </a:prstGeom>
          <a:solidFill>
            <a:srgbClr val="FFFFFF"/>
          </a:solidFill>
          <a:ln w="10160">
            <a:solidFill>
              <a:srgbClr val="E9E0D6"/>
            </a:solidFill>
            <a:prstDash val="solid"/>
          </a:ln>
          <a:effectLst>
            <a:outerShdw sx="100000" sy="100000" kx="0" ky="0" algn="bl" rotWithShape="0" blurRad="25400" dist="50800" dir="2700000">
              <a:srgbClr val="1C1917">
                <a:alpha val="13000"/>
              </a:srgbClr>
            </a:outerShdw>
          </a:effectLst>
        </p:spPr>
      </p:sp>
      <p:sp>
        <p:nvSpPr>
          <p:cNvPr id="8" name="Text 6"/>
          <p:cNvSpPr/>
          <p:nvPr/>
        </p:nvSpPr>
        <p:spPr>
          <a:xfrm>
            <a:off x="1024128" y="2542032"/>
            <a:ext cx="2011680" cy="219456"/>
          </a:xfrm>
          <a:prstGeom prst="rect">
            <a:avLst/>
          </a:prstGeom>
          <a:noFill/>
          <a:ln/>
        </p:spPr>
        <p:txBody>
          <a:bodyPr wrap="square" lIns="0" tIns="0" rIns="0" bIns="0" rtlCol="0" anchor="ctr">
            <a:normAutofit/>
          </a:bodyPr>
          <a:lstStyle/>
          <a:p>
            <a:pPr indent="0" marL="0">
              <a:buNone/>
            </a:pPr>
            <a:r>
              <a:rPr lang="en-US" sz="900" b="1" spc="160" kern="0" dirty="0">
                <a:solidFill>
                  <a:srgbClr val="8B5A2B"/>
                </a:solidFill>
                <a:latin typeface="Apple SD Gothic Neo" pitchFamily="34" charset="0"/>
                <a:ea typeface="Apple SD Gothic Neo" pitchFamily="34" charset="-122"/>
                <a:cs typeface="Apple SD Gothic Neo" pitchFamily="34" charset="-120"/>
              </a:rPr>
              <a:t>MY MEMORY</a:t>
            </a:r>
            <a:endParaRPr lang="en-US" sz="900" dirty="0"/>
          </a:p>
        </p:txBody>
      </p:sp>
      <p:sp>
        <p:nvSpPr>
          <p:cNvPr id="9" name="Text 7"/>
          <p:cNvSpPr/>
          <p:nvPr/>
        </p:nvSpPr>
        <p:spPr>
          <a:xfrm>
            <a:off x="1024128" y="2926080"/>
            <a:ext cx="2880360" cy="329184"/>
          </a:xfrm>
          <a:prstGeom prst="rect">
            <a:avLst/>
          </a:prstGeom>
          <a:noFill/>
          <a:ln/>
        </p:spPr>
        <p:txBody>
          <a:bodyPr wrap="square" lIns="0" tIns="0" rIns="0" bIns="0" rtlCol="0" anchor="ctr">
            <a:normAutofit/>
          </a:bodyPr>
          <a:lstStyle/>
          <a:p>
            <a:pPr indent="0" marL="0">
              <a:buNone/>
            </a:pPr>
            <a:r>
              <a:rPr lang="en-US" sz="1600" b="1" dirty="0">
                <a:solidFill>
                  <a:srgbClr val="1C1917"/>
                </a:solidFill>
                <a:latin typeface="Apple SD Gothic Neo" pitchFamily="34" charset="0"/>
                <a:ea typeface="Apple SD Gothic Neo" pitchFamily="34" charset="-122"/>
                <a:cs typeface="Apple SD Gothic Neo" pitchFamily="34" charset="-120"/>
              </a:rPr>
              <a:t>사진 · 여행 · 장소 · 메모</a:t>
            </a:r>
            <a:endParaRPr lang="en-US" sz="1600" dirty="0"/>
          </a:p>
        </p:txBody>
      </p:sp>
      <p:sp>
        <p:nvSpPr>
          <p:cNvPr id="10" name="Shape 8"/>
          <p:cNvSpPr/>
          <p:nvPr/>
        </p:nvSpPr>
        <p:spPr>
          <a:xfrm>
            <a:off x="1024128" y="3456432"/>
            <a:ext cx="3154680" cy="0"/>
          </a:xfrm>
          <a:prstGeom prst="line">
            <a:avLst/>
          </a:prstGeom>
          <a:noFill/>
          <a:ln w="10160">
            <a:solidFill>
              <a:srgbClr val="E9E0D6"/>
            </a:solidFill>
            <a:prstDash val="solid"/>
          </a:ln>
        </p:spPr>
      </p:sp>
      <p:sp>
        <p:nvSpPr>
          <p:cNvPr id="11" name="Text 9"/>
          <p:cNvSpPr/>
          <p:nvPr/>
        </p:nvSpPr>
        <p:spPr>
          <a:xfrm>
            <a:off x="1024128" y="3785616"/>
            <a:ext cx="2286000" cy="219456"/>
          </a:xfrm>
          <a:prstGeom prst="rect">
            <a:avLst/>
          </a:prstGeom>
          <a:noFill/>
          <a:ln/>
        </p:spPr>
        <p:txBody>
          <a:bodyPr wrap="square" lIns="0" tIns="0" rIns="0" bIns="0" rtlCol="0" anchor="ctr">
            <a:normAutofit/>
          </a:bodyPr>
          <a:lstStyle/>
          <a:p>
            <a:pPr indent="0" marL="0">
              <a:buNone/>
            </a:pPr>
            <a:r>
              <a:rPr lang="en-US" sz="900" b="1" spc="160" kern="0" dirty="0">
                <a:solidFill>
                  <a:srgbClr val="8B5A2B"/>
                </a:solidFill>
                <a:latin typeface="Apple SD Gothic Neo" pitchFamily="34" charset="0"/>
                <a:ea typeface="Apple SD Gothic Neo" pitchFamily="34" charset="-122"/>
                <a:cs typeface="Apple SD Gothic Neo" pitchFamily="34" charset="-120"/>
              </a:rPr>
              <a:t>PRODUCT HISTORY</a:t>
            </a:r>
            <a:endParaRPr lang="en-US" sz="900" dirty="0"/>
          </a:p>
        </p:txBody>
      </p:sp>
      <p:sp>
        <p:nvSpPr>
          <p:cNvPr id="12" name="Text 10"/>
          <p:cNvSpPr/>
          <p:nvPr/>
        </p:nvSpPr>
        <p:spPr>
          <a:xfrm>
            <a:off x="1024128" y="4169664"/>
            <a:ext cx="2880360" cy="329184"/>
          </a:xfrm>
          <a:prstGeom prst="rect">
            <a:avLst/>
          </a:prstGeom>
          <a:noFill/>
          <a:ln/>
        </p:spPr>
        <p:txBody>
          <a:bodyPr wrap="square" lIns="0" tIns="0" rIns="0" bIns="0" rtlCol="0" anchor="ctr">
            <a:normAutofit/>
          </a:bodyPr>
          <a:lstStyle/>
          <a:p>
            <a:pPr indent="0" marL="0">
              <a:buNone/>
            </a:pPr>
            <a:r>
              <a:rPr lang="en-US" sz="1600" b="1" dirty="0">
                <a:solidFill>
                  <a:srgbClr val="1C1917"/>
                </a:solidFill>
                <a:latin typeface="Apple SD Gothic Neo" pitchFamily="34" charset="0"/>
                <a:ea typeface="Apple SD Gothic Neo" pitchFamily="34" charset="-122"/>
                <a:cs typeface="Apple SD Gothic Neo" pitchFamily="34" charset="-120"/>
              </a:rPr>
              <a:t>구매 · 케어 · 수선 · 이전</a:t>
            </a:r>
            <a:endParaRPr lang="en-US" sz="1600" dirty="0"/>
          </a:p>
        </p:txBody>
      </p:sp>
      <p:sp>
        <p:nvSpPr>
          <p:cNvPr id="13" name="Text 11"/>
          <p:cNvSpPr/>
          <p:nvPr/>
        </p:nvSpPr>
        <p:spPr>
          <a:xfrm>
            <a:off x="1024128" y="4754880"/>
            <a:ext cx="2944368" cy="548640"/>
          </a:xfrm>
          <a:prstGeom prst="rect">
            <a:avLst/>
          </a:prstGeom>
          <a:noFill/>
          <a:ln/>
        </p:spPr>
        <p:txBody>
          <a:bodyPr wrap="square" lIns="0" tIns="0" rIns="0" bIns="0" rtlCol="0" anchor="t">
            <a:normAutofit/>
          </a:bodyPr>
          <a:lstStyle/>
          <a:p>
            <a:pPr indent="0" marL="0">
              <a:buNone/>
            </a:pPr>
            <a:r>
              <a:rPr lang="en-US" sz="1150" dirty="0">
                <a:solidFill>
                  <a:srgbClr val="77706A"/>
                </a:solidFill>
                <a:latin typeface="Apple SD Gothic Neo" pitchFamily="34" charset="0"/>
                <a:ea typeface="Apple SD Gothic Neo" pitchFamily="34" charset="-122"/>
                <a:cs typeface="Apple SD Gothic Neo" pitchFamily="34" charset="-120"/>
              </a:rPr>
              <a:t>두 흐름을 제품 고유 ID로 연결해</a:t>
            </a:r>
            <a:endParaRPr lang="en-US" sz="1150" dirty="0"/>
          </a:p>
          <a:p>
            <a:pPr indent="0" marL="0">
              <a:buNone/>
            </a:pPr>
            <a:r>
              <a:rPr lang="en-US" sz="1150" dirty="0">
                <a:solidFill>
                  <a:srgbClr val="77706A"/>
                </a:solidFill>
                <a:latin typeface="Apple SD Gothic Neo" pitchFamily="34" charset="0"/>
                <a:ea typeface="Apple SD Gothic Neo" pitchFamily="34" charset="-122"/>
                <a:cs typeface="Apple SD Gothic Neo" pitchFamily="34" charset="-120"/>
              </a:rPr>
              <a:t>Memory Graph를 만듭니다.</a:t>
            </a:r>
            <a:endParaRPr lang="en-US" sz="1150" dirty="0"/>
          </a:p>
        </p:txBody>
      </p:sp>
      <p:sp>
        <p:nvSpPr>
          <p:cNvPr id="14" name="Shape 12"/>
          <p:cNvSpPr/>
          <p:nvPr/>
        </p:nvSpPr>
        <p:spPr>
          <a:xfrm>
            <a:off x="5605272" y="1508760"/>
            <a:ext cx="2057400" cy="4453128"/>
          </a:xfrm>
          <a:prstGeom prst="roundRect">
            <a:avLst/>
          </a:prstGeom>
          <a:solidFill>
            <a:srgbClr val="1C1917"/>
          </a:solidFill>
          <a:ln w="12700">
            <a:solidFill>
              <a:srgbClr val="55483E"/>
            </a:solidFill>
            <a:prstDash val="solid"/>
          </a:ln>
          <a:effectLst>
            <a:outerShdw sx="100000" sy="100000" kx="0" ky="0" algn="bl" rotWithShape="0" blurRad="38100" dist="50800" dir="2700000">
              <a:srgbClr val="000000">
                <a:alpha val="24000"/>
              </a:srgbClr>
            </a:outerShdw>
          </a:effectLst>
        </p:spPr>
      </p:sp>
      <p:pic>
        <p:nvPicPr>
          <p:cNvPr id="15" name="Image 0" descr="/Users/home/Desktop/likeGonzi/tmp/ir-assets/timeline-top.png">    </p:cNvPr>
          <p:cNvPicPr>
            <a:picLocks noChangeAspect="1"/>
          </p:cNvPicPr>
          <p:nvPr/>
        </p:nvPicPr>
        <p:blipFill>
          <a:blip r:embed="rId1"/>
          <a:srcRect l="0" r="0" t="0" b="0"/>
          <a:stretch/>
        </p:blipFill>
        <p:spPr>
          <a:xfrm>
            <a:off x="5687568" y="1609344"/>
            <a:ext cx="1892808" cy="4251960"/>
          </a:xfrm>
          <a:prstGeom prst="rect">
            <a:avLst/>
          </a:prstGeom>
        </p:spPr>
      </p:pic>
      <p:sp>
        <p:nvSpPr>
          <p:cNvPr id="16" name="Text 13"/>
          <p:cNvSpPr/>
          <p:nvPr/>
        </p:nvSpPr>
        <p:spPr>
          <a:xfrm>
            <a:off x="5605272" y="6108192"/>
            <a:ext cx="2057400" cy="237744"/>
          </a:xfrm>
          <a:prstGeom prst="rect">
            <a:avLst/>
          </a:prstGeom>
          <a:noFill/>
          <a:ln/>
        </p:spPr>
        <p:txBody>
          <a:bodyPr wrap="square" lIns="0" tIns="0" rIns="0" bIns="0" rtlCol="0" anchor="ctr">
            <a:normAutofit/>
          </a:bodyPr>
          <a:lstStyle/>
          <a:p>
            <a:pPr algn="ctr" indent="0" marL="0">
              <a:buNone/>
            </a:pPr>
            <a:r>
              <a:rPr lang="en-US" sz="950" dirty="0">
                <a:solidFill>
                  <a:srgbClr val="B7ADA4"/>
                </a:solidFill>
                <a:latin typeface="Apple SD Gothic Neo" pitchFamily="34" charset="0"/>
                <a:ea typeface="Apple SD Gothic Neo" pitchFamily="34" charset="-122"/>
                <a:cs typeface="Apple SD Gothic Neo" pitchFamily="34" charset="-120"/>
              </a:rPr>
              <a:t>TIMELINE</a:t>
            </a:r>
            <a:endParaRPr lang="en-US" sz="950" dirty="0"/>
          </a:p>
        </p:txBody>
      </p:sp>
      <p:sp>
        <p:nvSpPr>
          <p:cNvPr id="17" name="Shape 14"/>
          <p:cNvSpPr/>
          <p:nvPr/>
        </p:nvSpPr>
        <p:spPr>
          <a:xfrm>
            <a:off x="8439912" y="1508760"/>
            <a:ext cx="2057400" cy="4453128"/>
          </a:xfrm>
          <a:prstGeom prst="roundRect">
            <a:avLst/>
          </a:prstGeom>
          <a:solidFill>
            <a:srgbClr val="1C1917"/>
          </a:solidFill>
          <a:ln w="12700">
            <a:solidFill>
              <a:srgbClr val="55483E"/>
            </a:solidFill>
            <a:prstDash val="solid"/>
          </a:ln>
          <a:effectLst>
            <a:outerShdw sx="100000" sy="100000" kx="0" ky="0" algn="bl" rotWithShape="0" blurRad="38100" dist="50800" dir="2700000">
              <a:srgbClr val="000000">
                <a:alpha val="24000"/>
              </a:srgbClr>
            </a:outerShdw>
          </a:effectLst>
        </p:spPr>
      </p:sp>
      <p:pic>
        <p:nvPicPr>
          <p:cNvPr id="18" name="Image 1" descr="/Users/home/Desktop/likeGonzi/docs/figma-audit-2026-08-15/figma-05-care.png">    </p:cNvPr>
          <p:cNvPicPr>
            <a:picLocks noChangeAspect="1"/>
          </p:cNvPicPr>
          <p:nvPr/>
        </p:nvPicPr>
        <p:blipFill>
          <a:blip r:embed="rId2"/>
          <a:srcRect l="0" r="0" t="0" b="0"/>
          <a:stretch/>
        </p:blipFill>
        <p:spPr>
          <a:xfrm>
            <a:off x="8522208" y="1609344"/>
            <a:ext cx="1892808" cy="4251960"/>
          </a:xfrm>
          <a:prstGeom prst="rect">
            <a:avLst/>
          </a:prstGeom>
        </p:spPr>
      </p:pic>
      <p:sp>
        <p:nvSpPr>
          <p:cNvPr id="19" name="Text 15"/>
          <p:cNvSpPr/>
          <p:nvPr/>
        </p:nvSpPr>
        <p:spPr>
          <a:xfrm>
            <a:off x="8439912" y="6108192"/>
            <a:ext cx="2057400" cy="237744"/>
          </a:xfrm>
          <a:prstGeom prst="rect">
            <a:avLst/>
          </a:prstGeom>
          <a:noFill/>
          <a:ln/>
        </p:spPr>
        <p:txBody>
          <a:bodyPr wrap="square" lIns="0" tIns="0" rIns="0" bIns="0" rtlCol="0" anchor="ctr">
            <a:normAutofit/>
          </a:bodyPr>
          <a:lstStyle/>
          <a:p>
            <a:pPr algn="ctr" indent="0" marL="0">
              <a:buNone/>
            </a:pPr>
            <a:r>
              <a:rPr lang="en-US" sz="950" dirty="0">
                <a:solidFill>
                  <a:srgbClr val="B7ADA4"/>
                </a:solidFill>
                <a:latin typeface="Apple SD Gothic Neo" pitchFamily="34" charset="0"/>
                <a:ea typeface="Apple SD Gothic Neo" pitchFamily="34" charset="-122"/>
                <a:cs typeface="Apple SD Gothic Neo" pitchFamily="34" charset="-120"/>
              </a:rPr>
              <a:t>CARE · DESIGN TARGET</a:t>
            </a:r>
            <a:endParaRPr lang="en-US" sz="950" dirty="0"/>
          </a:p>
        </p:txBody>
      </p:sp>
      <p:sp>
        <p:nvSpPr>
          <p:cNvPr id="20" name="Shape 16"/>
          <p:cNvSpPr/>
          <p:nvPr/>
        </p:nvSpPr>
        <p:spPr>
          <a:xfrm>
            <a:off x="4709160" y="3758184"/>
            <a:ext cx="713232" cy="0"/>
          </a:xfrm>
          <a:prstGeom prst="line">
            <a:avLst/>
          </a:prstGeom>
          <a:noFill/>
          <a:ln w="19050">
            <a:solidFill>
              <a:srgbClr val="8B5A2B"/>
            </a:solidFill>
            <a:prstDash val="solid"/>
            <a:tailEnd type="triangle"/>
          </a:ln>
        </p:spPr>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C1917"/>
        </a:solidFill>
      </p:bgPr>
    </p:bg>
    <p:spTree>
      <p:nvGrpSpPr>
        <p:cNvPr id="1" name=""/>
        <p:cNvGrpSpPr/>
        <p:nvPr/>
      </p:nvGrpSpPr>
      <p:grpSpPr>
        <a:xfrm>
          <a:off x="0" y="0"/>
          <a:ext cx="0" cy="0"/>
          <a:chOff x="0" y="0"/>
          <a:chExt cx="0" cy="0"/>
        </a:xfrm>
      </p:grpSpPr>
      <p:sp>
        <p:nvSpPr>
          <p:cNvPr id="2" name="Text 0"/>
          <p:cNvSpPr/>
          <p:nvPr/>
        </p:nvSpPr>
        <p:spPr>
          <a:xfrm>
            <a:off x="685800" y="411480"/>
            <a:ext cx="2926080" cy="201168"/>
          </a:xfrm>
          <a:prstGeom prst="rect">
            <a:avLst/>
          </a:prstGeom>
          <a:noFill/>
          <a:ln/>
        </p:spPr>
        <p:txBody>
          <a:bodyPr wrap="square" lIns="0" tIns="0" rIns="0" bIns="0" rtlCol="0" anchor="ctr">
            <a:normAutofit/>
          </a:bodyPr>
          <a:lstStyle/>
          <a:p>
            <a:pPr indent="0" marL="0">
              <a:buNone/>
            </a:pPr>
            <a:r>
              <a:rPr lang="en-US" sz="900" b="1" spc="210" kern="0" dirty="0">
                <a:solidFill>
                  <a:srgbClr val="C9945A"/>
                </a:solidFill>
                <a:latin typeface="Apple SD Gothic Neo" pitchFamily="34" charset="0"/>
                <a:ea typeface="Apple SD Gothic Neo" pitchFamily="34" charset="-122"/>
                <a:cs typeface="Apple SD Gothic Neo" pitchFamily="34" charset="-120"/>
              </a:rPr>
              <a:t>UNFAIR ADVANTAGE</a:t>
            </a:r>
            <a:endParaRPr lang="en-US" sz="900" dirty="0"/>
          </a:p>
        </p:txBody>
      </p:sp>
      <p:sp>
        <p:nvSpPr>
          <p:cNvPr id="3" name="Text 1"/>
          <p:cNvSpPr/>
          <p:nvPr/>
        </p:nvSpPr>
        <p:spPr>
          <a:xfrm>
            <a:off x="685800" y="749808"/>
            <a:ext cx="10789920" cy="841248"/>
          </a:xfrm>
          <a:prstGeom prst="rect">
            <a:avLst/>
          </a:prstGeom>
          <a:noFill/>
          <a:ln/>
        </p:spPr>
        <p:txBody>
          <a:bodyPr wrap="square" lIns="0" tIns="0" rIns="0" bIns="0" rtlCol="0" anchor="t">
            <a:normAutofit/>
          </a:bodyPr>
          <a:lstStyle/>
          <a:p>
            <a:pPr indent="0" marL="0">
              <a:lnSpc>
                <a:spcPct val="88000"/>
              </a:lnSpc>
              <a:buNone/>
            </a:pPr>
            <a:r>
              <a:rPr lang="en-US" sz="2600" b="1" dirty="0">
                <a:solidFill>
                  <a:srgbClr val="FFFFFF"/>
                </a:solidFill>
                <a:latin typeface="Apple SD Gothic Neo" pitchFamily="34" charset="0"/>
                <a:ea typeface="Apple SD Gothic Neo" pitchFamily="34" charset="-122"/>
                <a:cs typeface="Apple SD Gothic Neo" pitchFamily="34" charset="-120"/>
              </a:rPr>
              <a:t>기존 서비스는 제품의</a:t>
            </a:r>
            <a:endParaRPr lang="en-US" sz="2600" dirty="0"/>
          </a:p>
          <a:p>
            <a:pPr indent="0" marL="0">
              <a:lnSpc>
                <a:spcPct val="88000"/>
              </a:lnSpc>
              <a:buNone/>
            </a:pPr>
            <a:r>
              <a:rPr lang="en-US" sz="2600" b="1" dirty="0">
                <a:solidFill>
                  <a:srgbClr val="FFFFFF"/>
                </a:solidFill>
                <a:latin typeface="Apple SD Gothic Neo" pitchFamily="34" charset="0"/>
                <a:ea typeface="Apple SD Gothic Neo" pitchFamily="34" charset="-122"/>
                <a:cs typeface="Apple SD Gothic Neo" pitchFamily="34" charset="-120"/>
              </a:rPr>
              <a:t>한 조각만 관리합니다</a:t>
            </a:r>
            <a:endParaRPr lang="en-US" sz="2600" dirty="0"/>
          </a:p>
        </p:txBody>
      </p:sp>
      <p:sp>
        <p:nvSpPr>
          <p:cNvPr id="4" name="Text 2"/>
          <p:cNvSpPr/>
          <p:nvPr/>
        </p:nvSpPr>
        <p:spPr>
          <a:xfrm>
            <a:off x="694944" y="1581912"/>
            <a:ext cx="9875520" cy="347472"/>
          </a:xfrm>
          <a:prstGeom prst="rect">
            <a:avLst/>
          </a:prstGeom>
          <a:noFill/>
          <a:ln/>
        </p:spPr>
        <p:txBody>
          <a:bodyPr wrap="square" lIns="0" tIns="0" rIns="0" bIns="0" rtlCol="0" anchor="t">
            <a:normAutofit/>
          </a:bodyPr>
          <a:lstStyle/>
          <a:p>
            <a:pPr indent="0" marL="0">
              <a:buNone/>
            </a:pPr>
            <a:r>
              <a:rPr lang="en-US" sz="1150" dirty="0">
                <a:solidFill>
                  <a:srgbClr val="B7ADA4"/>
                </a:solidFill>
                <a:latin typeface="Apple SD Gothic Neo" pitchFamily="34" charset="0"/>
                <a:ea typeface="Apple SD Gothic Neo" pitchFamily="34" charset="-122"/>
                <a:cs typeface="Apple SD Gothic Neo" pitchFamily="34" charset="-120"/>
              </a:rPr>
              <a:t>Storybook은 제품 정체성·개인 기억·관리 이력·소유 연속성을 동시에 연결합니다.</a:t>
            </a:r>
            <a:endParaRPr lang="en-US" sz="1150" dirty="0"/>
          </a:p>
        </p:txBody>
      </p:sp>
      <p:sp>
        <p:nvSpPr>
          <p:cNvPr id="5" name="Text 3"/>
          <p:cNvSpPr/>
          <p:nvPr/>
        </p:nvSpPr>
        <p:spPr>
          <a:xfrm>
            <a:off x="658368" y="6473952"/>
            <a:ext cx="2286000" cy="182880"/>
          </a:xfrm>
          <a:prstGeom prst="rect">
            <a:avLst/>
          </a:prstGeom>
          <a:noFill/>
          <a:ln/>
        </p:spPr>
        <p:txBody>
          <a:bodyPr wrap="square" lIns="0" tIns="0" rIns="0" bIns="0" rtlCol="0" anchor="ctr">
            <a:normAutofit/>
          </a:bodyPr>
          <a:lstStyle/>
          <a:p>
            <a:pPr indent="0" marL="0">
              <a:buNone/>
            </a:pPr>
            <a:r>
              <a:rPr lang="en-US" sz="850" spc="140" kern="0" dirty="0">
                <a:solidFill>
                  <a:srgbClr val="B7ADA4"/>
                </a:solidFill>
                <a:latin typeface="Apple SD Gothic Neo" pitchFamily="34" charset="0"/>
                <a:ea typeface="Apple SD Gothic Neo" pitchFamily="34" charset="-122"/>
                <a:cs typeface="Apple SD Gothic Neo" pitchFamily="34" charset="-120"/>
              </a:rPr>
              <a:t>MCM · STORYBOOK</a:t>
            </a:r>
            <a:endParaRPr lang="en-US" sz="850" dirty="0"/>
          </a:p>
        </p:txBody>
      </p:sp>
      <p:sp>
        <p:nvSpPr>
          <p:cNvPr id="6" name="Text 4"/>
          <p:cNvSpPr/>
          <p:nvPr/>
        </p:nvSpPr>
        <p:spPr>
          <a:xfrm>
            <a:off x="11155680" y="6473952"/>
            <a:ext cx="384048" cy="182880"/>
          </a:xfrm>
          <a:prstGeom prst="rect">
            <a:avLst/>
          </a:prstGeom>
          <a:noFill/>
          <a:ln/>
        </p:spPr>
        <p:txBody>
          <a:bodyPr wrap="square" lIns="0" tIns="0" rIns="0" bIns="0" rtlCol="0" anchor="ctr">
            <a:normAutofit/>
          </a:bodyPr>
          <a:lstStyle/>
          <a:p>
            <a:pPr algn="r" indent="0" marL="0">
              <a:buNone/>
            </a:pPr>
            <a:r>
              <a:rPr lang="en-US" sz="850" dirty="0">
                <a:solidFill>
                  <a:srgbClr val="B7ADA4"/>
                </a:solidFill>
                <a:latin typeface="Apple SD Gothic Neo" pitchFamily="34" charset="0"/>
                <a:ea typeface="Apple SD Gothic Neo" pitchFamily="34" charset="-122"/>
                <a:cs typeface="Apple SD Gothic Neo" pitchFamily="34" charset="-120"/>
              </a:rPr>
              <a:t>08</a:t>
            </a:r>
            <a:endParaRPr lang="en-US" sz="850" dirty="0"/>
          </a:p>
        </p:txBody>
      </p:sp>
      <p:sp>
        <p:nvSpPr>
          <p:cNvPr id="7" name="Shape 5"/>
          <p:cNvSpPr/>
          <p:nvPr/>
        </p:nvSpPr>
        <p:spPr>
          <a:xfrm>
            <a:off x="777240" y="2212848"/>
            <a:ext cx="2761488" cy="530352"/>
          </a:xfrm>
          <a:prstGeom prst="roundRect">
            <a:avLst>
              <a:gd name="adj" fmla="val 24138"/>
            </a:avLst>
          </a:prstGeom>
          <a:solidFill>
            <a:srgbClr val="2B2624"/>
          </a:solidFill>
          <a:ln w="10160">
            <a:solidFill>
              <a:srgbClr val="403936"/>
            </a:solidFill>
            <a:prstDash val="solid"/>
          </a:ln>
        </p:spPr>
      </p:sp>
      <p:sp>
        <p:nvSpPr>
          <p:cNvPr id="8" name="Text 6"/>
          <p:cNvSpPr/>
          <p:nvPr/>
        </p:nvSpPr>
        <p:spPr>
          <a:xfrm>
            <a:off x="850392" y="2322576"/>
            <a:ext cx="2615184" cy="237744"/>
          </a:xfrm>
          <a:prstGeom prst="rect">
            <a:avLst/>
          </a:prstGeom>
          <a:noFill/>
          <a:ln/>
        </p:spPr>
        <p:txBody>
          <a:bodyPr wrap="square" lIns="0" tIns="0" rIns="0" bIns="0" rtlCol="0" anchor="ctr">
            <a:normAutofit/>
          </a:bodyPr>
          <a:lstStyle/>
          <a:p>
            <a:pPr algn="l" indent="0" marL="0">
              <a:buNone/>
            </a:pPr>
            <a:r>
              <a:rPr lang="en-US" sz="1000" b="1" dirty="0">
                <a:solidFill>
                  <a:srgbClr val="FFFFFF"/>
                </a:solidFill>
                <a:latin typeface="Apple SD Gothic Neo" pitchFamily="34" charset="0"/>
                <a:ea typeface="Apple SD Gothic Neo" pitchFamily="34" charset="-122"/>
                <a:cs typeface="Apple SD Gothic Neo" pitchFamily="34" charset="-120"/>
              </a:rPr>
              <a:t>비교 기준</a:t>
            </a:r>
            <a:endParaRPr lang="en-US" sz="1000" dirty="0"/>
          </a:p>
        </p:txBody>
      </p:sp>
      <p:sp>
        <p:nvSpPr>
          <p:cNvPr id="9" name="Shape 7"/>
          <p:cNvSpPr/>
          <p:nvPr/>
        </p:nvSpPr>
        <p:spPr>
          <a:xfrm>
            <a:off x="3611880" y="2212848"/>
            <a:ext cx="1755648" cy="530352"/>
          </a:xfrm>
          <a:prstGeom prst="roundRect">
            <a:avLst>
              <a:gd name="adj" fmla="val 24138"/>
            </a:avLst>
          </a:prstGeom>
          <a:solidFill>
            <a:srgbClr val="2B2624"/>
          </a:solidFill>
          <a:ln w="10160">
            <a:solidFill>
              <a:srgbClr val="403936"/>
            </a:solidFill>
            <a:prstDash val="solid"/>
          </a:ln>
        </p:spPr>
      </p:sp>
      <p:sp>
        <p:nvSpPr>
          <p:cNvPr id="10" name="Text 8"/>
          <p:cNvSpPr/>
          <p:nvPr/>
        </p:nvSpPr>
        <p:spPr>
          <a:xfrm>
            <a:off x="3685032" y="2322576"/>
            <a:ext cx="1609344" cy="237744"/>
          </a:xfrm>
          <a:prstGeom prst="rect">
            <a:avLst/>
          </a:prstGeom>
          <a:noFill/>
          <a:ln/>
        </p:spPr>
        <p:txBody>
          <a:bodyPr wrap="square" lIns="0" tIns="0" rIns="0" bIns="0" rtlCol="0" anchor="ctr">
            <a:normAutofit/>
          </a:bodyPr>
          <a:lstStyle/>
          <a:p>
            <a:pPr algn="ctr" indent="0" marL="0">
              <a:buNone/>
            </a:pPr>
            <a:r>
              <a:rPr lang="en-US" sz="1000" b="1" dirty="0">
                <a:solidFill>
                  <a:srgbClr val="FFFFFF"/>
                </a:solidFill>
                <a:latin typeface="Apple SD Gothic Neo" pitchFamily="34" charset="0"/>
                <a:ea typeface="Apple SD Gothic Neo" pitchFamily="34" charset="-122"/>
                <a:cs typeface="Apple SD Gothic Neo" pitchFamily="34" charset="-120"/>
              </a:rPr>
              <a:t>사진 앱</a:t>
            </a:r>
            <a:endParaRPr lang="en-US" sz="1000" dirty="0"/>
          </a:p>
        </p:txBody>
      </p:sp>
      <p:sp>
        <p:nvSpPr>
          <p:cNvPr id="11" name="Shape 9"/>
          <p:cNvSpPr/>
          <p:nvPr/>
        </p:nvSpPr>
        <p:spPr>
          <a:xfrm>
            <a:off x="5440680" y="2212848"/>
            <a:ext cx="1755648" cy="530352"/>
          </a:xfrm>
          <a:prstGeom prst="roundRect">
            <a:avLst>
              <a:gd name="adj" fmla="val 24138"/>
            </a:avLst>
          </a:prstGeom>
          <a:solidFill>
            <a:srgbClr val="2B2624"/>
          </a:solidFill>
          <a:ln w="10160">
            <a:solidFill>
              <a:srgbClr val="403936"/>
            </a:solidFill>
            <a:prstDash val="solid"/>
          </a:ln>
        </p:spPr>
      </p:sp>
      <p:sp>
        <p:nvSpPr>
          <p:cNvPr id="12" name="Text 10"/>
          <p:cNvSpPr/>
          <p:nvPr/>
        </p:nvSpPr>
        <p:spPr>
          <a:xfrm>
            <a:off x="5513832" y="2322576"/>
            <a:ext cx="1609344" cy="237744"/>
          </a:xfrm>
          <a:prstGeom prst="rect">
            <a:avLst/>
          </a:prstGeom>
          <a:noFill/>
          <a:ln/>
        </p:spPr>
        <p:txBody>
          <a:bodyPr wrap="square" lIns="0" tIns="0" rIns="0" bIns="0" rtlCol="0" anchor="ctr">
            <a:normAutofit/>
          </a:bodyPr>
          <a:lstStyle/>
          <a:p>
            <a:pPr algn="ctr" indent="0" marL="0">
              <a:buNone/>
            </a:pPr>
            <a:r>
              <a:rPr lang="en-US" sz="1000" b="1" dirty="0">
                <a:solidFill>
                  <a:srgbClr val="FFFFFF"/>
                </a:solidFill>
                <a:latin typeface="Apple SD Gothic Neo" pitchFamily="34" charset="0"/>
                <a:ea typeface="Apple SD Gothic Neo" pitchFamily="34" charset="-122"/>
                <a:cs typeface="Apple SD Gothic Neo" pitchFamily="34" charset="-120"/>
              </a:rPr>
              <a:t>기존 DPP</a:t>
            </a:r>
            <a:endParaRPr lang="en-US" sz="1000" dirty="0"/>
          </a:p>
        </p:txBody>
      </p:sp>
      <p:sp>
        <p:nvSpPr>
          <p:cNvPr id="13" name="Shape 11"/>
          <p:cNvSpPr/>
          <p:nvPr/>
        </p:nvSpPr>
        <p:spPr>
          <a:xfrm>
            <a:off x="7269480" y="2212848"/>
            <a:ext cx="1755648" cy="530352"/>
          </a:xfrm>
          <a:prstGeom prst="roundRect">
            <a:avLst>
              <a:gd name="adj" fmla="val 24138"/>
            </a:avLst>
          </a:prstGeom>
          <a:solidFill>
            <a:srgbClr val="2B2624"/>
          </a:solidFill>
          <a:ln w="10160">
            <a:solidFill>
              <a:srgbClr val="403936"/>
            </a:solidFill>
            <a:prstDash val="solid"/>
          </a:ln>
        </p:spPr>
      </p:sp>
      <p:sp>
        <p:nvSpPr>
          <p:cNvPr id="14" name="Text 12"/>
          <p:cNvSpPr/>
          <p:nvPr/>
        </p:nvSpPr>
        <p:spPr>
          <a:xfrm>
            <a:off x="7342632" y="2322576"/>
            <a:ext cx="1609344" cy="237744"/>
          </a:xfrm>
          <a:prstGeom prst="rect">
            <a:avLst/>
          </a:prstGeom>
          <a:noFill/>
          <a:ln/>
        </p:spPr>
        <p:txBody>
          <a:bodyPr wrap="square" lIns="0" tIns="0" rIns="0" bIns="0" rtlCol="0" anchor="ctr">
            <a:normAutofit/>
          </a:bodyPr>
          <a:lstStyle/>
          <a:p>
            <a:pPr algn="ctr" indent="0" marL="0">
              <a:buNone/>
            </a:pPr>
            <a:r>
              <a:rPr lang="en-US" sz="1000" b="1" dirty="0">
                <a:solidFill>
                  <a:srgbClr val="FFFFFF"/>
                </a:solidFill>
                <a:latin typeface="Apple SD Gothic Neo" pitchFamily="34" charset="0"/>
                <a:ea typeface="Apple SD Gothic Neo" pitchFamily="34" charset="-122"/>
                <a:cs typeface="Apple SD Gothic Neo" pitchFamily="34" charset="-120"/>
              </a:rPr>
              <a:t>수선 서비스</a:t>
            </a:r>
            <a:endParaRPr lang="en-US" sz="1000" dirty="0"/>
          </a:p>
        </p:txBody>
      </p:sp>
      <p:sp>
        <p:nvSpPr>
          <p:cNvPr id="15" name="Shape 13"/>
          <p:cNvSpPr/>
          <p:nvPr/>
        </p:nvSpPr>
        <p:spPr>
          <a:xfrm>
            <a:off x="9098280" y="2212848"/>
            <a:ext cx="2075688" cy="530352"/>
          </a:xfrm>
          <a:prstGeom prst="roundRect">
            <a:avLst>
              <a:gd name="adj" fmla="val 24138"/>
            </a:avLst>
          </a:prstGeom>
          <a:solidFill>
            <a:srgbClr val="8B5A2B"/>
          </a:solidFill>
          <a:ln w="10160">
            <a:solidFill>
              <a:srgbClr val="8B5A2B"/>
            </a:solidFill>
            <a:prstDash val="solid"/>
          </a:ln>
        </p:spPr>
      </p:sp>
      <p:sp>
        <p:nvSpPr>
          <p:cNvPr id="16" name="Text 14"/>
          <p:cNvSpPr/>
          <p:nvPr/>
        </p:nvSpPr>
        <p:spPr>
          <a:xfrm>
            <a:off x="9171432" y="2322576"/>
            <a:ext cx="1929384" cy="237744"/>
          </a:xfrm>
          <a:prstGeom prst="rect">
            <a:avLst/>
          </a:prstGeom>
          <a:noFill/>
          <a:ln/>
        </p:spPr>
        <p:txBody>
          <a:bodyPr wrap="square" lIns="0" tIns="0" rIns="0" bIns="0" rtlCol="0" anchor="ctr">
            <a:normAutofit/>
          </a:bodyPr>
          <a:lstStyle/>
          <a:p>
            <a:pPr algn="ctr" indent="0" marL="0">
              <a:buNone/>
            </a:pPr>
            <a:r>
              <a:rPr lang="en-US" sz="1000" b="1" dirty="0">
                <a:solidFill>
                  <a:srgbClr val="FFFFFF"/>
                </a:solidFill>
                <a:latin typeface="Apple SD Gothic Neo" pitchFamily="34" charset="0"/>
                <a:ea typeface="Apple SD Gothic Neo" pitchFamily="34" charset="-122"/>
                <a:cs typeface="Apple SD Gothic Neo" pitchFamily="34" charset="-120"/>
              </a:rPr>
              <a:t>MCM Storybook</a:t>
            </a:r>
            <a:endParaRPr lang="en-US" sz="1000" dirty="0"/>
          </a:p>
        </p:txBody>
      </p:sp>
      <p:sp>
        <p:nvSpPr>
          <p:cNvPr id="17" name="Text 15"/>
          <p:cNvSpPr/>
          <p:nvPr/>
        </p:nvSpPr>
        <p:spPr>
          <a:xfrm>
            <a:off x="941832" y="3026664"/>
            <a:ext cx="2487168" cy="237744"/>
          </a:xfrm>
          <a:prstGeom prst="rect">
            <a:avLst/>
          </a:prstGeom>
          <a:noFill/>
          <a:ln/>
        </p:spPr>
        <p:txBody>
          <a:bodyPr wrap="square" lIns="0" tIns="0" rIns="0" bIns="0" rtlCol="0" anchor="ctr">
            <a:normAutofit/>
          </a:bodyPr>
          <a:lstStyle/>
          <a:p>
            <a:pPr indent="0" marL="0">
              <a:buNone/>
            </a:pPr>
            <a:r>
              <a:rPr lang="en-US" sz="1050" dirty="0">
                <a:solidFill>
                  <a:srgbClr val="B7ADA4"/>
                </a:solidFill>
                <a:latin typeface="Apple SD Gothic Neo" pitchFamily="34" charset="0"/>
                <a:ea typeface="Apple SD Gothic Neo" pitchFamily="34" charset="-122"/>
                <a:cs typeface="Apple SD Gothic Neo" pitchFamily="34" charset="-120"/>
              </a:rPr>
              <a:t>제품 정체성·진품성</a:t>
            </a:r>
            <a:endParaRPr lang="en-US" sz="1050" dirty="0"/>
          </a:p>
        </p:txBody>
      </p:sp>
      <p:sp>
        <p:nvSpPr>
          <p:cNvPr id="18" name="Shape 16"/>
          <p:cNvSpPr/>
          <p:nvPr/>
        </p:nvSpPr>
        <p:spPr>
          <a:xfrm>
            <a:off x="4462272" y="3072384"/>
            <a:ext cx="118872" cy="118872"/>
          </a:xfrm>
          <a:prstGeom prst="ellipse">
            <a:avLst/>
          </a:prstGeom>
          <a:solidFill>
            <a:srgbClr val="4C4643"/>
          </a:solidFill>
          <a:ln w="5080">
            <a:solidFill>
              <a:srgbClr val="4C4643"/>
            </a:solidFill>
            <a:prstDash val="solid"/>
          </a:ln>
        </p:spPr>
      </p:sp>
      <p:sp>
        <p:nvSpPr>
          <p:cNvPr id="19" name="Shape 17"/>
          <p:cNvSpPr/>
          <p:nvPr/>
        </p:nvSpPr>
        <p:spPr>
          <a:xfrm>
            <a:off x="6291072" y="3072384"/>
            <a:ext cx="118872" cy="118872"/>
          </a:xfrm>
          <a:prstGeom prst="ellipse">
            <a:avLst/>
          </a:prstGeom>
          <a:solidFill>
            <a:srgbClr val="C9945A"/>
          </a:solidFill>
          <a:ln w="5080">
            <a:solidFill>
              <a:srgbClr val="C9945A"/>
            </a:solidFill>
            <a:prstDash val="solid"/>
          </a:ln>
        </p:spPr>
      </p:sp>
      <p:sp>
        <p:nvSpPr>
          <p:cNvPr id="20" name="Shape 18"/>
          <p:cNvSpPr/>
          <p:nvPr/>
        </p:nvSpPr>
        <p:spPr>
          <a:xfrm>
            <a:off x="8119872" y="3072384"/>
            <a:ext cx="118872" cy="118872"/>
          </a:xfrm>
          <a:prstGeom prst="ellipse">
            <a:avLst/>
          </a:prstGeom>
          <a:solidFill>
            <a:srgbClr val="4C4643"/>
          </a:solidFill>
          <a:ln w="5080">
            <a:solidFill>
              <a:srgbClr val="4C4643"/>
            </a:solidFill>
            <a:prstDash val="solid"/>
          </a:ln>
        </p:spPr>
      </p:sp>
      <p:sp>
        <p:nvSpPr>
          <p:cNvPr id="21" name="Shape 19"/>
          <p:cNvSpPr/>
          <p:nvPr/>
        </p:nvSpPr>
        <p:spPr>
          <a:xfrm>
            <a:off x="9098280" y="2871216"/>
            <a:ext cx="2075688" cy="539496"/>
          </a:xfrm>
          <a:prstGeom prst="rect">
            <a:avLst/>
          </a:prstGeom>
          <a:solidFill>
            <a:srgbClr val="8B5A2B">
              <a:alpha val="22000"/>
            </a:srgbClr>
          </a:solidFill>
          <a:ln w="12700">
            <a:solidFill>
              <a:srgbClr val="333333">
                <a:alpha val="0"/>
              </a:srgbClr>
            </a:solidFill>
            <a:prstDash val="solid"/>
          </a:ln>
        </p:spPr>
      </p:sp>
      <p:sp>
        <p:nvSpPr>
          <p:cNvPr id="22" name="Shape 20"/>
          <p:cNvSpPr/>
          <p:nvPr/>
        </p:nvSpPr>
        <p:spPr>
          <a:xfrm>
            <a:off x="10108692" y="3072384"/>
            <a:ext cx="118872" cy="118872"/>
          </a:xfrm>
          <a:prstGeom prst="ellipse">
            <a:avLst/>
          </a:prstGeom>
          <a:solidFill>
            <a:srgbClr val="C9945A"/>
          </a:solidFill>
          <a:ln w="5080">
            <a:solidFill>
              <a:srgbClr val="C9945A"/>
            </a:solidFill>
            <a:prstDash val="solid"/>
          </a:ln>
        </p:spPr>
      </p:sp>
      <p:sp>
        <p:nvSpPr>
          <p:cNvPr id="23" name="Shape 21"/>
          <p:cNvSpPr/>
          <p:nvPr/>
        </p:nvSpPr>
        <p:spPr>
          <a:xfrm>
            <a:off x="777240" y="3429000"/>
            <a:ext cx="10442448" cy="0"/>
          </a:xfrm>
          <a:prstGeom prst="line">
            <a:avLst/>
          </a:prstGeom>
          <a:noFill/>
          <a:ln w="7620">
            <a:solidFill>
              <a:srgbClr val="352F2C"/>
            </a:solidFill>
            <a:prstDash val="solid"/>
          </a:ln>
        </p:spPr>
      </p:sp>
      <p:sp>
        <p:nvSpPr>
          <p:cNvPr id="24" name="Text 22"/>
          <p:cNvSpPr/>
          <p:nvPr/>
        </p:nvSpPr>
        <p:spPr>
          <a:xfrm>
            <a:off x="941832" y="3685032"/>
            <a:ext cx="2487168" cy="237744"/>
          </a:xfrm>
          <a:prstGeom prst="rect">
            <a:avLst/>
          </a:prstGeom>
          <a:noFill/>
          <a:ln/>
        </p:spPr>
        <p:txBody>
          <a:bodyPr wrap="square" lIns="0" tIns="0" rIns="0" bIns="0" rtlCol="0" anchor="ctr">
            <a:normAutofit/>
          </a:bodyPr>
          <a:lstStyle/>
          <a:p>
            <a:pPr indent="0" marL="0">
              <a:buNone/>
            </a:pPr>
            <a:r>
              <a:rPr lang="en-US" sz="1050" dirty="0">
                <a:solidFill>
                  <a:srgbClr val="B7ADA4"/>
                </a:solidFill>
                <a:latin typeface="Apple SD Gothic Neo" pitchFamily="34" charset="0"/>
                <a:ea typeface="Apple SD Gothic Neo" pitchFamily="34" charset="-122"/>
                <a:cs typeface="Apple SD Gothic Neo" pitchFamily="34" charset="-120"/>
              </a:rPr>
              <a:t>사진·장소·개인 기억</a:t>
            </a:r>
            <a:endParaRPr lang="en-US" sz="1050" dirty="0"/>
          </a:p>
        </p:txBody>
      </p:sp>
      <p:sp>
        <p:nvSpPr>
          <p:cNvPr id="25" name="Shape 23"/>
          <p:cNvSpPr/>
          <p:nvPr/>
        </p:nvSpPr>
        <p:spPr>
          <a:xfrm>
            <a:off x="4462272" y="3730752"/>
            <a:ext cx="118872" cy="118872"/>
          </a:xfrm>
          <a:prstGeom prst="ellipse">
            <a:avLst/>
          </a:prstGeom>
          <a:solidFill>
            <a:srgbClr val="C9945A"/>
          </a:solidFill>
          <a:ln w="5080">
            <a:solidFill>
              <a:srgbClr val="C9945A"/>
            </a:solidFill>
            <a:prstDash val="solid"/>
          </a:ln>
        </p:spPr>
      </p:sp>
      <p:sp>
        <p:nvSpPr>
          <p:cNvPr id="26" name="Shape 24"/>
          <p:cNvSpPr/>
          <p:nvPr/>
        </p:nvSpPr>
        <p:spPr>
          <a:xfrm>
            <a:off x="6291072" y="3730752"/>
            <a:ext cx="118872" cy="118872"/>
          </a:xfrm>
          <a:prstGeom prst="ellipse">
            <a:avLst/>
          </a:prstGeom>
          <a:solidFill>
            <a:srgbClr val="4C4643"/>
          </a:solidFill>
          <a:ln w="5080">
            <a:solidFill>
              <a:srgbClr val="4C4643"/>
            </a:solidFill>
            <a:prstDash val="solid"/>
          </a:ln>
        </p:spPr>
      </p:sp>
      <p:sp>
        <p:nvSpPr>
          <p:cNvPr id="27" name="Shape 25"/>
          <p:cNvSpPr/>
          <p:nvPr/>
        </p:nvSpPr>
        <p:spPr>
          <a:xfrm>
            <a:off x="8119872" y="3730752"/>
            <a:ext cx="118872" cy="118872"/>
          </a:xfrm>
          <a:prstGeom prst="ellipse">
            <a:avLst/>
          </a:prstGeom>
          <a:solidFill>
            <a:srgbClr val="4C4643"/>
          </a:solidFill>
          <a:ln w="5080">
            <a:solidFill>
              <a:srgbClr val="4C4643"/>
            </a:solidFill>
            <a:prstDash val="solid"/>
          </a:ln>
        </p:spPr>
      </p:sp>
      <p:sp>
        <p:nvSpPr>
          <p:cNvPr id="28" name="Shape 26"/>
          <p:cNvSpPr/>
          <p:nvPr/>
        </p:nvSpPr>
        <p:spPr>
          <a:xfrm>
            <a:off x="9098280" y="3529584"/>
            <a:ext cx="2075688" cy="539496"/>
          </a:xfrm>
          <a:prstGeom prst="rect">
            <a:avLst/>
          </a:prstGeom>
          <a:solidFill>
            <a:srgbClr val="8B5A2B">
              <a:alpha val="22000"/>
            </a:srgbClr>
          </a:solidFill>
          <a:ln w="12700">
            <a:solidFill>
              <a:srgbClr val="333333">
                <a:alpha val="0"/>
              </a:srgbClr>
            </a:solidFill>
            <a:prstDash val="solid"/>
          </a:ln>
        </p:spPr>
      </p:sp>
      <p:sp>
        <p:nvSpPr>
          <p:cNvPr id="29" name="Shape 27"/>
          <p:cNvSpPr/>
          <p:nvPr/>
        </p:nvSpPr>
        <p:spPr>
          <a:xfrm>
            <a:off x="10108692" y="3730752"/>
            <a:ext cx="118872" cy="118872"/>
          </a:xfrm>
          <a:prstGeom prst="ellipse">
            <a:avLst/>
          </a:prstGeom>
          <a:solidFill>
            <a:srgbClr val="C9945A"/>
          </a:solidFill>
          <a:ln w="5080">
            <a:solidFill>
              <a:srgbClr val="C9945A"/>
            </a:solidFill>
            <a:prstDash val="solid"/>
          </a:ln>
        </p:spPr>
      </p:sp>
      <p:sp>
        <p:nvSpPr>
          <p:cNvPr id="30" name="Shape 28"/>
          <p:cNvSpPr/>
          <p:nvPr/>
        </p:nvSpPr>
        <p:spPr>
          <a:xfrm>
            <a:off x="777240" y="4087368"/>
            <a:ext cx="10442448" cy="0"/>
          </a:xfrm>
          <a:prstGeom prst="line">
            <a:avLst/>
          </a:prstGeom>
          <a:noFill/>
          <a:ln w="7620">
            <a:solidFill>
              <a:srgbClr val="352F2C"/>
            </a:solidFill>
            <a:prstDash val="solid"/>
          </a:ln>
        </p:spPr>
      </p:sp>
      <p:sp>
        <p:nvSpPr>
          <p:cNvPr id="31" name="Text 29"/>
          <p:cNvSpPr/>
          <p:nvPr/>
        </p:nvSpPr>
        <p:spPr>
          <a:xfrm>
            <a:off x="941832" y="4343400"/>
            <a:ext cx="2487168" cy="237744"/>
          </a:xfrm>
          <a:prstGeom prst="rect">
            <a:avLst/>
          </a:prstGeom>
          <a:noFill/>
          <a:ln/>
        </p:spPr>
        <p:txBody>
          <a:bodyPr wrap="square" lIns="0" tIns="0" rIns="0" bIns="0" rtlCol="0" anchor="ctr">
            <a:normAutofit/>
          </a:bodyPr>
          <a:lstStyle/>
          <a:p>
            <a:pPr indent="0" marL="0">
              <a:buNone/>
            </a:pPr>
            <a:r>
              <a:rPr lang="en-US" sz="1050" dirty="0">
                <a:solidFill>
                  <a:srgbClr val="B7ADA4"/>
                </a:solidFill>
                <a:latin typeface="Apple SD Gothic Neo" pitchFamily="34" charset="0"/>
                <a:ea typeface="Apple SD Gothic Neo" pitchFamily="34" charset="-122"/>
                <a:cs typeface="Apple SD Gothic Neo" pitchFamily="34" charset="-120"/>
              </a:rPr>
              <a:t>관리·수선 이력</a:t>
            </a:r>
            <a:endParaRPr lang="en-US" sz="1050" dirty="0"/>
          </a:p>
        </p:txBody>
      </p:sp>
      <p:sp>
        <p:nvSpPr>
          <p:cNvPr id="32" name="Shape 30"/>
          <p:cNvSpPr/>
          <p:nvPr/>
        </p:nvSpPr>
        <p:spPr>
          <a:xfrm>
            <a:off x="4462272" y="4389120"/>
            <a:ext cx="118872" cy="118872"/>
          </a:xfrm>
          <a:prstGeom prst="ellipse">
            <a:avLst/>
          </a:prstGeom>
          <a:solidFill>
            <a:srgbClr val="4C4643"/>
          </a:solidFill>
          <a:ln w="5080">
            <a:solidFill>
              <a:srgbClr val="4C4643"/>
            </a:solidFill>
            <a:prstDash val="solid"/>
          </a:ln>
        </p:spPr>
      </p:sp>
      <p:sp>
        <p:nvSpPr>
          <p:cNvPr id="33" name="Shape 31"/>
          <p:cNvSpPr/>
          <p:nvPr/>
        </p:nvSpPr>
        <p:spPr>
          <a:xfrm>
            <a:off x="6291072" y="4389120"/>
            <a:ext cx="118872" cy="118872"/>
          </a:xfrm>
          <a:prstGeom prst="ellipse">
            <a:avLst/>
          </a:prstGeom>
          <a:solidFill>
            <a:srgbClr val="4C4643"/>
          </a:solidFill>
          <a:ln w="5080">
            <a:solidFill>
              <a:srgbClr val="4C4643"/>
            </a:solidFill>
            <a:prstDash val="solid"/>
          </a:ln>
        </p:spPr>
      </p:sp>
      <p:sp>
        <p:nvSpPr>
          <p:cNvPr id="34" name="Shape 32"/>
          <p:cNvSpPr/>
          <p:nvPr/>
        </p:nvSpPr>
        <p:spPr>
          <a:xfrm>
            <a:off x="8119872" y="4389120"/>
            <a:ext cx="118872" cy="118872"/>
          </a:xfrm>
          <a:prstGeom prst="ellipse">
            <a:avLst/>
          </a:prstGeom>
          <a:solidFill>
            <a:srgbClr val="C9945A"/>
          </a:solidFill>
          <a:ln w="5080">
            <a:solidFill>
              <a:srgbClr val="C9945A"/>
            </a:solidFill>
            <a:prstDash val="solid"/>
          </a:ln>
        </p:spPr>
      </p:sp>
      <p:sp>
        <p:nvSpPr>
          <p:cNvPr id="35" name="Shape 33"/>
          <p:cNvSpPr/>
          <p:nvPr/>
        </p:nvSpPr>
        <p:spPr>
          <a:xfrm>
            <a:off x="9098280" y="4187952"/>
            <a:ext cx="2075688" cy="539496"/>
          </a:xfrm>
          <a:prstGeom prst="rect">
            <a:avLst/>
          </a:prstGeom>
          <a:solidFill>
            <a:srgbClr val="8B5A2B">
              <a:alpha val="22000"/>
            </a:srgbClr>
          </a:solidFill>
          <a:ln w="12700">
            <a:solidFill>
              <a:srgbClr val="333333">
                <a:alpha val="0"/>
              </a:srgbClr>
            </a:solidFill>
            <a:prstDash val="solid"/>
          </a:ln>
        </p:spPr>
      </p:sp>
      <p:sp>
        <p:nvSpPr>
          <p:cNvPr id="36" name="Shape 34"/>
          <p:cNvSpPr/>
          <p:nvPr/>
        </p:nvSpPr>
        <p:spPr>
          <a:xfrm>
            <a:off x="10108692" y="4389120"/>
            <a:ext cx="118872" cy="118872"/>
          </a:xfrm>
          <a:prstGeom prst="ellipse">
            <a:avLst/>
          </a:prstGeom>
          <a:solidFill>
            <a:srgbClr val="C9945A"/>
          </a:solidFill>
          <a:ln w="5080">
            <a:solidFill>
              <a:srgbClr val="C9945A"/>
            </a:solidFill>
            <a:prstDash val="solid"/>
          </a:ln>
        </p:spPr>
      </p:sp>
      <p:sp>
        <p:nvSpPr>
          <p:cNvPr id="37" name="Shape 35"/>
          <p:cNvSpPr/>
          <p:nvPr/>
        </p:nvSpPr>
        <p:spPr>
          <a:xfrm>
            <a:off x="777240" y="4745736"/>
            <a:ext cx="10442448" cy="0"/>
          </a:xfrm>
          <a:prstGeom prst="line">
            <a:avLst/>
          </a:prstGeom>
          <a:noFill/>
          <a:ln w="7620">
            <a:solidFill>
              <a:srgbClr val="352F2C"/>
            </a:solidFill>
            <a:prstDash val="solid"/>
          </a:ln>
        </p:spPr>
      </p:sp>
      <p:sp>
        <p:nvSpPr>
          <p:cNvPr id="38" name="Text 36"/>
          <p:cNvSpPr/>
          <p:nvPr/>
        </p:nvSpPr>
        <p:spPr>
          <a:xfrm>
            <a:off x="941832" y="5001768"/>
            <a:ext cx="2487168" cy="237744"/>
          </a:xfrm>
          <a:prstGeom prst="rect">
            <a:avLst/>
          </a:prstGeom>
          <a:noFill/>
          <a:ln/>
        </p:spPr>
        <p:txBody>
          <a:bodyPr wrap="square" lIns="0" tIns="0" rIns="0" bIns="0" rtlCol="0" anchor="ctr">
            <a:normAutofit/>
          </a:bodyPr>
          <a:lstStyle/>
          <a:p>
            <a:pPr indent="0" marL="0">
              <a:buNone/>
            </a:pPr>
            <a:r>
              <a:rPr lang="en-US" sz="1050" dirty="0">
                <a:solidFill>
                  <a:srgbClr val="B7ADA4"/>
                </a:solidFill>
                <a:latin typeface="Apple SD Gothic Neo" pitchFamily="34" charset="0"/>
                <a:ea typeface="Apple SD Gothic Neo" pitchFamily="34" charset="-122"/>
                <a:cs typeface="Apple SD Gothic Neo" pitchFamily="34" charset="-120"/>
              </a:rPr>
              <a:t>소유권 이전 연속성</a:t>
            </a:r>
            <a:endParaRPr lang="en-US" sz="1050" dirty="0"/>
          </a:p>
        </p:txBody>
      </p:sp>
      <p:sp>
        <p:nvSpPr>
          <p:cNvPr id="39" name="Shape 37"/>
          <p:cNvSpPr/>
          <p:nvPr/>
        </p:nvSpPr>
        <p:spPr>
          <a:xfrm>
            <a:off x="4462272" y="5047488"/>
            <a:ext cx="118872" cy="118872"/>
          </a:xfrm>
          <a:prstGeom prst="ellipse">
            <a:avLst/>
          </a:prstGeom>
          <a:solidFill>
            <a:srgbClr val="4C4643"/>
          </a:solidFill>
          <a:ln w="5080">
            <a:solidFill>
              <a:srgbClr val="4C4643"/>
            </a:solidFill>
            <a:prstDash val="solid"/>
          </a:ln>
        </p:spPr>
      </p:sp>
      <p:sp>
        <p:nvSpPr>
          <p:cNvPr id="40" name="Shape 38"/>
          <p:cNvSpPr/>
          <p:nvPr/>
        </p:nvSpPr>
        <p:spPr>
          <a:xfrm>
            <a:off x="6291072" y="5047488"/>
            <a:ext cx="118872" cy="118872"/>
          </a:xfrm>
          <a:prstGeom prst="ellipse">
            <a:avLst/>
          </a:prstGeom>
          <a:solidFill>
            <a:srgbClr val="C9945A"/>
          </a:solidFill>
          <a:ln w="5080">
            <a:solidFill>
              <a:srgbClr val="C9945A"/>
            </a:solidFill>
            <a:prstDash val="solid"/>
          </a:ln>
        </p:spPr>
      </p:sp>
      <p:sp>
        <p:nvSpPr>
          <p:cNvPr id="41" name="Shape 39"/>
          <p:cNvSpPr/>
          <p:nvPr/>
        </p:nvSpPr>
        <p:spPr>
          <a:xfrm>
            <a:off x="8119872" y="5047488"/>
            <a:ext cx="118872" cy="118872"/>
          </a:xfrm>
          <a:prstGeom prst="ellipse">
            <a:avLst/>
          </a:prstGeom>
          <a:solidFill>
            <a:srgbClr val="4C4643"/>
          </a:solidFill>
          <a:ln w="5080">
            <a:solidFill>
              <a:srgbClr val="4C4643"/>
            </a:solidFill>
            <a:prstDash val="solid"/>
          </a:ln>
        </p:spPr>
      </p:sp>
      <p:sp>
        <p:nvSpPr>
          <p:cNvPr id="42" name="Shape 40"/>
          <p:cNvSpPr/>
          <p:nvPr/>
        </p:nvSpPr>
        <p:spPr>
          <a:xfrm>
            <a:off x="9098280" y="4846320"/>
            <a:ext cx="2075688" cy="539496"/>
          </a:xfrm>
          <a:prstGeom prst="rect">
            <a:avLst/>
          </a:prstGeom>
          <a:solidFill>
            <a:srgbClr val="8B5A2B">
              <a:alpha val="22000"/>
            </a:srgbClr>
          </a:solidFill>
          <a:ln w="12700">
            <a:solidFill>
              <a:srgbClr val="333333">
                <a:alpha val="0"/>
              </a:srgbClr>
            </a:solidFill>
            <a:prstDash val="solid"/>
          </a:ln>
        </p:spPr>
      </p:sp>
      <p:sp>
        <p:nvSpPr>
          <p:cNvPr id="43" name="Shape 41"/>
          <p:cNvSpPr/>
          <p:nvPr/>
        </p:nvSpPr>
        <p:spPr>
          <a:xfrm>
            <a:off x="10108692" y="5047488"/>
            <a:ext cx="118872" cy="118872"/>
          </a:xfrm>
          <a:prstGeom prst="ellipse">
            <a:avLst/>
          </a:prstGeom>
          <a:solidFill>
            <a:srgbClr val="C9945A"/>
          </a:solidFill>
          <a:ln w="5080">
            <a:solidFill>
              <a:srgbClr val="C9945A"/>
            </a:solidFill>
            <a:prstDash val="solid"/>
          </a:ln>
        </p:spPr>
      </p:sp>
      <p:sp>
        <p:nvSpPr>
          <p:cNvPr id="44" name="Shape 42"/>
          <p:cNvSpPr/>
          <p:nvPr/>
        </p:nvSpPr>
        <p:spPr>
          <a:xfrm>
            <a:off x="777240" y="5404104"/>
            <a:ext cx="10442448" cy="0"/>
          </a:xfrm>
          <a:prstGeom prst="line">
            <a:avLst/>
          </a:prstGeom>
          <a:noFill/>
          <a:ln w="7620">
            <a:solidFill>
              <a:srgbClr val="352F2C"/>
            </a:solidFill>
            <a:prstDash val="solid"/>
          </a:ln>
        </p:spPr>
      </p:sp>
      <p:sp>
        <p:nvSpPr>
          <p:cNvPr id="45" name="Shape 43"/>
          <p:cNvSpPr/>
          <p:nvPr/>
        </p:nvSpPr>
        <p:spPr>
          <a:xfrm>
            <a:off x="2377440" y="5559552"/>
            <a:ext cx="7452360" cy="530352"/>
          </a:xfrm>
          <a:prstGeom prst="roundRect">
            <a:avLst>
              <a:gd name="adj" fmla="val 24138"/>
            </a:avLst>
          </a:prstGeom>
          <a:solidFill>
            <a:srgbClr val="292321"/>
          </a:solidFill>
          <a:ln w="10160">
            <a:solidFill>
              <a:srgbClr val="433A36"/>
            </a:solidFill>
            <a:prstDash val="solid"/>
          </a:ln>
        </p:spPr>
      </p:sp>
      <p:sp>
        <p:nvSpPr>
          <p:cNvPr id="46" name="Text 44"/>
          <p:cNvSpPr/>
          <p:nvPr/>
        </p:nvSpPr>
        <p:spPr>
          <a:xfrm>
            <a:off x="2651760" y="5705856"/>
            <a:ext cx="6903720" cy="219456"/>
          </a:xfrm>
          <a:prstGeom prst="rect">
            <a:avLst/>
          </a:prstGeom>
          <a:noFill/>
          <a:ln/>
        </p:spPr>
        <p:txBody>
          <a:bodyPr wrap="square" lIns="0" tIns="0" rIns="0" bIns="0" rtlCol="0" anchor="ctr">
            <a:normAutofit/>
          </a:bodyPr>
          <a:lstStyle/>
          <a:p>
            <a:pPr algn="ctr" indent="0" marL="0">
              <a:buNone/>
            </a:pPr>
            <a:r>
              <a:rPr lang="en-US" sz="1250" b="1" dirty="0">
                <a:solidFill>
                  <a:srgbClr val="C9945A"/>
                </a:solidFill>
                <a:latin typeface="Apple SD Gothic Neo" pitchFamily="34" charset="0"/>
                <a:ea typeface="Apple SD Gothic Neo" pitchFamily="34" charset="-122"/>
                <a:cs typeface="Apple SD Gothic Neo" pitchFamily="34" charset="-120"/>
              </a:rPr>
              <a:t>Memory Graph  =  Product Identity  ×  Personal Memory  ×  Care History</a:t>
            </a:r>
            <a:endParaRPr lang="en-US" sz="12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7324D"/>
        </a:solidFill>
      </p:bgPr>
    </p:bg>
    <p:spTree>
      <p:nvGrpSpPr>
        <p:cNvPr id="1" name=""/>
        <p:cNvGrpSpPr/>
        <p:nvPr/>
      </p:nvGrpSpPr>
      <p:grpSpPr>
        <a:xfrm>
          <a:off x="0" y="0"/>
          <a:ext cx="0" cy="0"/>
          <a:chOff x="0" y="0"/>
          <a:chExt cx="0" cy="0"/>
        </a:xfrm>
      </p:grpSpPr>
      <p:sp>
        <p:nvSpPr>
          <p:cNvPr id="2" name="Text 0"/>
          <p:cNvSpPr/>
          <p:nvPr/>
        </p:nvSpPr>
        <p:spPr>
          <a:xfrm>
            <a:off x="502920" y="320040"/>
            <a:ext cx="3840480" cy="228600"/>
          </a:xfrm>
          <a:prstGeom prst="rect">
            <a:avLst/>
          </a:prstGeom>
          <a:noFill/>
          <a:ln/>
        </p:spPr>
        <p:txBody>
          <a:bodyPr wrap="square" lIns="0" tIns="0" rIns="0" bIns="0" rtlCol="0" anchor="ctr">
            <a:normAutofit/>
          </a:bodyPr>
          <a:lstStyle/>
          <a:p>
            <a:pPr indent="0" marL="0">
              <a:buNone/>
            </a:pPr>
            <a:r>
              <a:rPr lang="en-US" sz="1000" b="1" spc="180" kern="0" dirty="0">
                <a:solidFill>
                  <a:srgbClr val="FFFFFF"/>
                </a:solidFill>
                <a:latin typeface="Apple SD Gothic Neo" pitchFamily="34" charset="0"/>
                <a:ea typeface="Apple SD Gothic Neo" pitchFamily="34" charset="-122"/>
                <a:cs typeface="Apple SD Gothic Neo" pitchFamily="34" charset="-120"/>
              </a:rPr>
              <a:t>BUSINESS MODEL CANVAS</a:t>
            </a:r>
            <a:endParaRPr lang="en-US" sz="1000" dirty="0"/>
          </a:p>
        </p:txBody>
      </p:sp>
      <p:sp>
        <p:nvSpPr>
          <p:cNvPr id="3" name="Text 1"/>
          <p:cNvSpPr/>
          <p:nvPr/>
        </p:nvSpPr>
        <p:spPr>
          <a:xfrm>
            <a:off x="9326880" y="320040"/>
            <a:ext cx="2331720" cy="228600"/>
          </a:xfrm>
          <a:prstGeom prst="rect">
            <a:avLst/>
          </a:prstGeom>
          <a:noFill/>
          <a:ln/>
        </p:spPr>
        <p:txBody>
          <a:bodyPr wrap="square" lIns="0" tIns="0" rIns="0" bIns="0" rtlCol="0" anchor="ctr">
            <a:normAutofit/>
          </a:bodyPr>
          <a:lstStyle/>
          <a:p>
            <a:pPr algn="r" indent="0" marL="0">
              <a:buNone/>
            </a:pPr>
            <a:r>
              <a:rPr lang="en-US" sz="1000" dirty="0">
                <a:solidFill>
                  <a:srgbClr val="BCD0E1"/>
                </a:solidFill>
                <a:latin typeface="Apple SD Gothic Neo" pitchFamily="34" charset="0"/>
                <a:ea typeface="Apple SD Gothic Neo" pitchFamily="34" charset="-122"/>
                <a:cs typeface="Apple SD Gothic Neo" pitchFamily="34" charset="-120"/>
              </a:rPr>
              <a:t>MCM Storybook</a:t>
            </a:r>
            <a:endParaRPr lang="en-US" sz="1000" dirty="0"/>
          </a:p>
        </p:txBody>
      </p:sp>
      <p:sp>
        <p:nvSpPr>
          <p:cNvPr id="4" name="Shape 2"/>
          <p:cNvSpPr/>
          <p:nvPr/>
        </p:nvSpPr>
        <p:spPr>
          <a:xfrm>
            <a:off x="438912" y="786384"/>
            <a:ext cx="2130552" cy="4297680"/>
          </a:xfrm>
          <a:prstGeom prst="roundRect">
            <a:avLst>
              <a:gd name="adj" fmla="val 6009"/>
            </a:avLst>
          </a:prstGeom>
          <a:solidFill>
            <a:srgbClr val="FFFFFF"/>
          </a:solidFill>
          <a:ln w="10160">
            <a:solidFill>
              <a:srgbClr val="D7E2EA"/>
            </a:solidFill>
            <a:prstDash val="solid"/>
          </a:ln>
          <a:effectLst>
            <a:outerShdw sx="100000" sy="100000" kx="0" ky="0" algn="bl" rotWithShape="0" blurRad="25400" dist="50800" dir="2700000">
              <a:srgbClr val="1C1917">
                <a:alpha val="13000"/>
              </a:srgbClr>
            </a:outerShdw>
          </a:effectLst>
        </p:spPr>
      </p:sp>
      <p:sp>
        <p:nvSpPr>
          <p:cNvPr id="5" name="Shape 3"/>
          <p:cNvSpPr/>
          <p:nvPr/>
        </p:nvSpPr>
        <p:spPr>
          <a:xfrm>
            <a:off x="2679192" y="786384"/>
            <a:ext cx="2130552" cy="4297680"/>
          </a:xfrm>
          <a:prstGeom prst="roundRect">
            <a:avLst>
              <a:gd name="adj" fmla="val 6009"/>
            </a:avLst>
          </a:prstGeom>
          <a:solidFill>
            <a:srgbClr val="FFFFFF"/>
          </a:solidFill>
          <a:ln w="10160">
            <a:solidFill>
              <a:srgbClr val="D7E2EA"/>
            </a:solidFill>
            <a:prstDash val="solid"/>
          </a:ln>
          <a:effectLst>
            <a:outerShdw sx="100000" sy="100000" kx="0" ky="0" algn="bl" rotWithShape="0" blurRad="25400" dist="50800" dir="2700000">
              <a:srgbClr val="1C1917">
                <a:alpha val="13000"/>
              </a:srgbClr>
            </a:outerShdw>
          </a:effectLst>
        </p:spPr>
      </p:sp>
      <p:sp>
        <p:nvSpPr>
          <p:cNvPr id="6" name="Shape 4"/>
          <p:cNvSpPr/>
          <p:nvPr/>
        </p:nvSpPr>
        <p:spPr>
          <a:xfrm>
            <a:off x="4919472" y="786384"/>
            <a:ext cx="2130552" cy="4297680"/>
          </a:xfrm>
          <a:prstGeom prst="roundRect">
            <a:avLst>
              <a:gd name="adj" fmla="val 6009"/>
            </a:avLst>
          </a:prstGeom>
          <a:solidFill>
            <a:srgbClr val="FFFFFF"/>
          </a:solidFill>
          <a:ln w="10160">
            <a:solidFill>
              <a:srgbClr val="A9C0D2"/>
            </a:solidFill>
            <a:prstDash val="solid"/>
          </a:ln>
          <a:effectLst>
            <a:outerShdw sx="100000" sy="100000" kx="0" ky="0" algn="bl" rotWithShape="0" blurRad="25400" dist="50800" dir="2700000">
              <a:srgbClr val="1C1917">
                <a:alpha val="13000"/>
              </a:srgbClr>
            </a:outerShdw>
          </a:effectLst>
        </p:spPr>
      </p:sp>
      <p:sp>
        <p:nvSpPr>
          <p:cNvPr id="7" name="Shape 5"/>
          <p:cNvSpPr/>
          <p:nvPr/>
        </p:nvSpPr>
        <p:spPr>
          <a:xfrm>
            <a:off x="7159752" y="786384"/>
            <a:ext cx="2130552" cy="4297680"/>
          </a:xfrm>
          <a:prstGeom prst="roundRect">
            <a:avLst>
              <a:gd name="adj" fmla="val 6009"/>
            </a:avLst>
          </a:prstGeom>
          <a:solidFill>
            <a:srgbClr val="FFFFFF"/>
          </a:solidFill>
          <a:ln w="10160">
            <a:solidFill>
              <a:srgbClr val="D7E2EA"/>
            </a:solidFill>
            <a:prstDash val="solid"/>
          </a:ln>
          <a:effectLst>
            <a:outerShdw sx="100000" sy="100000" kx="0" ky="0" algn="bl" rotWithShape="0" blurRad="25400" dist="50800" dir="2700000">
              <a:srgbClr val="1C1917">
                <a:alpha val="13000"/>
              </a:srgbClr>
            </a:outerShdw>
          </a:effectLst>
        </p:spPr>
      </p:sp>
      <p:sp>
        <p:nvSpPr>
          <p:cNvPr id="8" name="Shape 6"/>
          <p:cNvSpPr/>
          <p:nvPr/>
        </p:nvSpPr>
        <p:spPr>
          <a:xfrm>
            <a:off x="9400032" y="786384"/>
            <a:ext cx="2130552" cy="4297680"/>
          </a:xfrm>
          <a:prstGeom prst="roundRect">
            <a:avLst>
              <a:gd name="adj" fmla="val 6009"/>
            </a:avLst>
          </a:prstGeom>
          <a:solidFill>
            <a:srgbClr val="FFFFFF"/>
          </a:solidFill>
          <a:ln w="10160">
            <a:solidFill>
              <a:srgbClr val="D7E2EA"/>
            </a:solidFill>
            <a:prstDash val="solid"/>
          </a:ln>
          <a:effectLst>
            <a:outerShdw sx="100000" sy="100000" kx="0" ky="0" algn="bl" rotWithShape="0" blurRad="25400" dist="50800" dir="2700000">
              <a:srgbClr val="1C1917">
                <a:alpha val="13000"/>
              </a:srgbClr>
            </a:outerShdw>
          </a:effectLst>
        </p:spPr>
      </p:sp>
      <p:sp>
        <p:nvSpPr>
          <p:cNvPr id="9" name="Text 7"/>
          <p:cNvSpPr/>
          <p:nvPr/>
        </p:nvSpPr>
        <p:spPr>
          <a:xfrm>
            <a:off x="640080" y="1024128"/>
            <a:ext cx="1728216" cy="182880"/>
          </a:xfrm>
          <a:prstGeom prst="rect">
            <a:avLst/>
          </a:prstGeom>
          <a:noFill/>
          <a:ln/>
        </p:spPr>
        <p:txBody>
          <a:bodyPr wrap="square" lIns="0" tIns="0" rIns="0" bIns="0" rtlCol="0" anchor="ctr">
            <a:normAutofit/>
          </a:bodyPr>
          <a:lstStyle/>
          <a:p>
            <a:pPr indent="0" marL="0">
              <a:buNone/>
            </a:pPr>
            <a:r>
              <a:rPr lang="en-US" sz="750" b="1" spc="110" kern="0" dirty="0">
                <a:solidFill>
                  <a:srgbClr val="274A69"/>
                </a:solidFill>
                <a:latin typeface="Apple SD Gothic Neo" pitchFamily="34" charset="0"/>
                <a:ea typeface="Apple SD Gothic Neo" pitchFamily="34" charset="-122"/>
                <a:cs typeface="Apple SD Gothic Neo" pitchFamily="34" charset="-120"/>
              </a:rPr>
              <a:t>KEY PARTNERS</a:t>
            </a:r>
            <a:endParaRPr lang="en-US" sz="750" dirty="0"/>
          </a:p>
        </p:txBody>
      </p:sp>
      <p:sp>
        <p:nvSpPr>
          <p:cNvPr id="10" name="Text 8"/>
          <p:cNvSpPr/>
          <p:nvPr/>
        </p:nvSpPr>
        <p:spPr>
          <a:xfrm>
            <a:off x="640080" y="1353312"/>
            <a:ext cx="1728216" cy="310896"/>
          </a:xfrm>
          <a:prstGeom prst="rect">
            <a:avLst/>
          </a:prstGeom>
          <a:noFill/>
          <a:ln/>
        </p:spPr>
        <p:txBody>
          <a:bodyPr wrap="square" lIns="0" tIns="0" rIns="0" bIns="0" rtlCol="0" anchor="ctr">
            <a:normAutofit/>
          </a:bodyPr>
          <a:lstStyle/>
          <a:p>
            <a:pPr indent="0" marL="0">
              <a:buNone/>
            </a:pPr>
            <a:r>
              <a:rPr lang="en-US" sz="1600" b="1" dirty="0">
                <a:solidFill>
                  <a:srgbClr val="17324D"/>
                </a:solidFill>
                <a:latin typeface="Apple SD Gothic Neo" pitchFamily="34" charset="0"/>
                <a:ea typeface="Apple SD Gothic Neo" pitchFamily="34" charset="-122"/>
                <a:cs typeface="Apple SD Gothic Neo" pitchFamily="34" charset="-120"/>
              </a:rPr>
              <a:t>잠재 파트너</a:t>
            </a:r>
            <a:endParaRPr lang="en-US" sz="1600" dirty="0"/>
          </a:p>
        </p:txBody>
      </p:sp>
      <p:sp>
        <p:nvSpPr>
          <p:cNvPr id="11" name="Shape 9"/>
          <p:cNvSpPr/>
          <p:nvPr/>
        </p:nvSpPr>
        <p:spPr>
          <a:xfrm rot="2700000">
            <a:off x="658368" y="1956816"/>
            <a:ext cx="82296" cy="82296"/>
          </a:xfrm>
          <a:prstGeom prst="rect">
            <a:avLst/>
          </a:prstGeom>
          <a:solidFill>
            <a:srgbClr val="274A69"/>
          </a:solidFill>
          <a:ln w="6350">
            <a:solidFill>
              <a:srgbClr val="274A69">
                <a:alpha val="92000"/>
              </a:srgbClr>
            </a:solidFill>
            <a:prstDash val="solid"/>
          </a:ln>
        </p:spPr>
      </p:sp>
      <p:sp>
        <p:nvSpPr>
          <p:cNvPr id="12" name="Text 10"/>
          <p:cNvSpPr/>
          <p:nvPr/>
        </p:nvSpPr>
        <p:spPr>
          <a:xfrm>
            <a:off x="859536" y="1865376"/>
            <a:ext cx="1472184" cy="329184"/>
          </a:xfrm>
          <a:prstGeom prst="rect">
            <a:avLst/>
          </a:prstGeom>
          <a:noFill/>
          <a:ln/>
        </p:spPr>
        <p:txBody>
          <a:bodyPr wrap="square" lIns="0" tIns="0" rIns="0" bIns="0" rtlCol="0" anchor="ctr">
            <a:normAutofit/>
          </a:bodyPr>
          <a:lstStyle/>
          <a:p>
            <a:pPr indent="0" marL="0">
              <a:buNone/>
            </a:pPr>
            <a:r>
              <a:rPr lang="en-US" sz="1050" dirty="0">
                <a:solidFill>
                  <a:srgbClr val="1C1917"/>
                </a:solidFill>
                <a:latin typeface="Apple SD Gothic Neo" pitchFamily="34" charset="0"/>
                <a:ea typeface="Apple SD Gothic Neo" pitchFamily="34" charset="-122"/>
                <a:cs typeface="Apple SD Gothic Neo" pitchFamily="34" charset="-120"/>
              </a:rPr>
              <a:t>MCM · DPP 운영</a:t>
            </a:r>
            <a:endParaRPr lang="en-US" sz="1050" dirty="0"/>
          </a:p>
        </p:txBody>
      </p:sp>
      <p:sp>
        <p:nvSpPr>
          <p:cNvPr id="13" name="Shape 11"/>
          <p:cNvSpPr/>
          <p:nvPr/>
        </p:nvSpPr>
        <p:spPr>
          <a:xfrm rot="2700000">
            <a:off x="658368" y="2569464"/>
            <a:ext cx="82296" cy="82296"/>
          </a:xfrm>
          <a:prstGeom prst="rect">
            <a:avLst/>
          </a:prstGeom>
          <a:solidFill>
            <a:srgbClr val="274A69"/>
          </a:solidFill>
          <a:ln w="6350">
            <a:solidFill>
              <a:srgbClr val="274A69">
                <a:alpha val="92000"/>
              </a:srgbClr>
            </a:solidFill>
            <a:prstDash val="solid"/>
          </a:ln>
        </p:spPr>
      </p:sp>
      <p:sp>
        <p:nvSpPr>
          <p:cNvPr id="14" name="Text 12"/>
          <p:cNvSpPr/>
          <p:nvPr/>
        </p:nvSpPr>
        <p:spPr>
          <a:xfrm>
            <a:off x="859536" y="2478024"/>
            <a:ext cx="1472184" cy="329184"/>
          </a:xfrm>
          <a:prstGeom prst="rect">
            <a:avLst/>
          </a:prstGeom>
          <a:noFill/>
          <a:ln/>
        </p:spPr>
        <p:txBody>
          <a:bodyPr wrap="square" lIns="0" tIns="0" rIns="0" bIns="0" rtlCol="0" anchor="ctr">
            <a:normAutofit/>
          </a:bodyPr>
          <a:lstStyle/>
          <a:p>
            <a:pPr indent="0" marL="0">
              <a:buNone/>
            </a:pPr>
            <a:r>
              <a:rPr lang="en-US" sz="1050" dirty="0">
                <a:solidFill>
                  <a:srgbClr val="1C1917"/>
                </a:solidFill>
                <a:latin typeface="Apple SD Gothic Neo" pitchFamily="34" charset="0"/>
                <a:ea typeface="Apple SD Gothic Neo" pitchFamily="34" charset="-122"/>
                <a:cs typeface="Apple SD Gothic Neo" pitchFamily="34" charset="-120"/>
              </a:rPr>
              <a:t>Care &amp; Repair</a:t>
            </a:r>
            <a:endParaRPr lang="en-US" sz="1050" dirty="0"/>
          </a:p>
        </p:txBody>
      </p:sp>
      <p:sp>
        <p:nvSpPr>
          <p:cNvPr id="15" name="Shape 13"/>
          <p:cNvSpPr/>
          <p:nvPr/>
        </p:nvSpPr>
        <p:spPr>
          <a:xfrm rot="2700000">
            <a:off x="658368" y="3182112"/>
            <a:ext cx="82296" cy="82296"/>
          </a:xfrm>
          <a:prstGeom prst="rect">
            <a:avLst/>
          </a:prstGeom>
          <a:solidFill>
            <a:srgbClr val="274A69"/>
          </a:solidFill>
          <a:ln w="6350">
            <a:solidFill>
              <a:srgbClr val="274A69">
                <a:alpha val="92000"/>
              </a:srgbClr>
            </a:solidFill>
            <a:prstDash val="solid"/>
          </a:ln>
        </p:spPr>
      </p:sp>
      <p:sp>
        <p:nvSpPr>
          <p:cNvPr id="16" name="Text 14"/>
          <p:cNvSpPr/>
          <p:nvPr/>
        </p:nvSpPr>
        <p:spPr>
          <a:xfrm>
            <a:off x="859536" y="3090672"/>
            <a:ext cx="1472184" cy="329184"/>
          </a:xfrm>
          <a:prstGeom prst="rect">
            <a:avLst/>
          </a:prstGeom>
          <a:noFill/>
          <a:ln/>
        </p:spPr>
        <p:txBody>
          <a:bodyPr wrap="square" lIns="0" tIns="0" rIns="0" bIns="0" rtlCol="0" anchor="ctr">
            <a:normAutofit/>
          </a:bodyPr>
          <a:lstStyle/>
          <a:p>
            <a:pPr indent="0" marL="0">
              <a:buNone/>
            </a:pPr>
            <a:r>
              <a:rPr lang="en-US" sz="1050" dirty="0">
                <a:solidFill>
                  <a:srgbClr val="1C1917"/>
                </a:solidFill>
                <a:latin typeface="Apple SD Gothic Neo" pitchFamily="34" charset="0"/>
                <a:ea typeface="Apple SD Gothic Neo" pitchFamily="34" charset="-122"/>
                <a:cs typeface="Apple SD Gothic Neo" pitchFamily="34" charset="-120"/>
              </a:rPr>
              <a:t>리셀·소유권 이전</a:t>
            </a:r>
            <a:endParaRPr lang="en-US" sz="1050" dirty="0"/>
          </a:p>
        </p:txBody>
      </p:sp>
      <p:sp>
        <p:nvSpPr>
          <p:cNvPr id="17" name="Shape 15"/>
          <p:cNvSpPr/>
          <p:nvPr/>
        </p:nvSpPr>
        <p:spPr>
          <a:xfrm rot="2700000">
            <a:off x="658368" y="3794760"/>
            <a:ext cx="82296" cy="82296"/>
          </a:xfrm>
          <a:prstGeom prst="rect">
            <a:avLst/>
          </a:prstGeom>
          <a:solidFill>
            <a:srgbClr val="274A69"/>
          </a:solidFill>
          <a:ln w="6350">
            <a:solidFill>
              <a:srgbClr val="274A69">
                <a:alpha val="92000"/>
              </a:srgbClr>
            </a:solidFill>
            <a:prstDash val="solid"/>
          </a:ln>
        </p:spPr>
      </p:sp>
      <p:sp>
        <p:nvSpPr>
          <p:cNvPr id="18" name="Text 16"/>
          <p:cNvSpPr/>
          <p:nvPr/>
        </p:nvSpPr>
        <p:spPr>
          <a:xfrm>
            <a:off x="859536" y="3703320"/>
            <a:ext cx="1472184" cy="329184"/>
          </a:xfrm>
          <a:prstGeom prst="rect">
            <a:avLst/>
          </a:prstGeom>
          <a:noFill/>
          <a:ln/>
        </p:spPr>
        <p:txBody>
          <a:bodyPr wrap="square" lIns="0" tIns="0" rIns="0" bIns="0" rtlCol="0" anchor="ctr">
            <a:normAutofit/>
          </a:bodyPr>
          <a:lstStyle/>
          <a:p>
            <a:pPr indent="0" marL="0">
              <a:buNone/>
            </a:pPr>
            <a:r>
              <a:rPr lang="en-US" sz="1050" dirty="0">
                <a:solidFill>
                  <a:srgbClr val="1C1917"/>
                </a:solidFill>
                <a:latin typeface="Apple SD Gothic Neo" pitchFamily="34" charset="0"/>
                <a:ea typeface="Apple SD Gothic Neo" pitchFamily="34" charset="-122"/>
                <a:cs typeface="Apple SD Gothic Neo" pitchFamily="34" charset="-120"/>
              </a:rPr>
              <a:t>AI·Cloud 인프라</a:t>
            </a:r>
            <a:endParaRPr lang="en-US" sz="1050" dirty="0"/>
          </a:p>
        </p:txBody>
      </p:sp>
      <p:sp>
        <p:nvSpPr>
          <p:cNvPr id="19" name="Text 17"/>
          <p:cNvSpPr/>
          <p:nvPr/>
        </p:nvSpPr>
        <p:spPr>
          <a:xfrm>
            <a:off x="2880360" y="1024128"/>
            <a:ext cx="1728216" cy="182880"/>
          </a:xfrm>
          <a:prstGeom prst="rect">
            <a:avLst/>
          </a:prstGeom>
          <a:noFill/>
          <a:ln/>
        </p:spPr>
        <p:txBody>
          <a:bodyPr wrap="square" lIns="0" tIns="0" rIns="0" bIns="0" rtlCol="0" anchor="ctr">
            <a:normAutofit/>
          </a:bodyPr>
          <a:lstStyle/>
          <a:p>
            <a:pPr indent="0" marL="0">
              <a:buNone/>
            </a:pPr>
            <a:r>
              <a:rPr lang="en-US" sz="750" b="1" spc="110" kern="0" dirty="0">
                <a:solidFill>
                  <a:srgbClr val="274A69"/>
                </a:solidFill>
                <a:latin typeface="Apple SD Gothic Neo" pitchFamily="34" charset="0"/>
                <a:ea typeface="Apple SD Gothic Neo" pitchFamily="34" charset="-122"/>
                <a:cs typeface="Apple SD Gothic Neo" pitchFamily="34" charset="-120"/>
              </a:rPr>
              <a:t>KEY ACTIVITIES</a:t>
            </a:r>
            <a:endParaRPr lang="en-US" sz="750" dirty="0"/>
          </a:p>
        </p:txBody>
      </p:sp>
      <p:sp>
        <p:nvSpPr>
          <p:cNvPr id="20" name="Text 18"/>
          <p:cNvSpPr/>
          <p:nvPr/>
        </p:nvSpPr>
        <p:spPr>
          <a:xfrm>
            <a:off x="2880360" y="1353312"/>
            <a:ext cx="1728216" cy="310896"/>
          </a:xfrm>
          <a:prstGeom prst="rect">
            <a:avLst/>
          </a:prstGeom>
          <a:noFill/>
          <a:ln/>
        </p:spPr>
        <p:txBody>
          <a:bodyPr wrap="square" lIns="0" tIns="0" rIns="0" bIns="0" rtlCol="0" anchor="ctr">
            <a:normAutofit/>
          </a:bodyPr>
          <a:lstStyle/>
          <a:p>
            <a:pPr indent="0" marL="0">
              <a:buNone/>
            </a:pPr>
            <a:r>
              <a:rPr lang="en-US" sz="1600" b="1" dirty="0">
                <a:solidFill>
                  <a:srgbClr val="17324D"/>
                </a:solidFill>
                <a:latin typeface="Apple SD Gothic Neo" pitchFamily="34" charset="0"/>
                <a:ea typeface="Apple SD Gothic Neo" pitchFamily="34" charset="-122"/>
                <a:cs typeface="Apple SD Gothic Neo" pitchFamily="34" charset="-120"/>
              </a:rPr>
              <a:t>핵심 활동</a:t>
            </a:r>
            <a:endParaRPr lang="en-US" sz="1600" dirty="0"/>
          </a:p>
        </p:txBody>
      </p:sp>
      <p:sp>
        <p:nvSpPr>
          <p:cNvPr id="21" name="Shape 19"/>
          <p:cNvSpPr/>
          <p:nvPr/>
        </p:nvSpPr>
        <p:spPr>
          <a:xfrm rot="2700000">
            <a:off x="2898648" y="1956816"/>
            <a:ext cx="82296" cy="82296"/>
          </a:xfrm>
          <a:prstGeom prst="rect">
            <a:avLst/>
          </a:prstGeom>
          <a:solidFill>
            <a:srgbClr val="274A69"/>
          </a:solidFill>
          <a:ln w="6350">
            <a:solidFill>
              <a:srgbClr val="274A69">
                <a:alpha val="92000"/>
              </a:srgbClr>
            </a:solidFill>
            <a:prstDash val="solid"/>
          </a:ln>
        </p:spPr>
      </p:sp>
      <p:sp>
        <p:nvSpPr>
          <p:cNvPr id="22" name="Text 20"/>
          <p:cNvSpPr/>
          <p:nvPr/>
        </p:nvSpPr>
        <p:spPr>
          <a:xfrm>
            <a:off x="3099816" y="1865376"/>
            <a:ext cx="1472184" cy="329184"/>
          </a:xfrm>
          <a:prstGeom prst="rect">
            <a:avLst/>
          </a:prstGeom>
          <a:noFill/>
          <a:ln/>
        </p:spPr>
        <p:txBody>
          <a:bodyPr wrap="square" lIns="0" tIns="0" rIns="0" bIns="0" rtlCol="0" anchor="ctr">
            <a:normAutofit/>
          </a:bodyPr>
          <a:lstStyle/>
          <a:p>
            <a:pPr indent="0" marL="0">
              <a:buNone/>
            </a:pPr>
            <a:r>
              <a:rPr lang="en-US" sz="1050" dirty="0">
                <a:solidFill>
                  <a:srgbClr val="1C1917"/>
                </a:solidFill>
                <a:latin typeface="Apple SD Gothic Neo" pitchFamily="34" charset="0"/>
                <a:ea typeface="Apple SD Gothic Neo" pitchFamily="34" charset="-122"/>
                <a:cs typeface="Apple SD Gothic Neo" pitchFamily="34" charset="-120"/>
              </a:rPr>
              <a:t>Storybook 운영</a:t>
            </a:r>
            <a:endParaRPr lang="en-US" sz="1050" dirty="0"/>
          </a:p>
        </p:txBody>
      </p:sp>
      <p:sp>
        <p:nvSpPr>
          <p:cNvPr id="23" name="Shape 21"/>
          <p:cNvSpPr/>
          <p:nvPr/>
        </p:nvSpPr>
        <p:spPr>
          <a:xfrm rot="2700000">
            <a:off x="2898648" y="2569464"/>
            <a:ext cx="82296" cy="82296"/>
          </a:xfrm>
          <a:prstGeom prst="rect">
            <a:avLst/>
          </a:prstGeom>
          <a:solidFill>
            <a:srgbClr val="274A69"/>
          </a:solidFill>
          <a:ln w="6350">
            <a:solidFill>
              <a:srgbClr val="274A69">
                <a:alpha val="92000"/>
              </a:srgbClr>
            </a:solidFill>
            <a:prstDash val="solid"/>
          </a:ln>
        </p:spPr>
      </p:sp>
      <p:sp>
        <p:nvSpPr>
          <p:cNvPr id="24" name="Text 22"/>
          <p:cNvSpPr/>
          <p:nvPr/>
        </p:nvSpPr>
        <p:spPr>
          <a:xfrm>
            <a:off x="3099816" y="2478024"/>
            <a:ext cx="1472184" cy="329184"/>
          </a:xfrm>
          <a:prstGeom prst="rect">
            <a:avLst/>
          </a:prstGeom>
          <a:noFill/>
          <a:ln/>
        </p:spPr>
        <p:txBody>
          <a:bodyPr wrap="square" lIns="0" tIns="0" rIns="0" bIns="0" rtlCol="0" anchor="ctr">
            <a:normAutofit/>
          </a:bodyPr>
          <a:lstStyle/>
          <a:p>
            <a:pPr indent="0" marL="0">
              <a:buNone/>
            </a:pPr>
            <a:r>
              <a:rPr lang="en-US" sz="1050" dirty="0">
                <a:solidFill>
                  <a:srgbClr val="1C1917"/>
                </a:solidFill>
                <a:latin typeface="Apple SD Gothic Neo" pitchFamily="34" charset="0"/>
                <a:ea typeface="Apple SD Gothic Neo" pitchFamily="34" charset="-122"/>
                <a:cs typeface="Apple SD Gothic Neo" pitchFamily="34" charset="-120"/>
              </a:rPr>
              <a:t>제품·기억 데이터 연결</a:t>
            </a:r>
            <a:endParaRPr lang="en-US" sz="1050" dirty="0"/>
          </a:p>
        </p:txBody>
      </p:sp>
      <p:sp>
        <p:nvSpPr>
          <p:cNvPr id="25" name="Shape 23"/>
          <p:cNvSpPr/>
          <p:nvPr/>
        </p:nvSpPr>
        <p:spPr>
          <a:xfrm rot="2700000">
            <a:off x="2898648" y="3182112"/>
            <a:ext cx="82296" cy="82296"/>
          </a:xfrm>
          <a:prstGeom prst="rect">
            <a:avLst/>
          </a:prstGeom>
          <a:solidFill>
            <a:srgbClr val="274A69"/>
          </a:solidFill>
          <a:ln w="6350">
            <a:solidFill>
              <a:srgbClr val="274A69">
                <a:alpha val="92000"/>
              </a:srgbClr>
            </a:solidFill>
            <a:prstDash val="solid"/>
          </a:ln>
        </p:spPr>
      </p:sp>
      <p:sp>
        <p:nvSpPr>
          <p:cNvPr id="26" name="Text 24"/>
          <p:cNvSpPr/>
          <p:nvPr/>
        </p:nvSpPr>
        <p:spPr>
          <a:xfrm>
            <a:off x="3099816" y="3090672"/>
            <a:ext cx="1472184" cy="329184"/>
          </a:xfrm>
          <a:prstGeom prst="rect">
            <a:avLst/>
          </a:prstGeom>
          <a:noFill/>
          <a:ln/>
        </p:spPr>
        <p:txBody>
          <a:bodyPr wrap="square" lIns="0" tIns="0" rIns="0" bIns="0" rtlCol="0" anchor="ctr">
            <a:normAutofit/>
          </a:bodyPr>
          <a:lstStyle/>
          <a:p>
            <a:pPr indent="0" marL="0">
              <a:buNone/>
            </a:pPr>
            <a:r>
              <a:rPr lang="en-US" sz="1050" dirty="0">
                <a:solidFill>
                  <a:srgbClr val="1C1917"/>
                </a:solidFill>
                <a:latin typeface="Apple SD Gothic Neo" pitchFamily="34" charset="0"/>
                <a:ea typeface="Apple SD Gothic Neo" pitchFamily="34" charset="-122"/>
                <a:cs typeface="Apple SD Gothic Neo" pitchFamily="34" charset="-120"/>
              </a:rPr>
              <a:t>Care Journey 설계</a:t>
            </a:r>
            <a:endParaRPr lang="en-US" sz="1050" dirty="0"/>
          </a:p>
        </p:txBody>
      </p:sp>
      <p:sp>
        <p:nvSpPr>
          <p:cNvPr id="27" name="Shape 25"/>
          <p:cNvSpPr/>
          <p:nvPr/>
        </p:nvSpPr>
        <p:spPr>
          <a:xfrm rot="2700000">
            <a:off x="2898648" y="3794760"/>
            <a:ext cx="82296" cy="82296"/>
          </a:xfrm>
          <a:prstGeom prst="rect">
            <a:avLst/>
          </a:prstGeom>
          <a:solidFill>
            <a:srgbClr val="274A69"/>
          </a:solidFill>
          <a:ln w="6350">
            <a:solidFill>
              <a:srgbClr val="274A69">
                <a:alpha val="92000"/>
              </a:srgbClr>
            </a:solidFill>
            <a:prstDash val="solid"/>
          </a:ln>
        </p:spPr>
      </p:sp>
      <p:sp>
        <p:nvSpPr>
          <p:cNvPr id="28" name="Text 26"/>
          <p:cNvSpPr/>
          <p:nvPr/>
        </p:nvSpPr>
        <p:spPr>
          <a:xfrm>
            <a:off x="3099816" y="3703320"/>
            <a:ext cx="1472184" cy="329184"/>
          </a:xfrm>
          <a:prstGeom prst="rect">
            <a:avLst/>
          </a:prstGeom>
          <a:noFill/>
          <a:ln/>
        </p:spPr>
        <p:txBody>
          <a:bodyPr wrap="square" lIns="0" tIns="0" rIns="0" bIns="0" rtlCol="0" anchor="ctr">
            <a:normAutofit/>
          </a:bodyPr>
          <a:lstStyle/>
          <a:p>
            <a:pPr indent="0" marL="0">
              <a:buNone/>
            </a:pPr>
            <a:r>
              <a:rPr lang="en-US" sz="1050" dirty="0">
                <a:solidFill>
                  <a:srgbClr val="1C1917"/>
                </a:solidFill>
                <a:latin typeface="Apple SD Gothic Neo" pitchFamily="34" charset="0"/>
                <a:ea typeface="Apple SD Gothic Neo" pitchFamily="34" charset="-122"/>
                <a:cs typeface="Apple SD Gothic Neo" pitchFamily="34" charset="-120"/>
              </a:rPr>
              <a:t>Recap 템플릿</a:t>
            </a:r>
            <a:endParaRPr lang="en-US" sz="1050" dirty="0"/>
          </a:p>
        </p:txBody>
      </p:sp>
      <p:sp>
        <p:nvSpPr>
          <p:cNvPr id="29" name="Shape 27"/>
          <p:cNvSpPr/>
          <p:nvPr/>
        </p:nvSpPr>
        <p:spPr>
          <a:xfrm>
            <a:off x="2880360" y="4416552"/>
            <a:ext cx="1728216" cy="0"/>
          </a:xfrm>
          <a:prstGeom prst="line">
            <a:avLst/>
          </a:prstGeom>
          <a:noFill/>
          <a:ln w="8890">
            <a:solidFill>
              <a:srgbClr val="D9E3EA"/>
            </a:solidFill>
            <a:prstDash val="solid"/>
          </a:ln>
        </p:spPr>
      </p:sp>
      <p:sp>
        <p:nvSpPr>
          <p:cNvPr id="30" name="Text 28"/>
          <p:cNvSpPr/>
          <p:nvPr/>
        </p:nvSpPr>
        <p:spPr>
          <a:xfrm>
            <a:off x="2880360" y="4572000"/>
            <a:ext cx="1728216" cy="164592"/>
          </a:xfrm>
          <a:prstGeom prst="rect">
            <a:avLst/>
          </a:prstGeom>
          <a:noFill/>
          <a:ln/>
        </p:spPr>
        <p:txBody>
          <a:bodyPr wrap="square" lIns="0" tIns="0" rIns="0" bIns="0" rtlCol="0" anchor="ctr">
            <a:normAutofit/>
          </a:bodyPr>
          <a:lstStyle/>
          <a:p>
            <a:pPr indent="0" marL="0">
              <a:buNone/>
            </a:pPr>
            <a:r>
              <a:rPr lang="en-US" sz="750" b="1" spc="110" kern="0" dirty="0">
                <a:solidFill>
                  <a:srgbClr val="274A69"/>
                </a:solidFill>
                <a:latin typeface="Apple SD Gothic Neo" pitchFamily="34" charset="0"/>
                <a:ea typeface="Apple SD Gothic Neo" pitchFamily="34" charset="-122"/>
                <a:cs typeface="Apple SD Gothic Neo" pitchFamily="34" charset="-120"/>
              </a:rPr>
              <a:t>KEY RESOURCES</a:t>
            </a:r>
            <a:endParaRPr lang="en-US" sz="750" dirty="0"/>
          </a:p>
        </p:txBody>
      </p:sp>
      <p:sp>
        <p:nvSpPr>
          <p:cNvPr id="31" name="Text 29"/>
          <p:cNvSpPr/>
          <p:nvPr/>
        </p:nvSpPr>
        <p:spPr>
          <a:xfrm>
            <a:off x="2880360" y="4800600"/>
            <a:ext cx="1728216" cy="219456"/>
          </a:xfrm>
          <a:prstGeom prst="rect">
            <a:avLst/>
          </a:prstGeom>
          <a:noFill/>
          <a:ln/>
        </p:spPr>
        <p:txBody>
          <a:bodyPr wrap="square" lIns="0" tIns="0" rIns="0" bIns="0" rtlCol="0" anchor="ctr">
            <a:normAutofit/>
          </a:bodyPr>
          <a:lstStyle/>
          <a:p>
            <a:pPr indent="0" marL="0">
              <a:buNone/>
            </a:pPr>
            <a:r>
              <a:rPr lang="en-US" sz="850" dirty="0">
                <a:solidFill>
                  <a:srgbClr val="77706A"/>
                </a:solidFill>
                <a:latin typeface="Apple SD Gothic Neo" pitchFamily="34" charset="0"/>
                <a:ea typeface="Apple SD Gothic Neo" pitchFamily="34" charset="-122"/>
                <a:cs typeface="Apple SD Gothic Neo" pitchFamily="34" charset="-120"/>
              </a:rPr>
              <a:t>제품 DB · QR/NFC · Story/Care 데이터</a:t>
            </a:r>
            <a:endParaRPr lang="en-US" sz="850" dirty="0"/>
          </a:p>
        </p:txBody>
      </p:sp>
      <p:sp>
        <p:nvSpPr>
          <p:cNvPr id="32" name="Text 30"/>
          <p:cNvSpPr/>
          <p:nvPr/>
        </p:nvSpPr>
        <p:spPr>
          <a:xfrm>
            <a:off x="5120640" y="1024128"/>
            <a:ext cx="1728216" cy="182880"/>
          </a:xfrm>
          <a:prstGeom prst="rect">
            <a:avLst/>
          </a:prstGeom>
          <a:noFill/>
          <a:ln/>
        </p:spPr>
        <p:txBody>
          <a:bodyPr wrap="square" lIns="0" tIns="0" rIns="0" bIns="0" rtlCol="0" anchor="ctr">
            <a:normAutofit/>
          </a:bodyPr>
          <a:lstStyle/>
          <a:p>
            <a:pPr indent="0" marL="0">
              <a:buNone/>
            </a:pPr>
            <a:r>
              <a:rPr lang="en-US" sz="750" b="1" spc="110" kern="0" dirty="0">
                <a:solidFill>
                  <a:srgbClr val="274A69"/>
                </a:solidFill>
                <a:latin typeface="Apple SD Gothic Neo" pitchFamily="34" charset="0"/>
                <a:ea typeface="Apple SD Gothic Neo" pitchFamily="34" charset="-122"/>
                <a:cs typeface="Apple SD Gothic Neo" pitchFamily="34" charset="-120"/>
              </a:rPr>
              <a:t>VALUE PROPOSITION</a:t>
            </a:r>
            <a:endParaRPr lang="en-US" sz="750" dirty="0"/>
          </a:p>
        </p:txBody>
      </p:sp>
      <p:sp>
        <p:nvSpPr>
          <p:cNvPr id="33" name="Text 31"/>
          <p:cNvSpPr/>
          <p:nvPr/>
        </p:nvSpPr>
        <p:spPr>
          <a:xfrm>
            <a:off x="5120640" y="1353312"/>
            <a:ext cx="1728216" cy="310896"/>
          </a:xfrm>
          <a:prstGeom prst="rect">
            <a:avLst/>
          </a:prstGeom>
          <a:noFill/>
          <a:ln/>
        </p:spPr>
        <p:txBody>
          <a:bodyPr wrap="square" lIns="0" tIns="0" rIns="0" bIns="0" rtlCol="0" anchor="ctr">
            <a:normAutofit/>
          </a:bodyPr>
          <a:lstStyle/>
          <a:p>
            <a:pPr indent="0" marL="0">
              <a:buNone/>
            </a:pPr>
            <a:r>
              <a:rPr lang="en-US" sz="1600" b="1" dirty="0">
                <a:solidFill>
                  <a:srgbClr val="8B5A2B"/>
                </a:solidFill>
                <a:latin typeface="Apple SD Gothic Neo" pitchFamily="34" charset="0"/>
                <a:ea typeface="Apple SD Gothic Neo" pitchFamily="34" charset="-122"/>
                <a:cs typeface="Apple SD Gothic Neo" pitchFamily="34" charset="-120"/>
              </a:rPr>
              <a:t>핵심 가치</a:t>
            </a:r>
            <a:endParaRPr lang="en-US" sz="1600" dirty="0"/>
          </a:p>
        </p:txBody>
      </p:sp>
      <p:sp>
        <p:nvSpPr>
          <p:cNvPr id="34" name="Shape 32"/>
          <p:cNvSpPr/>
          <p:nvPr/>
        </p:nvSpPr>
        <p:spPr>
          <a:xfrm rot="2700000">
            <a:off x="5138928" y="1956816"/>
            <a:ext cx="82296" cy="82296"/>
          </a:xfrm>
          <a:prstGeom prst="rect">
            <a:avLst/>
          </a:prstGeom>
          <a:solidFill>
            <a:srgbClr val="8B5A2B"/>
          </a:solidFill>
          <a:ln w="6350">
            <a:solidFill>
              <a:srgbClr val="8B5A2B">
                <a:alpha val="92000"/>
              </a:srgbClr>
            </a:solidFill>
            <a:prstDash val="solid"/>
          </a:ln>
        </p:spPr>
      </p:sp>
      <p:sp>
        <p:nvSpPr>
          <p:cNvPr id="35" name="Text 33"/>
          <p:cNvSpPr/>
          <p:nvPr/>
        </p:nvSpPr>
        <p:spPr>
          <a:xfrm>
            <a:off x="5340096" y="1865376"/>
            <a:ext cx="1472184" cy="329184"/>
          </a:xfrm>
          <a:prstGeom prst="rect">
            <a:avLst/>
          </a:prstGeom>
          <a:noFill/>
          <a:ln/>
        </p:spPr>
        <p:txBody>
          <a:bodyPr wrap="square" lIns="0" tIns="0" rIns="0" bIns="0" rtlCol="0" anchor="ctr">
            <a:normAutofit/>
          </a:bodyPr>
          <a:lstStyle/>
          <a:p>
            <a:pPr indent="0" marL="0">
              <a:buNone/>
            </a:pPr>
            <a:r>
              <a:rPr lang="en-US" sz="1250" b="1" dirty="0">
                <a:solidFill>
                  <a:srgbClr val="1C1917"/>
                </a:solidFill>
                <a:latin typeface="Apple SD Gothic Neo" pitchFamily="34" charset="0"/>
                <a:ea typeface="Apple SD Gothic Neo" pitchFamily="34" charset="-122"/>
                <a:cs typeface="Apple SD Gothic Neo" pitchFamily="34" charset="-120"/>
              </a:rPr>
              <a:t>제품의 이력보다</a:t>
            </a:r>
            <a:endParaRPr lang="en-US" sz="1250" dirty="0"/>
          </a:p>
        </p:txBody>
      </p:sp>
      <p:sp>
        <p:nvSpPr>
          <p:cNvPr id="36" name="Shape 34"/>
          <p:cNvSpPr/>
          <p:nvPr/>
        </p:nvSpPr>
        <p:spPr>
          <a:xfrm rot="2700000">
            <a:off x="5138928" y="2569464"/>
            <a:ext cx="82296" cy="82296"/>
          </a:xfrm>
          <a:prstGeom prst="rect">
            <a:avLst/>
          </a:prstGeom>
          <a:solidFill>
            <a:srgbClr val="8B5A2B"/>
          </a:solidFill>
          <a:ln w="6350">
            <a:solidFill>
              <a:srgbClr val="8B5A2B">
                <a:alpha val="92000"/>
              </a:srgbClr>
            </a:solidFill>
            <a:prstDash val="solid"/>
          </a:ln>
        </p:spPr>
      </p:sp>
      <p:sp>
        <p:nvSpPr>
          <p:cNvPr id="37" name="Text 35"/>
          <p:cNvSpPr/>
          <p:nvPr/>
        </p:nvSpPr>
        <p:spPr>
          <a:xfrm>
            <a:off x="5340096" y="2478024"/>
            <a:ext cx="1472184" cy="329184"/>
          </a:xfrm>
          <a:prstGeom prst="rect">
            <a:avLst/>
          </a:prstGeom>
          <a:noFill/>
          <a:ln/>
        </p:spPr>
        <p:txBody>
          <a:bodyPr wrap="square" lIns="0" tIns="0" rIns="0" bIns="0" rtlCol="0" anchor="ctr">
            <a:normAutofit/>
          </a:bodyPr>
          <a:lstStyle/>
          <a:p>
            <a:pPr indent="0" marL="0">
              <a:buNone/>
            </a:pPr>
            <a:r>
              <a:rPr lang="en-US" sz="1250" b="1" dirty="0">
                <a:solidFill>
                  <a:srgbClr val="1C1917"/>
                </a:solidFill>
                <a:latin typeface="Apple SD Gothic Neo" pitchFamily="34" charset="0"/>
                <a:ea typeface="Apple SD Gothic Neo" pitchFamily="34" charset="-122"/>
                <a:cs typeface="Apple SD Gothic Neo" pitchFamily="34" charset="-120"/>
              </a:rPr>
              <a:t>함께한 삶까지 기록</a:t>
            </a:r>
            <a:endParaRPr lang="en-US" sz="1250" dirty="0"/>
          </a:p>
        </p:txBody>
      </p:sp>
      <p:sp>
        <p:nvSpPr>
          <p:cNvPr id="38" name="Shape 36"/>
          <p:cNvSpPr/>
          <p:nvPr/>
        </p:nvSpPr>
        <p:spPr>
          <a:xfrm rot="2700000">
            <a:off x="5138928" y="3182112"/>
            <a:ext cx="82296" cy="82296"/>
          </a:xfrm>
          <a:prstGeom prst="rect">
            <a:avLst/>
          </a:prstGeom>
          <a:solidFill>
            <a:srgbClr val="8B5A2B"/>
          </a:solidFill>
          <a:ln w="6350">
            <a:solidFill>
              <a:srgbClr val="8B5A2B">
                <a:alpha val="92000"/>
              </a:srgbClr>
            </a:solidFill>
            <a:prstDash val="solid"/>
          </a:ln>
        </p:spPr>
      </p:sp>
      <p:sp>
        <p:nvSpPr>
          <p:cNvPr id="39" name="Text 37"/>
          <p:cNvSpPr/>
          <p:nvPr/>
        </p:nvSpPr>
        <p:spPr>
          <a:xfrm>
            <a:off x="5340096" y="3090672"/>
            <a:ext cx="1472184" cy="329184"/>
          </a:xfrm>
          <a:prstGeom prst="rect">
            <a:avLst/>
          </a:prstGeom>
          <a:noFill/>
          <a:ln/>
        </p:spPr>
        <p:txBody>
          <a:bodyPr wrap="square" lIns="0" tIns="0" rIns="0" bIns="0" rtlCol="0" anchor="ctr">
            <a:normAutofit/>
          </a:bodyPr>
          <a:lstStyle/>
          <a:p>
            <a:pPr indent="0" marL="0">
              <a:buNone/>
            </a:pPr>
            <a:r>
              <a:rPr lang="en-US" sz="1050" dirty="0">
                <a:solidFill>
                  <a:srgbClr val="1C1917"/>
                </a:solidFill>
                <a:latin typeface="Apple SD Gothic Neo" pitchFamily="34" charset="0"/>
                <a:ea typeface="Apple SD Gothic Neo" pitchFamily="34" charset="-122"/>
                <a:cs typeface="Apple SD Gothic Neo" pitchFamily="34" charset="-120"/>
              </a:rPr>
              <a:t>DPP + Memory Graph</a:t>
            </a:r>
            <a:endParaRPr lang="en-US" sz="1050" dirty="0"/>
          </a:p>
        </p:txBody>
      </p:sp>
      <p:sp>
        <p:nvSpPr>
          <p:cNvPr id="40" name="Shape 38"/>
          <p:cNvSpPr/>
          <p:nvPr/>
        </p:nvSpPr>
        <p:spPr>
          <a:xfrm rot="2700000">
            <a:off x="5138928" y="3794760"/>
            <a:ext cx="82296" cy="82296"/>
          </a:xfrm>
          <a:prstGeom prst="rect">
            <a:avLst/>
          </a:prstGeom>
          <a:solidFill>
            <a:srgbClr val="8B5A2B"/>
          </a:solidFill>
          <a:ln w="6350">
            <a:solidFill>
              <a:srgbClr val="8B5A2B">
                <a:alpha val="92000"/>
              </a:srgbClr>
            </a:solidFill>
            <a:prstDash val="solid"/>
          </a:ln>
        </p:spPr>
      </p:sp>
      <p:sp>
        <p:nvSpPr>
          <p:cNvPr id="41" name="Text 39"/>
          <p:cNvSpPr/>
          <p:nvPr/>
        </p:nvSpPr>
        <p:spPr>
          <a:xfrm>
            <a:off x="5340096" y="3703320"/>
            <a:ext cx="1472184" cy="329184"/>
          </a:xfrm>
          <a:prstGeom prst="rect">
            <a:avLst/>
          </a:prstGeom>
          <a:noFill/>
          <a:ln/>
        </p:spPr>
        <p:txBody>
          <a:bodyPr wrap="square" lIns="0" tIns="0" rIns="0" bIns="0" rtlCol="0" anchor="ctr">
            <a:normAutofit/>
          </a:bodyPr>
          <a:lstStyle/>
          <a:p>
            <a:pPr indent="0" marL="0">
              <a:buNone/>
            </a:pPr>
            <a:r>
              <a:rPr lang="en-US" sz="1050" dirty="0">
                <a:solidFill>
                  <a:srgbClr val="1C1917"/>
                </a:solidFill>
                <a:latin typeface="Apple SD Gothic Neo" pitchFamily="34" charset="0"/>
                <a:ea typeface="Apple SD Gothic Neo" pitchFamily="34" charset="-122"/>
                <a:cs typeface="Apple SD Gothic Neo" pitchFamily="34" charset="-120"/>
              </a:rPr>
              <a:t>관계·수명·재방문 확장</a:t>
            </a:r>
            <a:endParaRPr lang="en-US" sz="1050" dirty="0"/>
          </a:p>
        </p:txBody>
      </p:sp>
      <p:sp>
        <p:nvSpPr>
          <p:cNvPr id="42" name="Shape 40"/>
          <p:cNvSpPr/>
          <p:nvPr/>
        </p:nvSpPr>
        <p:spPr>
          <a:xfrm>
            <a:off x="5120640" y="4315968"/>
            <a:ext cx="1728216" cy="566928"/>
          </a:xfrm>
          <a:prstGeom prst="roundRect">
            <a:avLst>
              <a:gd name="adj" fmla="val 22581"/>
            </a:avLst>
          </a:prstGeom>
          <a:solidFill>
            <a:srgbClr val="EEF3F7"/>
          </a:solidFill>
          <a:ln w="10160">
            <a:solidFill>
              <a:srgbClr val="D0DDE7"/>
            </a:solidFill>
            <a:prstDash val="solid"/>
          </a:ln>
        </p:spPr>
      </p:sp>
      <p:sp>
        <p:nvSpPr>
          <p:cNvPr id="43" name="Text 41"/>
          <p:cNvSpPr/>
          <p:nvPr/>
        </p:nvSpPr>
        <p:spPr>
          <a:xfrm>
            <a:off x="5230368" y="4407408"/>
            <a:ext cx="1508760" cy="146304"/>
          </a:xfrm>
          <a:prstGeom prst="rect">
            <a:avLst/>
          </a:prstGeom>
          <a:noFill/>
          <a:ln/>
        </p:spPr>
        <p:txBody>
          <a:bodyPr wrap="square" lIns="0" tIns="0" rIns="0" bIns="0" rtlCol="0" anchor="ctr">
            <a:normAutofit/>
          </a:bodyPr>
          <a:lstStyle/>
          <a:p>
            <a:pPr indent="0" marL="0">
              <a:buNone/>
            </a:pPr>
            <a:r>
              <a:rPr lang="en-US" sz="700" b="1" spc="100" kern="0" dirty="0">
                <a:solidFill>
                  <a:srgbClr val="274A69"/>
                </a:solidFill>
                <a:latin typeface="Apple SD Gothic Neo" pitchFamily="34" charset="0"/>
                <a:ea typeface="Apple SD Gothic Neo" pitchFamily="34" charset="-122"/>
                <a:cs typeface="Apple SD Gothic Neo" pitchFamily="34" charset="-120"/>
              </a:rPr>
              <a:t>UNFAIR ADVANTAGE</a:t>
            </a:r>
            <a:endParaRPr lang="en-US" sz="700" dirty="0"/>
          </a:p>
        </p:txBody>
      </p:sp>
      <p:sp>
        <p:nvSpPr>
          <p:cNvPr id="44" name="Text 42"/>
          <p:cNvSpPr/>
          <p:nvPr/>
        </p:nvSpPr>
        <p:spPr>
          <a:xfrm>
            <a:off x="5230368" y="4636008"/>
            <a:ext cx="1508760" cy="182880"/>
          </a:xfrm>
          <a:prstGeom prst="rect">
            <a:avLst/>
          </a:prstGeom>
          <a:noFill/>
          <a:ln/>
        </p:spPr>
        <p:txBody>
          <a:bodyPr wrap="square" lIns="0" tIns="0" rIns="0" bIns="0" rtlCol="0" anchor="ctr">
            <a:normAutofit/>
          </a:bodyPr>
          <a:lstStyle/>
          <a:p>
            <a:pPr indent="0" marL="0">
              <a:buNone/>
            </a:pPr>
            <a:r>
              <a:rPr lang="en-US" sz="950" b="1" dirty="0">
                <a:solidFill>
                  <a:srgbClr val="8B5A2B"/>
                </a:solidFill>
                <a:latin typeface="Apple SD Gothic Neo" pitchFamily="34" charset="0"/>
                <a:ea typeface="Apple SD Gothic Neo" pitchFamily="34" charset="-122"/>
                <a:cs typeface="Apple SD Gothic Neo" pitchFamily="34" charset="-120"/>
              </a:rPr>
              <a:t>제품 생애주기 통합</a:t>
            </a:r>
            <a:endParaRPr lang="en-US" sz="950" dirty="0"/>
          </a:p>
        </p:txBody>
      </p:sp>
      <p:sp>
        <p:nvSpPr>
          <p:cNvPr id="45" name="Text 43"/>
          <p:cNvSpPr/>
          <p:nvPr/>
        </p:nvSpPr>
        <p:spPr>
          <a:xfrm>
            <a:off x="7360920" y="1024128"/>
            <a:ext cx="1728216" cy="182880"/>
          </a:xfrm>
          <a:prstGeom prst="rect">
            <a:avLst/>
          </a:prstGeom>
          <a:noFill/>
          <a:ln/>
        </p:spPr>
        <p:txBody>
          <a:bodyPr wrap="square" lIns="0" tIns="0" rIns="0" bIns="0" rtlCol="0" anchor="ctr">
            <a:normAutofit/>
          </a:bodyPr>
          <a:lstStyle/>
          <a:p>
            <a:pPr indent="0" marL="0">
              <a:buNone/>
            </a:pPr>
            <a:r>
              <a:rPr lang="en-US" sz="750" b="1" spc="110" kern="0" dirty="0">
                <a:solidFill>
                  <a:srgbClr val="274A69"/>
                </a:solidFill>
                <a:latin typeface="Apple SD Gothic Neo" pitchFamily="34" charset="0"/>
                <a:ea typeface="Apple SD Gothic Neo" pitchFamily="34" charset="-122"/>
                <a:cs typeface="Apple SD Gothic Neo" pitchFamily="34" charset="-120"/>
              </a:rPr>
              <a:t>RELATIONSHIP / CHANNELS</a:t>
            </a:r>
            <a:endParaRPr lang="en-US" sz="750" dirty="0"/>
          </a:p>
        </p:txBody>
      </p:sp>
      <p:sp>
        <p:nvSpPr>
          <p:cNvPr id="46" name="Text 44"/>
          <p:cNvSpPr/>
          <p:nvPr/>
        </p:nvSpPr>
        <p:spPr>
          <a:xfrm>
            <a:off x="7360920" y="1353312"/>
            <a:ext cx="1728216" cy="310896"/>
          </a:xfrm>
          <a:prstGeom prst="rect">
            <a:avLst/>
          </a:prstGeom>
          <a:noFill/>
          <a:ln/>
        </p:spPr>
        <p:txBody>
          <a:bodyPr wrap="square" lIns="0" tIns="0" rIns="0" bIns="0" rtlCol="0" anchor="ctr">
            <a:normAutofit/>
          </a:bodyPr>
          <a:lstStyle/>
          <a:p>
            <a:pPr indent="0" marL="0">
              <a:buNone/>
            </a:pPr>
            <a:r>
              <a:rPr lang="en-US" sz="1600" b="1" dirty="0">
                <a:solidFill>
                  <a:srgbClr val="17324D"/>
                </a:solidFill>
                <a:latin typeface="Apple SD Gothic Neo" pitchFamily="34" charset="0"/>
                <a:ea typeface="Apple SD Gothic Neo" pitchFamily="34" charset="-122"/>
                <a:cs typeface="Apple SD Gothic Neo" pitchFamily="34" charset="-120"/>
              </a:rPr>
              <a:t>관계·채널</a:t>
            </a:r>
            <a:endParaRPr lang="en-US" sz="1600" dirty="0"/>
          </a:p>
        </p:txBody>
      </p:sp>
      <p:sp>
        <p:nvSpPr>
          <p:cNvPr id="47" name="Shape 45"/>
          <p:cNvSpPr/>
          <p:nvPr/>
        </p:nvSpPr>
        <p:spPr>
          <a:xfrm rot="2700000">
            <a:off x="7379208" y="1956816"/>
            <a:ext cx="82296" cy="82296"/>
          </a:xfrm>
          <a:prstGeom prst="rect">
            <a:avLst/>
          </a:prstGeom>
          <a:solidFill>
            <a:srgbClr val="274A69"/>
          </a:solidFill>
          <a:ln w="6350">
            <a:solidFill>
              <a:srgbClr val="274A69">
                <a:alpha val="92000"/>
              </a:srgbClr>
            </a:solidFill>
            <a:prstDash val="solid"/>
          </a:ln>
        </p:spPr>
      </p:sp>
      <p:sp>
        <p:nvSpPr>
          <p:cNvPr id="48" name="Text 46"/>
          <p:cNvSpPr/>
          <p:nvPr/>
        </p:nvSpPr>
        <p:spPr>
          <a:xfrm>
            <a:off x="7580376" y="1865376"/>
            <a:ext cx="1472184" cy="329184"/>
          </a:xfrm>
          <a:prstGeom prst="rect">
            <a:avLst/>
          </a:prstGeom>
          <a:noFill/>
          <a:ln/>
        </p:spPr>
        <p:txBody>
          <a:bodyPr wrap="square" lIns="0" tIns="0" rIns="0" bIns="0" rtlCol="0" anchor="ctr">
            <a:normAutofit/>
          </a:bodyPr>
          <a:lstStyle/>
          <a:p>
            <a:pPr indent="0" marL="0">
              <a:buNone/>
            </a:pPr>
            <a:r>
              <a:rPr lang="en-US" sz="1050" dirty="0">
                <a:solidFill>
                  <a:srgbClr val="1C1917"/>
                </a:solidFill>
                <a:latin typeface="Apple SD Gothic Neo" pitchFamily="34" charset="0"/>
                <a:ea typeface="Apple SD Gothic Neo" pitchFamily="34" charset="-122"/>
                <a:cs typeface="Apple SD Gothic Neo" pitchFamily="34" charset="-120"/>
              </a:rPr>
              <a:t>매장 활성화</a:t>
            </a:r>
            <a:endParaRPr lang="en-US" sz="1050" dirty="0"/>
          </a:p>
        </p:txBody>
      </p:sp>
      <p:sp>
        <p:nvSpPr>
          <p:cNvPr id="49" name="Shape 47"/>
          <p:cNvSpPr/>
          <p:nvPr/>
        </p:nvSpPr>
        <p:spPr>
          <a:xfrm rot="2700000">
            <a:off x="7379208" y="2569464"/>
            <a:ext cx="82296" cy="82296"/>
          </a:xfrm>
          <a:prstGeom prst="rect">
            <a:avLst/>
          </a:prstGeom>
          <a:solidFill>
            <a:srgbClr val="274A69"/>
          </a:solidFill>
          <a:ln w="6350">
            <a:solidFill>
              <a:srgbClr val="274A69">
                <a:alpha val="92000"/>
              </a:srgbClr>
            </a:solidFill>
            <a:prstDash val="solid"/>
          </a:ln>
        </p:spPr>
      </p:sp>
      <p:sp>
        <p:nvSpPr>
          <p:cNvPr id="50" name="Text 48"/>
          <p:cNvSpPr/>
          <p:nvPr/>
        </p:nvSpPr>
        <p:spPr>
          <a:xfrm>
            <a:off x="7580376" y="2478024"/>
            <a:ext cx="1472184" cy="329184"/>
          </a:xfrm>
          <a:prstGeom prst="rect">
            <a:avLst/>
          </a:prstGeom>
          <a:noFill/>
          <a:ln/>
        </p:spPr>
        <p:txBody>
          <a:bodyPr wrap="square" lIns="0" tIns="0" rIns="0" bIns="0" rtlCol="0" anchor="ctr">
            <a:normAutofit/>
          </a:bodyPr>
          <a:lstStyle/>
          <a:p>
            <a:pPr indent="0" marL="0">
              <a:buNone/>
            </a:pPr>
            <a:r>
              <a:rPr lang="en-US" sz="1050" dirty="0">
                <a:solidFill>
                  <a:srgbClr val="1C1917"/>
                </a:solidFill>
                <a:latin typeface="Apple SD Gothic Neo" pitchFamily="34" charset="0"/>
                <a:ea typeface="Apple SD Gothic Neo" pitchFamily="34" charset="-122"/>
                <a:cs typeface="Apple SD Gothic Neo" pitchFamily="34" charset="-120"/>
              </a:rPr>
              <a:t>QR·NFC 제품 접점</a:t>
            </a:r>
            <a:endParaRPr lang="en-US" sz="1050" dirty="0"/>
          </a:p>
        </p:txBody>
      </p:sp>
      <p:sp>
        <p:nvSpPr>
          <p:cNvPr id="51" name="Shape 49"/>
          <p:cNvSpPr/>
          <p:nvPr/>
        </p:nvSpPr>
        <p:spPr>
          <a:xfrm rot="2700000">
            <a:off x="7379208" y="3182112"/>
            <a:ext cx="82296" cy="82296"/>
          </a:xfrm>
          <a:prstGeom prst="rect">
            <a:avLst/>
          </a:prstGeom>
          <a:solidFill>
            <a:srgbClr val="274A69"/>
          </a:solidFill>
          <a:ln w="6350">
            <a:solidFill>
              <a:srgbClr val="274A69">
                <a:alpha val="92000"/>
              </a:srgbClr>
            </a:solidFill>
            <a:prstDash val="solid"/>
          </a:ln>
        </p:spPr>
      </p:sp>
      <p:sp>
        <p:nvSpPr>
          <p:cNvPr id="52" name="Text 50"/>
          <p:cNvSpPr/>
          <p:nvPr/>
        </p:nvSpPr>
        <p:spPr>
          <a:xfrm>
            <a:off x="7580376" y="3090672"/>
            <a:ext cx="1472184" cy="329184"/>
          </a:xfrm>
          <a:prstGeom prst="rect">
            <a:avLst/>
          </a:prstGeom>
          <a:noFill/>
          <a:ln/>
        </p:spPr>
        <p:txBody>
          <a:bodyPr wrap="square" lIns="0" tIns="0" rIns="0" bIns="0" rtlCol="0" anchor="ctr">
            <a:normAutofit/>
          </a:bodyPr>
          <a:lstStyle/>
          <a:p>
            <a:pPr indent="0" marL="0">
              <a:buNone/>
            </a:pPr>
            <a:r>
              <a:rPr lang="en-US" sz="1050" dirty="0">
                <a:solidFill>
                  <a:srgbClr val="1C1917"/>
                </a:solidFill>
                <a:latin typeface="Apple SD Gothic Neo" pitchFamily="34" charset="0"/>
                <a:ea typeface="Apple SD Gothic Neo" pitchFamily="34" charset="-122"/>
                <a:cs typeface="Apple SD Gothic Neo" pitchFamily="34" charset="-120"/>
              </a:rPr>
              <a:t>공식 웹·구매 메일</a:t>
            </a:r>
            <a:endParaRPr lang="en-US" sz="1050" dirty="0"/>
          </a:p>
        </p:txBody>
      </p:sp>
      <p:sp>
        <p:nvSpPr>
          <p:cNvPr id="53" name="Shape 51"/>
          <p:cNvSpPr/>
          <p:nvPr/>
        </p:nvSpPr>
        <p:spPr>
          <a:xfrm rot="2700000">
            <a:off x="7379208" y="3794760"/>
            <a:ext cx="82296" cy="82296"/>
          </a:xfrm>
          <a:prstGeom prst="rect">
            <a:avLst/>
          </a:prstGeom>
          <a:solidFill>
            <a:srgbClr val="274A69"/>
          </a:solidFill>
          <a:ln w="6350">
            <a:solidFill>
              <a:srgbClr val="274A69">
                <a:alpha val="92000"/>
              </a:srgbClr>
            </a:solidFill>
            <a:prstDash val="solid"/>
          </a:ln>
        </p:spPr>
      </p:sp>
      <p:sp>
        <p:nvSpPr>
          <p:cNvPr id="54" name="Text 52"/>
          <p:cNvSpPr/>
          <p:nvPr/>
        </p:nvSpPr>
        <p:spPr>
          <a:xfrm>
            <a:off x="7580376" y="3703320"/>
            <a:ext cx="1472184" cy="329184"/>
          </a:xfrm>
          <a:prstGeom prst="rect">
            <a:avLst/>
          </a:prstGeom>
          <a:noFill/>
          <a:ln/>
        </p:spPr>
        <p:txBody>
          <a:bodyPr wrap="square" lIns="0" tIns="0" rIns="0" bIns="0" rtlCol="0" anchor="ctr">
            <a:normAutofit/>
          </a:bodyPr>
          <a:lstStyle/>
          <a:p>
            <a:pPr indent="0" marL="0">
              <a:buNone/>
            </a:pPr>
            <a:r>
              <a:rPr lang="en-US" sz="1050" dirty="0">
                <a:solidFill>
                  <a:srgbClr val="1C1917"/>
                </a:solidFill>
                <a:latin typeface="Apple SD Gothic Neo" pitchFamily="34" charset="0"/>
                <a:ea typeface="Apple SD Gothic Neo" pitchFamily="34" charset="-122"/>
                <a:cs typeface="Apple SD Gothic Neo" pitchFamily="34" charset="-120"/>
              </a:rPr>
              <a:t>Care·SNS 재유입</a:t>
            </a:r>
            <a:endParaRPr lang="en-US" sz="1050" dirty="0"/>
          </a:p>
        </p:txBody>
      </p:sp>
      <p:sp>
        <p:nvSpPr>
          <p:cNvPr id="55" name="Text 53"/>
          <p:cNvSpPr/>
          <p:nvPr/>
        </p:nvSpPr>
        <p:spPr>
          <a:xfrm>
            <a:off x="9601200" y="1024128"/>
            <a:ext cx="1728216" cy="182880"/>
          </a:xfrm>
          <a:prstGeom prst="rect">
            <a:avLst/>
          </a:prstGeom>
          <a:noFill/>
          <a:ln/>
        </p:spPr>
        <p:txBody>
          <a:bodyPr wrap="square" lIns="0" tIns="0" rIns="0" bIns="0" rtlCol="0" anchor="ctr">
            <a:normAutofit/>
          </a:bodyPr>
          <a:lstStyle/>
          <a:p>
            <a:pPr indent="0" marL="0">
              <a:buNone/>
            </a:pPr>
            <a:r>
              <a:rPr lang="en-US" sz="750" b="1" spc="110" kern="0" dirty="0">
                <a:solidFill>
                  <a:srgbClr val="274A69"/>
                </a:solidFill>
                <a:latin typeface="Apple SD Gothic Neo" pitchFamily="34" charset="0"/>
                <a:ea typeface="Apple SD Gothic Neo" pitchFamily="34" charset="-122"/>
                <a:cs typeface="Apple SD Gothic Neo" pitchFamily="34" charset="-120"/>
              </a:rPr>
              <a:t>CUSTOMER SEGMENTS</a:t>
            </a:r>
            <a:endParaRPr lang="en-US" sz="750" dirty="0"/>
          </a:p>
        </p:txBody>
      </p:sp>
      <p:sp>
        <p:nvSpPr>
          <p:cNvPr id="56" name="Text 54"/>
          <p:cNvSpPr/>
          <p:nvPr/>
        </p:nvSpPr>
        <p:spPr>
          <a:xfrm>
            <a:off x="9601200" y="1353312"/>
            <a:ext cx="1728216" cy="310896"/>
          </a:xfrm>
          <a:prstGeom prst="rect">
            <a:avLst/>
          </a:prstGeom>
          <a:noFill/>
          <a:ln/>
        </p:spPr>
        <p:txBody>
          <a:bodyPr wrap="square" lIns="0" tIns="0" rIns="0" bIns="0" rtlCol="0" anchor="ctr">
            <a:normAutofit/>
          </a:bodyPr>
          <a:lstStyle/>
          <a:p>
            <a:pPr indent="0" marL="0">
              <a:buNone/>
            </a:pPr>
            <a:r>
              <a:rPr lang="en-US" sz="1600" b="1" dirty="0">
                <a:solidFill>
                  <a:srgbClr val="17324D"/>
                </a:solidFill>
                <a:latin typeface="Apple SD Gothic Neo" pitchFamily="34" charset="0"/>
                <a:ea typeface="Apple SD Gothic Neo" pitchFamily="34" charset="-122"/>
                <a:cs typeface="Apple SD Gothic Neo" pitchFamily="34" charset="-120"/>
              </a:rPr>
              <a:t>고객</a:t>
            </a:r>
            <a:endParaRPr lang="en-US" sz="1600" dirty="0"/>
          </a:p>
        </p:txBody>
      </p:sp>
      <p:sp>
        <p:nvSpPr>
          <p:cNvPr id="57" name="Shape 55"/>
          <p:cNvSpPr/>
          <p:nvPr/>
        </p:nvSpPr>
        <p:spPr>
          <a:xfrm rot="2700000">
            <a:off x="9619488" y="1956816"/>
            <a:ext cx="82296" cy="82296"/>
          </a:xfrm>
          <a:prstGeom prst="rect">
            <a:avLst/>
          </a:prstGeom>
          <a:solidFill>
            <a:srgbClr val="274A69"/>
          </a:solidFill>
          <a:ln w="6350">
            <a:solidFill>
              <a:srgbClr val="274A69">
                <a:alpha val="92000"/>
              </a:srgbClr>
            </a:solidFill>
            <a:prstDash val="solid"/>
          </a:ln>
        </p:spPr>
      </p:sp>
      <p:sp>
        <p:nvSpPr>
          <p:cNvPr id="58" name="Text 56"/>
          <p:cNvSpPr/>
          <p:nvPr/>
        </p:nvSpPr>
        <p:spPr>
          <a:xfrm>
            <a:off x="9820656" y="1865376"/>
            <a:ext cx="1472184" cy="329184"/>
          </a:xfrm>
          <a:prstGeom prst="rect">
            <a:avLst/>
          </a:prstGeom>
          <a:noFill/>
          <a:ln/>
        </p:spPr>
        <p:txBody>
          <a:bodyPr wrap="square" lIns="0" tIns="0" rIns="0" bIns="0" rtlCol="0" anchor="ctr">
            <a:normAutofit/>
          </a:bodyPr>
          <a:lstStyle/>
          <a:p>
            <a:pPr indent="0" marL="0">
              <a:buNone/>
            </a:pPr>
            <a:r>
              <a:rPr lang="en-US" sz="1050" dirty="0">
                <a:solidFill>
                  <a:srgbClr val="1C1917"/>
                </a:solidFill>
                <a:latin typeface="Apple SD Gothic Neo" pitchFamily="34" charset="0"/>
                <a:ea typeface="Apple SD Gothic Neo" pitchFamily="34" charset="-122"/>
                <a:cs typeface="Apple SD Gothic Neo" pitchFamily="34" charset="-120"/>
              </a:rPr>
              <a:t>25-35 경험 소비자</a:t>
            </a:r>
            <a:endParaRPr lang="en-US" sz="1050" dirty="0"/>
          </a:p>
        </p:txBody>
      </p:sp>
      <p:sp>
        <p:nvSpPr>
          <p:cNvPr id="59" name="Shape 57"/>
          <p:cNvSpPr/>
          <p:nvPr/>
        </p:nvSpPr>
        <p:spPr>
          <a:xfrm rot="2700000">
            <a:off x="9619488" y="2569464"/>
            <a:ext cx="82296" cy="82296"/>
          </a:xfrm>
          <a:prstGeom prst="rect">
            <a:avLst/>
          </a:prstGeom>
          <a:solidFill>
            <a:srgbClr val="274A69"/>
          </a:solidFill>
          <a:ln w="6350">
            <a:solidFill>
              <a:srgbClr val="274A69">
                <a:alpha val="92000"/>
              </a:srgbClr>
            </a:solidFill>
            <a:prstDash val="solid"/>
          </a:ln>
        </p:spPr>
      </p:sp>
      <p:sp>
        <p:nvSpPr>
          <p:cNvPr id="60" name="Text 58"/>
          <p:cNvSpPr/>
          <p:nvPr/>
        </p:nvSpPr>
        <p:spPr>
          <a:xfrm>
            <a:off x="9820656" y="2478024"/>
            <a:ext cx="1472184" cy="329184"/>
          </a:xfrm>
          <a:prstGeom prst="rect">
            <a:avLst/>
          </a:prstGeom>
          <a:noFill/>
          <a:ln/>
        </p:spPr>
        <p:txBody>
          <a:bodyPr wrap="square" lIns="0" tIns="0" rIns="0" bIns="0" rtlCol="0" anchor="ctr">
            <a:normAutofit/>
          </a:bodyPr>
          <a:lstStyle/>
          <a:p>
            <a:pPr indent="0" marL="0">
              <a:buNone/>
            </a:pPr>
            <a:r>
              <a:rPr lang="en-US" sz="1050" dirty="0">
                <a:solidFill>
                  <a:srgbClr val="1C1917"/>
                </a:solidFill>
                <a:latin typeface="Apple SD Gothic Neo" pitchFamily="34" charset="0"/>
                <a:ea typeface="Apple SD Gothic Neo" pitchFamily="34" charset="-122"/>
                <a:cs typeface="Apple SD Gothic Neo" pitchFamily="34" charset="-120"/>
              </a:rPr>
              <a:t>컬렉터·Early Adopter</a:t>
            </a:r>
            <a:endParaRPr lang="en-US" sz="1050" dirty="0"/>
          </a:p>
        </p:txBody>
      </p:sp>
      <p:sp>
        <p:nvSpPr>
          <p:cNvPr id="61" name="Shape 59"/>
          <p:cNvSpPr/>
          <p:nvPr/>
        </p:nvSpPr>
        <p:spPr>
          <a:xfrm rot="2700000">
            <a:off x="9619488" y="3182112"/>
            <a:ext cx="82296" cy="82296"/>
          </a:xfrm>
          <a:prstGeom prst="rect">
            <a:avLst/>
          </a:prstGeom>
          <a:solidFill>
            <a:srgbClr val="274A69"/>
          </a:solidFill>
          <a:ln w="6350">
            <a:solidFill>
              <a:srgbClr val="274A69">
                <a:alpha val="92000"/>
              </a:srgbClr>
            </a:solidFill>
            <a:prstDash val="solid"/>
          </a:ln>
        </p:spPr>
      </p:sp>
      <p:sp>
        <p:nvSpPr>
          <p:cNvPr id="62" name="Text 60"/>
          <p:cNvSpPr/>
          <p:nvPr/>
        </p:nvSpPr>
        <p:spPr>
          <a:xfrm>
            <a:off x="9820656" y="3090672"/>
            <a:ext cx="1472184" cy="329184"/>
          </a:xfrm>
          <a:prstGeom prst="rect">
            <a:avLst/>
          </a:prstGeom>
          <a:noFill/>
          <a:ln/>
        </p:spPr>
        <p:txBody>
          <a:bodyPr wrap="square" lIns="0" tIns="0" rIns="0" bIns="0" rtlCol="0" anchor="ctr">
            <a:normAutofit/>
          </a:bodyPr>
          <a:lstStyle/>
          <a:p>
            <a:pPr indent="0" marL="0">
              <a:buNone/>
            </a:pPr>
            <a:r>
              <a:rPr lang="en-US" sz="1050" dirty="0">
                <a:solidFill>
                  <a:srgbClr val="1C1917"/>
                </a:solidFill>
                <a:latin typeface="Apple SD Gothic Neo" pitchFamily="34" charset="0"/>
                <a:ea typeface="Apple SD Gothic Neo" pitchFamily="34" charset="-122"/>
                <a:cs typeface="Apple SD Gothic Neo" pitchFamily="34" charset="-120"/>
              </a:rPr>
              <a:t>제품을 물려받은 고객</a:t>
            </a:r>
            <a:endParaRPr lang="en-US" sz="1050" dirty="0"/>
          </a:p>
        </p:txBody>
      </p:sp>
      <p:sp>
        <p:nvSpPr>
          <p:cNvPr id="63" name="Shape 61"/>
          <p:cNvSpPr/>
          <p:nvPr/>
        </p:nvSpPr>
        <p:spPr>
          <a:xfrm rot="2700000">
            <a:off x="9619488" y="3794760"/>
            <a:ext cx="82296" cy="82296"/>
          </a:xfrm>
          <a:prstGeom prst="rect">
            <a:avLst/>
          </a:prstGeom>
          <a:solidFill>
            <a:srgbClr val="274A69"/>
          </a:solidFill>
          <a:ln w="6350">
            <a:solidFill>
              <a:srgbClr val="274A69">
                <a:alpha val="92000"/>
              </a:srgbClr>
            </a:solidFill>
            <a:prstDash val="solid"/>
          </a:ln>
        </p:spPr>
      </p:sp>
      <p:sp>
        <p:nvSpPr>
          <p:cNvPr id="64" name="Text 62"/>
          <p:cNvSpPr/>
          <p:nvPr/>
        </p:nvSpPr>
        <p:spPr>
          <a:xfrm>
            <a:off x="9820656" y="3703320"/>
            <a:ext cx="1472184" cy="329184"/>
          </a:xfrm>
          <a:prstGeom prst="rect">
            <a:avLst/>
          </a:prstGeom>
          <a:noFill/>
          <a:ln/>
        </p:spPr>
        <p:txBody>
          <a:bodyPr wrap="square" lIns="0" tIns="0" rIns="0" bIns="0" rtlCol="0" anchor="ctr">
            <a:normAutofit/>
          </a:bodyPr>
          <a:lstStyle/>
          <a:p>
            <a:pPr indent="0" marL="0">
              <a:buNone/>
            </a:pPr>
            <a:r>
              <a:rPr lang="en-US" sz="1050" dirty="0">
                <a:solidFill>
                  <a:srgbClr val="1C1917"/>
                </a:solidFill>
                <a:latin typeface="Apple SD Gothic Neo" pitchFamily="34" charset="0"/>
                <a:ea typeface="Apple SD Gothic Neo" pitchFamily="34" charset="-122"/>
                <a:cs typeface="Apple SD Gothic Neo" pitchFamily="34" charset="-120"/>
              </a:rPr>
              <a:t>럭셔리 브랜드·파트너</a:t>
            </a:r>
            <a:endParaRPr lang="en-US" sz="1050" dirty="0"/>
          </a:p>
        </p:txBody>
      </p:sp>
      <p:sp>
        <p:nvSpPr>
          <p:cNvPr id="65" name="Shape 63"/>
          <p:cNvSpPr/>
          <p:nvPr/>
        </p:nvSpPr>
        <p:spPr>
          <a:xfrm>
            <a:off x="438912" y="5230368"/>
            <a:ext cx="5504688" cy="1097280"/>
          </a:xfrm>
          <a:prstGeom prst="roundRect">
            <a:avLst>
              <a:gd name="adj" fmla="val 11667"/>
            </a:avLst>
          </a:prstGeom>
          <a:solidFill>
            <a:srgbClr val="FFFFFF"/>
          </a:solidFill>
          <a:ln w="10160">
            <a:solidFill>
              <a:srgbClr val="D7E2EA"/>
            </a:solidFill>
            <a:prstDash val="solid"/>
          </a:ln>
          <a:effectLst>
            <a:outerShdw sx="100000" sy="100000" kx="0" ky="0" algn="bl" rotWithShape="0" blurRad="25400" dist="50800" dir="2700000">
              <a:srgbClr val="1C1917">
                <a:alpha val="13000"/>
              </a:srgbClr>
            </a:outerShdw>
          </a:effectLst>
        </p:spPr>
      </p:sp>
      <p:sp>
        <p:nvSpPr>
          <p:cNvPr id="66" name="Text 64"/>
          <p:cNvSpPr/>
          <p:nvPr/>
        </p:nvSpPr>
        <p:spPr>
          <a:xfrm>
            <a:off x="640080" y="5422392"/>
            <a:ext cx="1920240" cy="182880"/>
          </a:xfrm>
          <a:prstGeom prst="rect">
            <a:avLst/>
          </a:prstGeom>
          <a:noFill/>
          <a:ln/>
        </p:spPr>
        <p:txBody>
          <a:bodyPr wrap="square" lIns="0" tIns="0" rIns="0" bIns="0" rtlCol="0" anchor="ctr">
            <a:normAutofit/>
          </a:bodyPr>
          <a:lstStyle/>
          <a:p>
            <a:pPr indent="0" marL="0">
              <a:buNone/>
            </a:pPr>
            <a:r>
              <a:rPr lang="en-US" sz="750" b="1" spc="110" kern="0" dirty="0">
                <a:solidFill>
                  <a:srgbClr val="274A69"/>
                </a:solidFill>
                <a:latin typeface="Apple SD Gothic Neo" pitchFamily="34" charset="0"/>
                <a:ea typeface="Apple SD Gothic Neo" pitchFamily="34" charset="-122"/>
                <a:cs typeface="Apple SD Gothic Neo" pitchFamily="34" charset="-120"/>
              </a:rPr>
              <a:t>COST STRUCTURE</a:t>
            </a:r>
            <a:endParaRPr lang="en-US" sz="750" dirty="0"/>
          </a:p>
        </p:txBody>
      </p:sp>
      <p:sp>
        <p:nvSpPr>
          <p:cNvPr id="67" name="Text 65"/>
          <p:cNvSpPr/>
          <p:nvPr/>
        </p:nvSpPr>
        <p:spPr>
          <a:xfrm>
            <a:off x="640080" y="5751576"/>
            <a:ext cx="5074920" cy="310896"/>
          </a:xfrm>
          <a:prstGeom prst="rect">
            <a:avLst/>
          </a:prstGeom>
          <a:noFill/>
          <a:ln/>
        </p:spPr>
        <p:txBody>
          <a:bodyPr wrap="square" lIns="0" tIns="0" rIns="0" bIns="0" rtlCol="0" anchor="ctr">
            <a:normAutofit/>
          </a:bodyPr>
          <a:lstStyle/>
          <a:p>
            <a:pPr indent="0" marL="0">
              <a:buNone/>
            </a:pPr>
            <a:r>
              <a:rPr lang="en-US" sz="1000" dirty="0">
                <a:solidFill>
                  <a:srgbClr val="1C1917"/>
                </a:solidFill>
                <a:latin typeface="Apple SD Gothic Neo" pitchFamily="34" charset="0"/>
                <a:ea typeface="Apple SD Gothic Neo" pitchFamily="34" charset="-122"/>
                <a:cs typeface="Apple SD Gothic Neo" pitchFamily="34" charset="-120"/>
              </a:rPr>
              <a:t>개발·유지보수  ·  AI API  ·  Cloud/Storage  ·  QR/NFC 운영  ·  디자인·콘텐츠</a:t>
            </a:r>
            <a:endParaRPr lang="en-US" sz="1000" dirty="0"/>
          </a:p>
        </p:txBody>
      </p:sp>
      <p:sp>
        <p:nvSpPr>
          <p:cNvPr id="68" name="Shape 66"/>
          <p:cNvSpPr/>
          <p:nvPr/>
        </p:nvSpPr>
        <p:spPr>
          <a:xfrm>
            <a:off x="6062472" y="5230368"/>
            <a:ext cx="5504688" cy="1097280"/>
          </a:xfrm>
          <a:prstGeom prst="roundRect">
            <a:avLst>
              <a:gd name="adj" fmla="val 11667"/>
            </a:avLst>
          </a:prstGeom>
          <a:solidFill>
            <a:srgbClr val="FFFFFF"/>
          </a:solidFill>
          <a:ln w="10160">
            <a:solidFill>
              <a:srgbClr val="D7E2EA"/>
            </a:solidFill>
            <a:prstDash val="solid"/>
          </a:ln>
          <a:effectLst>
            <a:outerShdw sx="100000" sy="100000" kx="0" ky="0" algn="bl" rotWithShape="0" blurRad="25400" dist="50800" dir="2700000">
              <a:srgbClr val="1C1917">
                <a:alpha val="13000"/>
              </a:srgbClr>
            </a:outerShdw>
          </a:effectLst>
        </p:spPr>
      </p:sp>
      <p:sp>
        <p:nvSpPr>
          <p:cNvPr id="69" name="Text 67"/>
          <p:cNvSpPr/>
          <p:nvPr/>
        </p:nvSpPr>
        <p:spPr>
          <a:xfrm>
            <a:off x="6263640" y="5422392"/>
            <a:ext cx="1920240" cy="182880"/>
          </a:xfrm>
          <a:prstGeom prst="rect">
            <a:avLst/>
          </a:prstGeom>
          <a:noFill/>
          <a:ln/>
        </p:spPr>
        <p:txBody>
          <a:bodyPr wrap="square" lIns="0" tIns="0" rIns="0" bIns="0" rtlCol="0" anchor="ctr">
            <a:normAutofit/>
          </a:bodyPr>
          <a:lstStyle/>
          <a:p>
            <a:pPr indent="0" marL="0">
              <a:buNone/>
            </a:pPr>
            <a:r>
              <a:rPr lang="en-US" sz="750" b="1" spc="110" kern="0" dirty="0">
                <a:solidFill>
                  <a:srgbClr val="274A69"/>
                </a:solidFill>
                <a:latin typeface="Apple SD Gothic Neo" pitchFamily="34" charset="0"/>
                <a:ea typeface="Apple SD Gothic Neo" pitchFamily="34" charset="-122"/>
                <a:cs typeface="Apple SD Gothic Neo" pitchFamily="34" charset="-120"/>
              </a:rPr>
              <a:t>REVENUE STREAMS</a:t>
            </a:r>
            <a:endParaRPr lang="en-US" sz="750" dirty="0"/>
          </a:p>
        </p:txBody>
      </p:sp>
      <p:sp>
        <p:nvSpPr>
          <p:cNvPr id="70" name="Text 68"/>
          <p:cNvSpPr/>
          <p:nvPr/>
        </p:nvSpPr>
        <p:spPr>
          <a:xfrm>
            <a:off x="6263640" y="5751576"/>
            <a:ext cx="5074920" cy="310896"/>
          </a:xfrm>
          <a:prstGeom prst="rect">
            <a:avLst/>
          </a:prstGeom>
          <a:noFill/>
          <a:ln/>
        </p:spPr>
        <p:txBody>
          <a:bodyPr wrap="square" lIns="0" tIns="0" rIns="0" bIns="0" rtlCol="0" anchor="ctr">
            <a:normAutofit/>
          </a:bodyPr>
          <a:lstStyle/>
          <a:p>
            <a:pPr indent="0" marL="0">
              <a:buNone/>
            </a:pPr>
            <a:r>
              <a:rPr lang="en-US" sz="1000" dirty="0">
                <a:solidFill>
                  <a:srgbClr val="1C1917"/>
                </a:solidFill>
                <a:latin typeface="Apple SD Gothic Neo" pitchFamily="34" charset="0"/>
                <a:ea typeface="Apple SD Gothic Neo" pitchFamily="34" charset="-122"/>
                <a:cs typeface="Apple SD Gothic Neo" pitchFamily="34" charset="-120"/>
              </a:rPr>
              <a:t>브랜드 SaaS  ·  맞춤 구축  ·  AI Premium  ·  Care/Repair  ·  Resale/Transfer</a:t>
            </a:r>
            <a:endParaRPr lang="en-US" sz="1000" dirty="0"/>
          </a:p>
        </p:txBody>
      </p:sp>
      <p:sp>
        <p:nvSpPr>
          <p:cNvPr id="71" name="Text 69"/>
          <p:cNvSpPr/>
          <p:nvPr/>
        </p:nvSpPr>
        <p:spPr>
          <a:xfrm>
            <a:off x="11356848" y="6510528"/>
            <a:ext cx="320040" cy="146304"/>
          </a:xfrm>
          <a:prstGeom prst="rect">
            <a:avLst/>
          </a:prstGeom>
          <a:noFill/>
          <a:ln/>
        </p:spPr>
        <p:txBody>
          <a:bodyPr wrap="square" lIns="0" tIns="0" rIns="0" bIns="0" rtlCol="0" anchor="ctr">
            <a:normAutofit/>
          </a:bodyPr>
          <a:lstStyle/>
          <a:p>
            <a:pPr algn="r" indent="0" marL="0">
              <a:buNone/>
            </a:pPr>
            <a:r>
              <a:rPr lang="en-US" sz="800" dirty="0">
                <a:solidFill>
                  <a:srgbClr val="A8BED0"/>
                </a:solidFill>
                <a:latin typeface="Apple SD Gothic Neo" pitchFamily="34" charset="0"/>
                <a:ea typeface="Apple SD Gothic Neo" pitchFamily="34" charset="-122"/>
                <a:cs typeface="Apple SD Gothic Neo" pitchFamily="34" charset="-120"/>
              </a:rPr>
              <a:t>09</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8F5"/>
        </a:solidFill>
      </p:bgPr>
    </p:bg>
    <p:spTree>
      <p:nvGrpSpPr>
        <p:cNvPr id="1" name=""/>
        <p:cNvGrpSpPr/>
        <p:nvPr/>
      </p:nvGrpSpPr>
      <p:grpSpPr>
        <a:xfrm>
          <a:off x="0" y="0"/>
          <a:ext cx="0" cy="0"/>
          <a:chOff x="0" y="0"/>
          <a:chExt cx="0" cy="0"/>
        </a:xfrm>
      </p:grpSpPr>
      <p:sp>
        <p:nvSpPr>
          <p:cNvPr id="2" name="Shape 0"/>
          <p:cNvSpPr/>
          <p:nvPr/>
        </p:nvSpPr>
        <p:spPr>
          <a:xfrm rot="2700000">
            <a:off x="8046720" y="411480"/>
            <a:ext cx="109728" cy="109728"/>
          </a:xfrm>
          <a:prstGeom prst="rect">
            <a:avLst/>
          </a:prstGeom>
          <a:solidFill>
            <a:srgbClr val="8B5A2B">
              <a:alpha val="10000"/>
            </a:srgbClr>
          </a:solidFill>
          <a:ln w="6350">
            <a:solidFill>
              <a:srgbClr val="8B5A2B">
                <a:alpha val="2000"/>
              </a:srgbClr>
            </a:solidFill>
            <a:prstDash val="solid"/>
          </a:ln>
        </p:spPr>
      </p:sp>
      <p:sp>
        <p:nvSpPr>
          <p:cNvPr id="3" name="Shape 1"/>
          <p:cNvSpPr/>
          <p:nvPr/>
        </p:nvSpPr>
        <p:spPr>
          <a:xfrm rot="2700000">
            <a:off x="8641080" y="411480"/>
            <a:ext cx="109728" cy="109728"/>
          </a:xfrm>
          <a:prstGeom prst="rect">
            <a:avLst/>
          </a:prstGeom>
          <a:solidFill>
            <a:srgbClr val="8B5A2B">
              <a:alpha val="10000"/>
            </a:srgbClr>
          </a:solidFill>
          <a:ln w="6350">
            <a:solidFill>
              <a:srgbClr val="8B5A2B">
                <a:alpha val="2000"/>
              </a:srgbClr>
            </a:solidFill>
            <a:prstDash val="solid"/>
          </a:ln>
        </p:spPr>
      </p:sp>
      <p:sp>
        <p:nvSpPr>
          <p:cNvPr id="4" name="Shape 2"/>
          <p:cNvSpPr/>
          <p:nvPr/>
        </p:nvSpPr>
        <p:spPr>
          <a:xfrm rot="2700000">
            <a:off x="9235440" y="411480"/>
            <a:ext cx="109728" cy="109728"/>
          </a:xfrm>
          <a:prstGeom prst="rect">
            <a:avLst/>
          </a:prstGeom>
          <a:solidFill>
            <a:srgbClr val="8B5A2B">
              <a:alpha val="10000"/>
            </a:srgbClr>
          </a:solidFill>
          <a:ln w="6350">
            <a:solidFill>
              <a:srgbClr val="8B5A2B">
                <a:alpha val="2000"/>
              </a:srgbClr>
            </a:solidFill>
            <a:prstDash val="solid"/>
          </a:ln>
        </p:spPr>
      </p:sp>
      <p:sp>
        <p:nvSpPr>
          <p:cNvPr id="5" name="Shape 3"/>
          <p:cNvSpPr/>
          <p:nvPr/>
        </p:nvSpPr>
        <p:spPr>
          <a:xfrm rot="2700000">
            <a:off x="9829800" y="411480"/>
            <a:ext cx="109728" cy="109728"/>
          </a:xfrm>
          <a:prstGeom prst="rect">
            <a:avLst/>
          </a:prstGeom>
          <a:solidFill>
            <a:srgbClr val="8B5A2B">
              <a:alpha val="10000"/>
            </a:srgbClr>
          </a:solidFill>
          <a:ln w="6350">
            <a:solidFill>
              <a:srgbClr val="8B5A2B">
                <a:alpha val="2000"/>
              </a:srgbClr>
            </a:solidFill>
            <a:prstDash val="solid"/>
          </a:ln>
        </p:spPr>
      </p:sp>
      <p:sp>
        <p:nvSpPr>
          <p:cNvPr id="6" name="Shape 4"/>
          <p:cNvSpPr/>
          <p:nvPr/>
        </p:nvSpPr>
        <p:spPr>
          <a:xfrm rot="2700000">
            <a:off x="10424160" y="411480"/>
            <a:ext cx="109728" cy="109728"/>
          </a:xfrm>
          <a:prstGeom prst="rect">
            <a:avLst/>
          </a:prstGeom>
          <a:solidFill>
            <a:srgbClr val="8B5A2B">
              <a:alpha val="10000"/>
            </a:srgbClr>
          </a:solidFill>
          <a:ln w="6350">
            <a:solidFill>
              <a:srgbClr val="8B5A2B">
                <a:alpha val="2000"/>
              </a:srgbClr>
            </a:solidFill>
            <a:prstDash val="solid"/>
          </a:ln>
        </p:spPr>
      </p:sp>
      <p:sp>
        <p:nvSpPr>
          <p:cNvPr id="7" name="Shape 5"/>
          <p:cNvSpPr/>
          <p:nvPr/>
        </p:nvSpPr>
        <p:spPr>
          <a:xfrm rot="2700000">
            <a:off x="11018520" y="411480"/>
            <a:ext cx="109728" cy="109728"/>
          </a:xfrm>
          <a:prstGeom prst="rect">
            <a:avLst/>
          </a:prstGeom>
          <a:solidFill>
            <a:srgbClr val="8B5A2B">
              <a:alpha val="10000"/>
            </a:srgbClr>
          </a:solidFill>
          <a:ln w="6350">
            <a:solidFill>
              <a:srgbClr val="8B5A2B">
                <a:alpha val="2000"/>
              </a:srgbClr>
            </a:solidFill>
            <a:prstDash val="solid"/>
          </a:ln>
        </p:spPr>
      </p:sp>
      <p:sp>
        <p:nvSpPr>
          <p:cNvPr id="8" name="Shape 6"/>
          <p:cNvSpPr/>
          <p:nvPr/>
        </p:nvSpPr>
        <p:spPr>
          <a:xfrm rot="2700000">
            <a:off x="11612880" y="411480"/>
            <a:ext cx="109728" cy="109728"/>
          </a:xfrm>
          <a:prstGeom prst="rect">
            <a:avLst/>
          </a:prstGeom>
          <a:solidFill>
            <a:srgbClr val="8B5A2B">
              <a:alpha val="10000"/>
            </a:srgbClr>
          </a:solidFill>
          <a:ln w="6350">
            <a:solidFill>
              <a:srgbClr val="8B5A2B">
                <a:alpha val="2000"/>
              </a:srgbClr>
            </a:solidFill>
            <a:prstDash val="solid"/>
          </a:ln>
        </p:spPr>
      </p:sp>
      <p:sp>
        <p:nvSpPr>
          <p:cNvPr id="9" name="Shape 7"/>
          <p:cNvSpPr/>
          <p:nvPr/>
        </p:nvSpPr>
        <p:spPr>
          <a:xfrm rot="2700000">
            <a:off x="8339328" y="1005840"/>
            <a:ext cx="109728" cy="109728"/>
          </a:xfrm>
          <a:prstGeom prst="rect">
            <a:avLst/>
          </a:prstGeom>
          <a:solidFill>
            <a:srgbClr val="8B5A2B">
              <a:alpha val="10000"/>
            </a:srgbClr>
          </a:solidFill>
          <a:ln w="6350">
            <a:solidFill>
              <a:srgbClr val="8B5A2B">
                <a:alpha val="2000"/>
              </a:srgbClr>
            </a:solidFill>
            <a:prstDash val="solid"/>
          </a:ln>
        </p:spPr>
      </p:sp>
      <p:sp>
        <p:nvSpPr>
          <p:cNvPr id="10" name="Shape 8"/>
          <p:cNvSpPr/>
          <p:nvPr/>
        </p:nvSpPr>
        <p:spPr>
          <a:xfrm rot="2700000">
            <a:off x="8933688" y="1005840"/>
            <a:ext cx="109728" cy="109728"/>
          </a:xfrm>
          <a:prstGeom prst="rect">
            <a:avLst/>
          </a:prstGeom>
          <a:solidFill>
            <a:srgbClr val="8B5A2B">
              <a:alpha val="10000"/>
            </a:srgbClr>
          </a:solidFill>
          <a:ln w="6350">
            <a:solidFill>
              <a:srgbClr val="8B5A2B">
                <a:alpha val="2000"/>
              </a:srgbClr>
            </a:solidFill>
            <a:prstDash val="solid"/>
          </a:ln>
        </p:spPr>
      </p:sp>
      <p:sp>
        <p:nvSpPr>
          <p:cNvPr id="11" name="Shape 9"/>
          <p:cNvSpPr/>
          <p:nvPr/>
        </p:nvSpPr>
        <p:spPr>
          <a:xfrm rot="2700000">
            <a:off x="9528048" y="1005840"/>
            <a:ext cx="109728" cy="109728"/>
          </a:xfrm>
          <a:prstGeom prst="rect">
            <a:avLst/>
          </a:prstGeom>
          <a:solidFill>
            <a:srgbClr val="8B5A2B">
              <a:alpha val="10000"/>
            </a:srgbClr>
          </a:solidFill>
          <a:ln w="6350">
            <a:solidFill>
              <a:srgbClr val="8B5A2B">
                <a:alpha val="2000"/>
              </a:srgbClr>
            </a:solidFill>
            <a:prstDash val="solid"/>
          </a:ln>
        </p:spPr>
      </p:sp>
      <p:sp>
        <p:nvSpPr>
          <p:cNvPr id="12" name="Shape 10"/>
          <p:cNvSpPr/>
          <p:nvPr/>
        </p:nvSpPr>
        <p:spPr>
          <a:xfrm rot="2700000">
            <a:off x="10122408" y="1005840"/>
            <a:ext cx="109728" cy="109728"/>
          </a:xfrm>
          <a:prstGeom prst="rect">
            <a:avLst/>
          </a:prstGeom>
          <a:solidFill>
            <a:srgbClr val="8B5A2B">
              <a:alpha val="10000"/>
            </a:srgbClr>
          </a:solidFill>
          <a:ln w="6350">
            <a:solidFill>
              <a:srgbClr val="8B5A2B">
                <a:alpha val="2000"/>
              </a:srgbClr>
            </a:solidFill>
            <a:prstDash val="solid"/>
          </a:ln>
        </p:spPr>
      </p:sp>
      <p:sp>
        <p:nvSpPr>
          <p:cNvPr id="13" name="Shape 11"/>
          <p:cNvSpPr/>
          <p:nvPr/>
        </p:nvSpPr>
        <p:spPr>
          <a:xfrm rot="2700000">
            <a:off x="10716768" y="1005840"/>
            <a:ext cx="109728" cy="109728"/>
          </a:xfrm>
          <a:prstGeom prst="rect">
            <a:avLst/>
          </a:prstGeom>
          <a:solidFill>
            <a:srgbClr val="8B5A2B">
              <a:alpha val="10000"/>
            </a:srgbClr>
          </a:solidFill>
          <a:ln w="6350">
            <a:solidFill>
              <a:srgbClr val="8B5A2B">
                <a:alpha val="2000"/>
              </a:srgbClr>
            </a:solidFill>
            <a:prstDash val="solid"/>
          </a:ln>
        </p:spPr>
      </p:sp>
      <p:sp>
        <p:nvSpPr>
          <p:cNvPr id="14" name="Shape 12"/>
          <p:cNvSpPr/>
          <p:nvPr/>
        </p:nvSpPr>
        <p:spPr>
          <a:xfrm rot="2700000">
            <a:off x="11311128" y="1005840"/>
            <a:ext cx="109728" cy="109728"/>
          </a:xfrm>
          <a:prstGeom prst="rect">
            <a:avLst/>
          </a:prstGeom>
          <a:solidFill>
            <a:srgbClr val="8B5A2B">
              <a:alpha val="10000"/>
            </a:srgbClr>
          </a:solidFill>
          <a:ln w="6350">
            <a:solidFill>
              <a:srgbClr val="8B5A2B">
                <a:alpha val="2000"/>
              </a:srgbClr>
            </a:solidFill>
            <a:prstDash val="solid"/>
          </a:ln>
        </p:spPr>
      </p:sp>
      <p:sp>
        <p:nvSpPr>
          <p:cNvPr id="15" name="Shape 13"/>
          <p:cNvSpPr/>
          <p:nvPr/>
        </p:nvSpPr>
        <p:spPr>
          <a:xfrm rot="2700000">
            <a:off x="11905488" y="1005840"/>
            <a:ext cx="109728" cy="109728"/>
          </a:xfrm>
          <a:prstGeom prst="rect">
            <a:avLst/>
          </a:prstGeom>
          <a:solidFill>
            <a:srgbClr val="8B5A2B">
              <a:alpha val="10000"/>
            </a:srgbClr>
          </a:solidFill>
          <a:ln w="6350">
            <a:solidFill>
              <a:srgbClr val="8B5A2B">
                <a:alpha val="2000"/>
              </a:srgbClr>
            </a:solidFill>
            <a:prstDash val="solid"/>
          </a:ln>
        </p:spPr>
      </p:sp>
      <p:sp>
        <p:nvSpPr>
          <p:cNvPr id="16" name="Shape 14"/>
          <p:cNvSpPr/>
          <p:nvPr/>
        </p:nvSpPr>
        <p:spPr>
          <a:xfrm rot="2700000">
            <a:off x="8046720" y="1600200"/>
            <a:ext cx="109728" cy="109728"/>
          </a:xfrm>
          <a:prstGeom prst="rect">
            <a:avLst/>
          </a:prstGeom>
          <a:solidFill>
            <a:srgbClr val="8B5A2B">
              <a:alpha val="10000"/>
            </a:srgbClr>
          </a:solidFill>
          <a:ln w="6350">
            <a:solidFill>
              <a:srgbClr val="8B5A2B">
                <a:alpha val="2000"/>
              </a:srgbClr>
            </a:solidFill>
            <a:prstDash val="solid"/>
          </a:ln>
        </p:spPr>
      </p:sp>
      <p:sp>
        <p:nvSpPr>
          <p:cNvPr id="17" name="Shape 15"/>
          <p:cNvSpPr/>
          <p:nvPr/>
        </p:nvSpPr>
        <p:spPr>
          <a:xfrm rot="2700000">
            <a:off x="8641080" y="1600200"/>
            <a:ext cx="109728" cy="109728"/>
          </a:xfrm>
          <a:prstGeom prst="rect">
            <a:avLst/>
          </a:prstGeom>
          <a:solidFill>
            <a:srgbClr val="8B5A2B">
              <a:alpha val="10000"/>
            </a:srgbClr>
          </a:solidFill>
          <a:ln w="6350">
            <a:solidFill>
              <a:srgbClr val="8B5A2B">
                <a:alpha val="2000"/>
              </a:srgbClr>
            </a:solidFill>
            <a:prstDash val="solid"/>
          </a:ln>
        </p:spPr>
      </p:sp>
      <p:sp>
        <p:nvSpPr>
          <p:cNvPr id="18" name="Shape 16"/>
          <p:cNvSpPr/>
          <p:nvPr/>
        </p:nvSpPr>
        <p:spPr>
          <a:xfrm rot="2700000">
            <a:off x="9235440" y="1600200"/>
            <a:ext cx="109728" cy="109728"/>
          </a:xfrm>
          <a:prstGeom prst="rect">
            <a:avLst/>
          </a:prstGeom>
          <a:solidFill>
            <a:srgbClr val="8B5A2B">
              <a:alpha val="10000"/>
            </a:srgbClr>
          </a:solidFill>
          <a:ln w="6350">
            <a:solidFill>
              <a:srgbClr val="8B5A2B">
                <a:alpha val="2000"/>
              </a:srgbClr>
            </a:solidFill>
            <a:prstDash val="solid"/>
          </a:ln>
        </p:spPr>
      </p:sp>
      <p:sp>
        <p:nvSpPr>
          <p:cNvPr id="19" name="Shape 17"/>
          <p:cNvSpPr/>
          <p:nvPr/>
        </p:nvSpPr>
        <p:spPr>
          <a:xfrm rot="2700000">
            <a:off x="9829800" y="1600200"/>
            <a:ext cx="109728" cy="109728"/>
          </a:xfrm>
          <a:prstGeom prst="rect">
            <a:avLst/>
          </a:prstGeom>
          <a:solidFill>
            <a:srgbClr val="8B5A2B">
              <a:alpha val="10000"/>
            </a:srgbClr>
          </a:solidFill>
          <a:ln w="6350">
            <a:solidFill>
              <a:srgbClr val="8B5A2B">
                <a:alpha val="2000"/>
              </a:srgbClr>
            </a:solidFill>
            <a:prstDash val="solid"/>
          </a:ln>
        </p:spPr>
      </p:sp>
      <p:sp>
        <p:nvSpPr>
          <p:cNvPr id="20" name="Shape 18"/>
          <p:cNvSpPr/>
          <p:nvPr/>
        </p:nvSpPr>
        <p:spPr>
          <a:xfrm rot="2700000">
            <a:off x="10424160" y="1600200"/>
            <a:ext cx="109728" cy="109728"/>
          </a:xfrm>
          <a:prstGeom prst="rect">
            <a:avLst/>
          </a:prstGeom>
          <a:solidFill>
            <a:srgbClr val="8B5A2B">
              <a:alpha val="10000"/>
            </a:srgbClr>
          </a:solidFill>
          <a:ln w="6350">
            <a:solidFill>
              <a:srgbClr val="8B5A2B">
                <a:alpha val="2000"/>
              </a:srgbClr>
            </a:solidFill>
            <a:prstDash val="solid"/>
          </a:ln>
        </p:spPr>
      </p:sp>
      <p:sp>
        <p:nvSpPr>
          <p:cNvPr id="21" name="Shape 19"/>
          <p:cNvSpPr/>
          <p:nvPr/>
        </p:nvSpPr>
        <p:spPr>
          <a:xfrm rot="2700000">
            <a:off x="11018520" y="1600200"/>
            <a:ext cx="109728" cy="109728"/>
          </a:xfrm>
          <a:prstGeom prst="rect">
            <a:avLst/>
          </a:prstGeom>
          <a:solidFill>
            <a:srgbClr val="8B5A2B">
              <a:alpha val="10000"/>
            </a:srgbClr>
          </a:solidFill>
          <a:ln w="6350">
            <a:solidFill>
              <a:srgbClr val="8B5A2B">
                <a:alpha val="2000"/>
              </a:srgbClr>
            </a:solidFill>
            <a:prstDash val="solid"/>
          </a:ln>
        </p:spPr>
      </p:sp>
      <p:sp>
        <p:nvSpPr>
          <p:cNvPr id="22" name="Shape 20"/>
          <p:cNvSpPr/>
          <p:nvPr/>
        </p:nvSpPr>
        <p:spPr>
          <a:xfrm rot="2700000">
            <a:off x="11612880" y="1600200"/>
            <a:ext cx="109728" cy="109728"/>
          </a:xfrm>
          <a:prstGeom prst="rect">
            <a:avLst/>
          </a:prstGeom>
          <a:solidFill>
            <a:srgbClr val="8B5A2B">
              <a:alpha val="10000"/>
            </a:srgbClr>
          </a:solidFill>
          <a:ln w="6350">
            <a:solidFill>
              <a:srgbClr val="8B5A2B">
                <a:alpha val="2000"/>
              </a:srgbClr>
            </a:solidFill>
            <a:prstDash val="solid"/>
          </a:ln>
        </p:spPr>
      </p:sp>
      <p:sp>
        <p:nvSpPr>
          <p:cNvPr id="23" name="Text 21"/>
          <p:cNvSpPr/>
          <p:nvPr/>
        </p:nvSpPr>
        <p:spPr>
          <a:xfrm>
            <a:off x="685800" y="411480"/>
            <a:ext cx="2926080" cy="201168"/>
          </a:xfrm>
          <a:prstGeom prst="rect">
            <a:avLst/>
          </a:prstGeom>
          <a:noFill/>
          <a:ln/>
        </p:spPr>
        <p:txBody>
          <a:bodyPr wrap="square" lIns="0" tIns="0" rIns="0" bIns="0" rtlCol="0" anchor="ctr">
            <a:normAutofit/>
          </a:bodyPr>
          <a:lstStyle/>
          <a:p>
            <a:pPr indent="0" marL="0">
              <a:buNone/>
            </a:pPr>
            <a:r>
              <a:rPr lang="en-US" sz="900" b="1" spc="210" kern="0" dirty="0">
                <a:solidFill>
                  <a:srgbClr val="8B5A2B"/>
                </a:solidFill>
                <a:latin typeface="Apple SD Gothic Neo" pitchFamily="34" charset="0"/>
                <a:ea typeface="Apple SD Gothic Neo" pitchFamily="34" charset="-122"/>
                <a:cs typeface="Apple SD Gothic Neo" pitchFamily="34" charset="-120"/>
              </a:rPr>
              <a:t>GO TO MARKET</a:t>
            </a:r>
            <a:endParaRPr lang="en-US" sz="900" dirty="0"/>
          </a:p>
        </p:txBody>
      </p:sp>
      <p:sp>
        <p:nvSpPr>
          <p:cNvPr id="24" name="Text 22"/>
          <p:cNvSpPr/>
          <p:nvPr/>
        </p:nvSpPr>
        <p:spPr>
          <a:xfrm>
            <a:off x="685800" y="749808"/>
            <a:ext cx="10789920" cy="841248"/>
          </a:xfrm>
          <a:prstGeom prst="rect">
            <a:avLst/>
          </a:prstGeom>
          <a:noFill/>
          <a:ln/>
        </p:spPr>
        <p:txBody>
          <a:bodyPr wrap="square" lIns="0" tIns="0" rIns="0" bIns="0" rtlCol="0" anchor="t">
            <a:normAutofit/>
          </a:bodyPr>
          <a:lstStyle/>
          <a:p>
            <a:pPr indent="0" marL="0">
              <a:lnSpc>
                <a:spcPct val="88000"/>
              </a:lnSpc>
              <a:buNone/>
            </a:pPr>
            <a:r>
              <a:rPr lang="en-US" sz="2600" b="1" dirty="0">
                <a:solidFill>
                  <a:srgbClr val="1C1917"/>
                </a:solidFill>
                <a:latin typeface="Apple SD Gothic Neo" pitchFamily="34" charset="0"/>
                <a:ea typeface="Apple SD Gothic Neo" pitchFamily="34" charset="-122"/>
                <a:cs typeface="Apple SD Gothic Neo" pitchFamily="34" charset="-120"/>
              </a:rPr>
              <a:t>고객이 제품을 만나는 순간이</a:t>
            </a:r>
            <a:endParaRPr lang="en-US" sz="2600" dirty="0"/>
          </a:p>
          <a:p>
            <a:pPr indent="0" marL="0">
              <a:lnSpc>
                <a:spcPct val="88000"/>
              </a:lnSpc>
              <a:buNone/>
            </a:pPr>
            <a:r>
              <a:rPr lang="en-US" sz="2600" b="1" dirty="0">
                <a:solidFill>
                  <a:srgbClr val="1C1917"/>
                </a:solidFill>
                <a:latin typeface="Apple SD Gothic Neo" pitchFamily="34" charset="0"/>
                <a:ea typeface="Apple SD Gothic Neo" pitchFamily="34" charset="-122"/>
                <a:cs typeface="Apple SD Gothic Neo" pitchFamily="34" charset="-120"/>
              </a:rPr>
              <a:t>곧 서비스의 채널입니다</a:t>
            </a:r>
            <a:endParaRPr lang="en-US" sz="2600" dirty="0"/>
          </a:p>
        </p:txBody>
      </p:sp>
      <p:sp>
        <p:nvSpPr>
          <p:cNvPr id="25" name="Text 23"/>
          <p:cNvSpPr/>
          <p:nvPr/>
        </p:nvSpPr>
        <p:spPr>
          <a:xfrm>
            <a:off x="694944" y="1581912"/>
            <a:ext cx="9875520" cy="347472"/>
          </a:xfrm>
          <a:prstGeom prst="rect">
            <a:avLst/>
          </a:prstGeom>
          <a:noFill/>
          <a:ln/>
        </p:spPr>
        <p:txBody>
          <a:bodyPr wrap="square" lIns="0" tIns="0" rIns="0" bIns="0" rtlCol="0" anchor="t">
            <a:normAutofit/>
          </a:bodyPr>
          <a:lstStyle/>
          <a:p>
            <a:pPr indent="0" marL="0">
              <a:buNone/>
            </a:pPr>
            <a:r>
              <a:rPr lang="en-US" sz="1150" dirty="0">
                <a:solidFill>
                  <a:srgbClr val="77706A"/>
                </a:solidFill>
                <a:latin typeface="Apple SD Gothic Neo" pitchFamily="34" charset="0"/>
                <a:ea typeface="Apple SD Gothic Neo" pitchFamily="34" charset="-122"/>
                <a:cs typeface="Apple SD Gothic Neo" pitchFamily="34" charset="-120"/>
              </a:rPr>
              <a:t>새로운 앱을 알리는 대신 기존 구매·관리·공유 동선에 Storybook을 심습니다.</a:t>
            </a:r>
            <a:endParaRPr lang="en-US" sz="1150" dirty="0"/>
          </a:p>
        </p:txBody>
      </p:sp>
      <p:sp>
        <p:nvSpPr>
          <p:cNvPr id="26" name="Text 24"/>
          <p:cNvSpPr/>
          <p:nvPr/>
        </p:nvSpPr>
        <p:spPr>
          <a:xfrm>
            <a:off x="658368" y="6473952"/>
            <a:ext cx="2286000" cy="182880"/>
          </a:xfrm>
          <a:prstGeom prst="rect">
            <a:avLst/>
          </a:prstGeom>
          <a:noFill/>
          <a:ln/>
        </p:spPr>
        <p:txBody>
          <a:bodyPr wrap="square" lIns="0" tIns="0" rIns="0" bIns="0" rtlCol="0" anchor="ctr">
            <a:normAutofit/>
          </a:bodyPr>
          <a:lstStyle/>
          <a:p>
            <a:pPr indent="0" marL="0">
              <a:buNone/>
            </a:pPr>
            <a:r>
              <a:rPr lang="en-US" sz="850" spc="140" kern="0" dirty="0">
                <a:solidFill>
                  <a:srgbClr val="77706A"/>
                </a:solidFill>
                <a:latin typeface="Apple SD Gothic Neo" pitchFamily="34" charset="0"/>
                <a:ea typeface="Apple SD Gothic Neo" pitchFamily="34" charset="-122"/>
                <a:cs typeface="Apple SD Gothic Neo" pitchFamily="34" charset="-120"/>
              </a:rPr>
              <a:t>MCM · STORYBOOK</a:t>
            </a:r>
            <a:endParaRPr lang="en-US" sz="850" dirty="0"/>
          </a:p>
        </p:txBody>
      </p:sp>
      <p:sp>
        <p:nvSpPr>
          <p:cNvPr id="27" name="Text 25"/>
          <p:cNvSpPr/>
          <p:nvPr/>
        </p:nvSpPr>
        <p:spPr>
          <a:xfrm>
            <a:off x="11155680" y="6473952"/>
            <a:ext cx="384048" cy="182880"/>
          </a:xfrm>
          <a:prstGeom prst="rect">
            <a:avLst/>
          </a:prstGeom>
          <a:noFill/>
          <a:ln/>
        </p:spPr>
        <p:txBody>
          <a:bodyPr wrap="square" lIns="0" tIns="0" rIns="0" bIns="0" rtlCol="0" anchor="ctr">
            <a:normAutofit/>
          </a:bodyPr>
          <a:lstStyle/>
          <a:p>
            <a:pPr algn="r" indent="0" marL="0">
              <a:buNone/>
            </a:pPr>
            <a:r>
              <a:rPr lang="en-US" sz="850" dirty="0">
                <a:solidFill>
                  <a:srgbClr val="77706A"/>
                </a:solidFill>
                <a:latin typeface="Apple SD Gothic Neo" pitchFamily="34" charset="0"/>
                <a:ea typeface="Apple SD Gothic Neo" pitchFamily="34" charset="-122"/>
                <a:cs typeface="Apple SD Gothic Neo" pitchFamily="34" charset="-120"/>
              </a:rPr>
              <a:t>10</a:t>
            </a:r>
            <a:endParaRPr lang="en-US" sz="850" dirty="0"/>
          </a:p>
        </p:txBody>
      </p:sp>
      <p:sp>
        <p:nvSpPr>
          <p:cNvPr id="28" name="Shape 26"/>
          <p:cNvSpPr/>
          <p:nvPr/>
        </p:nvSpPr>
        <p:spPr>
          <a:xfrm>
            <a:off x="713232" y="2194560"/>
            <a:ext cx="5212080" cy="3520440"/>
          </a:xfrm>
          <a:prstGeom prst="roundRect">
            <a:avLst>
              <a:gd name="adj" fmla="val 3636"/>
            </a:avLst>
          </a:prstGeom>
          <a:solidFill>
            <a:srgbClr val="FFFFFF"/>
          </a:solidFill>
          <a:ln w="10160">
            <a:solidFill>
              <a:srgbClr val="E9E0D6"/>
            </a:solidFill>
            <a:prstDash val="solid"/>
          </a:ln>
          <a:effectLst>
            <a:outerShdw sx="100000" sy="100000" kx="0" ky="0" algn="bl" rotWithShape="0" blurRad="25400" dist="50800" dir="2700000">
              <a:srgbClr val="1C1917">
                <a:alpha val="13000"/>
              </a:srgbClr>
            </a:outerShdw>
          </a:effectLst>
        </p:spPr>
      </p:sp>
      <p:sp>
        <p:nvSpPr>
          <p:cNvPr id="29" name="Text 27"/>
          <p:cNvSpPr/>
          <p:nvPr/>
        </p:nvSpPr>
        <p:spPr>
          <a:xfrm>
            <a:off x="1005840" y="2514600"/>
            <a:ext cx="2743200" cy="201168"/>
          </a:xfrm>
          <a:prstGeom prst="rect">
            <a:avLst/>
          </a:prstGeom>
          <a:noFill/>
          <a:ln/>
        </p:spPr>
        <p:txBody>
          <a:bodyPr wrap="square" lIns="0" tIns="0" rIns="0" bIns="0" rtlCol="0" anchor="ctr">
            <a:normAutofit/>
          </a:bodyPr>
          <a:lstStyle/>
          <a:p>
            <a:pPr indent="0" marL="0">
              <a:buNone/>
            </a:pPr>
            <a:r>
              <a:rPr lang="en-US" sz="850" b="1" spc="160" kern="0" dirty="0">
                <a:solidFill>
                  <a:srgbClr val="8B5A2B"/>
                </a:solidFill>
                <a:latin typeface="Apple SD Gothic Neo" pitchFamily="34" charset="0"/>
                <a:ea typeface="Apple SD Gothic Neo" pitchFamily="34" charset="-122"/>
                <a:cs typeface="Apple SD Gothic Neo" pitchFamily="34" charset="-120"/>
              </a:rPr>
              <a:t>CUSTOMER SEGMENTS</a:t>
            </a:r>
            <a:endParaRPr lang="en-US" sz="850" dirty="0"/>
          </a:p>
        </p:txBody>
      </p:sp>
      <p:sp>
        <p:nvSpPr>
          <p:cNvPr id="30" name="Shape 28"/>
          <p:cNvSpPr/>
          <p:nvPr/>
        </p:nvSpPr>
        <p:spPr>
          <a:xfrm>
            <a:off x="987552" y="2971800"/>
            <a:ext cx="713232" cy="310896"/>
          </a:xfrm>
          <a:prstGeom prst="roundRect">
            <a:avLst>
              <a:gd name="adj" fmla="val 41176"/>
            </a:avLst>
          </a:prstGeom>
          <a:solidFill>
            <a:srgbClr val="8B5A2B"/>
          </a:solidFill>
          <a:ln w="10160">
            <a:solidFill>
              <a:srgbClr val="8B5A2B"/>
            </a:solidFill>
            <a:prstDash val="solid"/>
          </a:ln>
        </p:spPr>
      </p:sp>
      <p:sp>
        <p:nvSpPr>
          <p:cNvPr id="31" name="Text 29"/>
          <p:cNvSpPr/>
          <p:nvPr/>
        </p:nvSpPr>
        <p:spPr>
          <a:xfrm>
            <a:off x="987552" y="3044952"/>
            <a:ext cx="713232" cy="128016"/>
          </a:xfrm>
          <a:prstGeom prst="rect">
            <a:avLst/>
          </a:prstGeom>
          <a:noFill/>
          <a:ln/>
        </p:spPr>
        <p:txBody>
          <a:bodyPr wrap="square" lIns="0" tIns="0" rIns="0" bIns="0" rtlCol="0" anchor="ctr">
            <a:normAutofit/>
          </a:bodyPr>
          <a:lstStyle/>
          <a:p>
            <a:pPr algn="ctr" indent="0" marL="0">
              <a:buNone/>
            </a:pPr>
            <a:r>
              <a:rPr lang="en-US" sz="750" b="1" dirty="0">
                <a:solidFill>
                  <a:srgbClr val="FFFFFF"/>
                </a:solidFill>
                <a:latin typeface="Apple SD Gothic Neo" pitchFamily="34" charset="0"/>
                <a:ea typeface="Apple SD Gothic Neo" pitchFamily="34" charset="-122"/>
                <a:cs typeface="Apple SD Gothic Neo" pitchFamily="34" charset="-120"/>
              </a:rPr>
              <a:t>CORE</a:t>
            </a:r>
            <a:endParaRPr lang="en-US" sz="750" dirty="0"/>
          </a:p>
        </p:txBody>
      </p:sp>
      <p:sp>
        <p:nvSpPr>
          <p:cNvPr id="32" name="Text 30"/>
          <p:cNvSpPr/>
          <p:nvPr/>
        </p:nvSpPr>
        <p:spPr>
          <a:xfrm>
            <a:off x="1901952" y="2990088"/>
            <a:ext cx="3502152" cy="256032"/>
          </a:xfrm>
          <a:prstGeom prst="rect">
            <a:avLst/>
          </a:prstGeom>
          <a:noFill/>
          <a:ln/>
        </p:spPr>
        <p:txBody>
          <a:bodyPr wrap="square" lIns="0" tIns="0" rIns="0" bIns="0" rtlCol="0" anchor="ctr">
            <a:normAutofit/>
          </a:bodyPr>
          <a:lstStyle/>
          <a:p>
            <a:pPr indent="0" marL="0">
              <a:buNone/>
            </a:pPr>
            <a:r>
              <a:rPr lang="en-US" sz="1100" dirty="0">
                <a:solidFill>
                  <a:srgbClr val="1C1917"/>
                </a:solidFill>
                <a:latin typeface="Apple SD Gothic Neo" pitchFamily="34" charset="0"/>
                <a:ea typeface="Apple SD Gothic Neo" pitchFamily="34" charset="-122"/>
                <a:cs typeface="Apple SD Gothic Neo" pitchFamily="34" charset="-120"/>
              </a:rPr>
              <a:t>25-35 경험 중심 MCM 고객</a:t>
            </a:r>
            <a:endParaRPr lang="en-US" sz="1100" dirty="0"/>
          </a:p>
        </p:txBody>
      </p:sp>
      <p:sp>
        <p:nvSpPr>
          <p:cNvPr id="33" name="Shape 31"/>
          <p:cNvSpPr/>
          <p:nvPr/>
        </p:nvSpPr>
        <p:spPr>
          <a:xfrm>
            <a:off x="987552" y="3538728"/>
            <a:ext cx="713232" cy="310896"/>
          </a:xfrm>
          <a:prstGeom prst="roundRect">
            <a:avLst>
              <a:gd name="adj" fmla="val 41176"/>
            </a:avLst>
          </a:prstGeom>
          <a:solidFill>
            <a:srgbClr val="F3EEE8"/>
          </a:solidFill>
          <a:ln w="10160">
            <a:solidFill>
              <a:srgbClr val="E9E0D6"/>
            </a:solidFill>
            <a:prstDash val="solid"/>
          </a:ln>
        </p:spPr>
      </p:sp>
      <p:sp>
        <p:nvSpPr>
          <p:cNvPr id="34" name="Text 32"/>
          <p:cNvSpPr/>
          <p:nvPr/>
        </p:nvSpPr>
        <p:spPr>
          <a:xfrm>
            <a:off x="987552" y="3611880"/>
            <a:ext cx="713232" cy="128016"/>
          </a:xfrm>
          <a:prstGeom prst="rect">
            <a:avLst/>
          </a:prstGeom>
          <a:noFill/>
          <a:ln/>
        </p:spPr>
        <p:txBody>
          <a:bodyPr wrap="square" lIns="0" tIns="0" rIns="0" bIns="0" rtlCol="0" anchor="ctr">
            <a:normAutofit/>
          </a:bodyPr>
          <a:lstStyle/>
          <a:p>
            <a:pPr algn="ctr" indent="0" marL="0">
              <a:buNone/>
            </a:pPr>
            <a:r>
              <a:rPr lang="en-US" sz="750" b="1" dirty="0">
                <a:solidFill>
                  <a:srgbClr val="8B5A2B"/>
                </a:solidFill>
                <a:latin typeface="Apple SD Gothic Neo" pitchFamily="34" charset="0"/>
                <a:ea typeface="Apple SD Gothic Neo" pitchFamily="34" charset="-122"/>
                <a:cs typeface="Apple SD Gothic Neo" pitchFamily="34" charset="-120"/>
              </a:rPr>
              <a:t>EARLY</a:t>
            </a:r>
            <a:endParaRPr lang="en-US" sz="750" dirty="0"/>
          </a:p>
        </p:txBody>
      </p:sp>
      <p:sp>
        <p:nvSpPr>
          <p:cNvPr id="35" name="Text 33"/>
          <p:cNvSpPr/>
          <p:nvPr/>
        </p:nvSpPr>
        <p:spPr>
          <a:xfrm>
            <a:off x="1901952" y="3557016"/>
            <a:ext cx="3502152" cy="256032"/>
          </a:xfrm>
          <a:prstGeom prst="rect">
            <a:avLst/>
          </a:prstGeom>
          <a:noFill/>
          <a:ln/>
        </p:spPr>
        <p:txBody>
          <a:bodyPr wrap="square" lIns="0" tIns="0" rIns="0" bIns="0" rtlCol="0" anchor="ctr">
            <a:normAutofit/>
          </a:bodyPr>
          <a:lstStyle/>
          <a:p>
            <a:pPr indent="0" marL="0">
              <a:buNone/>
            </a:pPr>
            <a:r>
              <a:rPr lang="en-US" sz="1100" dirty="0">
                <a:solidFill>
                  <a:srgbClr val="1C1917"/>
                </a:solidFill>
                <a:latin typeface="Apple SD Gothic Neo" pitchFamily="34" charset="0"/>
                <a:ea typeface="Apple SD Gothic Neo" pitchFamily="34" charset="-122"/>
                <a:cs typeface="Apple SD Gothic Neo" pitchFamily="34" charset="-120"/>
              </a:rPr>
              <a:t>패션·여행 공유 사용자 / 컬렉터</a:t>
            </a:r>
            <a:endParaRPr lang="en-US" sz="1100" dirty="0"/>
          </a:p>
        </p:txBody>
      </p:sp>
      <p:sp>
        <p:nvSpPr>
          <p:cNvPr id="36" name="Shape 34"/>
          <p:cNvSpPr/>
          <p:nvPr/>
        </p:nvSpPr>
        <p:spPr>
          <a:xfrm>
            <a:off x="987552" y="4105656"/>
            <a:ext cx="713232" cy="310896"/>
          </a:xfrm>
          <a:prstGeom prst="roundRect">
            <a:avLst>
              <a:gd name="adj" fmla="val 41176"/>
            </a:avLst>
          </a:prstGeom>
          <a:solidFill>
            <a:srgbClr val="F3EEE8"/>
          </a:solidFill>
          <a:ln w="10160">
            <a:solidFill>
              <a:srgbClr val="E9E0D6"/>
            </a:solidFill>
            <a:prstDash val="solid"/>
          </a:ln>
        </p:spPr>
      </p:sp>
      <p:sp>
        <p:nvSpPr>
          <p:cNvPr id="37" name="Text 35"/>
          <p:cNvSpPr/>
          <p:nvPr/>
        </p:nvSpPr>
        <p:spPr>
          <a:xfrm>
            <a:off x="987552" y="4178808"/>
            <a:ext cx="713232" cy="128016"/>
          </a:xfrm>
          <a:prstGeom prst="rect">
            <a:avLst/>
          </a:prstGeom>
          <a:noFill/>
          <a:ln/>
        </p:spPr>
        <p:txBody>
          <a:bodyPr wrap="square" lIns="0" tIns="0" rIns="0" bIns="0" rtlCol="0" anchor="ctr">
            <a:normAutofit/>
          </a:bodyPr>
          <a:lstStyle/>
          <a:p>
            <a:pPr algn="ctr" indent="0" marL="0">
              <a:buNone/>
            </a:pPr>
            <a:r>
              <a:rPr lang="en-US" sz="750" b="1" dirty="0">
                <a:solidFill>
                  <a:srgbClr val="8B5A2B"/>
                </a:solidFill>
                <a:latin typeface="Apple SD Gothic Neo" pitchFamily="34" charset="0"/>
                <a:ea typeface="Apple SD Gothic Neo" pitchFamily="34" charset="-122"/>
                <a:cs typeface="Apple SD Gothic Neo" pitchFamily="34" charset="-120"/>
              </a:rPr>
              <a:t>NEXT</a:t>
            </a:r>
            <a:endParaRPr lang="en-US" sz="750" dirty="0"/>
          </a:p>
        </p:txBody>
      </p:sp>
      <p:sp>
        <p:nvSpPr>
          <p:cNvPr id="38" name="Text 36"/>
          <p:cNvSpPr/>
          <p:nvPr/>
        </p:nvSpPr>
        <p:spPr>
          <a:xfrm>
            <a:off x="1901952" y="4123944"/>
            <a:ext cx="3502152" cy="256032"/>
          </a:xfrm>
          <a:prstGeom prst="rect">
            <a:avLst/>
          </a:prstGeom>
          <a:noFill/>
          <a:ln/>
        </p:spPr>
        <p:txBody>
          <a:bodyPr wrap="square" lIns="0" tIns="0" rIns="0" bIns="0" rtlCol="0" anchor="ctr">
            <a:normAutofit/>
          </a:bodyPr>
          <a:lstStyle/>
          <a:p>
            <a:pPr indent="0" marL="0">
              <a:buNone/>
            </a:pPr>
            <a:r>
              <a:rPr lang="en-US" sz="1100" dirty="0">
                <a:solidFill>
                  <a:srgbClr val="1C1917"/>
                </a:solidFill>
                <a:latin typeface="Apple SD Gothic Neo" pitchFamily="34" charset="0"/>
                <a:ea typeface="Apple SD Gothic Neo" pitchFamily="34" charset="-122"/>
                <a:cs typeface="Apple SD Gothic Neo" pitchFamily="34" charset="-120"/>
              </a:rPr>
              <a:t>제품을 물려받는 다음 소유자</a:t>
            </a:r>
            <a:endParaRPr lang="en-US" sz="1100" dirty="0"/>
          </a:p>
        </p:txBody>
      </p:sp>
      <p:sp>
        <p:nvSpPr>
          <p:cNvPr id="39" name="Shape 37"/>
          <p:cNvSpPr/>
          <p:nvPr/>
        </p:nvSpPr>
        <p:spPr>
          <a:xfrm>
            <a:off x="987552" y="4672584"/>
            <a:ext cx="713232" cy="310896"/>
          </a:xfrm>
          <a:prstGeom prst="roundRect">
            <a:avLst>
              <a:gd name="adj" fmla="val 41176"/>
            </a:avLst>
          </a:prstGeom>
          <a:solidFill>
            <a:srgbClr val="F3EEE8"/>
          </a:solidFill>
          <a:ln w="10160">
            <a:solidFill>
              <a:srgbClr val="E9E0D6"/>
            </a:solidFill>
            <a:prstDash val="solid"/>
          </a:ln>
        </p:spPr>
      </p:sp>
      <p:sp>
        <p:nvSpPr>
          <p:cNvPr id="40" name="Text 38"/>
          <p:cNvSpPr/>
          <p:nvPr/>
        </p:nvSpPr>
        <p:spPr>
          <a:xfrm>
            <a:off x="987552" y="4745736"/>
            <a:ext cx="713232" cy="128016"/>
          </a:xfrm>
          <a:prstGeom prst="rect">
            <a:avLst/>
          </a:prstGeom>
          <a:noFill/>
          <a:ln/>
        </p:spPr>
        <p:txBody>
          <a:bodyPr wrap="square" lIns="0" tIns="0" rIns="0" bIns="0" rtlCol="0" anchor="ctr">
            <a:normAutofit/>
          </a:bodyPr>
          <a:lstStyle/>
          <a:p>
            <a:pPr algn="ctr" indent="0" marL="0">
              <a:buNone/>
            </a:pPr>
            <a:r>
              <a:rPr lang="en-US" sz="750" b="1" dirty="0">
                <a:solidFill>
                  <a:srgbClr val="8B5A2B"/>
                </a:solidFill>
                <a:latin typeface="Apple SD Gothic Neo" pitchFamily="34" charset="0"/>
                <a:ea typeface="Apple SD Gothic Neo" pitchFamily="34" charset="-122"/>
                <a:cs typeface="Apple SD Gothic Neo" pitchFamily="34" charset="-120"/>
              </a:rPr>
              <a:t>B2B</a:t>
            </a:r>
            <a:endParaRPr lang="en-US" sz="750" dirty="0"/>
          </a:p>
        </p:txBody>
      </p:sp>
      <p:sp>
        <p:nvSpPr>
          <p:cNvPr id="41" name="Text 39"/>
          <p:cNvSpPr/>
          <p:nvPr/>
        </p:nvSpPr>
        <p:spPr>
          <a:xfrm>
            <a:off x="1901952" y="4690872"/>
            <a:ext cx="3502152" cy="256032"/>
          </a:xfrm>
          <a:prstGeom prst="rect">
            <a:avLst/>
          </a:prstGeom>
          <a:noFill/>
          <a:ln/>
        </p:spPr>
        <p:txBody>
          <a:bodyPr wrap="square" lIns="0" tIns="0" rIns="0" bIns="0" rtlCol="0" anchor="ctr">
            <a:normAutofit/>
          </a:bodyPr>
          <a:lstStyle/>
          <a:p>
            <a:pPr indent="0" marL="0">
              <a:buNone/>
            </a:pPr>
            <a:r>
              <a:rPr lang="en-US" sz="1100" dirty="0">
                <a:solidFill>
                  <a:srgbClr val="1C1917"/>
                </a:solidFill>
                <a:latin typeface="Apple SD Gothic Neo" pitchFamily="34" charset="0"/>
                <a:ea typeface="Apple SD Gothic Neo" pitchFamily="34" charset="-122"/>
                <a:cs typeface="Apple SD Gothic Neo" pitchFamily="34" charset="-120"/>
              </a:rPr>
              <a:t>MCM·럭셔리 브랜드 / Care·Resale 파트너</a:t>
            </a:r>
            <a:endParaRPr lang="en-US" sz="1100" dirty="0"/>
          </a:p>
        </p:txBody>
      </p:sp>
      <p:sp>
        <p:nvSpPr>
          <p:cNvPr id="42" name="Shape 40"/>
          <p:cNvSpPr/>
          <p:nvPr/>
        </p:nvSpPr>
        <p:spPr>
          <a:xfrm>
            <a:off x="6263640" y="2194560"/>
            <a:ext cx="5212080" cy="3520440"/>
          </a:xfrm>
          <a:prstGeom prst="roundRect">
            <a:avLst>
              <a:gd name="adj" fmla="val 3636"/>
            </a:avLst>
          </a:prstGeom>
          <a:solidFill>
            <a:srgbClr val="1C1917"/>
          </a:solidFill>
          <a:ln w="10160">
            <a:solidFill>
              <a:srgbClr val="1C1917"/>
            </a:solidFill>
            <a:prstDash val="solid"/>
          </a:ln>
        </p:spPr>
      </p:sp>
      <p:sp>
        <p:nvSpPr>
          <p:cNvPr id="43" name="Text 41"/>
          <p:cNvSpPr/>
          <p:nvPr/>
        </p:nvSpPr>
        <p:spPr>
          <a:xfrm>
            <a:off x="6565392" y="2514600"/>
            <a:ext cx="2743200" cy="201168"/>
          </a:xfrm>
          <a:prstGeom prst="rect">
            <a:avLst/>
          </a:prstGeom>
          <a:noFill/>
          <a:ln/>
        </p:spPr>
        <p:txBody>
          <a:bodyPr wrap="square" lIns="0" tIns="0" rIns="0" bIns="0" rtlCol="0" anchor="ctr">
            <a:normAutofit/>
          </a:bodyPr>
          <a:lstStyle/>
          <a:p>
            <a:pPr indent="0" marL="0">
              <a:buNone/>
            </a:pPr>
            <a:r>
              <a:rPr lang="en-US" sz="850" b="1" spc="160" kern="0" dirty="0">
                <a:solidFill>
                  <a:srgbClr val="C9945A"/>
                </a:solidFill>
                <a:latin typeface="Apple SD Gothic Neo" pitchFamily="34" charset="0"/>
                <a:ea typeface="Apple SD Gothic Neo" pitchFamily="34" charset="-122"/>
                <a:cs typeface="Apple SD Gothic Neo" pitchFamily="34" charset="-120"/>
              </a:rPr>
              <a:t>CHANNELS</a:t>
            </a:r>
            <a:endParaRPr lang="en-US" sz="850" dirty="0"/>
          </a:p>
        </p:txBody>
      </p:sp>
      <p:sp>
        <p:nvSpPr>
          <p:cNvPr id="44" name="Text 42"/>
          <p:cNvSpPr/>
          <p:nvPr/>
        </p:nvSpPr>
        <p:spPr>
          <a:xfrm>
            <a:off x="6565392" y="2926080"/>
            <a:ext cx="310896" cy="182880"/>
          </a:xfrm>
          <a:prstGeom prst="rect">
            <a:avLst/>
          </a:prstGeom>
          <a:noFill/>
          <a:ln/>
        </p:spPr>
        <p:txBody>
          <a:bodyPr wrap="square" lIns="0" tIns="0" rIns="0" bIns="0" rtlCol="0" anchor="ctr">
            <a:normAutofit/>
          </a:bodyPr>
          <a:lstStyle/>
          <a:p>
            <a:pPr indent="0" marL="0">
              <a:buNone/>
            </a:pPr>
            <a:r>
              <a:rPr lang="en-US" sz="850" b="1" dirty="0">
                <a:solidFill>
                  <a:srgbClr val="C9945A"/>
                </a:solidFill>
                <a:latin typeface="Apple SD Gothic Neo" pitchFamily="34" charset="0"/>
                <a:ea typeface="Apple SD Gothic Neo" pitchFamily="34" charset="-122"/>
                <a:cs typeface="Apple SD Gothic Neo" pitchFamily="34" charset="-120"/>
              </a:rPr>
              <a:t>01</a:t>
            </a:r>
            <a:endParaRPr lang="en-US" sz="850" dirty="0"/>
          </a:p>
        </p:txBody>
      </p:sp>
      <p:sp>
        <p:nvSpPr>
          <p:cNvPr id="45" name="Text 43"/>
          <p:cNvSpPr/>
          <p:nvPr/>
        </p:nvSpPr>
        <p:spPr>
          <a:xfrm>
            <a:off x="6995160" y="2889504"/>
            <a:ext cx="1417320" cy="256032"/>
          </a:xfrm>
          <a:prstGeom prst="rect">
            <a:avLst/>
          </a:prstGeom>
          <a:noFill/>
          <a:ln/>
        </p:spPr>
        <p:txBody>
          <a:bodyPr wrap="square" lIns="0" tIns="0" rIns="0" bIns="0" rtlCol="0" anchor="ctr">
            <a:normAutofit/>
          </a:bodyPr>
          <a:lstStyle/>
          <a:p>
            <a:pPr indent="0" marL="0">
              <a:buNone/>
            </a:pPr>
            <a:r>
              <a:rPr lang="en-US" sz="1050" b="1" dirty="0">
                <a:solidFill>
                  <a:srgbClr val="FFFFFF"/>
                </a:solidFill>
                <a:latin typeface="Apple SD Gothic Neo" pitchFamily="34" charset="0"/>
                <a:ea typeface="Apple SD Gothic Neo" pitchFamily="34" charset="-122"/>
                <a:cs typeface="Apple SD Gothic Neo" pitchFamily="34" charset="-120"/>
              </a:rPr>
              <a:t>오프라인 매장</a:t>
            </a:r>
            <a:endParaRPr lang="en-US" sz="1050" dirty="0"/>
          </a:p>
        </p:txBody>
      </p:sp>
      <p:sp>
        <p:nvSpPr>
          <p:cNvPr id="46" name="Text 44"/>
          <p:cNvSpPr/>
          <p:nvPr/>
        </p:nvSpPr>
        <p:spPr>
          <a:xfrm>
            <a:off x="8366760" y="2889504"/>
            <a:ext cx="2651760" cy="256032"/>
          </a:xfrm>
          <a:prstGeom prst="rect">
            <a:avLst/>
          </a:prstGeom>
          <a:noFill/>
          <a:ln/>
        </p:spPr>
        <p:txBody>
          <a:bodyPr wrap="square" lIns="0" tIns="0" rIns="0" bIns="0" rtlCol="0" anchor="ctr">
            <a:normAutofit/>
          </a:bodyPr>
          <a:lstStyle/>
          <a:p>
            <a:pPr indent="0" marL="0">
              <a:buNone/>
            </a:pPr>
            <a:r>
              <a:rPr lang="en-US" sz="950" dirty="0">
                <a:solidFill>
                  <a:srgbClr val="B7ADA4"/>
                </a:solidFill>
                <a:latin typeface="Apple SD Gothic Neo" pitchFamily="34" charset="0"/>
                <a:ea typeface="Apple SD Gothic Neo" pitchFamily="34" charset="-122"/>
                <a:cs typeface="Apple SD Gothic Neo" pitchFamily="34" charset="-120"/>
              </a:rPr>
              <a:t>구매 직후 Storybook 활성화</a:t>
            </a:r>
            <a:endParaRPr lang="en-US" sz="950" dirty="0"/>
          </a:p>
        </p:txBody>
      </p:sp>
      <p:sp>
        <p:nvSpPr>
          <p:cNvPr id="47" name="Text 45"/>
          <p:cNvSpPr/>
          <p:nvPr/>
        </p:nvSpPr>
        <p:spPr>
          <a:xfrm>
            <a:off x="6565392" y="3429000"/>
            <a:ext cx="310896" cy="182880"/>
          </a:xfrm>
          <a:prstGeom prst="rect">
            <a:avLst/>
          </a:prstGeom>
          <a:noFill/>
          <a:ln/>
        </p:spPr>
        <p:txBody>
          <a:bodyPr wrap="square" lIns="0" tIns="0" rIns="0" bIns="0" rtlCol="0" anchor="ctr">
            <a:normAutofit/>
          </a:bodyPr>
          <a:lstStyle/>
          <a:p>
            <a:pPr indent="0" marL="0">
              <a:buNone/>
            </a:pPr>
            <a:r>
              <a:rPr lang="en-US" sz="850" b="1" dirty="0">
                <a:solidFill>
                  <a:srgbClr val="C9945A"/>
                </a:solidFill>
                <a:latin typeface="Apple SD Gothic Neo" pitchFamily="34" charset="0"/>
                <a:ea typeface="Apple SD Gothic Neo" pitchFamily="34" charset="-122"/>
                <a:cs typeface="Apple SD Gothic Neo" pitchFamily="34" charset="-120"/>
              </a:rPr>
              <a:t>02</a:t>
            </a:r>
            <a:endParaRPr lang="en-US" sz="850" dirty="0"/>
          </a:p>
        </p:txBody>
      </p:sp>
      <p:sp>
        <p:nvSpPr>
          <p:cNvPr id="48" name="Text 46"/>
          <p:cNvSpPr/>
          <p:nvPr/>
        </p:nvSpPr>
        <p:spPr>
          <a:xfrm>
            <a:off x="6995160" y="3392424"/>
            <a:ext cx="1417320" cy="256032"/>
          </a:xfrm>
          <a:prstGeom prst="rect">
            <a:avLst/>
          </a:prstGeom>
          <a:noFill/>
          <a:ln/>
        </p:spPr>
        <p:txBody>
          <a:bodyPr wrap="square" lIns="0" tIns="0" rIns="0" bIns="0" rtlCol="0" anchor="ctr">
            <a:normAutofit/>
          </a:bodyPr>
          <a:lstStyle/>
          <a:p>
            <a:pPr indent="0" marL="0">
              <a:buNone/>
            </a:pPr>
            <a:r>
              <a:rPr lang="en-US" sz="1050" b="1" dirty="0">
                <a:solidFill>
                  <a:srgbClr val="FFFFFF"/>
                </a:solidFill>
                <a:latin typeface="Apple SD Gothic Neo" pitchFamily="34" charset="0"/>
                <a:ea typeface="Apple SD Gothic Neo" pitchFamily="34" charset="-122"/>
                <a:cs typeface="Apple SD Gothic Neo" pitchFamily="34" charset="-120"/>
              </a:rPr>
              <a:t>제품 태그·패키지</a:t>
            </a:r>
            <a:endParaRPr lang="en-US" sz="1050" dirty="0"/>
          </a:p>
        </p:txBody>
      </p:sp>
      <p:sp>
        <p:nvSpPr>
          <p:cNvPr id="49" name="Text 47"/>
          <p:cNvSpPr/>
          <p:nvPr/>
        </p:nvSpPr>
        <p:spPr>
          <a:xfrm>
            <a:off x="8366760" y="3392424"/>
            <a:ext cx="2651760" cy="256032"/>
          </a:xfrm>
          <a:prstGeom prst="rect">
            <a:avLst/>
          </a:prstGeom>
          <a:noFill/>
          <a:ln/>
        </p:spPr>
        <p:txBody>
          <a:bodyPr wrap="square" lIns="0" tIns="0" rIns="0" bIns="0" rtlCol="0" anchor="ctr">
            <a:normAutofit/>
          </a:bodyPr>
          <a:lstStyle/>
          <a:p>
            <a:pPr indent="0" marL="0">
              <a:buNone/>
            </a:pPr>
            <a:r>
              <a:rPr lang="en-US" sz="950" dirty="0">
                <a:solidFill>
                  <a:srgbClr val="B7ADA4"/>
                </a:solidFill>
                <a:latin typeface="Apple SD Gothic Neo" pitchFamily="34" charset="0"/>
                <a:ea typeface="Apple SD Gothic Neo" pitchFamily="34" charset="-122"/>
                <a:cs typeface="Apple SD Gothic Neo" pitchFamily="34" charset="-120"/>
              </a:rPr>
              <a:t>QR/NFC로 개인 제품 페이지 연결</a:t>
            </a:r>
            <a:endParaRPr lang="en-US" sz="950" dirty="0"/>
          </a:p>
        </p:txBody>
      </p:sp>
      <p:sp>
        <p:nvSpPr>
          <p:cNvPr id="50" name="Text 48"/>
          <p:cNvSpPr/>
          <p:nvPr/>
        </p:nvSpPr>
        <p:spPr>
          <a:xfrm>
            <a:off x="6565392" y="3931920"/>
            <a:ext cx="310896" cy="182880"/>
          </a:xfrm>
          <a:prstGeom prst="rect">
            <a:avLst/>
          </a:prstGeom>
          <a:noFill/>
          <a:ln/>
        </p:spPr>
        <p:txBody>
          <a:bodyPr wrap="square" lIns="0" tIns="0" rIns="0" bIns="0" rtlCol="0" anchor="ctr">
            <a:normAutofit/>
          </a:bodyPr>
          <a:lstStyle/>
          <a:p>
            <a:pPr indent="0" marL="0">
              <a:buNone/>
            </a:pPr>
            <a:r>
              <a:rPr lang="en-US" sz="850" b="1" dirty="0">
                <a:solidFill>
                  <a:srgbClr val="C9945A"/>
                </a:solidFill>
                <a:latin typeface="Apple SD Gothic Neo" pitchFamily="34" charset="0"/>
                <a:ea typeface="Apple SD Gothic Neo" pitchFamily="34" charset="-122"/>
                <a:cs typeface="Apple SD Gothic Neo" pitchFamily="34" charset="-120"/>
              </a:rPr>
              <a:t>03</a:t>
            </a:r>
            <a:endParaRPr lang="en-US" sz="850" dirty="0"/>
          </a:p>
        </p:txBody>
      </p:sp>
      <p:sp>
        <p:nvSpPr>
          <p:cNvPr id="51" name="Text 49"/>
          <p:cNvSpPr/>
          <p:nvPr/>
        </p:nvSpPr>
        <p:spPr>
          <a:xfrm>
            <a:off x="6995160" y="3895344"/>
            <a:ext cx="1417320" cy="256032"/>
          </a:xfrm>
          <a:prstGeom prst="rect">
            <a:avLst/>
          </a:prstGeom>
          <a:noFill/>
          <a:ln/>
        </p:spPr>
        <p:txBody>
          <a:bodyPr wrap="square" lIns="0" tIns="0" rIns="0" bIns="0" rtlCol="0" anchor="ctr">
            <a:normAutofit/>
          </a:bodyPr>
          <a:lstStyle/>
          <a:p>
            <a:pPr indent="0" marL="0">
              <a:buNone/>
            </a:pPr>
            <a:r>
              <a:rPr lang="en-US" sz="1050" b="1" dirty="0">
                <a:solidFill>
                  <a:srgbClr val="FFFFFF"/>
                </a:solidFill>
                <a:latin typeface="Apple SD Gothic Neo" pitchFamily="34" charset="0"/>
                <a:ea typeface="Apple SD Gothic Neo" pitchFamily="34" charset="-122"/>
                <a:cs typeface="Apple SD Gothic Neo" pitchFamily="34" charset="-120"/>
              </a:rPr>
              <a:t>공식 온라인</a:t>
            </a:r>
            <a:endParaRPr lang="en-US" sz="1050" dirty="0"/>
          </a:p>
        </p:txBody>
      </p:sp>
      <p:sp>
        <p:nvSpPr>
          <p:cNvPr id="52" name="Text 50"/>
          <p:cNvSpPr/>
          <p:nvPr/>
        </p:nvSpPr>
        <p:spPr>
          <a:xfrm>
            <a:off x="8366760" y="3895344"/>
            <a:ext cx="2651760" cy="256032"/>
          </a:xfrm>
          <a:prstGeom prst="rect">
            <a:avLst/>
          </a:prstGeom>
          <a:noFill/>
          <a:ln/>
        </p:spPr>
        <p:txBody>
          <a:bodyPr wrap="square" lIns="0" tIns="0" rIns="0" bIns="0" rtlCol="0" anchor="ctr">
            <a:normAutofit/>
          </a:bodyPr>
          <a:lstStyle/>
          <a:p>
            <a:pPr indent="0" marL="0">
              <a:buNone/>
            </a:pPr>
            <a:r>
              <a:rPr lang="en-US" sz="950" dirty="0">
                <a:solidFill>
                  <a:srgbClr val="B7ADA4"/>
                </a:solidFill>
                <a:latin typeface="Apple SD Gothic Neo" pitchFamily="34" charset="0"/>
                <a:ea typeface="Apple SD Gothic Neo" pitchFamily="34" charset="-122"/>
                <a:cs typeface="Apple SD Gothic Neo" pitchFamily="34" charset="-120"/>
              </a:rPr>
              <a:t>구매 완료 메일·홈페이지 재진입</a:t>
            </a:r>
            <a:endParaRPr lang="en-US" sz="950" dirty="0"/>
          </a:p>
        </p:txBody>
      </p:sp>
      <p:sp>
        <p:nvSpPr>
          <p:cNvPr id="53" name="Text 51"/>
          <p:cNvSpPr/>
          <p:nvPr/>
        </p:nvSpPr>
        <p:spPr>
          <a:xfrm>
            <a:off x="6565392" y="4434840"/>
            <a:ext cx="310896" cy="182880"/>
          </a:xfrm>
          <a:prstGeom prst="rect">
            <a:avLst/>
          </a:prstGeom>
          <a:noFill/>
          <a:ln/>
        </p:spPr>
        <p:txBody>
          <a:bodyPr wrap="square" lIns="0" tIns="0" rIns="0" bIns="0" rtlCol="0" anchor="ctr">
            <a:normAutofit/>
          </a:bodyPr>
          <a:lstStyle/>
          <a:p>
            <a:pPr indent="0" marL="0">
              <a:buNone/>
            </a:pPr>
            <a:r>
              <a:rPr lang="en-US" sz="850" b="1" dirty="0">
                <a:solidFill>
                  <a:srgbClr val="C9945A"/>
                </a:solidFill>
                <a:latin typeface="Apple SD Gothic Neo" pitchFamily="34" charset="0"/>
                <a:ea typeface="Apple SD Gothic Neo" pitchFamily="34" charset="-122"/>
                <a:cs typeface="Apple SD Gothic Neo" pitchFamily="34" charset="-120"/>
              </a:rPr>
              <a:t>04</a:t>
            </a:r>
            <a:endParaRPr lang="en-US" sz="850" dirty="0"/>
          </a:p>
        </p:txBody>
      </p:sp>
      <p:sp>
        <p:nvSpPr>
          <p:cNvPr id="54" name="Text 52"/>
          <p:cNvSpPr/>
          <p:nvPr/>
        </p:nvSpPr>
        <p:spPr>
          <a:xfrm>
            <a:off x="6995160" y="4398264"/>
            <a:ext cx="1417320" cy="256032"/>
          </a:xfrm>
          <a:prstGeom prst="rect">
            <a:avLst/>
          </a:prstGeom>
          <a:noFill/>
          <a:ln/>
        </p:spPr>
        <p:txBody>
          <a:bodyPr wrap="square" lIns="0" tIns="0" rIns="0" bIns="0" rtlCol="0" anchor="ctr">
            <a:normAutofit/>
          </a:bodyPr>
          <a:lstStyle/>
          <a:p>
            <a:pPr indent="0" marL="0">
              <a:buNone/>
            </a:pPr>
            <a:r>
              <a:rPr lang="en-US" sz="1050" b="1" dirty="0">
                <a:solidFill>
                  <a:srgbClr val="FFFFFF"/>
                </a:solidFill>
                <a:latin typeface="Apple SD Gothic Neo" pitchFamily="34" charset="0"/>
                <a:ea typeface="Apple SD Gothic Neo" pitchFamily="34" charset="-122"/>
                <a:cs typeface="Apple SD Gothic Neo" pitchFamily="34" charset="-120"/>
              </a:rPr>
              <a:t>Care &amp; Repair</a:t>
            </a:r>
            <a:endParaRPr lang="en-US" sz="1050" dirty="0"/>
          </a:p>
        </p:txBody>
      </p:sp>
      <p:sp>
        <p:nvSpPr>
          <p:cNvPr id="55" name="Text 53"/>
          <p:cNvSpPr/>
          <p:nvPr/>
        </p:nvSpPr>
        <p:spPr>
          <a:xfrm>
            <a:off x="8366760" y="4398264"/>
            <a:ext cx="2651760" cy="256032"/>
          </a:xfrm>
          <a:prstGeom prst="rect">
            <a:avLst/>
          </a:prstGeom>
          <a:noFill/>
          <a:ln/>
        </p:spPr>
        <p:txBody>
          <a:bodyPr wrap="square" lIns="0" tIns="0" rIns="0" bIns="0" rtlCol="0" anchor="ctr">
            <a:normAutofit/>
          </a:bodyPr>
          <a:lstStyle/>
          <a:p>
            <a:pPr indent="0" marL="0">
              <a:buNone/>
            </a:pPr>
            <a:r>
              <a:rPr lang="en-US" sz="950" dirty="0">
                <a:solidFill>
                  <a:srgbClr val="B7ADA4"/>
                </a:solidFill>
                <a:latin typeface="Apple SD Gothic Neo" pitchFamily="34" charset="0"/>
                <a:ea typeface="Apple SD Gothic Neo" pitchFamily="34" charset="-122"/>
                <a:cs typeface="Apple SD Gothic Neo" pitchFamily="34" charset="-120"/>
              </a:rPr>
              <a:t>접수·완료 안내에서 기록으로 복귀</a:t>
            </a:r>
            <a:endParaRPr lang="en-US" sz="950" dirty="0"/>
          </a:p>
        </p:txBody>
      </p:sp>
      <p:sp>
        <p:nvSpPr>
          <p:cNvPr id="56" name="Text 54"/>
          <p:cNvSpPr/>
          <p:nvPr/>
        </p:nvSpPr>
        <p:spPr>
          <a:xfrm>
            <a:off x="6565392" y="4937760"/>
            <a:ext cx="310896" cy="182880"/>
          </a:xfrm>
          <a:prstGeom prst="rect">
            <a:avLst/>
          </a:prstGeom>
          <a:noFill/>
          <a:ln/>
        </p:spPr>
        <p:txBody>
          <a:bodyPr wrap="square" lIns="0" tIns="0" rIns="0" bIns="0" rtlCol="0" anchor="ctr">
            <a:normAutofit/>
          </a:bodyPr>
          <a:lstStyle/>
          <a:p>
            <a:pPr indent="0" marL="0">
              <a:buNone/>
            </a:pPr>
            <a:r>
              <a:rPr lang="en-US" sz="850" b="1" dirty="0">
                <a:solidFill>
                  <a:srgbClr val="C9945A"/>
                </a:solidFill>
                <a:latin typeface="Apple SD Gothic Neo" pitchFamily="34" charset="0"/>
                <a:ea typeface="Apple SD Gothic Neo" pitchFamily="34" charset="-122"/>
                <a:cs typeface="Apple SD Gothic Neo" pitchFamily="34" charset="-120"/>
              </a:rPr>
              <a:t>05</a:t>
            </a:r>
            <a:endParaRPr lang="en-US" sz="850" dirty="0"/>
          </a:p>
        </p:txBody>
      </p:sp>
      <p:sp>
        <p:nvSpPr>
          <p:cNvPr id="57" name="Text 55"/>
          <p:cNvSpPr/>
          <p:nvPr/>
        </p:nvSpPr>
        <p:spPr>
          <a:xfrm>
            <a:off x="6995160" y="4901184"/>
            <a:ext cx="1417320" cy="256032"/>
          </a:xfrm>
          <a:prstGeom prst="rect">
            <a:avLst/>
          </a:prstGeom>
          <a:noFill/>
          <a:ln/>
        </p:spPr>
        <p:txBody>
          <a:bodyPr wrap="square" lIns="0" tIns="0" rIns="0" bIns="0" rtlCol="0" anchor="ctr">
            <a:normAutofit/>
          </a:bodyPr>
          <a:lstStyle/>
          <a:p>
            <a:pPr indent="0" marL="0">
              <a:buNone/>
            </a:pPr>
            <a:r>
              <a:rPr lang="en-US" sz="1050" b="1" dirty="0">
                <a:solidFill>
                  <a:srgbClr val="FFFFFF"/>
                </a:solidFill>
                <a:latin typeface="Apple SD Gothic Neo" pitchFamily="34" charset="0"/>
                <a:ea typeface="Apple SD Gothic Neo" pitchFamily="34" charset="-122"/>
                <a:cs typeface="Apple SD Gothic Neo" pitchFamily="34" charset="-120"/>
              </a:rPr>
              <a:t>SNS 공유</a:t>
            </a:r>
            <a:endParaRPr lang="en-US" sz="1050" dirty="0"/>
          </a:p>
        </p:txBody>
      </p:sp>
      <p:sp>
        <p:nvSpPr>
          <p:cNvPr id="58" name="Text 56"/>
          <p:cNvSpPr/>
          <p:nvPr/>
        </p:nvSpPr>
        <p:spPr>
          <a:xfrm>
            <a:off x="8366760" y="4901184"/>
            <a:ext cx="2651760" cy="256032"/>
          </a:xfrm>
          <a:prstGeom prst="rect">
            <a:avLst/>
          </a:prstGeom>
          <a:noFill/>
          <a:ln/>
        </p:spPr>
        <p:txBody>
          <a:bodyPr wrap="square" lIns="0" tIns="0" rIns="0" bIns="0" rtlCol="0" anchor="ctr">
            <a:normAutofit/>
          </a:bodyPr>
          <a:lstStyle/>
          <a:p>
            <a:pPr indent="0" marL="0">
              <a:buNone/>
            </a:pPr>
            <a:r>
              <a:rPr lang="en-US" sz="950" dirty="0">
                <a:solidFill>
                  <a:srgbClr val="B7ADA4"/>
                </a:solidFill>
                <a:latin typeface="Apple SD Gothic Neo" pitchFamily="34" charset="0"/>
                <a:ea typeface="Apple SD Gothic Neo" pitchFamily="34" charset="-122"/>
                <a:cs typeface="Apple SD Gothic Neo" pitchFamily="34" charset="-120"/>
              </a:rPr>
              <a:t>Recap 콘텐츠로 자연스러운 노출</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C1917"/>
        </a:solidFill>
      </p:bgPr>
    </p:bg>
    <p:spTree>
      <p:nvGrpSpPr>
        <p:cNvPr id="1" name=""/>
        <p:cNvGrpSpPr/>
        <p:nvPr/>
      </p:nvGrpSpPr>
      <p:grpSpPr>
        <a:xfrm>
          <a:off x="0" y="0"/>
          <a:ext cx="0" cy="0"/>
          <a:chOff x="0" y="0"/>
          <a:chExt cx="0" cy="0"/>
        </a:xfrm>
      </p:grpSpPr>
      <p:sp>
        <p:nvSpPr>
          <p:cNvPr id="2" name="Text 0"/>
          <p:cNvSpPr/>
          <p:nvPr/>
        </p:nvSpPr>
        <p:spPr>
          <a:xfrm>
            <a:off x="685800" y="411480"/>
            <a:ext cx="2926080" cy="201168"/>
          </a:xfrm>
          <a:prstGeom prst="rect">
            <a:avLst/>
          </a:prstGeom>
          <a:noFill/>
          <a:ln/>
        </p:spPr>
        <p:txBody>
          <a:bodyPr wrap="square" lIns="0" tIns="0" rIns="0" bIns="0" rtlCol="0" anchor="ctr">
            <a:normAutofit/>
          </a:bodyPr>
          <a:lstStyle/>
          <a:p>
            <a:pPr indent="0" marL="0">
              <a:buNone/>
            </a:pPr>
            <a:r>
              <a:rPr lang="en-US" sz="900" b="1" spc="210" kern="0" dirty="0">
                <a:solidFill>
                  <a:srgbClr val="C9945A"/>
                </a:solidFill>
                <a:latin typeface="Apple SD Gothic Neo" pitchFamily="34" charset="0"/>
                <a:ea typeface="Apple SD Gothic Neo" pitchFamily="34" charset="-122"/>
                <a:cs typeface="Apple SD Gothic Neo" pitchFamily="34" charset="-120"/>
              </a:rPr>
              <a:t>BUSINESS MODEL</a:t>
            </a:r>
            <a:endParaRPr lang="en-US" sz="900" dirty="0"/>
          </a:p>
        </p:txBody>
      </p:sp>
      <p:sp>
        <p:nvSpPr>
          <p:cNvPr id="3" name="Text 1"/>
          <p:cNvSpPr/>
          <p:nvPr/>
        </p:nvSpPr>
        <p:spPr>
          <a:xfrm>
            <a:off x="685800" y="749808"/>
            <a:ext cx="10789920" cy="841248"/>
          </a:xfrm>
          <a:prstGeom prst="rect">
            <a:avLst/>
          </a:prstGeom>
          <a:noFill/>
          <a:ln/>
        </p:spPr>
        <p:txBody>
          <a:bodyPr wrap="square" lIns="0" tIns="0" rIns="0" bIns="0" rtlCol="0" anchor="t">
            <a:normAutofit/>
          </a:bodyPr>
          <a:lstStyle/>
          <a:p>
            <a:pPr indent="0" marL="0">
              <a:lnSpc>
                <a:spcPct val="88000"/>
              </a:lnSpc>
              <a:buNone/>
            </a:pPr>
            <a:r>
              <a:rPr lang="en-US" sz="2600" b="1" dirty="0">
                <a:solidFill>
                  <a:srgbClr val="FFFFFF"/>
                </a:solidFill>
                <a:latin typeface="Apple SD Gothic Neo" pitchFamily="34" charset="0"/>
                <a:ea typeface="Apple SD Gothic Neo" pitchFamily="34" charset="-122"/>
                <a:cs typeface="Apple SD Gothic Neo" pitchFamily="34" charset="-120"/>
              </a:rPr>
              <a:t>초기 구축 매출에서 시작해,</a:t>
            </a:r>
            <a:endParaRPr lang="en-US" sz="2600" dirty="0"/>
          </a:p>
          <a:p>
            <a:pPr indent="0" marL="0">
              <a:lnSpc>
                <a:spcPct val="88000"/>
              </a:lnSpc>
              <a:buNone/>
            </a:pPr>
            <a:r>
              <a:rPr lang="en-US" sz="2600" b="1" dirty="0">
                <a:solidFill>
                  <a:srgbClr val="FFFFFF"/>
                </a:solidFill>
                <a:latin typeface="Apple SD Gothic Neo" pitchFamily="34" charset="0"/>
                <a:ea typeface="Apple SD Gothic Neo" pitchFamily="34" charset="-122"/>
                <a:cs typeface="Apple SD Gothic Neo" pitchFamily="34" charset="-120"/>
              </a:rPr>
              <a:t>사용량 기반 반복 매출로 확장합니다</a:t>
            </a:r>
            <a:endParaRPr lang="en-US" sz="2600" dirty="0"/>
          </a:p>
        </p:txBody>
      </p:sp>
      <p:sp>
        <p:nvSpPr>
          <p:cNvPr id="4" name="Text 2"/>
          <p:cNvSpPr/>
          <p:nvPr/>
        </p:nvSpPr>
        <p:spPr>
          <a:xfrm>
            <a:off x="694944" y="1581912"/>
            <a:ext cx="9875520" cy="347472"/>
          </a:xfrm>
          <a:prstGeom prst="rect">
            <a:avLst/>
          </a:prstGeom>
          <a:noFill/>
          <a:ln/>
        </p:spPr>
        <p:txBody>
          <a:bodyPr wrap="square" lIns="0" tIns="0" rIns="0" bIns="0" rtlCol="0" anchor="t">
            <a:normAutofit/>
          </a:bodyPr>
          <a:lstStyle/>
          <a:p>
            <a:pPr indent="0" marL="0">
              <a:buNone/>
            </a:pPr>
            <a:r>
              <a:rPr lang="en-US" sz="1150" dirty="0">
                <a:solidFill>
                  <a:srgbClr val="B7ADA4"/>
                </a:solidFill>
                <a:latin typeface="Apple SD Gothic Neo" pitchFamily="34" charset="0"/>
                <a:ea typeface="Apple SD Gothic Neo" pitchFamily="34" charset="-122"/>
                <a:cs typeface="Apple SD Gothic Neo" pitchFamily="34" charset="-120"/>
              </a:rPr>
              <a:t>금액은 파일럿 범위와 실제 운영 비용을 확인한 뒤 산정합니다.</a:t>
            </a:r>
            <a:endParaRPr lang="en-US" sz="1150" dirty="0"/>
          </a:p>
        </p:txBody>
      </p:sp>
      <p:sp>
        <p:nvSpPr>
          <p:cNvPr id="5" name="Text 3"/>
          <p:cNvSpPr/>
          <p:nvPr/>
        </p:nvSpPr>
        <p:spPr>
          <a:xfrm>
            <a:off x="658368" y="6473952"/>
            <a:ext cx="2286000" cy="182880"/>
          </a:xfrm>
          <a:prstGeom prst="rect">
            <a:avLst/>
          </a:prstGeom>
          <a:noFill/>
          <a:ln/>
        </p:spPr>
        <p:txBody>
          <a:bodyPr wrap="square" lIns="0" tIns="0" rIns="0" bIns="0" rtlCol="0" anchor="ctr">
            <a:normAutofit/>
          </a:bodyPr>
          <a:lstStyle/>
          <a:p>
            <a:pPr indent="0" marL="0">
              <a:buNone/>
            </a:pPr>
            <a:r>
              <a:rPr lang="en-US" sz="850" spc="140" kern="0" dirty="0">
                <a:solidFill>
                  <a:srgbClr val="B7ADA4"/>
                </a:solidFill>
                <a:latin typeface="Apple SD Gothic Neo" pitchFamily="34" charset="0"/>
                <a:ea typeface="Apple SD Gothic Neo" pitchFamily="34" charset="-122"/>
                <a:cs typeface="Apple SD Gothic Neo" pitchFamily="34" charset="-120"/>
              </a:rPr>
              <a:t>MCM · STORYBOOK</a:t>
            </a:r>
            <a:endParaRPr lang="en-US" sz="850" dirty="0"/>
          </a:p>
        </p:txBody>
      </p:sp>
      <p:sp>
        <p:nvSpPr>
          <p:cNvPr id="6" name="Text 4"/>
          <p:cNvSpPr/>
          <p:nvPr/>
        </p:nvSpPr>
        <p:spPr>
          <a:xfrm>
            <a:off x="11155680" y="6473952"/>
            <a:ext cx="384048" cy="182880"/>
          </a:xfrm>
          <a:prstGeom prst="rect">
            <a:avLst/>
          </a:prstGeom>
          <a:noFill/>
          <a:ln/>
        </p:spPr>
        <p:txBody>
          <a:bodyPr wrap="square" lIns="0" tIns="0" rIns="0" bIns="0" rtlCol="0" anchor="ctr">
            <a:normAutofit/>
          </a:bodyPr>
          <a:lstStyle/>
          <a:p>
            <a:pPr algn="r" indent="0" marL="0">
              <a:buNone/>
            </a:pPr>
            <a:r>
              <a:rPr lang="en-US" sz="850" dirty="0">
                <a:solidFill>
                  <a:srgbClr val="B7ADA4"/>
                </a:solidFill>
                <a:latin typeface="Apple SD Gothic Neo" pitchFamily="34" charset="0"/>
                <a:ea typeface="Apple SD Gothic Neo" pitchFamily="34" charset="-122"/>
                <a:cs typeface="Apple SD Gothic Neo" pitchFamily="34" charset="-120"/>
              </a:rPr>
              <a:t>11</a:t>
            </a:r>
            <a:endParaRPr lang="en-US" sz="850" dirty="0"/>
          </a:p>
        </p:txBody>
      </p:sp>
      <p:sp>
        <p:nvSpPr>
          <p:cNvPr id="7" name="Shape 5"/>
          <p:cNvSpPr/>
          <p:nvPr/>
        </p:nvSpPr>
        <p:spPr>
          <a:xfrm>
            <a:off x="749808" y="2148840"/>
            <a:ext cx="2002536" cy="2148840"/>
          </a:xfrm>
          <a:prstGeom prst="roundRect">
            <a:avLst>
              <a:gd name="adj" fmla="val 6393"/>
            </a:avLst>
          </a:prstGeom>
          <a:solidFill>
            <a:srgbClr val="8B5A2B"/>
          </a:solidFill>
          <a:ln w="10160">
            <a:solidFill>
              <a:srgbClr val="8B5A2B"/>
            </a:solidFill>
            <a:prstDash val="solid"/>
          </a:ln>
        </p:spPr>
      </p:sp>
      <p:sp>
        <p:nvSpPr>
          <p:cNvPr id="8" name="Text 6"/>
          <p:cNvSpPr/>
          <p:nvPr/>
        </p:nvSpPr>
        <p:spPr>
          <a:xfrm>
            <a:off x="969264" y="2359152"/>
            <a:ext cx="320040" cy="182880"/>
          </a:xfrm>
          <a:prstGeom prst="rect">
            <a:avLst/>
          </a:prstGeom>
          <a:noFill/>
          <a:ln/>
        </p:spPr>
        <p:txBody>
          <a:bodyPr wrap="square" lIns="0" tIns="0" rIns="0" bIns="0" rtlCol="0" anchor="ctr">
            <a:normAutofit/>
          </a:bodyPr>
          <a:lstStyle/>
          <a:p>
            <a:pPr indent="0" marL="0">
              <a:buNone/>
            </a:pPr>
            <a:r>
              <a:rPr lang="en-US" sz="850" b="1" dirty="0">
                <a:solidFill>
                  <a:srgbClr val="FFFFFF"/>
                </a:solidFill>
                <a:latin typeface="Apple SD Gothic Neo" pitchFamily="34" charset="0"/>
                <a:ea typeface="Apple SD Gothic Neo" pitchFamily="34" charset="-122"/>
                <a:cs typeface="Apple SD Gothic Neo" pitchFamily="34" charset="-120"/>
              </a:rPr>
              <a:t>01</a:t>
            </a:r>
            <a:endParaRPr lang="en-US" sz="850" dirty="0"/>
          </a:p>
        </p:txBody>
      </p:sp>
      <p:sp>
        <p:nvSpPr>
          <p:cNvPr id="9" name="Text 7"/>
          <p:cNvSpPr/>
          <p:nvPr/>
        </p:nvSpPr>
        <p:spPr>
          <a:xfrm>
            <a:off x="969264" y="2715768"/>
            <a:ext cx="1572768" cy="475488"/>
          </a:xfrm>
          <a:prstGeom prst="rect">
            <a:avLst/>
          </a:prstGeom>
          <a:noFill/>
          <a:ln/>
        </p:spPr>
        <p:txBody>
          <a:bodyPr wrap="square" lIns="0" tIns="0" rIns="0" bIns="0" rtlCol="0" anchor="t">
            <a:normAutofit/>
          </a:bodyPr>
          <a:lstStyle/>
          <a:p>
            <a:pPr indent="0" marL="0">
              <a:buNone/>
            </a:pPr>
            <a:r>
              <a:rPr lang="en-US" sz="1300" b="1" dirty="0">
                <a:solidFill>
                  <a:srgbClr val="FFFFFF"/>
                </a:solidFill>
                <a:latin typeface="Apple SD Gothic Neo" pitchFamily="34" charset="0"/>
                <a:ea typeface="Apple SD Gothic Neo" pitchFamily="34" charset="-122"/>
                <a:cs typeface="Apple SD Gothic Neo" pitchFamily="34" charset="-120"/>
              </a:rPr>
              <a:t>브랜드 맞춤 구축비</a:t>
            </a:r>
            <a:endParaRPr lang="en-US" sz="1300" dirty="0"/>
          </a:p>
        </p:txBody>
      </p:sp>
      <p:sp>
        <p:nvSpPr>
          <p:cNvPr id="10" name="Text 8"/>
          <p:cNvSpPr/>
          <p:nvPr/>
        </p:nvSpPr>
        <p:spPr>
          <a:xfrm>
            <a:off x="969264" y="3429000"/>
            <a:ext cx="1572768" cy="502920"/>
          </a:xfrm>
          <a:prstGeom prst="rect">
            <a:avLst/>
          </a:prstGeom>
          <a:noFill/>
          <a:ln/>
        </p:spPr>
        <p:txBody>
          <a:bodyPr wrap="square" lIns="0" tIns="0" rIns="0" bIns="0" rtlCol="0" anchor="t">
            <a:normAutofit/>
          </a:bodyPr>
          <a:lstStyle/>
          <a:p>
            <a:pPr indent="0" marL="0">
              <a:buNone/>
            </a:pPr>
            <a:r>
              <a:rPr lang="en-US" sz="920" dirty="0">
                <a:solidFill>
                  <a:srgbClr val="F0DDCB"/>
                </a:solidFill>
                <a:latin typeface="Apple SD Gothic Neo" pitchFamily="34" charset="0"/>
                <a:ea typeface="Apple SD Gothic Neo" pitchFamily="34" charset="-122"/>
                <a:cs typeface="Apple SD Gothic Neo" pitchFamily="34" charset="-120"/>
              </a:rPr>
              <a:t>전용 UI·제품 DB·DPP·관리자 연동</a:t>
            </a:r>
            <a:endParaRPr lang="en-US" sz="920" dirty="0"/>
          </a:p>
        </p:txBody>
      </p:sp>
      <p:sp>
        <p:nvSpPr>
          <p:cNvPr id="11" name="Shape 9"/>
          <p:cNvSpPr/>
          <p:nvPr/>
        </p:nvSpPr>
        <p:spPr>
          <a:xfrm>
            <a:off x="3008376" y="2304288"/>
            <a:ext cx="2002536" cy="2148840"/>
          </a:xfrm>
          <a:prstGeom prst="roundRect">
            <a:avLst>
              <a:gd name="adj" fmla="val 6393"/>
            </a:avLst>
          </a:prstGeom>
          <a:solidFill>
            <a:srgbClr val="8B5A2B"/>
          </a:solidFill>
          <a:ln w="10160">
            <a:solidFill>
              <a:srgbClr val="8B5A2B"/>
            </a:solidFill>
            <a:prstDash val="solid"/>
          </a:ln>
        </p:spPr>
      </p:sp>
      <p:sp>
        <p:nvSpPr>
          <p:cNvPr id="12" name="Text 10"/>
          <p:cNvSpPr/>
          <p:nvPr/>
        </p:nvSpPr>
        <p:spPr>
          <a:xfrm>
            <a:off x="3227832" y="2514600"/>
            <a:ext cx="320040" cy="182880"/>
          </a:xfrm>
          <a:prstGeom prst="rect">
            <a:avLst/>
          </a:prstGeom>
          <a:noFill/>
          <a:ln/>
        </p:spPr>
        <p:txBody>
          <a:bodyPr wrap="square" lIns="0" tIns="0" rIns="0" bIns="0" rtlCol="0" anchor="ctr">
            <a:normAutofit/>
          </a:bodyPr>
          <a:lstStyle/>
          <a:p>
            <a:pPr indent="0" marL="0">
              <a:buNone/>
            </a:pPr>
            <a:r>
              <a:rPr lang="en-US" sz="850" b="1" dirty="0">
                <a:solidFill>
                  <a:srgbClr val="FFFFFF"/>
                </a:solidFill>
                <a:latin typeface="Apple SD Gothic Neo" pitchFamily="34" charset="0"/>
                <a:ea typeface="Apple SD Gothic Neo" pitchFamily="34" charset="-122"/>
                <a:cs typeface="Apple SD Gothic Neo" pitchFamily="34" charset="-120"/>
              </a:rPr>
              <a:t>02</a:t>
            </a:r>
            <a:endParaRPr lang="en-US" sz="850" dirty="0"/>
          </a:p>
        </p:txBody>
      </p:sp>
      <p:sp>
        <p:nvSpPr>
          <p:cNvPr id="13" name="Text 11"/>
          <p:cNvSpPr/>
          <p:nvPr/>
        </p:nvSpPr>
        <p:spPr>
          <a:xfrm>
            <a:off x="3227832" y="2871216"/>
            <a:ext cx="1572768" cy="475488"/>
          </a:xfrm>
          <a:prstGeom prst="rect">
            <a:avLst/>
          </a:prstGeom>
          <a:noFill/>
          <a:ln/>
        </p:spPr>
        <p:txBody>
          <a:bodyPr wrap="square" lIns="0" tIns="0" rIns="0" bIns="0" rtlCol="0" anchor="t">
            <a:normAutofit/>
          </a:bodyPr>
          <a:lstStyle/>
          <a:p>
            <a:pPr indent="0" marL="0">
              <a:buNone/>
            </a:pPr>
            <a:r>
              <a:rPr lang="en-US" sz="1300" b="1" dirty="0">
                <a:solidFill>
                  <a:srgbClr val="FFFFFF"/>
                </a:solidFill>
                <a:latin typeface="Apple SD Gothic Neo" pitchFamily="34" charset="0"/>
                <a:ea typeface="Apple SD Gothic Neo" pitchFamily="34" charset="-122"/>
                <a:cs typeface="Apple SD Gothic Neo" pitchFamily="34" charset="-120"/>
              </a:rPr>
              <a:t>브랜드 SaaS 구독</a:t>
            </a:r>
            <a:endParaRPr lang="en-US" sz="1300" dirty="0"/>
          </a:p>
        </p:txBody>
      </p:sp>
      <p:sp>
        <p:nvSpPr>
          <p:cNvPr id="14" name="Text 12"/>
          <p:cNvSpPr/>
          <p:nvPr/>
        </p:nvSpPr>
        <p:spPr>
          <a:xfrm>
            <a:off x="3227832" y="3584448"/>
            <a:ext cx="1572768" cy="502920"/>
          </a:xfrm>
          <a:prstGeom prst="rect">
            <a:avLst/>
          </a:prstGeom>
          <a:noFill/>
          <a:ln/>
        </p:spPr>
        <p:txBody>
          <a:bodyPr wrap="square" lIns="0" tIns="0" rIns="0" bIns="0" rtlCol="0" anchor="t">
            <a:normAutofit/>
          </a:bodyPr>
          <a:lstStyle/>
          <a:p>
            <a:pPr indent="0" marL="0">
              <a:buNone/>
            </a:pPr>
            <a:r>
              <a:rPr lang="en-US" sz="920" dirty="0">
                <a:solidFill>
                  <a:srgbClr val="F0DDCB"/>
                </a:solidFill>
                <a:latin typeface="Apple SD Gothic Neo" pitchFamily="34" charset="0"/>
                <a:ea typeface="Apple SD Gothic Neo" pitchFamily="34" charset="-122"/>
                <a:cs typeface="Apple SD Gothic Neo" pitchFamily="34" charset="-120"/>
              </a:rPr>
              <a:t>활성 제품·사용자 기준 월 이용료</a:t>
            </a:r>
            <a:endParaRPr lang="en-US" sz="920" dirty="0"/>
          </a:p>
        </p:txBody>
      </p:sp>
      <p:sp>
        <p:nvSpPr>
          <p:cNvPr id="15" name="Shape 13"/>
          <p:cNvSpPr/>
          <p:nvPr/>
        </p:nvSpPr>
        <p:spPr>
          <a:xfrm>
            <a:off x="5266944" y="2459736"/>
            <a:ext cx="2002536" cy="2148840"/>
          </a:xfrm>
          <a:prstGeom prst="roundRect">
            <a:avLst>
              <a:gd name="adj" fmla="val 6393"/>
            </a:avLst>
          </a:prstGeom>
          <a:solidFill>
            <a:srgbClr val="272220"/>
          </a:solidFill>
          <a:ln w="10160">
            <a:solidFill>
              <a:srgbClr val="413936"/>
            </a:solidFill>
            <a:prstDash val="solid"/>
          </a:ln>
        </p:spPr>
      </p:sp>
      <p:sp>
        <p:nvSpPr>
          <p:cNvPr id="16" name="Text 14"/>
          <p:cNvSpPr/>
          <p:nvPr/>
        </p:nvSpPr>
        <p:spPr>
          <a:xfrm>
            <a:off x="5486400" y="2670048"/>
            <a:ext cx="320040" cy="182880"/>
          </a:xfrm>
          <a:prstGeom prst="rect">
            <a:avLst/>
          </a:prstGeom>
          <a:noFill/>
          <a:ln/>
        </p:spPr>
        <p:txBody>
          <a:bodyPr wrap="square" lIns="0" tIns="0" rIns="0" bIns="0" rtlCol="0" anchor="ctr">
            <a:normAutofit/>
          </a:bodyPr>
          <a:lstStyle/>
          <a:p>
            <a:pPr indent="0" marL="0">
              <a:buNone/>
            </a:pPr>
            <a:r>
              <a:rPr lang="en-US" sz="850" b="1" dirty="0">
                <a:solidFill>
                  <a:srgbClr val="C9945A"/>
                </a:solidFill>
                <a:latin typeface="Apple SD Gothic Neo" pitchFamily="34" charset="0"/>
                <a:ea typeface="Apple SD Gothic Neo" pitchFamily="34" charset="-122"/>
                <a:cs typeface="Apple SD Gothic Neo" pitchFamily="34" charset="-120"/>
              </a:rPr>
              <a:t>03</a:t>
            </a:r>
            <a:endParaRPr lang="en-US" sz="850" dirty="0"/>
          </a:p>
        </p:txBody>
      </p:sp>
      <p:sp>
        <p:nvSpPr>
          <p:cNvPr id="17" name="Text 15"/>
          <p:cNvSpPr/>
          <p:nvPr/>
        </p:nvSpPr>
        <p:spPr>
          <a:xfrm>
            <a:off x="5486400" y="3026664"/>
            <a:ext cx="1572768" cy="475488"/>
          </a:xfrm>
          <a:prstGeom prst="rect">
            <a:avLst/>
          </a:prstGeom>
          <a:noFill/>
          <a:ln/>
        </p:spPr>
        <p:txBody>
          <a:bodyPr wrap="square" lIns="0" tIns="0" rIns="0" bIns="0" rtlCol="0" anchor="t">
            <a:normAutofit/>
          </a:bodyPr>
          <a:lstStyle/>
          <a:p>
            <a:pPr indent="0" marL="0">
              <a:buNone/>
            </a:pPr>
            <a:r>
              <a:rPr lang="en-US" sz="1300" b="1" dirty="0">
                <a:solidFill>
                  <a:srgbClr val="FFFFFF"/>
                </a:solidFill>
                <a:latin typeface="Apple SD Gothic Neo" pitchFamily="34" charset="0"/>
                <a:ea typeface="Apple SD Gothic Neo" pitchFamily="34" charset="-122"/>
                <a:cs typeface="Apple SD Gothic Neo" pitchFamily="34" charset="-120"/>
              </a:rPr>
              <a:t>AI Story Premium</a:t>
            </a:r>
            <a:endParaRPr lang="en-US" sz="1300" dirty="0"/>
          </a:p>
        </p:txBody>
      </p:sp>
      <p:sp>
        <p:nvSpPr>
          <p:cNvPr id="18" name="Text 16"/>
          <p:cNvSpPr/>
          <p:nvPr/>
        </p:nvSpPr>
        <p:spPr>
          <a:xfrm>
            <a:off x="5486400" y="3739896"/>
            <a:ext cx="1572768" cy="502920"/>
          </a:xfrm>
          <a:prstGeom prst="rect">
            <a:avLst/>
          </a:prstGeom>
          <a:noFill/>
          <a:ln/>
        </p:spPr>
        <p:txBody>
          <a:bodyPr wrap="square" lIns="0" tIns="0" rIns="0" bIns="0" rtlCol="0" anchor="t">
            <a:normAutofit/>
          </a:bodyPr>
          <a:lstStyle/>
          <a:p>
            <a:pPr indent="0" marL="0">
              <a:buNone/>
            </a:pPr>
            <a:r>
              <a:rPr lang="en-US" sz="920" dirty="0">
                <a:solidFill>
                  <a:srgbClr val="B7ADA4"/>
                </a:solidFill>
                <a:latin typeface="Apple SD Gothic Neo" pitchFamily="34" charset="0"/>
                <a:ea typeface="Apple SD Gothic Neo" pitchFamily="34" charset="-122"/>
                <a:cs typeface="Apple SD Gothic Neo" pitchFamily="34" charset="-120"/>
              </a:rPr>
              <a:t>고화질 Recap·기념일 콘텐츠</a:t>
            </a:r>
            <a:endParaRPr lang="en-US" sz="920" dirty="0"/>
          </a:p>
        </p:txBody>
      </p:sp>
      <p:sp>
        <p:nvSpPr>
          <p:cNvPr id="19" name="Shape 17"/>
          <p:cNvSpPr/>
          <p:nvPr/>
        </p:nvSpPr>
        <p:spPr>
          <a:xfrm>
            <a:off x="7525512" y="2615184"/>
            <a:ext cx="2002536" cy="2148840"/>
          </a:xfrm>
          <a:prstGeom prst="roundRect">
            <a:avLst>
              <a:gd name="adj" fmla="val 6393"/>
            </a:avLst>
          </a:prstGeom>
          <a:solidFill>
            <a:srgbClr val="272220"/>
          </a:solidFill>
          <a:ln w="10160">
            <a:solidFill>
              <a:srgbClr val="413936"/>
            </a:solidFill>
            <a:prstDash val="solid"/>
          </a:ln>
        </p:spPr>
      </p:sp>
      <p:sp>
        <p:nvSpPr>
          <p:cNvPr id="20" name="Text 18"/>
          <p:cNvSpPr/>
          <p:nvPr/>
        </p:nvSpPr>
        <p:spPr>
          <a:xfrm>
            <a:off x="7744968" y="2825496"/>
            <a:ext cx="320040" cy="182880"/>
          </a:xfrm>
          <a:prstGeom prst="rect">
            <a:avLst/>
          </a:prstGeom>
          <a:noFill/>
          <a:ln/>
        </p:spPr>
        <p:txBody>
          <a:bodyPr wrap="square" lIns="0" tIns="0" rIns="0" bIns="0" rtlCol="0" anchor="ctr">
            <a:normAutofit/>
          </a:bodyPr>
          <a:lstStyle/>
          <a:p>
            <a:pPr indent="0" marL="0">
              <a:buNone/>
            </a:pPr>
            <a:r>
              <a:rPr lang="en-US" sz="850" b="1" dirty="0">
                <a:solidFill>
                  <a:srgbClr val="C9945A"/>
                </a:solidFill>
                <a:latin typeface="Apple SD Gothic Neo" pitchFamily="34" charset="0"/>
                <a:ea typeface="Apple SD Gothic Neo" pitchFamily="34" charset="-122"/>
                <a:cs typeface="Apple SD Gothic Neo" pitchFamily="34" charset="-120"/>
              </a:rPr>
              <a:t>04</a:t>
            </a:r>
            <a:endParaRPr lang="en-US" sz="850" dirty="0"/>
          </a:p>
        </p:txBody>
      </p:sp>
      <p:sp>
        <p:nvSpPr>
          <p:cNvPr id="21" name="Text 19"/>
          <p:cNvSpPr/>
          <p:nvPr/>
        </p:nvSpPr>
        <p:spPr>
          <a:xfrm>
            <a:off x="7744968" y="3182112"/>
            <a:ext cx="1572768" cy="475488"/>
          </a:xfrm>
          <a:prstGeom prst="rect">
            <a:avLst/>
          </a:prstGeom>
          <a:noFill/>
          <a:ln/>
        </p:spPr>
        <p:txBody>
          <a:bodyPr wrap="square" lIns="0" tIns="0" rIns="0" bIns="0" rtlCol="0" anchor="t">
            <a:normAutofit/>
          </a:bodyPr>
          <a:lstStyle/>
          <a:p>
            <a:pPr indent="0" marL="0">
              <a:buNone/>
            </a:pPr>
            <a:r>
              <a:rPr lang="en-US" sz="1300" b="1" dirty="0">
                <a:solidFill>
                  <a:srgbClr val="FFFFFF"/>
                </a:solidFill>
                <a:latin typeface="Apple SD Gothic Neo" pitchFamily="34" charset="0"/>
                <a:ea typeface="Apple SD Gothic Neo" pitchFamily="34" charset="-122"/>
                <a:cs typeface="Apple SD Gothic Neo" pitchFamily="34" charset="-120"/>
              </a:rPr>
              <a:t>Care &amp; Repair 수수료</a:t>
            </a:r>
            <a:endParaRPr lang="en-US" sz="1300" dirty="0"/>
          </a:p>
        </p:txBody>
      </p:sp>
      <p:sp>
        <p:nvSpPr>
          <p:cNvPr id="22" name="Text 20"/>
          <p:cNvSpPr/>
          <p:nvPr/>
        </p:nvSpPr>
        <p:spPr>
          <a:xfrm>
            <a:off x="7744968" y="3895344"/>
            <a:ext cx="1572768" cy="502920"/>
          </a:xfrm>
          <a:prstGeom prst="rect">
            <a:avLst/>
          </a:prstGeom>
          <a:noFill/>
          <a:ln/>
        </p:spPr>
        <p:txBody>
          <a:bodyPr wrap="square" lIns="0" tIns="0" rIns="0" bIns="0" rtlCol="0" anchor="t">
            <a:normAutofit/>
          </a:bodyPr>
          <a:lstStyle/>
          <a:p>
            <a:pPr indent="0" marL="0">
              <a:buNone/>
            </a:pPr>
            <a:r>
              <a:rPr lang="en-US" sz="920" dirty="0">
                <a:solidFill>
                  <a:srgbClr val="B7ADA4"/>
                </a:solidFill>
                <a:latin typeface="Apple SD Gothic Neo" pitchFamily="34" charset="0"/>
                <a:ea typeface="Apple SD Gothic Neo" pitchFamily="34" charset="-122"/>
                <a:cs typeface="Apple SD Gothic Neo" pitchFamily="34" charset="-120"/>
              </a:rPr>
              <a:t>세척·수선·복원 파트너 연결</a:t>
            </a:r>
            <a:endParaRPr lang="en-US" sz="920" dirty="0"/>
          </a:p>
        </p:txBody>
      </p:sp>
      <p:sp>
        <p:nvSpPr>
          <p:cNvPr id="23" name="Shape 21"/>
          <p:cNvSpPr/>
          <p:nvPr/>
        </p:nvSpPr>
        <p:spPr>
          <a:xfrm>
            <a:off x="9784080" y="2770632"/>
            <a:ext cx="2002536" cy="2148840"/>
          </a:xfrm>
          <a:prstGeom prst="roundRect">
            <a:avLst>
              <a:gd name="adj" fmla="val 6393"/>
            </a:avLst>
          </a:prstGeom>
          <a:solidFill>
            <a:srgbClr val="272220"/>
          </a:solidFill>
          <a:ln w="10160">
            <a:solidFill>
              <a:srgbClr val="413936"/>
            </a:solidFill>
            <a:prstDash val="solid"/>
          </a:ln>
        </p:spPr>
      </p:sp>
      <p:sp>
        <p:nvSpPr>
          <p:cNvPr id="24" name="Text 22"/>
          <p:cNvSpPr/>
          <p:nvPr/>
        </p:nvSpPr>
        <p:spPr>
          <a:xfrm>
            <a:off x="10003536" y="2980944"/>
            <a:ext cx="320040" cy="182880"/>
          </a:xfrm>
          <a:prstGeom prst="rect">
            <a:avLst/>
          </a:prstGeom>
          <a:noFill/>
          <a:ln/>
        </p:spPr>
        <p:txBody>
          <a:bodyPr wrap="square" lIns="0" tIns="0" rIns="0" bIns="0" rtlCol="0" anchor="ctr">
            <a:normAutofit/>
          </a:bodyPr>
          <a:lstStyle/>
          <a:p>
            <a:pPr indent="0" marL="0">
              <a:buNone/>
            </a:pPr>
            <a:r>
              <a:rPr lang="en-US" sz="850" b="1" dirty="0">
                <a:solidFill>
                  <a:srgbClr val="C9945A"/>
                </a:solidFill>
                <a:latin typeface="Apple SD Gothic Neo" pitchFamily="34" charset="0"/>
                <a:ea typeface="Apple SD Gothic Neo" pitchFamily="34" charset="-122"/>
                <a:cs typeface="Apple SD Gothic Neo" pitchFamily="34" charset="-120"/>
              </a:rPr>
              <a:t>05</a:t>
            </a:r>
            <a:endParaRPr lang="en-US" sz="850" dirty="0"/>
          </a:p>
        </p:txBody>
      </p:sp>
      <p:sp>
        <p:nvSpPr>
          <p:cNvPr id="25" name="Text 23"/>
          <p:cNvSpPr/>
          <p:nvPr/>
        </p:nvSpPr>
        <p:spPr>
          <a:xfrm>
            <a:off x="10003536" y="3337560"/>
            <a:ext cx="1572768" cy="475488"/>
          </a:xfrm>
          <a:prstGeom prst="rect">
            <a:avLst/>
          </a:prstGeom>
          <a:noFill/>
          <a:ln/>
        </p:spPr>
        <p:txBody>
          <a:bodyPr wrap="square" lIns="0" tIns="0" rIns="0" bIns="0" rtlCol="0" anchor="t">
            <a:normAutofit/>
          </a:bodyPr>
          <a:lstStyle/>
          <a:p>
            <a:pPr indent="0" marL="0">
              <a:buNone/>
            </a:pPr>
            <a:r>
              <a:rPr lang="en-US" sz="1300" b="1" dirty="0">
                <a:solidFill>
                  <a:srgbClr val="FFFFFF"/>
                </a:solidFill>
                <a:latin typeface="Apple SD Gothic Neo" pitchFamily="34" charset="0"/>
                <a:ea typeface="Apple SD Gothic Neo" pitchFamily="34" charset="-122"/>
                <a:cs typeface="Apple SD Gothic Neo" pitchFamily="34" charset="-120"/>
              </a:rPr>
              <a:t>Resale / Transfer 수수료</a:t>
            </a:r>
            <a:endParaRPr lang="en-US" sz="1300" dirty="0"/>
          </a:p>
        </p:txBody>
      </p:sp>
      <p:sp>
        <p:nvSpPr>
          <p:cNvPr id="26" name="Text 24"/>
          <p:cNvSpPr/>
          <p:nvPr/>
        </p:nvSpPr>
        <p:spPr>
          <a:xfrm>
            <a:off x="10003536" y="4050792"/>
            <a:ext cx="1572768" cy="502920"/>
          </a:xfrm>
          <a:prstGeom prst="rect">
            <a:avLst/>
          </a:prstGeom>
          <a:noFill/>
          <a:ln/>
        </p:spPr>
        <p:txBody>
          <a:bodyPr wrap="square" lIns="0" tIns="0" rIns="0" bIns="0" rtlCol="0" anchor="t">
            <a:normAutofit/>
          </a:bodyPr>
          <a:lstStyle/>
          <a:p>
            <a:pPr indent="0" marL="0">
              <a:buNone/>
            </a:pPr>
            <a:r>
              <a:rPr lang="en-US" sz="920" dirty="0">
                <a:solidFill>
                  <a:srgbClr val="B7ADA4"/>
                </a:solidFill>
                <a:latin typeface="Apple SD Gothic Neo" pitchFamily="34" charset="0"/>
                <a:ea typeface="Apple SD Gothic Neo" pitchFamily="34" charset="-122"/>
                <a:cs typeface="Apple SD Gothic Neo" pitchFamily="34" charset="-120"/>
              </a:rPr>
              <a:t>DPP·관리 이력 기반 거래·이전</a:t>
            </a:r>
            <a:endParaRPr lang="en-US" sz="920" dirty="0"/>
          </a:p>
        </p:txBody>
      </p:sp>
      <p:sp>
        <p:nvSpPr>
          <p:cNvPr id="27" name="Text 25"/>
          <p:cNvSpPr/>
          <p:nvPr/>
        </p:nvSpPr>
        <p:spPr>
          <a:xfrm>
            <a:off x="777240" y="4965192"/>
            <a:ext cx="2011680" cy="201168"/>
          </a:xfrm>
          <a:prstGeom prst="rect">
            <a:avLst/>
          </a:prstGeom>
          <a:noFill/>
          <a:ln/>
        </p:spPr>
        <p:txBody>
          <a:bodyPr wrap="square" lIns="0" tIns="0" rIns="0" bIns="0" rtlCol="0" anchor="ctr">
            <a:normAutofit/>
          </a:bodyPr>
          <a:lstStyle/>
          <a:p>
            <a:pPr indent="0" marL="0">
              <a:buNone/>
            </a:pPr>
            <a:r>
              <a:rPr lang="en-US" sz="850" b="1" spc="150" kern="0" dirty="0">
                <a:solidFill>
                  <a:srgbClr val="C9945A"/>
                </a:solidFill>
                <a:latin typeface="Apple SD Gothic Neo" pitchFamily="34" charset="0"/>
                <a:ea typeface="Apple SD Gothic Neo" pitchFamily="34" charset="-122"/>
                <a:cs typeface="Apple SD Gothic Neo" pitchFamily="34" charset="-120"/>
              </a:rPr>
              <a:t>COST STRUCTURE</a:t>
            </a:r>
            <a:endParaRPr lang="en-US" sz="850" dirty="0"/>
          </a:p>
        </p:txBody>
      </p:sp>
      <p:sp>
        <p:nvSpPr>
          <p:cNvPr id="28" name="Shape 26"/>
          <p:cNvSpPr/>
          <p:nvPr/>
        </p:nvSpPr>
        <p:spPr>
          <a:xfrm>
            <a:off x="768096" y="5376672"/>
            <a:ext cx="1901952" cy="0"/>
          </a:xfrm>
          <a:prstGeom prst="line">
            <a:avLst/>
          </a:prstGeom>
          <a:noFill/>
          <a:ln w="27940">
            <a:solidFill>
              <a:srgbClr val="C9945A"/>
            </a:solidFill>
            <a:prstDash val="solid"/>
          </a:ln>
        </p:spPr>
      </p:sp>
      <p:sp>
        <p:nvSpPr>
          <p:cNvPr id="29" name="Text 27"/>
          <p:cNvSpPr/>
          <p:nvPr/>
        </p:nvSpPr>
        <p:spPr>
          <a:xfrm>
            <a:off x="768096" y="5586984"/>
            <a:ext cx="1901952" cy="256032"/>
          </a:xfrm>
          <a:prstGeom prst="rect">
            <a:avLst/>
          </a:prstGeom>
          <a:noFill/>
          <a:ln/>
        </p:spPr>
        <p:txBody>
          <a:bodyPr wrap="square" lIns="0" tIns="0" rIns="0" bIns="0" rtlCol="0" anchor="ctr">
            <a:normAutofit/>
          </a:bodyPr>
          <a:lstStyle/>
          <a:p>
            <a:pPr algn="ctr" indent="0" marL="0">
              <a:buNone/>
            </a:pPr>
            <a:r>
              <a:rPr lang="en-US" sz="950" dirty="0">
                <a:solidFill>
                  <a:srgbClr val="B7ADA4"/>
                </a:solidFill>
                <a:latin typeface="Apple SD Gothic Neo" pitchFamily="34" charset="0"/>
                <a:ea typeface="Apple SD Gothic Neo" pitchFamily="34" charset="-122"/>
                <a:cs typeface="Apple SD Gothic Neo" pitchFamily="34" charset="-120"/>
              </a:rPr>
              <a:t>개발·유지보수</a:t>
            </a:r>
            <a:endParaRPr lang="en-US" sz="950" dirty="0"/>
          </a:p>
        </p:txBody>
      </p:sp>
      <p:sp>
        <p:nvSpPr>
          <p:cNvPr id="30" name="Shape 28"/>
          <p:cNvSpPr/>
          <p:nvPr/>
        </p:nvSpPr>
        <p:spPr>
          <a:xfrm>
            <a:off x="3008376" y="5376672"/>
            <a:ext cx="1901952" cy="0"/>
          </a:xfrm>
          <a:prstGeom prst="line">
            <a:avLst/>
          </a:prstGeom>
          <a:noFill/>
          <a:ln w="27940">
            <a:solidFill>
              <a:srgbClr val="C9945A"/>
            </a:solidFill>
            <a:prstDash val="solid"/>
          </a:ln>
        </p:spPr>
      </p:sp>
      <p:sp>
        <p:nvSpPr>
          <p:cNvPr id="31" name="Text 29"/>
          <p:cNvSpPr/>
          <p:nvPr/>
        </p:nvSpPr>
        <p:spPr>
          <a:xfrm>
            <a:off x="3008376" y="5586984"/>
            <a:ext cx="1901952" cy="256032"/>
          </a:xfrm>
          <a:prstGeom prst="rect">
            <a:avLst/>
          </a:prstGeom>
          <a:noFill/>
          <a:ln/>
        </p:spPr>
        <p:txBody>
          <a:bodyPr wrap="square" lIns="0" tIns="0" rIns="0" bIns="0" rtlCol="0" anchor="ctr">
            <a:normAutofit/>
          </a:bodyPr>
          <a:lstStyle/>
          <a:p>
            <a:pPr algn="ctr" indent="0" marL="0">
              <a:buNone/>
            </a:pPr>
            <a:r>
              <a:rPr lang="en-US" sz="950" dirty="0">
                <a:solidFill>
                  <a:srgbClr val="B7ADA4"/>
                </a:solidFill>
                <a:latin typeface="Apple SD Gothic Neo" pitchFamily="34" charset="0"/>
                <a:ea typeface="Apple SD Gothic Neo" pitchFamily="34" charset="-122"/>
                <a:cs typeface="Apple SD Gothic Neo" pitchFamily="34" charset="-120"/>
              </a:rPr>
              <a:t>AI API·렌더링</a:t>
            </a:r>
            <a:endParaRPr lang="en-US" sz="950" dirty="0"/>
          </a:p>
        </p:txBody>
      </p:sp>
      <p:sp>
        <p:nvSpPr>
          <p:cNvPr id="32" name="Shape 30"/>
          <p:cNvSpPr/>
          <p:nvPr/>
        </p:nvSpPr>
        <p:spPr>
          <a:xfrm>
            <a:off x="5248656" y="5376672"/>
            <a:ext cx="1901952" cy="0"/>
          </a:xfrm>
          <a:prstGeom prst="line">
            <a:avLst/>
          </a:prstGeom>
          <a:noFill/>
          <a:ln w="27940">
            <a:solidFill>
              <a:srgbClr val="4D4541"/>
            </a:solidFill>
            <a:prstDash val="solid"/>
          </a:ln>
        </p:spPr>
      </p:sp>
      <p:sp>
        <p:nvSpPr>
          <p:cNvPr id="33" name="Text 31"/>
          <p:cNvSpPr/>
          <p:nvPr/>
        </p:nvSpPr>
        <p:spPr>
          <a:xfrm>
            <a:off x="5248656" y="5586984"/>
            <a:ext cx="1901952" cy="256032"/>
          </a:xfrm>
          <a:prstGeom prst="rect">
            <a:avLst/>
          </a:prstGeom>
          <a:noFill/>
          <a:ln/>
        </p:spPr>
        <p:txBody>
          <a:bodyPr wrap="square" lIns="0" tIns="0" rIns="0" bIns="0" rtlCol="0" anchor="ctr">
            <a:normAutofit/>
          </a:bodyPr>
          <a:lstStyle/>
          <a:p>
            <a:pPr algn="ctr" indent="0" marL="0">
              <a:buNone/>
            </a:pPr>
            <a:r>
              <a:rPr lang="en-US" sz="950" dirty="0">
                <a:solidFill>
                  <a:srgbClr val="B7ADA4"/>
                </a:solidFill>
                <a:latin typeface="Apple SD Gothic Neo" pitchFamily="34" charset="0"/>
                <a:ea typeface="Apple SD Gothic Neo" pitchFamily="34" charset="-122"/>
                <a:cs typeface="Apple SD Gothic Neo" pitchFamily="34" charset="-120"/>
              </a:rPr>
              <a:t>Cloud·Storage·보안</a:t>
            </a:r>
            <a:endParaRPr lang="en-US" sz="950" dirty="0"/>
          </a:p>
        </p:txBody>
      </p:sp>
      <p:sp>
        <p:nvSpPr>
          <p:cNvPr id="34" name="Shape 32"/>
          <p:cNvSpPr/>
          <p:nvPr/>
        </p:nvSpPr>
        <p:spPr>
          <a:xfrm>
            <a:off x="7488936" y="5376672"/>
            <a:ext cx="1901952" cy="0"/>
          </a:xfrm>
          <a:prstGeom prst="line">
            <a:avLst/>
          </a:prstGeom>
          <a:noFill/>
          <a:ln w="27940">
            <a:solidFill>
              <a:srgbClr val="4D4541"/>
            </a:solidFill>
            <a:prstDash val="solid"/>
          </a:ln>
        </p:spPr>
      </p:sp>
      <p:sp>
        <p:nvSpPr>
          <p:cNvPr id="35" name="Text 33"/>
          <p:cNvSpPr/>
          <p:nvPr/>
        </p:nvSpPr>
        <p:spPr>
          <a:xfrm>
            <a:off x="7488936" y="5586984"/>
            <a:ext cx="1901952" cy="256032"/>
          </a:xfrm>
          <a:prstGeom prst="rect">
            <a:avLst/>
          </a:prstGeom>
          <a:noFill/>
          <a:ln/>
        </p:spPr>
        <p:txBody>
          <a:bodyPr wrap="square" lIns="0" tIns="0" rIns="0" bIns="0" rtlCol="0" anchor="ctr">
            <a:normAutofit/>
          </a:bodyPr>
          <a:lstStyle/>
          <a:p>
            <a:pPr algn="ctr" indent="0" marL="0">
              <a:buNone/>
            </a:pPr>
            <a:r>
              <a:rPr lang="en-US" sz="950" dirty="0">
                <a:solidFill>
                  <a:srgbClr val="B7ADA4"/>
                </a:solidFill>
                <a:latin typeface="Apple SD Gothic Neo" pitchFamily="34" charset="0"/>
                <a:ea typeface="Apple SD Gothic Neo" pitchFamily="34" charset="-122"/>
                <a:cs typeface="Apple SD Gothic Neo" pitchFamily="34" charset="-120"/>
              </a:rPr>
              <a:t>QR/NFC·시스템 연동</a:t>
            </a:r>
            <a:endParaRPr lang="en-US" sz="950" dirty="0"/>
          </a:p>
        </p:txBody>
      </p:sp>
      <p:sp>
        <p:nvSpPr>
          <p:cNvPr id="36" name="Shape 34"/>
          <p:cNvSpPr/>
          <p:nvPr/>
        </p:nvSpPr>
        <p:spPr>
          <a:xfrm>
            <a:off x="9729216" y="5376672"/>
            <a:ext cx="1901952" cy="0"/>
          </a:xfrm>
          <a:prstGeom prst="line">
            <a:avLst/>
          </a:prstGeom>
          <a:noFill/>
          <a:ln w="27940">
            <a:solidFill>
              <a:srgbClr val="4D4541"/>
            </a:solidFill>
            <a:prstDash val="solid"/>
          </a:ln>
        </p:spPr>
      </p:sp>
      <p:sp>
        <p:nvSpPr>
          <p:cNvPr id="37" name="Text 35"/>
          <p:cNvSpPr/>
          <p:nvPr/>
        </p:nvSpPr>
        <p:spPr>
          <a:xfrm>
            <a:off x="9729216" y="5586984"/>
            <a:ext cx="1901952" cy="256032"/>
          </a:xfrm>
          <a:prstGeom prst="rect">
            <a:avLst/>
          </a:prstGeom>
          <a:noFill/>
          <a:ln/>
        </p:spPr>
        <p:txBody>
          <a:bodyPr wrap="square" lIns="0" tIns="0" rIns="0" bIns="0" rtlCol="0" anchor="ctr">
            <a:normAutofit/>
          </a:bodyPr>
          <a:lstStyle/>
          <a:p>
            <a:pPr algn="ctr" indent="0" marL="0">
              <a:buNone/>
            </a:pPr>
            <a:r>
              <a:rPr lang="en-US" sz="950" dirty="0">
                <a:solidFill>
                  <a:srgbClr val="B7ADA4"/>
                </a:solidFill>
                <a:latin typeface="Apple SD Gothic Neo" pitchFamily="34" charset="0"/>
                <a:ea typeface="Apple SD Gothic Neo" pitchFamily="34" charset="-122"/>
                <a:cs typeface="Apple SD Gothic Neo" pitchFamily="34" charset="-120"/>
              </a:rPr>
              <a:t>UI/UX·콘텐츠</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AF8F5"/>
        </a:solidFill>
      </p:bgPr>
    </p:bg>
    <p:spTree>
      <p:nvGrpSpPr>
        <p:cNvPr id="1" name=""/>
        <p:cNvGrpSpPr/>
        <p:nvPr/>
      </p:nvGrpSpPr>
      <p:grpSpPr>
        <a:xfrm>
          <a:off x="0" y="0"/>
          <a:ext cx="0" cy="0"/>
          <a:chOff x="0" y="0"/>
          <a:chExt cx="0" cy="0"/>
        </a:xfrm>
      </p:grpSpPr>
      <p:sp>
        <p:nvSpPr>
          <p:cNvPr id="2" name="Text 0"/>
          <p:cNvSpPr/>
          <p:nvPr/>
        </p:nvSpPr>
        <p:spPr>
          <a:xfrm>
            <a:off x="685800" y="411480"/>
            <a:ext cx="2926080" cy="201168"/>
          </a:xfrm>
          <a:prstGeom prst="rect">
            <a:avLst/>
          </a:prstGeom>
          <a:noFill/>
          <a:ln/>
        </p:spPr>
        <p:txBody>
          <a:bodyPr wrap="square" lIns="0" tIns="0" rIns="0" bIns="0" rtlCol="0" anchor="ctr">
            <a:normAutofit/>
          </a:bodyPr>
          <a:lstStyle/>
          <a:p>
            <a:pPr indent="0" marL="0">
              <a:buNone/>
            </a:pPr>
            <a:r>
              <a:rPr lang="en-US" sz="900" b="1" spc="210" kern="0" dirty="0">
                <a:solidFill>
                  <a:srgbClr val="8B5A2B"/>
                </a:solidFill>
                <a:latin typeface="Apple SD Gothic Neo" pitchFamily="34" charset="0"/>
                <a:ea typeface="Apple SD Gothic Neo" pitchFamily="34" charset="-122"/>
                <a:cs typeface="Apple SD Gothic Neo" pitchFamily="34" charset="-120"/>
              </a:rPr>
              <a:t>MVP SCOPE</a:t>
            </a:r>
            <a:endParaRPr lang="en-US" sz="900" dirty="0"/>
          </a:p>
        </p:txBody>
      </p:sp>
      <p:sp>
        <p:nvSpPr>
          <p:cNvPr id="3" name="Text 1"/>
          <p:cNvSpPr/>
          <p:nvPr/>
        </p:nvSpPr>
        <p:spPr>
          <a:xfrm>
            <a:off x="685800" y="749808"/>
            <a:ext cx="10789920" cy="841248"/>
          </a:xfrm>
          <a:prstGeom prst="rect">
            <a:avLst/>
          </a:prstGeom>
          <a:noFill/>
          <a:ln/>
        </p:spPr>
        <p:txBody>
          <a:bodyPr wrap="square" lIns="0" tIns="0" rIns="0" bIns="0" rtlCol="0" anchor="t">
            <a:normAutofit/>
          </a:bodyPr>
          <a:lstStyle/>
          <a:p>
            <a:pPr indent="0" marL="0">
              <a:lnSpc>
                <a:spcPct val="88000"/>
              </a:lnSpc>
              <a:buNone/>
            </a:pPr>
            <a:r>
              <a:rPr lang="en-US" sz="2600" b="1" dirty="0">
                <a:solidFill>
                  <a:srgbClr val="1C1917"/>
                </a:solidFill>
                <a:latin typeface="Apple SD Gothic Neo" pitchFamily="34" charset="0"/>
                <a:ea typeface="Apple SD Gothic Neo" pitchFamily="34" charset="-122"/>
                <a:cs typeface="Apple SD Gothic Neo" pitchFamily="34" charset="-120"/>
              </a:rPr>
              <a:t>보여주는 기능과</a:t>
            </a:r>
            <a:endParaRPr lang="en-US" sz="2600" dirty="0"/>
          </a:p>
          <a:p>
            <a:pPr indent="0" marL="0">
              <a:lnSpc>
                <a:spcPct val="88000"/>
              </a:lnSpc>
              <a:buNone/>
            </a:pPr>
            <a:r>
              <a:rPr lang="en-US" sz="2600" b="1" dirty="0">
                <a:solidFill>
                  <a:srgbClr val="1C1917"/>
                </a:solidFill>
                <a:latin typeface="Apple SD Gothic Neo" pitchFamily="34" charset="0"/>
                <a:ea typeface="Apple SD Gothic Neo" pitchFamily="34" charset="-122"/>
                <a:cs typeface="Apple SD Gothic Neo" pitchFamily="34" charset="-120"/>
              </a:rPr>
              <a:t>실제로 동작하는 기능을 구분했습니다</a:t>
            </a:r>
            <a:endParaRPr lang="en-US" sz="2600" dirty="0"/>
          </a:p>
        </p:txBody>
      </p:sp>
      <p:sp>
        <p:nvSpPr>
          <p:cNvPr id="4" name="Text 2"/>
          <p:cNvSpPr/>
          <p:nvPr/>
        </p:nvSpPr>
        <p:spPr>
          <a:xfrm>
            <a:off x="694944" y="1581912"/>
            <a:ext cx="9875520" cy="347472"/>
          </a:xfrm>
          <a:prstGeom prst="rect">
            <a:avLst/>
          </a:prstGeom>
          <a:noFill/>
          <a:ln/>
        </p:spPr>
        <p:txBody>
          <a:bodyPr wrap="square" lIns="0" tIns="0" rIns="0" bIns="0" rtlCol="0" anchor="t">
            <a:normAutofit/>
          </a:bodyPr>
          <a:lstStyle/>
          <a:p>
            <a:pPr indent="0" marL="0">
              <a:buNone/>
            </a:pPr>
            <a:r>
              <a:rPr lang="en-US" sz="1150" dirty="0">
                <a:solidFill>
                  <a:srgbClr val="77706A"/>
                </a:solidFill>
                <a:latin typeface="Apple SD Gothic Neo" pitchFamily="34" charset="0"/>
                <a:ea typeface="Apple SD Gothic Neo" pitchFamily="34" charset="-122"/>
                <a:cs typeface="Apple SD Gothic Neo" pitchFamily="34" charset="-120"/>
              </a:rPr>
              <a:t>현재 구현 상태를 기준으로 작성한 검증 가능한 범위입니다.</a:t>
            </a:r>
            <a:endParaRPr lang="en-US" sz="1150" dirty="0"/>
          </a:p>
        </p:txBody>
      </p:sp>
      <p:sp>
        <p:nvSpPr>
          <p:cNvPr id="5" name="Text 3"/>
          <p:cNvSpPr/>
          <p:nvPr/>
        </p:nvSpPr>
        <p:spPr>
          <a:xfrm>
            <a:off x="658368" y="6473952"/>
            <a:ext cx="2286000" cy="182880"/>
          </a:xfrm>
          <a:prstGeom prst="rect">
            <a:avLst/>
          </a:prstGeom>
          <a:noFill/>
          <a:ln/>
        </p:spPr>
        <p:txBody>
          <a:bodyPr wrap="square" lIns="0" tIns="0" rIns="0" bIns="0" rtlCol="0" anchor="ctr">
            <a:normAutofit/>
          </a:bodyPr>
          <a:lstStyle/>
          <a:p>
            <a:pPr indent="0" marL="0">
              <a:buNone/>
            </a:pPr>
            <a:r>
              <a:rPr lang="en-US" sz="850" spc="140" kern="0" dirty="0">
                <a:solidFill>
                  <a:srgbClr val="77706A"/>
                </a:solidFill>
                <a:latin typeface="Apple SD Gothic Neo" pitchFamily="34" charset="0"/>
                <a:ea typeface="Apple SD Gothic Neo" pitchFamily="34" charset="-122"/>
                <a:cs typeface="Apple SD Gothic Neo" pitchFamily="34" charset="-120"/>
              </a:rPr>
              <a:t>MCM · STORYBOOK</a:t>
            </a:r>
            <a:endParaRPr lang="en-US" sz="850" dirty="0"/>
          </a:p>
        </p:txBody>
      </p:sp>
      <p:sp>
        <p:nvSpPr>
          <p:cNvPr id="6" name="Text 4"/>
          <p:cNvSpPr/>
          <p:nvPr/>
        </p:nvSpPr>
        <p:spPr>
          <a:xfrm>
            <a:off x="11155680" y="6473952"/>
            <a:ext cx="384048" cy="182880"/>
          </a:xfrm>
          <a:prstGeom prst="rect">
            <a:avLst/>
          </a:prstGeom>
          <a:noFill/>
          <a:ln/>
        </p:spPr>
        <p:txBody>
          <a:bodyPr wrap="square" lIns="0" tIns="0" rIns="0" bIns="0" rtlCol="0" anchor="ctr">
            <a:normAutofit/>
          </a:bodyPr>
          <a:lstStyle/>
          <a:p>
            <a:pPr algn="r" indent="0" marL="0">
              <a:buNone/>
            </a:pPr>
            <a:r>
              <a:rPr lang="en-US" sz="850" dirty="0">
                <a:solidFill>
                  <a:srgbClr val="77706A"/>
                </a:solidFill>
                <a:latin typeface="Apple SD Gothic Neo" pitchFamily="34" charset="0"/>
                <a:ea typeface="Apple SD Gothic Neo" pitchFamily="34" charset="-122"/>
                <a:cs typeface="Apple SD Gothic Neo" pitchFamily="34" charset="-120"/>
              </a:rPr>
              <a:t>12</a:t>
            </a:r>
            <a:endParaRPr lang="en-US" sz="850" dirty="0"/>
          </a:p>
        </p:txBody>
      </p:sp>
      <p:sp>
        <p:nvSpPr>
          <p:cNvPr id="7" name="Shape 5"/>
          <p:cNvSpPr/>
          <p:nvPr/>
        </p:nvSpPr>
        <p:spPr>
          <a:xfrm>
            <a:off x="713232" y="2157984"/>
            <a:ext cx="3063240" cy="3493008"/>
          </a:xfrm>
          <a:prstGeom prst="roundRect">
            <a:avLst>
              <a:gd name="adj" fmla="val 4179"/>
            </a:avLst>
          </a:prstGeom>
          <a:solidFill>
            <a:srgbClr val="EEF3EF"/>
          </a:solidFill>
          <a:ln w="10160">
            <a:solidFill>
              <a:srgbClr val="C9D8CF"/>
            </a:solidFill>
            <a:prstDash val="solid"/>
          </a:ln>
        </p:spPr>
      </p:sp>
      <p:sp>
        <p:nvSpPr>
          <p:cNvPr id="8" name="Text 6"/>
          <p:cNvSpPr/>
          <p:nvPr/>
        </p:nvSpPr>
        <p:spPr>
          <a:xfrm>
            <a:off x="987552" y="2468880"/>
            <a:ext cx="2514600" cy="182880"/>
          </a:xfrm>
          <a:prstGeom prst="rect">
            <a:avLst/>
          </a:prstGeom>
          <a:noFill/>
          <a:ln/>
        </p:spPr>
        <p:txBody>
          <a:bodyPr wrap="square" lIns="0" tIns="0" rIns="0" bIns="0" rtlCol="0" anchor="ctr">
            <a:normAutofit/>
          </a:bodyPr>
          <a:lstStyle/>
          <a:p>
            <a:pPr indent="0" marL="0">
              <a:buNone/>
            </a:pPr>
            <a:r>
              <a:rPr lang="en-US" sz="800" b="1" spc="125" kern="0" dirty="0">
                <a:solidFill>
                  <a:srgbClr val="436B5A"/>
                </a:solidFill>
                <a:latin typeface="Apple SD Gothic Neo" pitchFamily="34" charset="0"/>
                <a:ea typeface="Apple SD Gothic Neo" pitchFamily="34" charset="-122"/>
                <a:cs typeface="Apple SD Gothic Neo" pitchFamily="34" charset="-120"/>
              </a:rPr>
              <a:t>IMPLEMENTED</a:t>
            </a:r>
            <a:endParaRPr lang="en-US" sz="800" dirty="0"/>
          </a:p>
        </p:txBody>
      </p:sp>
      <p:sp>
        <p:nvSpPr>
          <p:cNvPr id="9" name="Text 7"/>
          <p:cNvSpPr/>
          <p:nvPr/>
        </p:nvSpPr>
        <p:spPr>
          <a:xfrm>
            <a:off x="987552" y="2807208"/>
            <a:ext cx="2514600" cy="347472"/>
          </a:xfrm>
          <a:prstGeom prst="rect">
            <a:avLst/>
          </a:prstGeom>
          <a:noFill/>
          <a:ln/>
        </p:spPr>
        <p:txBody>
          <a:bodyPr wrap="square" lIns="0" tIns="0" rIns="0" bIns="0" rtlCol="0" anchor="ctr">
            <a:normAutofit/>
          </a:bodyPr>
          <a:lstStyle/>
          <a:p>
            <a:pPr indent="0" marL="0">
              <a:buNone/>
            </a:pPr>
            <a:r>
              <a:rPr lang="en-US" sz="1800" b="1" dirty="0">
                <a:solidFill>
                  <a:srgbClr val="1C1917"/>
                </a:solidFill>
                <a:latin typeface="Apple SD Gothic Neo" pitchFamily="34" charset="0"/>
                <a:ea typeface="Apple SD Gothic Neo" pitchFamily="34" charset="-122"/>
                <a:cs typeface="Apple SD Gothic Neo" pitchFamily="34" charset="-120"/>
              </a:rPr>
              <a:t>지금 구현</a:t>
            </a:r>
            <a:endParaRPr lang="en-US" sz="1800" dirty="0"/>
          </a:p>
        </p:txBody>
      </p:sp>
      <p:sp>
        <p:nvSpPr>
          <p:cNvPr id="10" name="Shape 8"/>
          <p:cNvSpPr/>
          <p:nvPr/>
        </p:nvSpPr>
        <p:spPr>
          <a:xfrm>
            <a:off x="1005840" y="3419856"/>
            <a:ext cx="118872" cy="118872"/>
          </a:xfrm>
          <a:prstGeom prst="ellipse">
            <a:avLst/>
          </a:prstGeom>
          <a:solidFill>
            <a:srgbClr val="8B5A2B"/>
          </a:solidFill>
          <a:ln w="5080">
            <a:solidFill>
              <a:srgbClr val="8B5A2B"/>
            </a:solidFill>
            <a:prstDash val="solid"/>
          </a:ln>
        </p:spPr>
      </p:sp>
      <p:sp>
        <p:nvSpPr>
          <p:cNvPr id="11" name="Text 9"/>
          <p:cNvSpPr/>
          <p:nvPr/>
        </p:nvSpPr>
        <p:spPr>
          <a:xfrm>
            <a:off x="1252728" y="3337560"/>
            <a:ext cx="2148840" cy="256032"/>
          </a:xfrm>
          <a:prstGeom prst="rect">
            <a:avLst/>
          </a:prstGeom>
          <a:noFill/>
          <a:ln/>
        </p:spPr>
        <p:txBody>
          <a:bodyPr wrap="square" lIns="0" tIns="0" rIns="0" bIns="0" rtlCol="0" anchor="ctr">
            <a:normAutofit/>
          </a:bodyPr>
          <a:lstStyle/>
          <a:p>
            <a:pPr indent="0" marL="0">
              <a:buNone/>
            </a:pPr>
            <a:r>
              <a:rPr lang="en-US" sz="1050" dirty="0">
                <a:solidFill>
                  <a:srgbClr val="1C1917"/>
                </a:solidFill>
                <a:latin typeface="Apple SD Gothic Neo" pitchFamily="34" charset="0"/>
                <a:ea typeface="Apple SD Gothic Neo" pitchFamily="34" charset="-122"/>
                <a:cs typeface="Apple SD Gothic Neo" pitchFamily="34" charset="-120"/>
              </a:rPr>
              <a:t>Next.js 반응형 웹</a:t>
            </a:r>
            <a:endParaRPr lang="en-US" sz="1050" dirty="0"/>
          </a:p>
        </p:txBody>
      </p:sp>
      <p:sp>
        <p:nvSpPr>
          <p:cNvPr id="12" name="Shape 10"/>
          <p:cNvSpPr/>
          <p:nvPr/>
        </p:nvSpPr>
        <p:spPr>
          <a:xfrm>
            <a:off x="1005840" y="3831336"/>
            <a:ext cx="118872" cy="118872"/>
          </a:xfrm>
          <a:prstGeom prst="ellipse">
            <a:avLst/>
          </a:prstGeom>
          <a:solidFill>
            <a:srgbClr val="8B5A2B"/>
          </a:solidFill>
          <a:ln w="5080">
            <a:solidFill>
              <a:srgbClr val="8B5A2B"/>
            </a:solidFill>
            <a:prstDash val="solid"/>
          </a:ln>
        </p:spPr>
      </p:sp>
      <p:sp>
        <p:nvSpPr>
          <p:cNvPr id="13" name="Text 11"/>
          <p:cNvSpPr/>
          <p:nvPr/>
        </p:nvSpPr>
        <p:spPr>
          <a:xfrm>
            <a:off x="1252728" y="3749040"/>
            <a:ext cx="2148840" cy="256032"/>
          </a:xfrm>
          <a:prstGeom prst="rect">
            <a:avLst/>
          </a:prstGeom>
          <a:noFill/>
          <a:ln/>
        </p:spPr>
        <p:txBody>
          <a:bodyPr wrap="square" lIns="0" tIns="0" rIns="0" bIns="0" rtlCol="0" anchor="ctr">
            <a:normAutofit/>
          </a:bodyPr>
          <a:lstStyle/>
          <a:p>
            <a:pPr indent="0" marL="0">
              <a:buNone/>
            </a:pPr>
            <a:r>
              <a:rPr lang="en-US" sz="1050" dirty="0">
                <a:solidFill>
                  <a:srgbClr val="1C1917"/>
                </a:solidFill>
                <a:latin typeface="Apple SD Gothic Neo" pitchFamily="34" charset="0"/>
                <a:ea typeface="Apple SD Gothic Neo" pitchFamily="34" charset="-122"/>
                <a:cs typeface="Apple SD Gothic Neo" pitchFamily="34" charset="-120"/>
              </a:rPr>
              <a:t>제품 아카이브·상세</a:t>
            </a:r>
            <a:endParaRPr lang="en-US" sz="1050" dirty="0"/>
          </a:p>
        </p:txBody>
      </p:sp>
      <p:sp>
        <p:nvSpPr>
          <p:cNvPr id="14" name="Shape 12"/>
          <p:cNvSpPr/>
          <p:nvPr/>
        </p:nvSpPr>
        <p:spPr>
          <a:xfrm>
            <a:off x="1005840" y="4242816"/>
            <a:ext cx="118872" cy="118872"/>
          </a:xfrm>
          <a:prstGeom prst="ellipse">
            <a:avLst/>
          </a:prstGeom>
          <a:solidFill>
            <a:srgbClr val="8B5A2B"/>
          </a:solidFill>
          <a:ln w="5080">
            <a:solidFill>
              <a:srgbClr val="8B5A2B"/>
            </a:solidFill>
            <a:prstDash val="solid"/>
          </a:ln>
        </p:spPr>
      </p:sp>
      <p:sp>
        <p:nvSpPr>
          <p:cNvPr id="15" name="Text 13"/>
          <p:cNvSpPr/>
          <p:nvPr/>
        </p:nvSpPr>
        <p:spPr>
          <a:xfrm>
            <a:off x="1252728" y="4160520"/>
            <a:ext cx="2148840" cy="256032"/>
          </a:xfrm>
          <a:prstGeom prst="rect">
            <a:avLst/>
          </a:prstGeom>
          <a:noFill/>
          <a:ln/>
        </p:spPr>
        <p:txBody>
          <a:bodyPr wrap="square" lIns="0" tIns="0" rIns="0" bIns="0" rtlCol="0" anchor="ctr">
            <a:normAutofit/>
          </a:bodyPr>
          <a:lstStyle/>
          <a:p>
            <a:pPr indent="0" marL="0">
              <a:buNone/>
            </a:pPr>
            <a:r>
              <a:rPr lang="en-US" sz="1050" dirty="0">
                <a:solidFill>
                  <a:srgbClr val="1C1917"/>
                </a:solidFill>
                <a:latin typeface="Apple SD Gothic Neo" pitchFamily="34" charset="0"/>
                <a:ea typeface="Apple SD Gothic Neo" pitchFamily="34" charset="-122"/>
                <a:cs typeface="Apple SD Gothic Neo" pitchFamily="34" charset="-120"/>
              </a:rPr>
              <a:t>Storybook·통합 타임라인</a:t>
            </a:r>
            <a:endParaRPr lang="en-US" sz="1050" dirty="0"/>
          </a:p>
        </p:txBody>
      </p:sp>
      <p:sp>
        <p:nvSpPr>
          <p:cNvPr id="16" name="Shape 14"/>
          <p:cNvSpPr/>
          <p:nvPr/>
        </p:nvSpPr>
        <p:spPr>
          <a:xfrm>
            <a:off x="1005840" y="4654296"/>
            <a:ext cx="118872" cy="118872"/>
          </a:xfrm>
          <a:prstGeom prst="ellipse">
            <a:avLst/>
          </a:prstGeom>
          <a:solidFill>
            <a:srgbClr val="8B5A2B"/>
          </a:solidFill>
          <a:ln w="5080">
            <a:solidFill>
              <a:srgbClr val="8B5A2B"/>
            </a:solidFill>
            <a:prstDash val="solid"/>
          </a:ln>
        </p:spPr>
      </p:sp>
      <p:sp>
        <p:nvSpPr>
          <p:cNvPr id="17" name="Text 15"/>
          <p:cNvSpPr/>
          <p:nvPr/>
        </p:nvSpPr>
        <p:spPr>
          <a:xfrm>
            <a:off x="1252728" y="4572000"/>
            <a:ext cx="2148840" cy="256032"/>
          </a:xfrm>
          <a:prstGeom prst="rect">
            <a:avLst/>
          </a:prstGeom>
          <a:noFill/>
          <a:ln/>
        </p:spPr>
        <p:txBody>
          <a:bodyPr wrap="square" lIns="0" tIns="0" rIns="0" bIns="0" rtlCol="0" anchor="ctr">
            <a:normAutofit/>
          </a:bodyPr>
          <a:lstStyle/>
          <a:p>
            <a:pPr indent="0" marL="0">
              <a:buNone/>
            </a:pPr>
            <a:r>
              <a:rPr lang="en-US" sz="1050" dirty="0">
                <a:solidFill>
                  <a:srgbClr val="1C1917"/>
                </a:solidFill>
                <a:latin typeface="Apple SD Gothic Neo" pitchFamily="34" charset="0"/>
                <a:ea typeface="Apple SD Gothic Neo" pitchFamily="34" charset="-122"/>
                <a:cs typeface="Apple SD Gothic Neo" pitchFamily="34" charset="-120"/>
              </a:rPr>
              <a:t>Care 가이드</a:t>
            </a:r>
            <a:endParaRPr lang="en-US" sz="1050" dirty="0"/>
          </a:p>
        </p:txBody>
      </p:sp>
      <p:sp>
        <p:nvSpPr>
          <p:cNvPr id="18" name="Shape 16"/>
          <p:cNvSpPr/>
          <p:nvPr/>
        </p:nvSpPr>
        <p:spPr>
          <a:xfrm>
            <a:off x="1005840" y="5065776"/>
            <a:ext cx="118872" cy="118872"/>
          </a:xfrm>
          <a:prstGeom prst="ellipse">
            <a:avLst/>
          </a:prstGeom>
          <a:solidFill>
            <a:srgbClr val="8B5A2B"/>
          </a:solidFill>
          <a:ln w="5080">
            <a:solidFill>
              <a:srgbClr val="8B5A2B"/>
            </a:solidFill>
            <a:prstDash val="solid"/>
          </a:ln>
        </p:spPr>
      </p:sp>
      <p:sp>
        <p:nvSpPr>
          <p:cNvPr id="19" name="Text 17"/>
          <p:cNvSpPr/>
          <p:nvPr/>
        </p:nvSpPr>
        <p:spPr>
          <a:xfrm>
            <a:off x="1252728" y="4983480"/>
            <a:ext cx="2148840" cy="256032"/>
          </a:xfrm>
          <a:prstGeom prst="rect">
            <a:avLst/>
          </a:prstGeom>
          <a:noFill/>
          <a:ln/>
        </p:spPr>
        <p:txBody>
          <a:bodyPr wrap="square" lIns="0" tIns="0" rIns="0" bIns="0" rtlCol="0" anchor="ctr">
            <a:normAutofit/>
          </a:bodyPr>
          <a:lstStyle/>
          <a:p>
            <a:pPr indent="0" marL="0">
              <a:buNone/>
            </a:pPr>
            <a:r>
              <a:rPr lang="en-US" sz="1050" dirty="0">
                <a:solidFill>
                  <a:srgbClr val="1C1917"/>
                </a:solidFill>
                <a:latin typeface="Apple SD Gothic Neo" pitchFamily="34" charset="0"/>
                <a:ea typeface="Apple SD Gothic Neo" pitchFamily="34" charset="-122"/>
                <a:cs typeface="Apple SD Gothic Neo" pitchFamily="34" charset="-120"/>
              </a:rPr>
              <a:t>사진 촬영·기록 작성</a:t>
            </a:r>
            <a:endParaRPr lang="en-US" sz="1050" dirty="0"/>
          </a:p>
        </p:txBody>
      </p:sp>
      <p:sp>
        <p:nvSpPr>
          <p:cNvPr id="20" name="Shape 18"/>
          <p:cNvSpPr/>
          <p:nvPr/>
        </p:nvSpPr>
        <p:spPr>
          <a:xfrm>
            <a:off x="4096512" y="2157984"/>
            <a:ext cx="3063240" cy="3493008"/>
          </a:xfrm>
          <a:prstGeom prst="roundRect">
            <a:avLst>
              <a:gd name="adj" fmla="val 4179"/>
            </a:avLst>
          </a:prstGeom>
          <a:solidFill>
            <a:srgbClr val="F4EFE9"/>
          </a:solidFill>
          <a:ln w="10160">
            <a:solidFill>
              <a:srgbClr val="DDD0C2"/>
            </a:solidFill>
            <a:prstDash val="solid"/>
          </a:ln>
        </p:spPr>
      </p:sp>
      <p:sp>
        <p:nvSpPr>
          <p:cNvPr id="21" name="Text 19"/>
          <p:cNvSpPr/>
          <p:nvPr/>
        </p:nvSpPr>
        <p:spPr>
          <a:xfrm>
            <a:off x="4370832" y="2468880"/>
            <a:ext cx="2514600" cy="182880"/>
          </a:xfrm>
          <a:prstGeom prst="rect">
            <a:avLst/>
          </a:prstGeom>
          <a:noFill/>
          <a:ln/>
        </p:spPr>
        <p:txBody>
          <a:bodyPr wrap="square" lIns="0" tIns="0" rIns="0" bIns="0" rtlCol="0" anchor="ctr">
            <a:normAutofit/>
          </a:bodyPr>
          <a:lstStyle/>
          <a:p>
            <a:pPr indent="0" marL="0">
              <a:buNone/>
            </a:pPr>
            <a:r>
              <a:rPr lang="en-US" sz="800" b="1" spc="125" kern="0" dirty="0">
                <a:solidFill>
                  <a:srgbClr val="8B5A2B"/>
                </a:solidFill>
                <a:latin typeface="Apple SD Gothic Neo" pitchFamily="34" charset="0"/>
                <a:ea typeface="Apple SD Gothic Neo" pitchFamily="34" charset="-122"/>
                <a:cs typeface="Apple SD Gothic Neo" pitchFamily="34" charset="-120"/>
              </a:rPr>
              <a:t>SIMULATED</a:t>
            </a:r>
            <a:endParaRPr lang="en-US" sz="800" dirty="0"/>
          </a:p>
        </p:txBody>
      </p:sp>
      <p:sp>
        <p:nvSpPr>
          <p:cNvPr id="22" name="Text 20"/>
          <p:cNvSpPr/>
          <p:nvPr/>
        </p:nvSpPr>
        <p:spPr>
          <a:xfrm>
            <a:off x="4370832" y="2807208"/>
            <a:ext cx="2514600" cy="347472"/>
          </a:xfrm>
          <a:prstGeom prst="rect">
            <a:avLst/>
          </a:prstGeom>
          <a:noFill/>
          <a:ln/>
        </p:spPr>
        <p:txBody>
          <a:bodyPr wrap="square" lIns="0" tIns="0" rIns="0" bIns="0" rtlCol="0" anchor="ctr">
            <a:normAutofit/>
          </a:bodyPr>
          <a:lstStyle/>
          <a:p>
            <a:pPr indent="0" marL="0">
              <a:buNone/>
            </a:pPr>
            <a:r>
              <a:rPr lang="en-US" sz="1800" b="1" dirty="0">
                <a:solidFill>
                  <a:srgbClr val="1C1917"/>
                </a:solidFill>
                <a:latin typeface="Apple SD Gothic Neo" pitchFamily="34" charset="0"/>
                <a:ea typeface="Apple SD Gothic Neo" pitchFamily="34" charset="-122"/>
                <a:cs typeface="Apple SD Gothic Neo" pitchFamily="34" charset="-120"/>
              </a:rPr>
              <a:t>데모 시뮬레이션</a:t>
            </a:r>
            <a:endParaRPr lang="en-US" sz="1800" dirty="0"/>
          </a:p>
        </p:txBody>
      </p:sp>
      <p:sp>
        <p:nvSpPr>
          <p:cNvPr id="23" name="Shape 21"/>
          <p:cNvSpPr/>
          <p:nvPr/>
        </p:nvSpPr>
        <p:spPr>
          <a:xfrm>
            <a:off x="4389120" y="3419856"/>
            <a:ext cx="118872" cy="118872"/>
          </a:xfrm>
          <a:prstGeom prst="ellipse">
            <a:avLst/>
          </a:prstGeom>
          <a:solidFill>
            <a:srgbClr val="8B5A2B"/>
          </a:solidFill>
          <a:ln w="5080">
            <a:solidFill>
              <a:srgbClr val="8B5A2B"/>
            </a:solidFill>
            <a:prstDash val="solid"/>
          </a:ln>
        </p:spPr>
      </p:sp>
      <p:sp>
        <p:nvSpPr>
          <p:cNvPr id="24" name="Text 22"/>
          <p:cNvSpPr/>
          <p:nvPr/>
        </p:nvSpPr>
        <p:spPr>
          <a:xfrm>
            <a:off x="4636008" y="3337560"/>
            <a:ext cx="2148840" cy="256032"/>
          </a:xfrm>
          <a:prstGeom prst="rect">
            <a:avLst/>
          </a:prstGeom>
          <a:noFill/>
          <a:ln/>
        </p:spPr>
        <p:txBody>
          <a:bodyPr wrap="square" lIns="0" tIns="0" rIns="0" bIns="0" rtlCol="0" anchor="ctr">
            <a:normAutofit/>
          </a:bodyPr>
          <a:lstStyle/>
          <a:p>
            <a:pPr indent="0" marL="0">
              <a:buNone/>
            </a:pPr>
            <a:r>
              <a:rPr lang="en-US" sz="1050" dirty="0">
                <a:solidFill>
                  <a:srgbClr val="1C1917"/>
                </a:solidFill>
                <a:latin typeface="Apple SD Gothic Neo" pitchFamily="34" charset="0"/>
                <a:ea typeface="Apple SD Gothic Neo" pitchFamily="34" charset="-122"/>
                <a:cs typeface="Apple SD Gothic Neo" pitchFamily="34" charset="-120"/>
              </a:rPr>
              <a:t>가상 제품·구매 데이터</a:t>
            </a:r>
            <a:endParaRPr lang="en-US" sz="1050" dirty="0"/>
          </a:p>
        </p:txBody>
      </p:sp>
      <p:sp>
        <p:nvSpPr>
          <p:cNvPr id="25" name="Shape 23"/>
          <p:cNvSpPr/>
          <p:nvPr/>
        </p:nvSpPr>
        <p:spPr>
          <a:xfrm>
            <a:off x="4389120" y="3831336"/>
            <a:ext cx="118872" cy="118872"/>
          </a:xfrm>
          <a:prstGeom prst="ellipse">
            <a:avLst/>
          </a:prstGeom>
          <a:solidFill>
            <a:srgbClr val="8B5A2B"/>
          </a:solidFill>
          <a:ln w="5080">
            <a:solidFill>
              <a:srgbClr val="8B5A2B"/>
            </a:solidFill>
            <a:prstDash val="solid"/>
          </a:ln>
        </p:spPr>
      </p:sp>
      <p:sp>
        <p:nvSpPr>
          <p:cNvPr id="26" name="Text 24"/>
          <p:cNvSpPr/>
          <p:nvPr/>
        </p:nvSpPr>
        <p:spPr>
          <a:xfrm>
            <a:off x="4636008" y="3749040"/>
            <a:ext cx="2148840" cy="256032"/>
          </a:xfrm>
          <a:prstGeom prst="rect">
            <a:avLst/>
          </a:prstGeom>
          <a:noFill/>
          <a:ln/>
        </p:spPr>
        <p:txBody>
          <a:bodyPr wrap="square" lIns="0" tIns="0" rIns="0" bIns="0" rtlCol="0" anchor="ctr">
            <a:normAutofit/>
          </a:bodyPr>
          <a:lstStyle/>
          <a:p>
            <a:pPr indent="0" marL="0">
              <a:buNone/>
            </a:pPr>
            <a:r>
              <a:rPr lang="en-US" sz="1050" dirty="0">
                <a:solidFill>
                  <a:srgbClr val="1C1917"/>
                </a:solidFill>
                <a:latin typeface="Apple SD Gothic Neo" pitchFamily="34" charset="0"/>
                <a:ea typeface="Apple SD Gothic Neo" pitchFamily="34" charset="-122"/>
                <a:cs typeface="Apple SD Gothic Neo" pitchFamily="34" charset="-120"/>
              </a:rPr>
              <a:t>가상 Care·수선 이력</a:t>
            </a:r>
            <a:endParaRPr lang="en-US" sz="1050" dirty="0"/>
          </a:p>
        </p:txBody>
      </p:sp>
      <p:sp>
        <p:nvSpPr>
          <p:cNvPr id="27" name="Shape 25"/>
          <p:cNvSpPr/>
          <p:nvPr/>
        </p:nvSpPr>
        <p:spPr>
          <a:xfrm>
            <a:off x="4389120" y="4242816"/>
            <a:ext cx="118872" cy="118872"/>
          </a:xfrm>
          <a:prstGeom prst="ellipse">
            <a:avLst/>
          </a:prstGeom>
          <a:solidFill>
            <a:srgbClr val="8B5A2B"/>
          </a:solidFill>
          <a:ln w="5080">
            <a:solidFill>
              <a:srgbClr val="8B5A2B"/>
            </a:solidFill>
            <a:prstDash val="solid"/>
          </a:ln>
        </p:spPr>
      </p:sp>
      <p:sp>
        <p:nvSpPr>
          <p:cNvPr id="28" name="Text 26"/>
          <p:cNvSpPr/>
          <p:nvPr/>
        </p:nvSpPr>
        <p:spPr>
          <a:xfrm>
            <a:off x="4636008" y="4160520"/>
            <a:ext cx="2148840" cy="256032"/>
          </a:xfrm>
          <a:prstGeom prst="rect">
            <a:avLst/>
          </a:prstGeom>
          <a:noFill/>
          <a:ln/>
        </p:spPr>
        <p:txBody>
          <a:bodyPr wrap="square" lIns="0" tIns="0" rIns="0" bIns="0" rtlCol="0" anchor="ctr">
            <a:normAutofit/>
          </a:bodyPr>
          <a:lstStyle/>
          <a:p>
            <a:pPr indent="0" marL="0">
              <a:buNone/>
            </a:pPr>
            <a:r>
              <a:rPr lang="en-US" sz="1050" dirty="0">
                <a:solidFill>
                  <a:srgbClr val="1C1917"/>
                </a:solidFill>
                <a:latin typeface="Apple SD Gothic Neo" pitchFamily="34" charset="0"/>
                <a:ea typeface="Apple SD Gothic Neo" pitchFamily="34" charset="-122"/>
                <a:cs typeface="Apple SD Gothic Neo" pitchFamily="34" charset="-120"/>
              </a:rPr>
              <a:t>제품별 고유 ID 흐름</a:t>
            </a:r>
            <a:endParaRPr lang="en-US" sz="1050" dirty="0"/>
          </a:p>
        </p:txBody>
      </p:sp>
      <p:sp>
        <p:nvSpPr>
          <p:cNvPr id="29" name="Shape 27"/>
          <p:cNvSpPr/>
          <p:nvPr/>
        </p:nvSpPr>
        <p:spPr>
          <a:xfrm>
            <a:off x="4389120" y="4654296"/>
            <a:ext cx="118872" cy="118872"/>
          </a:xfrm>
          <a:prstGeom prst="ellipse">
            <a:avLst/>
          </a:prstGeom>
          <a:solidFill>
            <a:srgbClr val="8B5A2B"/>
          </a:solidFill>
          <a:ln w="5080">
            <a:solidFill>
              <a:srgbClr val="8B5A2B"/>
            </a:solidFill>
            <a:prstDash val="solid"/>
          </a:ln>
        </p:spPr>
      </p:sp>
      <p:sp>
        <p:nvSpPr>
          <p:cNvPr id="30" name="Text 28"/>
          <p:cNvSpPr/>
          <p:nvPr/>
        </p:nvSpPr>
        <p:spPr>
          <a:xfrm>
            <a:off x="4636008" y="4572000"/>
            <a:ext cx="2148840" cy="256032"/>
          </a:xfrm>
          <a:prstGeom prst="rect">
            <a:avLst/>
          </a:prstGeom>
          <a:noFill/>
          <a:ln/>
        </p:spPr>
        <p:txBody>
          <a:bodyPr wrap="square" lIns="0" tIns="0" rIns="0" bIns="0" rtlCol="0" anchor="ctr">
            <a:normAutofit/>
          </a:bodyPr>
          <a:lstStyle/>
          <a:p>
            <a:pPr indent="0" marL="0">
              <a:buNone/>
            </a:pPr>
            <a:r>
              <a:rPr lang="en-US" sz="1050" dirty="0">
                <a:solidFill>
                  <a:srgbClr val="1C1917"/>
                </a:solidFill>
                <a:latin typeface="Apple SD Gothic Neo" pitchFamily="34" charset="0"/>
                <a:ea typeface="Apple SD Gothic Neo" pitchFamily="34" charset="-122"/>
                <a:cs typeface="Apple SD Gothic Neo" pitchFamily="34" charset="-120"/>
              </a:rPr>
              <a:t>스토리·AI 추천 화면</a:t>
            </a:r>
            <a:endParaRPr lang="en-US" sz="1050" dirty="0"/>
          </a:p>
        </p:txBody>
      </p:sp>
      <p:sp>
        <p:nvSpPr>
          <p:cNvPr id="31" name="Shape 29"/>
          <p:cNvSpPr/>
          <p:nvPr/>
        </p:nvSpPr>
        <p:spPr>
          <a:xfrm>
            <a:off x="4389120" y="5065776"/>
            <a:ext cx="118872" cy="118872"/>
          </a:xfrm>
          <a:prstGeom prst="ellipse">
            <a:avLst/>
          </a:prstGeom>
          <a:solidFill>
            <a:srgbClr val="8B5A2B"/>
          </a:solidFill>
          <a:ln w="5080">
            <a:solidFill>
              <a:srgbClr val="8B5A2B"/>
            </a:solidFill>
            <a:prstDash val="solid"/>
          </a:ln>
        </p:spPr>
      </p:sp>
      <p:sp>
        <p:nvSpPr>
          <p:cNvPr id="32" name="Text 30"/>
          <p:cNvSpPr/>
          <p:nvPr/>
        </p:nvSpPr>
        <p:spPr>
          <a:xfrm>
            <a:off x="4636008" y="4983480"/>
            <a:ext cx="2148840" cy="256032"/>
          </a:xfrm>
          <a:prstGeom prst="rect">
            <a:avLst/>
          </a:prstGeom>
          <a:noFill/>
          <a:ln/>
        </p:spPr>
        <p:txBody>
          <a:bodyPr wrap="square" lIns="0" tIns="0" rIns="0" bIns="0" rtlCol="0" anchor="ctr">
            <a:normAutofit/>
          </a:bodyPr>
          <a:lstStyle/>
          <a:p>
            <a:pPr indent="0" marL="0">
              <a:buNone/>
            </a:pPr>
            <a:r>
              <a:rPr lang="en-US" sz="1050" dirty="0">
                <a:solidFill>
                  <a:srgbClr val="1C1917"/>
                </a:solidFill>
                <a:latin typeface="Apple SD Gothic Neo" pitchFamily="34" charset="0"/>
                <a:ea typeface="Apple SD Gothic Neo" pitchFamily="34" charset="-122"/>
                <a:cs typeface="Apple SD Gothic Neo" pitchFamily="34" charset="-120"/>
              </a:rPr>
              <a:t>Supabase 스키마 준비</a:t>
            </a:r>
            <a:endParaRPr lang="en-US" sz="1050" dirty="0"/>
          </a:p>
        </p:txBody>
      </p:sp>
      <p:sp>
        <p:nvSpPr>
          <p:cNvPr id="33" name="Shape 31"/>
          <p:cNvSpPr/>
          <p:nvPr/>
        </p:nvSpPr>
        <p:spPr>
          <a:xfrm>
            <a:off x="7479792" y="2157984"/>
            <a:ext cx="3063240" cy="3493008"/>
          </a:xfrm>
          <a:prstGeom prst="roundRect">
            <a:avLst>
              <a:gd name="adj" fmla="val 4179"/>
            </a:avLst>
          </a:prstGeom>
          <a:solidFill>
            <a:srgbClr val="EEF2F6"/>
          </a:solidFill>
          <a:ln w="10160">
            <a:solidFill>
              <a:srgbClr val="C9D6E0"/>
            </a:solidFill>
            <a:prstDash val="solid"/>
          </a:ln>
        </p:spPr>
      </p:sp>
      <p:sp>
        <p:nvSpPr>
          <p:cNvPr id="34" name="Text 32"/>
          <p:cNvSpPr/>
          <p:nvPr/>
        </p:nvSpPr>
        <p:spPr>
          <a:xfrm>
            <a:off x="7754112" y="2468880"/>
            <a:ext cx="2514600" cy="182880"/>
          </a:xfrm>
          <a:prstGeom prst="rect">
            <a:avLst/>
          </a:prstGeom>
          <a:noFill/>
          <a:ln/>
        </p:spPr>
        <p:txBody>
          <a:bodyPr wrap="square" lIns="0" tIns="0" rIns="0" bIns="0" rtlCol="0" anchor="ctr">
            <a:normAutofit/>
          </a:bodyPr>
          <a:lstStyle/>
          <a:p>
            <a:pPr indent="0" marL="0">
              <a:buNone/>
            </a:pPr>
            <a:r>
              <a:rPr lang="en-US" sz="800" b="1" spc="125" kern="0" dirty="0">
                <a:solidFill>
                  <a:srgbClr val="17324D"/>
                </a:solidFill>
                <a:latin typeface="Apple SD Gothic Neo" pitchFamily="34" charset="0"/>
                <a:ea typeface="Apple SD Gothic Neo" pitchFamily="34" charset="-122"/>
                <a:cs typeface="Apple SD Gothic Neo" pitchFamily="34" charset="-120"/>
              </a:rPr>
              <a:t>NEXT INTEGRATION</a:t>
            </a:r>
            <a:endParaRPr lang="en-US" sz="800" dirty="0"/>
          </a:p>
        </p:txBody>
      </p:sp>
      <p:sp>
        <p:nvSpPr>
          <p:cNvPr id="35" name="Text 33"/>
          <p:cNvSpPr/>
          <p:nvPr/>
        </p:nvSpPr>
        <p:spPr>
          <a:xfrm>
            <a:off x="7754112" y="2807208"/>
            <a:ext cx="2514600" cy="347472"/>
          </a:xfrm>
          <a:prstGeom prst="rect">
            <a:avLst/>
          </a:prstGeom>
          <a:noFill/>
          <a:ln/>
        </p:spPr>
        <p:txBody>
          <a:bodyPr wrap="square" lIns="0" tIns="0" rIns="0" bIns="0" rtlCol="0" anchor="ctr">
            <a:normAutofit/>
          </a:bodyPr>
          <a:lstStyle/>
          <a:p>
            <a:pPr indent="0" marL="0">
              <a:buNone/>
            </a:pPr>
            <a:r>
              <a:rPr lang="en-US" sz="1800" b="1" dirty="0">
                <a:solidFill>
                  <a:srgbClr val="1C1917"/>
                </a:solidFill>
                <a:latin typeface="Apple SD Gothic Neo" pitchFamily="34" charset="0"/>
                <a:ea typeface="Apple SD Gothic Neo" pitchFamily="34" charset="-122"/>
                <a:cs typeface="Apple SD Gothic Neo" pitchFamily="34" charset="-120"/>
              </a:rPr>
              <a:t>다음 연동</a:t>
            </a:r>
            <a:endParaRPr lang="en-US" sz="1800" dirty="0"/>
          </a:p>
        </p:txBody>
      </p:sp>
      <p:sp>
        <p:nvSpPr>
          <p:cNvPr id="36" name="Shape 34"/>
          <p:cNvSpPr/>
          <p:nvPr/>
        </p:nvSpPr>
        <p:spPr>
          <a:xfrm>
            <a:off x="7772400" y="3419856"/>
            <a:ext cx="118872" cy="118872"/>
          </a:xfrm>
          <a:prstGeom prst="ellipse">
            <a:avLst/>
          </a:prstGeom>
          <a:solidFill>
            <a:srgbClr val="8B5A2B"/>
          </a:solidFill>
          <a:ln w="5080">
            <a:solidFill>
              <a:srgbClr val="8B5A2B"/>
            </a:solidFill>
            <a:prstDash val="solid"/>
          </a:ln>
        </p:spPr>
      </p:sp>
      <p:sp>
        <p:nvSpPr>
          <p:cNvPr id="37" name="Text 35"/>
          <p:cNvSpPr/>
          <p:nvPr/>
        </p:nvSpPr>
        <p:spPr>
          <a:xfrm>
            <a:off x="8019288" y="3337560"/>
            <a:ext cx="2148840" cy="256032"/>
          </a:xfrm>
          <a:prstGeom prst="rect">
            <a:avLst/>
          </a:prstGeom>
          <a:noFill/>
          <a:ln/>
        </p:spPr>
        <p:txBody>
          <a:bodyPr wrap="square" lIns="0" tIns="0" rIns="0" bIns="0" rtlCol="0" anchor="ctr">
            <a:normAutofit/>
          </a:bodyPr>
          <a:lstStyle/>
          <a:p>
            <a:pPr indent="0" marL="0">
              <a:buNone/>
            </a:pPr>
            <a:r>
              <a:rPr lang="en-US" sz="1050" dirty="0">
                <a:solidFill>
                  <a:srgbClr val="1C1917"/>
                </a:solidFill>
                <a:latin typeface="Apple SD Gothic Neo" pitchFamily="34" charset="0"/>
                <a:ea typeface="Apple SD Gothic Neo" pitchFamily="34" charset="-122"/>
                <a:cs typeface="Apple SD Gothic Neo" pitchFamily="34" charset="-120"/>
              </a:rPr>
              <a:t>공식 DPP·NFC·QR</a:t>
            </a:r>
            <a:endParaRPr lang="en-US" sz="1050" dirty="0"/>
          </a:p>
        </p:txBody>
      </p:sp>
      <p:sp>
        <p:nvSpPr>
          <p:cNvPr id="38" name="Shape 36"/>
          <p:cNvSpPr/>
          <p:nvPr/>
        </p:nvSpPr>
        <p:spPr>
          <a:xfrm>
            <a:off x="7772400" y="3831336"/>
            <a:ext cx="118872" cy="118872"/>
          </a:xfrm>
          <a:prstGeom prst="ellipse">
            <a:avLst/>
          </a:prstGeom>
          <a:solidFill>
            <a:srgbClr val="8B5A2B"/>
          </a:solidFill>
          <a:ln w="5080">
            <a:solidFill>
              <a:srgbClr val="8B5A2B"/>
            </a:solidFill>
            <a:prstDash val="solid"/>
          </a:ln>
        </p:spPr>
      </p:sp>
      <p:sp>
        <p:nvSpPr>
          <p:cNvPr id="39" name="Text 37"/>
          <p:cNvSpPr/>
          <p:nvPr/>
        </p:nvSpPr>
        <p:spPr>
          <a:xfrm>
            <a:off x="8019288" y="3749040"/>
            <a:ext cx="2148840" cy="256032"/>
          </a:xfrm>
          <a:prstGeom prst="rect">
            <a:avLst/>
          </a:prstGeom>
          <a:noFill/>
          <a:ln/>
        </p:spPr>
        <p:txBody>
          <a:bodyPr wrap="square" lIns="0" tIns="0" rIns="0" bIns="0" rtlCol="0" anchor="ctr">
            <a:normAutofit/>
          </a:bodyPr>
          <a:lstStyle/>
          <a:p>
            <a:pPr indent="0" marL="0">
              <a:buNone/>
            </a:pPr>
            <a:r>
              <a:rPr lang="en-US" sz="1050" dirty="0">
                <a:solidFill>
                  <a:srgbClr val="1C1917"/>
                </a:solidFill>
                <a:latin typeface="Apple SD Gothic Neo" pitchFamily="34" charset="0"/>
                <a:ea typeface="Apple SD Gothic Neo" pitchFamily="34" charset="-122"/>
                <a:cs typeface="Apple SD Gothic Neo" pitchFamily="34" charset="-120"/>
              </a:rPr>
              <a:t>제품·구매·수선 시스템</a:t>
            </a:r>
            <a:endParaRPr lang="en-US" sz="1050" dirty="0"/>
          </a:p>
        </p:txBody>
      </p:sp>
      <p:sp>
        <p:nvSpPr>
          <p:cNvPr id="40" name="Shape 38"/>
          <p:cNvSpPr/>
          <p:nvPr/>
        </p:nvSpPr>
        <p:spPr>
          <a:xfrm>
            <a:off x="7772400" y="4242816"/>
            <a:ext cx="118872" cy="118872"/>
          </a:xfrm>
          <a:prstGeom prst="ellipse">
            <a:avLst/>
          </a:prstGeom>
          <a:solidFill>
            <a:srgbClr val="8B5A2B"/>
          </a:solidFill>
          <a:ln w="5080">
            <a:solidFill>
              <a:srgbClr val="8B5A2B"/>
            </a:solidFill>
            <a:prstDash val="solid"/>
          </a:ln>
        </p:spPr>
      </p:sp>
      <p:sp>
        <p:nvSpPr>
          <p:cNvPr id="41" name="Text 39"/>
          <p:cNvSpPr/>
          <p:nvPr/>
        </p:nvSpPr>
        <p:spPr>
          <a:xfrm>
            <a:off x="8019288" y="4160520"/>
            <a:ext cx="2148840" cy="256032"/>
          </a:xfrm>
          <a:prstGeom prst="rect">
            <a:avLst/>
          </a:prstGeom>
          <a:noFill/>
          <a:ln/>
        </p:spPr>
        <p:txBody>
          <a:bodyPr wrap="square" lIns="0" tIns="0" rIns="0" bIns="0" rtlCol="0" anchor="ctr">
            <a:normAutofit/>
          </a:bodyPr>
          <a:lstStyle/>
          <a:p>
            <a:pPr indent="0" marL="0">
              <a:buNone/>
            </a:pPr>
            <a:r>
              <a:rPr lang="en-US" sz="1050" dirty="0">
                <a:solidFill>
                  <a:srgbClr val="1C1917"/>
                </a:solidFill>
                <a:latin typeface="Apple SD Gothic Neo" pitchFamily="34" charset="0"/>
                <a:ea typeface="Apple SD Gothic Neo" pitchFamily="34" charset="-122"/>
                <a:cs typeface="Apple SD Gothic Neo" pitchFamily="34" charset="-120"/>
              </a:rPr>
              <a:t>전문가 Care 검토</a:t>
            </a:r>
            <a:endParaRPr lang="en-US" sz="1050" dirty="0"/>
          </a:p>
        </p:txBody>
      </p:sp>
      <p:sp>
        <p:nvSpPr>
          <p:cNvPr id="42" name="Shape 40"/>
          <p:cNvSpPr/>
          <p:nvPr/>
        </p:nvSpPr>
        <p:spPr>
          <a:xfrm>
            <a:off x="7772400" y="4654296"/>
            <a:ext cx="118872" cy="118872"/>
          </a:xfrm>
          <a:prstGeom prst="ellipse">
            <a:avLst/>
          </a:prstGeom>
          <a:solidFill>
            <a:srgbClr val="8B5A2B"/>
          </a:solidFill>
          <a:ln w="5080">
            <a:solidFill>
              <a:srgbClr val="8B5A2B"/>
            </a:solidFill>
            <a:prstDash val="solid"/>
          </a:ln>
        </p:spPr>
      </p:sp>
      <p:sp>
        <p:nvSpPr>
          <p:cNvPr id="43" name="Text 41"/>
          <p:cNvSpPr/>
          <p:nvPr/>
        </p:nvSpPr>
        <p:spPr>
          <a:xfrm>
            <a:off x="8019288" y="4572000"/>
            <a:ext cx="2148840" cy="256032"/>
          </a:xfrm>
          <a:prstGeom prst="rect">
            <a:avLst/>
          </a:prstGeom>
          <a:noFill/>
          <a:ln/>
        </p:spPr>
        <p:txBody>
          <a:bodyPr wrap="square" lIns="0" tIns="0" rIns="0" bIns="0" rtlCol="0" anchor="ctr">
            <a:normAutofit/>
          </a:bodyPr>
          <a:lstStyle/>
          <a:p>
            <a:pPr indent="0" marL="0">
              <a:buNone/>
            </a:pPr>
            <a:r>
              <a:rPr lang="en-US" sz="1050" dirty="0">
                <a:solidFill>
                  <a:srgbClr val="1C1917"/>
                </a:solidFill>
                <a:latin typeface="Apple SD Gothic Neo" pitchFamily="34" charset="0"/>
                <a:ea typeface="Apple SD Gothic Neo" pitchFamily="34" charset="-122"/>
                <a:cs typeface="Apple SD Gothic Neo" pitchFamily="34" charset="-120"/>
              </a:rPr>
              <a:t>LLM Story·Recap</a:t>
            </a:r>
            <a:endParaRPr lang="en-US" sz="1050" dirty="0"/>
          </a:p>
        </p:txBody>
      </p:sp>
      <p:sp>
        <p:nvSpPr>
          <p:cNvPr id="44" name="Shape 42"/>
          <p:cNvSpPr/>
          <p:nvPr/>
        </p:nvSpPr>
        <p:spPr>
          <a:xfrm>
            <a:off x="7772400" y="5065776"/>
            <a:ext cx="118872" cy="118872"/>
          </a:xfrm>
          <a:prstGeom prst="ellipse">
            <a:avLst/>
          </a:prstGeom>
          <a:solidFill>
            <a:srgbClr val="8B5A2B"/>
          </a:solidFill>
          <a:ln w="5080">
            <a:solidFill>
              <a:srgbClr val="8B5A2B"/>
            </a:solidFill>
            <a:prstDash val="solid"/>
          </a:ln>
        </p:spPr>
      </p:sp>
      <p:sp>
        <p:nvSpPr>
          <p:cNvPr id="45" name="Text 43"/>
          <p:cNvSpPr/>
          <p:nvPr/>
        </p:nvSpPr>
        <p:spPr>
          <a:xfrm>
            <a:off x="8019288" y="4983480"/>
            <a:ext cx="2148840" cy="256032"/>
          </a:xfrm>
          <a:prstGeom prst="rect">
            <a:avLst/>
          </a:prstGeom>
          <a:noFill/>
          <a:ln/>
        </p:spPr>
        <p:txBody>
          <a:bodyPr wrap="square" lIns="0" tIns="0" rIns="0" bIns="0" rtlCol="0" anchor="ctr">
            <a:normAutofit/>
          </a:bodyPr>
          <a:lstStyle/>
          <a:p>
            <a:pPr indent="0" marL="0">
              <a:buNone/>
            </a:pPr>
            <a:r>
              <a:rPr lang="en-US" sz="1050" dirty="0">
                <a:solidFill>
                  <a:srgbClr val="1C1917"/>
                </a:solidFill>
                <a:latin typeface="Apple SD Gothic Neo" pitchFamily="34" charset="0"/>
                <a:ea typeface="Apple SD Gothic Neo" pitchFamily="34" charset="-122"/>
                <a:cs typeface="Apple SD Gothic Neo" pitchFamily="34" charset="-120"/>
              </a:rPr>
              <a:t>리셀·소유권 이전</a:t>
            </a:r>
            <a:endParaRPr lang="en-US" sz="1050" dirty="0"/>
          </a:p>
        </p:txBody>
      </p:sp>
      <p:sp>
        <p:nvSpPr>
          <p:cNvPr id="46" name="Shape 44"/>
          <p:cNvSpPr/>
          <p:nvPr/>
        </p:nvSpPr>
        <p:spPr>
          <a:xfrm>
            <a:off x="2304288" y="5843016"/>
            <a:ext cx="7589520" cy="438912"/>
          </a:xfrm>
          <a:prstGeom prst="roundRect">
            <a:avLst>
              <a:gd name="adj" fmla="val 29167"/>
            </a:avLst>
          </a:prstGeom>
          <a:solidFill>
            <a:srgbClr val="F7EAE8"/>
          </a:solidFill>
          <a:ln w="10160">
            <a:solidFill>
              <a:srgbClr val="E9C4BE"/>
            </a:solidFill>
            <a:prstDash val="solid"/>
          </a:ln>
        </p:spPr>
      </p:sp>
      <p:sp>
        <p:nvSpPr>
          <p:cNvPr id="47" name="Text 45"/>
          <p:cNvSpPr/>
          <p:nvPr/>
        </p:nvSpPr>
        <p:spPr>
          <a:xfrm>
            <a:off x="2596896" y="5943600"/>
            <a:ext cx="7022592" cy="201168"/>
          </a:xfrm>
          <a:prstGeom prst="rect">
            <a:avLst/>
          </a:prstGeom>
          <a:noFill/>
          <a:ln/>
        </p:spPr>
        <p:txBody>
          <a:bodyPr wrap="square" lIns="0" tIns="0" rIns="0" bIns="0" rtlCol="0" anchor="ctr">
            <a:normAutofit/>
          </a:bodyPr>
          <a:lstStyle/>
          <a:p>
            <a:pPr algn="ctr" indent="0" marL="0">
              <a:buNone/>
            </a:pPr>
            <a:r>
              <a:rPr lang="en-US" sz="1050" b="1" dirty="0">
                <a:solidFill>
                  <a:srgbClr val="A6473C"/>
                </a:solidFill>
                <a:latin typeface="Apple SD Gothic Neo" pitchFamily="34" charset="0"/>
                <a:ea typeface="Apple SD Gothic Neo" pitchFamily="34" charset="-122"/>
                <a:cs typeface="Apple SD Gothic Neo" pitchFamily="34" charset="-120"/>
              </a:rPr>
              <a:t>현재 MVP는 Vision AI 손상 판정을 구현 완료로 주장하지 않습니다.</a:t>
            </a:r>
            <a:endParaRPr lang="en-US" sz="10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C1917"/>
        </a:solidFill>
      </p:bgPr>
    </p:bg>
    <p:spTree>
      <p:nvGrpSpPr>
        <p:cNvPr id="1" name=""/>
        <p:cNvGrpSpPr/>
        <p:nvPr/>
      </p:nvGrpSpPr>
      <p:grpSpPr>
        <a:xfrm>
          <a:off x="0" y="0"/>
          <a:ext cx="0" cy="0"/>
          <a:chOff x="0" y="0"/>
          <a:chExt cx="0" cy="0"/>
        </a:xfrm>
      </p:grpSpPr>
      <p:sp>
        <p:nvSpPr>
          <p:cNvPr id="2" name="Text 0"/>
          <p:cNvSpPr/>
          <p:nvPr/>
        </p:nvSpPr>
        <p:spPr>
          <a:xfrm>
            <a:off x="685800" y="411480"/>
            <a:ext cx="2926080" cy="201168"/>
          </a:xfrm>
          <a:prstGeom prst="rect">
            <a:avLst/>
          </a:prstGeom>
          <a:noFill/>
          <a:ln/>
        </p:spPr>
        <p:txBody>
          <a:bodyPr wrap="square" lIns="0" tIns="0" rIns="0" bIns="0" rtlCol="0" anchor="ctr">
            <a:normAutofit/>
          </a:bodyPr>
          <a:lstStyle/>
          <a:p>
            <a:pPr indent="0" marL="0">
              <a:buNone/>
            </a:pPr>
            <a:r>
              <a:rPr lang="en-US" sz="900" b="1" spc="210" kern="0" dirty="0">
                <a:solidFill>
                  <a:srgbClr val="C9945A"/>
                </a:solidFill>
                <a:latin typeface="Apple SD Gothic Neo" pitchFamily="34" charset="0"/>
                <a:ea typeface="Apple SD Gothic Neo" pitchFamily="34" charset="-122"/>
                <a:cs typeface="Apple SD Gothic Neo" pitchFamily="34" charset="-120"/>
              </a:rPr>
              <a:t>PILOT PROPOSAL</a:t>
            </a:r>
            <a:endParaRPr lang="en-US" sz="900" dirty="0"/>
          </a:p>
        </p:txBody>
      </p:sp>
      <p:sp>
        <p:nvSpPr>
          <p:cNvPr id="3" name="Text 1"/>
          <p:cNvSpPr/>
          <p:nvPr/>
        </p:nvSpPr>
        <p:spPr>
          <a:xfrm>
            <a:off x="685800" y="749808"/>
            <a:ext cx="10789920" cy="841248"/>
          </a:xfrm>
          <a:prstGeom prst="rect">
            <a:avLst/>
          </a:prstGeom>
          <a:noFill/>
          <a:ln/>
        </p:spPr>
        <p:txBody>
          <a:bodyPr wrap="square" lIns="0" tIns="0" rIns="0" bIns="0" rtlCol="0" anchor="t">
            <a:normAutofit/>
          </a:bodyPr>
          <a:lstStyle/>
          <a:p>
            <a:pPr indent="0" marL="0">
              <a:lnSpc>
                <a:spcPct val="88000"/>
              </a:lnSpc>
              <a:buNone/>
            </a:pPr>
            <a:r>
              <a:rPr lang="en-US" sz="2600" b="1" dirty="0">
                <a:solidFill>
                  <a:srgbClr val="FFFFFF"/>
                </a:solidFill>
                <a:latin typeface="Apple SD Gothic Neo" pitchFamily="34" charset="0"/>
                <a:ea typeface="Apple SD Gothic Neo" pitchFamily="34" charset="-122"/>
                <a:cs typeface="Apple SD Gothic Neo" pitchFamily="34" charset="-120"/>
              </a:rPr>
              <a:t>한 제품 라인, 한 진입점,</a:t>
            </a:r>
            <a:endParaRPr lang="en-US" sz="2600" dirty="0"/>
          </a:p>
          <a:p>
            <a:pPr indent="0" marL="0">
              <a:lnSpc>
                <a:spcPct val="88000"/>
              </a:lnSpc>
              <a:buNone/>
            </a:pPr>
            <a:r>
              <a:rPr lang="en-US" sz="2600" b="1" dirty="0">
                <a:solidFill>
                  <a:srgbClr val="FFFFFF"/>
                </a:solidFill>
                <a:latin typeface="Apple SD Gothic Neo" pitchFamily="34" charset="0"/>
                <a:ea typeface="Apple SD Gothic Neo" pitchFamily="34" charset="-122"/>
                <a:cs typeface="Apple SD Gothic Neo" pitchFamily="34" charset="-120"/>
              </a:rPr>
              <a:t>한 개의 Golden Path로 시작합니다</a:t>
            </a:r>
            <a:endParaRPr lang="en-US" sz="2600" dirty="0"/>
          </a:p>
        </p:txBody>
      </p:sp>
      <p:sp>
        <p:nvSpPr>
          <p:cNvPr id="4" name="Text 2"/>
          <p:cNvSpPr/>
          <p:nvPr/>
        </p:nvSpPr>
        <p:spPr>
          <a:xfrm>
            <a:off x="694944" y="1581912"/>
            <a:ext cx="9875520" cy="347472"/>
          </a:xfrm>
          <a:prstGeom prst="rect">
            <a:avLst/>
          </a:prstGeom>
          <a:noFill/>
          <a:ln/>
        </p:spPr>
        <p:txBody>
          <a:bodyPr wrap="square" lIns="0" tIns="0" rIns="0" bIns="0" rtlCol="0" anchor="t">
            <a:normAutofit/>
          </a:bodyPr>
          <a:lstStyle/>
          <a:p>
            <a:pPr indent="0" marL="0">
              <a:buNone/>
            </a:pPr>
            <a:r>
              <a:rPr lang="en-US" sz="1150" dirty="0">
                <a:solidFill>
                  <a:srgbClr val="B7ADA4"/>
                </a:solidFill>
                <a:latin typeface="Apple SD Gothic Neo" pitchFamily="34" charset="0"/>
                <a:ea typeface="Apple SD Gothic Neo" pitchFamily="34" charset="-122"/>
                <a:cs typeface="Apple SD Gothic Neo" pitchFamily="34" charset="-120"/>
              </a:rPr>
              <a:t>큰 플랫폼보다 측정 가능한 작은 파일럿을 먼저 제안합니다.</a:t>
            </a:r>
            <a:endParaRPr lang="en-US" sz="1150" dirty="0"/>
          </a:p>
        </p:txBody>
      </p:sp>
      <p:sp>
        <p:nvSpPr>
          <p:cNvPr id="5" name="Text 3"/>
          <p:cNvSpPr/>
          <p:nvPr/>
        </p:nvSpPr>
        <p:spPr>
          <a:xfrm>
            <a:off x="658368" y="6473952"/>
            <a:ext cx="2286000" cy="182880"/>
          </a:xfrm>
          <a:prstGeom prst="rect">
            <a:avLst/>
          </a:prstGeom>
          <a:noFill/>
          <a:ln/>
        </p:spPr>
        <p:txBody>
          <a:bodyPr wrap="square" lIns="0" tIns="0" rIns="0" bIns="0" rtlCol="0" anchor="ctr">
            <a:normAutofit/>
          </a:bodyPr>
          <a:lstStyle/>
          <a:p>
            <a:pPr indent="0" marL="0">
              <a:buNone/>
            </a:pPr>
            <a:r>
              <a:rPr lang="en-US" sz="850" spc="140" kern="0" dirty="0">
                <a:solidFill>
                  <a:srgbClr val="B7ADA4"/>
                </a:solidFill>
                <a:latin typeface="Apple SD Gothic Neo" pitchFamily="34" charset="0"/>
                <a:ea typeface="Apple SD Gothic Neo" pitchFamily="34" charset="-122"/>
                <a:cs typeface="Apple SD Gothic Neo" pitchFamily="34" charset="-120"/>
              </a:rPr>
              <a:t>MCM · STORYBOOK</a:t>
            </a:r>
            <a:endParaRPr lang="en-US" sz="850" dirty="0"/>
          </a:p>
        </p:txBody>
      </p:sp>
      <p:sp>
        <p:nvSpPr>
          <p:cNvPr id="6" name="Text 4"/>
          <p:cNvSpPr/>
          <p:nvPr/>
        </p:nvSpPr>
        <p:spPr>
          <a:xfrm>
            <a:off x="11155680" y="6473952"/>
            <a:ext cx="384048" cy="182880"/>
          </a:xfrm>
          <a:prstGeom prst="rect">
            <a:avLst/>
          </a:prstGeom>
          <a:noFill/>
          <a:ln/>
        </p:spPr>
        <p:txBody>
          <a:bodyPr wrap="square" lIns="0" tIns="0" rIns="0" bIns="0" rtlCol="0" anchor="ctr">
            <a:normAutofit/>
          </a:bodyPr>
          <a:lstStyle/>
          <a:p>
            <a:pPr algn="r" indent="0" marL="0">
              <a:buNone/>
            </a:pPr>
            <a:r>
              <a:rPr lang="en-US" sz="850" dirty="0">
                <a:solidFill>
                  <a:srgbClr val="B7ADA4"/>
                </a:solidFill>
                <a:latin typeface="Apple SD Gothic Neo" pitchFamily="34" charset="0"/>
                <a:ea typeface="Apple SD Gothic Neo" pitchFamily="34" charset="-122"/>
                <a:cs typeface="Apple SD Gothic Neo" pitchFamily="34" charset="-120"/>
              </a:rPr>
              <a:t>13</a:t>
            </a:r>
            <a:endParaRPr lang="en-US" sz="850" dirty="0"/>
          </a:p>
        </p:txBody>
      </p:sp>
      <p:sp>
        <p:nvSpPr>
          <p:cNvPr id="7" name="Shape 5"/>
          <p:cNvSpPr/>
          <p:nvPr/>
        </p:nvSpPr>
        <p:spPr>
          <a:xfrm>
            <a:off x="768096" y="2286000"/>
            <a:ext cx="3364992" cy="2999232"/>
          </a:xfrm>
          <a:prstGeom prst="roundRect">
            <a:avLst>
              <a:gd name="adj" fmla="val 4268"/>
            </a:avLst>
          </a:prstGeom>
          <a:solidFill>
            <a:srgbClr val="272220"/>
          </a:solidFill>
          <a:ln w="10160">
            <a:solidFill>
              <a:srgbClr val="433B37"/>
            </a:solidFill>
            <a:prstDash val="solid"/>
          </a:ln>
        </p:spPr>
      </p:sp>
      <p:sp>
        <p:nvSpPr>
          <p:cNvPr id="8" name="Text 6"/>
          <p:cNvSpPr/>
          <p:nvPr/>
        </p:nvSpPr>
        <p:spPr>
          <a:xfrm>
            <a:off x="1042416" y="2560320"/>
            <a:ext cx="384048" cy="201168"/>
          </a:xfrm>
          <a:prstGeom prst="rect">
            <a:avLst/>
          </a:prstGeom>
          <a:noFill/>
          <a:ln/>
        </p:spPr>
        <p:txBody>
          <a:bodyPr wrap="square" lIns="0" tIns="0" rIns="0" bIns="0" rtlCol="0" anchor="ctr">
            <a:normAutofit/>
          </a:bodyPr>
          <a:lstStyle/>
          <a:p>
            <a:pPr indent="0" marL="0">
              <a:buNone/>
            </a:pPr>
            <a:r>
              <a:rPr lang="en-US" sz="900" b="1" dirty="0">
                <a:solidFill>
                  <a:srgbClr val="C9945A"/>
                </a:solidFill>
                <a:latin typeface="Apple SD Gothic Neo" pitchFamily="34" charset="0"/>
                <a:ea typeface="Apple SD Gothic Neo" pitchFamily="34" charset="-122"/>
                <a:cs typeface="Apple SD Gothic Neo" pitchFamily="34" charset="-120"/>
              </a:rPr>
              <a:t>01</a:t>
            </a:r>
            <a:endParaRPr lang="en-US" sz="900" dirty="0"/>
          </a:p>
        </p:txBody>
      </p:sp>
      <p:sp>
        <p:nvSpPr>
          <p:cNvPr id="9" name="Text 7"/>
          <p:cNvSpPr/>
          <p:nvPr/>
        </p:nvSpPr>
        <p:spPr>
          <a:xfrm>
            <a:off x="1591056" y="2560320"/>
            <a:ext cx="1828800" cy="201168"/>
          </a:xfrm>
          <a:prstGeom prst="rect">
            <a:avLst/>
          </a:prstGeom>
          <a:noFill/>
          <a:ln/>
        </p:spPr>
        <p:txBody>
          <a:bodyPr wrap="square" lIns="0" tIns="0" rIns="0" bIns="0" rtlCol="0" anchor="ctr">
            <a:normAutofit/>
          </a:bodyPr>
          <a:lstStyle/>
          <a:p>
            <a:pPr indent="0" marL="0">
              <a:buNone/>
            </a:pPr>
            <a:r>
              <a:rPr lang="en-US" sz="850" b="1" spc="150" kern="0" dirty="0">
                <a:solidFill>
                  <a:srgbClr val="C9945A"/>
                </a:solidFill>
                <a:latin typeface="Apple SD Gothic Neo" pitchFamily="34" charset="0"/>
                <a:ea typeface="Apple SD Gothic Neo" pitchFamily="34" charset="-122"/>
                <a:cs typeface="Apple SD Gothic Neo" pitchFamily="34" charset="-120"/>
              </a:rPr>
              <a:t>CONNECT</a:t>
            </a:r>
            <a:endParaRPr lang="en-US" sz="850" dirty="0"/>
          </a:p>
        </p:txBody>
      </p:sp>
      <p:sp>
        <p:nvSpPr>
          <p:cNvPr id="10" name="Text 8"/>
          <p:cNvSpPr/>
          <p:nvPr/>
        </p:nvSpPr>
        <p:spPr>
          <a:xfrm>
            <a:off x="1042416" y="3127248"/>
            <a:ext cx="2761488" cy="384048"/>
          </a:xfrm>
          <a:prstGeom prst="rect">
            <a:avLst/>
          </a:prstGeom>
          <a:noFill/>
          <a:ln/>
        </p:spPr>
        <p:txBody>
          <a:bodyPr wrap="square" lIns="0" tIns="0" rIns="0" bIns="0" rtlCol="0" anchor="ctr">
            <a:normAutofit/>
          </a:bodyPr>
          <a:lstStyle/>
          <a:p>
            <a:pPr indent="0" marL="0">
              <a:buNone/>
            </a:pPr>
            <a:r>
              <a:rPr lang="en-US" sz="1800" b="1" dirty="0">
                <a:solidFill>
                  <a:srgbClr val="FFFFFF"/>
                </a:solidFill>
                <a:latin typeface="Apple SD Gothic Neo" pitchFamily="34" charset="0"/>
                <a:ea typeface="Apple SD Gothic Neo" pitchFamily="34" charset="-122"/>
                <a:cs typeface="Apple SD Gothic Neo" pitchFamily="34" charset="-120"/>
              </a:rPr>
              <a:t>제품 라인 선정</a:t>
            </a:r>
            <a:endParaRPr lang="en-US" sz="1800" dirty="0"/>
          </a:p>
        </p:txBody>
      </p:sp>
      <p:sp>
        <p:nvSpPr>
          <p:cNvPr id="11" name="Text 9"/>
          <p:cNvSpPr/>
          <p:nvPr/>
        </p:nvSpPr>
        <p:spPr>
          <a:xfrm>
            <a:off x="1042416" y="3840480"/>
            <a:ext cx="2761488" cy="749808"/>
          </a:xfrm>
          <a:prstGeom prst="rect">
            <a:avLst/>
          </a:prstGeom>
          <a:noFill/>
          <a:ln/>
        </p:spPr>
        <p:txBody>
          <a:bodyPr wrap="square" lIns="0" tIns="0" rIns="0" bIns="0" rtlCol="0" anchor="t">
            <a:normAutofit/>
          </a:bodyPr>
          <a:lstStyle/>
          <a:p>
            <a:pPr indent="0" marL="0">
              <a:lnSpc>
                <a:spcPct val="104000"/>
              </a:lnSpc>
              <a:buNone/>
            </a:pPr>
            <a:r>
              <a:rPr lang="en-US" sz="1050" dirty="0">
                <a:solidFill>
                  <a:srgbClr val="B7ADA4"/>
                </a:solidFill>
                <a:latin typeface="Apple SD Gothic Neo" pitchFamily="34" charset="0"/>
                <a:ea typeface="Apple SD Gothic Neo" pitchFamily="34" charset="-122"/>
                <a:cs typeface="Apple SD Gothic Neo" pitchFamily="34" charset="-120"/>
              </a:rPr>
              <a:t>DPP 샌드박스·제품 ID·데이터 항목을 합의합니다.</a:t>
            </a:r>
            <a:endParaRPr lang="en-US" sz="1050" dirty="0"/>
          </a:p>
        </p:txBody>
      </p:sp>
      <p:sp>
        <p:nvSpPr>
          <p:cNvPr id="12" name="Shape 10"/>
          <p:cNvSpPr/>
          <p:nvPr/>
        </p:nvSpPr>
        <p:spPr>
          <a:xfrm>
            <a:off x="4562856" y="2286000"/>
            <a:ext cx="3364992" cy="2999232"/>
          </a:xfrm>
          <a:prstGeom prst="roundRect">
            <a:avLst>
              <a:gd name="adj" fmla="val 4268"/>
            </a:avLst>
          </a:prstGeom>
          <a:solidFill>
            <a:srgbClr val="8B5A2B"/>
          </a:solidFill>
          <a:ln w="10160">
            <a:solidFill>
              <a:srgbClr val="8B5A2B"/>
            </a:solidFill>
            <a:prstDash val="solid"/>
          </a:ln>
        </p:spPr>
      </p:sp>
      <p:sp>
        <p:nvSpPr>
          <p:cNvPr id="13" name="Text 11"/>
          <p:cNvSpPr/>
          <p:nvPr/>
        </p:nvSpPr>
        <p:spPr>
          <a:xfrm>
            <a:off x="4837176" y="2560320"/>
            <a:ext cx="384048" cy="201168"/>
          </a:xfrm>
          <a:prstGeom prst="rect">
            <a:avLst/>
          </a:prstGeom>
          <a:noFill/>
          <a:ln/>
        </p:spPr>
        <p:txBody>
          <a:bodyPr wrap="square" lIns="0" tIns="0" rIns="0" bIns="0" rtlCol="0" anchor="ctr">
            <a:normAutofit/>
          </a:bodyPr>
          <a:lstStyle/>
          <a:p>
            <a:pPr indent="0" marL="0">
              <a:buNone/>
            </a:pPr>
            <a:r>
              <a:rPr lang="en-US" sz="900" b="1" dirty="0">
                <a:solidFill>
                  <a:srgbClr val="FFFFFF"/>
                </a:solidFill>
                <a:latin typeface="Apple SD Gothic Neo" pitchFamily="34" charset="0"/>
                <a:ea typeface="Apple SD Gothic Neo" pitchFamily="34" charset="-122"/>
                <a:cs typeface="Apple SD Gothic Neo" pitchFamily="34" charset="-120"/>
              </a:rPr>
              <a:t>02</a:t>
            </a:r>
            <a:endParaRPr lang="en-US" sz="900" dirty="0"/>
          </a:p>
        </p:txBody>
      </p:sp>
      <p:sp>
        <p:nvSpPr>
          <p:cNvPr id="14" name="Text 12"/>
          <p:cNvSpPr/>
          <p:nvPr/>
        </p:nvSpPr>
        <p:spPr>
          <a:xfrm>
            <a:off x="5385816" y="2560320"/>
            <a:ext cx="1828800" cy="201168"/>
          </a:xfrm>
          <a:prstGeom prst="rect">
            <a:avLst/>
          </a:prstGeom>
          <a:noFill/>
          <a:ln/>
        </p:spPr>
        <p:txBody>
          <a:bodyPr wrap="square" lIns="0" tIns="0" rIns="0" bIns="0" rtlCol="0" anchor="ctr">
            <a:normAutofit/>
          </a:bodyPr>
          <a:lstStyle/>
          <a:p>
            <a:pPr indent="0" marL="0">
              <a:buNone/>
            </a:pPr>
            <a:r>
              <a:rPr lang="en-US" sz="850" b="1" spc="150" kern="0" dirty="0">
                <a:solidFill>
                  <a:srgbClr val="FFFFFF"/>
                </a:solidFill>
                <a:latin typeface="Apple SD Gothic Neo" pitchFamily="34" charset="0"/>
                <a:ea typeface="Apple SD Gothic Neo" pitchFamily="34" charset="-122"/>
                <a:cs typeface="Apple SD Gothic Neo" pitchFamily="34" charset="-120"/>
              </a:rPr>
              <a:t>EXPERIENCE</a:t>
            </a:r>
            <a:endParaRPr lang="en-US" sz="850" dirty="0"/>
          </a:p>
        </p:txBody>
      </p:sp>
      <p:sp>
        <p:nvSpPr>
          <p:cNvPr id="15" name="Text 13"/>
          <p:cNvSpPr/>
          <p:nvPr/>
        </p:nvSpPr>
        <p:spPr>
          <a:xfrm>
            <a:off x="4837176" y="3127248"/>
            <a:ext cx="2761488" cy="384048"/>
          </a:xfrm>
          <a:prstGeom prst="rect">
            <a:avLst/>
          </a:prstGeom>
          <a:noFill/>
          <a:ln/>
        </p:spPr>
        <p:txBody>
          <a:bodyPr wrap="square" lIns="0" tIns="0" rIns="0" bIns="0" rtlCol="0" anchor="ctr">
            <a:normAutofit/>
          </a:bodyPr>
          <a:lstStyle/>
          <a:p>
            <a:pPr indent="0" marL="0">
              <a:buNone/>
            </a:pPr>
            <a:r>
              <a:rPr lang="en-US" sz="1800" b="1" dirty="0">
                <a:solidFill>
                  <a:srgbClr val="FFFFFF"/>
                </a:solidFill>
                <a:latin typeface="Apple SD Gothic Neo" pitchFamily="34" charset="0"/>
                <a:ea typeface="Apple SD Gothic Neo" pitchFamily="34" charset="-122"/>
                <a:cs typeface="Apple SD Gothic Neo" pitchFamily="34" charset="-120"/>
              </a:rPr>
              <a:t>Storybook 활성화</a:t>
            </a:r>
            <a:endParaRPr lang="en-US" sz="1800" dirty="0"/>
          </a:p>
        </p:txBody>
      </p:sp>
      <p:sp>
        <p:nvSpPr>
          <p:cNvPr id="16" name="Text 14"/>
          <p:cNvSpPr/>
          <p:nvPr/>
        </p:nvSpPr>
        <p:spPr>
          <a:xfrm>
            <a:off x="4837176" y="3840480"/>
            <a:ext cx="2761488" cy="749808"/>
          </a:xfrm>
          <a:prstGeom prst="rect">
            <a:avLst/>
          </a:prstGeom>
          <a:noFill/>
          <a:ln/>
        </p:spPr>
        <p:txBody>
          <a:bodyPr wrap="square" lIns="0" tIns="0" rIns="0" bIns="0" rtlCol="0" anchor="t">
            <a:normAutofit/>
          </a:bodyPr>
          <a:lstStyle/>
          <a:p>
            <a:pPr indent="0" marL="0">
              <a:lnSpc>
                <a:spcPct val="104000"/>
              </a:lnSpc>
              <a:buNone/>
            </a:pPr>
            <a:r>
              <a:rPr lang="en-US" sz="1050" dirty="0">
                <a:solidFill>
                  <a:srgbClr val="F6E3D0"/>
                </a:solidFill>
                <a:latin typeface="Apple SD Gothic Neo" pitchFamily="34" charset="0"/>
                <a:ea typeface="Apple SD Gothic Neo" pitchFamily="34" charset="-122"/>
                <a:cs typeface="Apple SD Gothic Neo" pitchFamily="34" charset="-120"/>
              </a:rPr>
              <a:t>매장 또는 패키지 진입점에서 첫 기록과 Care 흐름을 운영합니다.</a:t>
            </a:r>
            <a:endParaRPr lang="en-US" sz="1050" dirty="0"/>
          </a:p>
        </p:txBody>
      </p:sp>
      <p:sp>
        <p:nvSpPr>
          <p:cNvPr id="17" name="Shape 15"/>
          <p:cNvSpPr/>
          <p:nvPr/>
        </p:nvSpPr>
        <p:spPr>
          <a:xfrm>
            <a:off x="8357616" y="2286000"/>
            <a:ext cx="3364992" cy="2999232"/>
          </a:xfrm>
          <a:prstGeom prst="roundRect">
            <a:avLst>
              <a:gd name="adj" fmla="val 4268"/>
            </a:avLst>
          </a:prstGeom>
          <a:solidFill>
            <a:srgbClr val="272220"/>
          </a:solidFill>
          <a:ln w="10160">
            <a:solidFill>
              <a:srgbClr val="433B37"/>
            </a:solidFill>
            <a:prstDash val="solid"/>
          </a:ln>
        </p:spPr>
      </p:sp>
      <p:sp>
        <p:nvSpPr>
          <p:cNvPr id="18" name="Text 16"/>
          <p:cNvSpPr/>
          <p:nvPr/>
        </p:nvSpPr>
        <p:spPr>
          <a:xfrm>
            <a:off x="8631936" y="2560320"/>
            <a:ext cx="384048" cy="201168"/>
          </a:xfrm>
          <a:prstGeom prst="rect">
            <a:avLst/>
          </a:prstGeom>
          <a:noFill/>
          <a:ln/>
        </p:spPr>
        <p:txBody>
          <a:bodyPr wrap="square" lIns="0" tIns="0" rIns="0" bIns="0" rtlCol="0" anchor="ctr">
            <a:normAutofit/>
          </a:bodyPr>
          <a:lstStyle/>
          <a:p>
            <a:pPr indent="0" marL="0">
              <a:buNone/>
            </a:pPr>
            <a:r>
              <a:rPr lang="en-US" sz="900" b="1" dirty="0">
                <a:solidFill>
                  <a:srgbClr val="C9945A"/>
                </a:solidFill>
                <a:latin typeface="Apple SD Gothic Neo" pitchFamily="34" charset="0"/>
                <a:ea typeface="Apple SD Gothic Neo" pitchFamily="34" charset="-122"/>
                <a:cs typeface="Apple SD Gothic Neo" pitchFamily="34" charset="-120"/>
              </a:rPr>
              <a:t>03</a:t>
            </a:r>
            <a:endParaRPr lang="en-US" sz="900" dirty="0"/>
          </a:p>
        </p:txBody>
      </p:sp>
      <p:sp>
        <p:nvSpPr>
          <p:cNvPr id="19" name="Text 17"/>
          <p:cNvSpPr/>
          <p:nvPr/>
        </p:nvSpPr>
        <p:spPr>
          <a:xfrm>
            <a:off x="9180576" y="2560320"/>
            <a:ext cx="1828800" cy="201168"/>
          </a:xfrm>
          <a:prstGeom prst="rect">
            <a:avLst/>
          </a:prstGeom>
          <a:noFill/>
          <a:ln/>
        </p:spPr>
        <p:txBody>
          <a:bodyPr wrap="square" lIns="0" tIns="0" rIns="0" bIns="0" rtlCol="0" anchor="ctr">
            <a:normAutofit/>
          </a:bodyPr>
          <a:lstStyle/>
          <a:p>
            <a:pPr indent="0" marL="0">
              <a:buNone/>
            </a:pPr>
            <a:r>
              <a:rPr lang="en-US" sz="850" b="1" spc="150" kern="0" dirty="0">
                <a:solidFill>
                  <a:srgbClr val="C9945A"/>
                </a:solidFill>
                <a:latin typeface="Apple SD Gothic Neo" pitchFamily="34" charset="0"/>
                <a:ea typeface="Apple SD Gothic Neo" pitchFamily="34" charset="-122"/>
                <a:cs typeface="Apple SD Gothic Neo" pitchFamily="34" charset="-120"/>
              </a:rPr>
              <a:t>LEARN</a:t>
            </a:r>
            <a:endParaRPr lang="en-US" sz="850" dirty="0"/>
          </a:p>
        </p:txBody>
      </p:sp>
      <p:sp>
        <p:nvSpPr>
          <p:cNvPr id="20" name="Text 18"/>
          <p:cNvSpPr/>
          <p:nvPr/>
        </p:nvSpPr>
        <p:spPr>
          <a:xfrm>
            <a:off x="8631936" y="3127248"/>
            <a:ext cx="2761488" cy="384048"/>
          </a:xfrm>
          <a:prstGeom prst="rect">
            <a:avLst/>
          </a:prstGeom>
          <a:noFill/>
          <a:ln/>
        </p:spPr>
        <p:txBody>
          <a:bodyPr wrap="square" lIns="0" tIns="0" rIns="0" bIns="0" rtlCol="0" anchor="ctr">
            <a:normAutofit/>
          </a:bodyPr>
          <a:lstStyle/>
          <a:p>
            <a:pPr indent="0" marL="0">
              <a:buNone/>
            </a:pPr>
            <a:r>
              <a:rPr lang="en-US" sz="1800" b="1" dirty="0">
                <a:solidFill>
                  <a:srgbClr val="FFFFFF"/>
                </a:solidFill>
                <a:latin typeface="Apple SD Gothic Neo" pitchFamily="34" charset="0"/>
                <a:ea typeface="Apple SD Gothic Neo" pitchFamily="34" charset="-122"/>
                <a:cs typeface="Apple SD Gothic Neo" pitchFamily="34" charset="-120"/>
              </a:rPr>
              <a:t>행동 데이터 검증</a:t>
            </a:r>
            <a:endParaRPr lang="en-US" sz="1800" dirty="0"/>
          </a:p>
        </p:txBody>
      </p:sp>
      <p:sp>
        <p:nvSpPr>
          <p:cNvPr id="21" name="Text 19"/>
          <p:cNvSpPr/>
          <p:nvPr/>
        </p:nvSpPr>
        <p:spPr>
          <a:xfrm>
            <a:off x="8631936" y="3840480"/>
            <a:ext cx="2761488" cy="749808"/>
          </a:xfrm>
          <a:prstGeom prst="rect">
            <a:avLst/>
          </a:prstGeom>
          <a:noFill/>
          <a:ln/>
        </p:spPr>
        <p:txBody>
          <a:bodyPr wrap="square" lIns="0" tIns="0" rIns="0" bIns="0" rtlCol="0" anchor="t">
            <a:normAutofit/>
          </a:bodyPr>
          <a:lstStyle/>
          <a:p>
            <a:pPr indent="0" marL="0">
              <a:lnSpc>
                <a:spcPct val="104000"/>
              </a:lnSpc>
              <a:buNone/>
            </a:pPr>
            <a:r>
              <a:rPr lang="en-US" sz="1050" dirty="0">
                <a:solidFill>
                  <a:srgbClr val="B7ADA4"/>
                </a:solidFill>
                <a:latin typeface="Apple SD Gothic Neo" pitchFamily="34" charset="0"/>
                <a:ea typeface="Apple SD Gothic Neo" pitchFamily="34" charset="-122"/>
                <a:cs typeface="Apple SD Gothic Neo" pitchFamily="34" charset="-120"/>
              </a:rPr>
              <a:t>활성화·첫 기록·재방문·Care 전환·공유 흐름을 확인합니다.</a:t>
            </a:r>
            <a:endParaRPr lang="en-US" sz="1050" dirty="0"/>
          </a:p>
        </p:txBody>
      </p:sp>
      <p:sp>
        <p:nvSpPr>
          <p:cNvPr id="22" name="Text 20"/>
          <p:cNvSpPr/>
          <p:nvPr/>
        </p:nvSpPr>
        <p:spPr>
          <a:xfrm>
            <a:off x="786384" y="5641848"/>
            <a:ext cx="1417320" cy="182880"/>
          </a:xfrm>
          <a:prstGeom prst="rect">
            <a:avLst/>
          </a:prstGeom>
          <a:noFill/>
          <a:ln/>
        </p:spPr>
        <p:txBody>
          <a:bodyPr wrap="square" lIns="0" tIns="0" rIns="0" bIns="0" rtlCol="0" anchor="ctr">
            <a:normAutofit/>
          </a:bodyPr>
          <a:lstStyle/>
          <a:p>
            <a:pPr indent="0" marL="0">
              <a:buNone/>
            </a:pPr>
            <a:r>
              <a:rPr lang="en-US" sz="800" b="1" spc="150" kern="0" dirty="0">
                <a:solidFill>
                  <a:srgbClr val="C9945A"/>
                </a:solidFill>
                <a:latin typeface="Apple SD Gothic Neo" pitchFamily="34" charset="0"/>
                <a:ea typeface="Apple SD Gothic Neo" pitchFamily="34" charset="-122"/>
                <a:cs typeface="Apple SD Gothic Neo" pitchFamily="34" charset="-120"/>
              </a:rPr>
              <a:t>PILOT METRICS</a:t>
            </a:r>
            <a:endParaRPr lang="en-US" sz="800" dirty="0"/>
          </a:p>
        </p:txBody>
      </p:sp>
      <p:sp>
        <p:nvSpPr>
          <p:cNvPr id="23" name="Text 21"/>
          <p:cNvSpPr/>
          <p:nvPr/>
        </p:nvSpPr>
        <p:spPr>
          <a:xfrm>
            <a:off x="2267712" y="5577840"/>
            <a:ext cx="8001000" cy="256032"/>
          </a:xfrm>
          <a:prstGeom prst="rect">
            <a:avLst/>
          </a:prstGeom>
          <a:noFill/>
          <a:ln/>
        </p:spPr>
        <p:txBody>
          <a:bodyPr wrap="square" lIns="0" tIns="0" rIns="0" bIns="0" rtlCol="0" anchor="ctr">
            <a:normAutofit/>
          </a:bodyPr>
          <a:lstStyle/>
          <a:p>
            <a:pPr indent="0" marL="0">
              <a:buNone/>
            </a:pPr>
            <a:r>
              <a:rPr lang="en-US" sz="1050" dirty="0">
                <a:solidFill>
                  <a:srgbClr val="B7ADA4"/>
                </a:solidFill>
                <a:latin typeface="Apple SD Gothic Neo" pitchFamily="34" charset="0"/>
                <a:ea typeface="Apple SD Gothic Neo" pitchFamily="34" charset="-122"/>
                <a:cs typeface="Apple SD Gothic Neo" pitchFamily="34" charset="-120"/>
              </a:rPr>
              <a:t>Activation  ·  First Record  ·  Repeat Visit  ·  Care Conversion  ·  Recap Share</a:t>
            </a:r>
            <a:endParaRPr lang="en-US" sz="10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C1917"/>
        </a:solidFill>
      </p:bgPr>
    </p:bg>
    <p:spTree>
      <p:nvGrpSpPr>
        <p:cNvPr id="1" name=""/>
        <p:cNvGrpSpPr/>
        <p:nvPr/>
      </p:nvGrpSpPr>
      <p:grpSpPr>
        <a:xfrm>
          <a:off x="0" y="0"/>
          <a:ext cx="0" cy="0"/>
          <a:chOff x="0" y="0"/>
          <a:chExt cx="0" cy="0"/>
        </a:xfrm>
      </p:grpSpPr>
      <p:sp>
        <p:nvSpPr>
          <p:cNvPr id="2" name="Shape 0"/>
          <p:cNvSpPr/>
          <p:nvPr/>
        </p:nvSpPr>
        <p:spPr>
          <a:xfrm rot="2700000">
            <a:off x="8046720" y="411480"/>
            <a:ext cx="109728" cy="109728"/>
          </a:xfrm>
          <a:prstGeom prst="rect">
            <a:avLst/>
          </a:prstGeom>
          <a:solidFill>
            <a:srgbClr val="C9945A">
              <a:alpha val="18000"/>
            </a:srgbClr>
          </a:solidFill>
          <a:ln w="6350">
            <a:solidFill>
              <a:srgbClr val="C9945A">
                <a:alpha val="10000"/>
              </a:srgbClr>
            </a:solidFill>
            <a:prstDash val="solid"/>
          </a:ln>
        </p:spPr>
      </p:sp>
      <p:sp>
        <p:nvSpPr>
          <p:cNvPr id="3" name="Shape 1"/>
          <p:cNvSpPr/>
          <p:nvPr/>
        </p:nvSpPr>
        <p:spPr>
          <a:xfrm rot="2700000">
            <a:off x="8641080" y="411480"/>
            <a:ext cx="109728" cy="109728"/>
          </a:xfrm>
          <a:prstGeom prst="rect">
            <a:avLst/>
          </a:prstGeom>
          <a:solidFill>
            <a:srgbClr val="C9945A">
              <a:alpha val="18000"/>
            </a:srgbClr>
          </a:solidFill>
          <a:ln w="6350">
            <a:solidFill>
              <a:srgbClr val="C9945A">
                <a:alpha val="10000"/>
              </a:srgbClr>
            </a:solidFill>
            <a:prstDash val="solid"/>
          </a:ln>
        </p:spPr>
      </p:sp>
      <p:sp>
        <p:nvSpPr>
          <p:cNvPr id="4" name="Shape 2"/>
          <p:cNvSpPr/>
          <p:nvPr/>
        </p:nvSpPr>
        <p:spPr>
          <a:xfrm rot="2700000">
            <a:off x="9235440" y="411480"/>
            <a:ext cx="109728" cy="109728"/>
          </a:xfrm>
          <a:prstGeom prst="rect">
            <a:avLst/>
          </a:prstGeom>
          <a:solidFill>
            <a:srgbClr val="C9945A">
              <a:alpha val="18000"/>
            </a:srgbClr>
          </a:solidFill>
          <a:ln w="6350">
            <a:solidFill>
              <a:srgbClr val="C9945A">
                <a:alpha val="10000"/>
              </a:srgbClr>
            </a:solidFill>
            <a:prstDash val="solid"/>
          </a:ln>
        </p:spPr>
      </p:sp>
      <p:sp>
        <p:nvSpPr>
          <p:cNvPr id="5" name="Shape 3"/>
          <p:cNvSpPr/>
          <p:nvPr/>
        </p:nvSpPr>
        <p:spPr>
          <a:xfrm rot="2700000">
            <a:off x="9829800" y="411480"/>
            <a:ext cx="109728" cy="109728"/>
          </a:xfrm>
          <a:prstGeom prst="rect">
            <a:avLst/>
          </a:prstGeom>
          <a:solidFill>
            <a:srgbClr val="C9945A">
              <a:alpha val="18000"/>
            </a:srgbClr>
          </a:solidFill>
          <a:ln w="6350">
            <a:solidFill>
              <a:srgbClr val="C9945A">
                <a:alpha val="10000"/>
              </a:srgbClr>
            </a:solidFill>
            <a:prstDash val="solid"/>
          </a:ln>
        </p:spPr>
      </p:sp>
      <p:sp>
        <p:nvSpPr>
          <p:cNvPr id="6" name="Shape 4"/>
          <p:cNvSpPr/>
          <p:nvPr/>
        </p:nvSpPr>
        <p:spPr>
          <a:xfrm rot="2700000">
            <a:off x="10424160" y="411480"/>
            <a:ext cx="109728" cy="109728"/>
          </a:xfrm>
          <a:prstGeom prst="rect">
            <a:avLst/>
          </a:prstGeom>
          <a:solidFill>
            <a:srgbClr val="C9945A">
              <a:alpha val="18000"/>
            </a:srgbClr>
          </a:solidFill>
          <a:ln w="6350">
            <a:solidFill>
              <a:srgbClr val="C9945A">
                <a:alpha val="10000"/>
              </a:srgbClr>
            </a:solidFill>
            <a:prstDash val="solid"/>
          </a:ln>
        </p:spPr>
      </p:sp>
      <p:sp>
        <p:nvSpPr>
          <p:cNvPr id="7" name="Shape 5"/>
          <p:cNvSpPr/>
          <p:nvPr/>
        </p:nvSpPr>
        <p:spPr>
          <a:xfrm rot="2700000">
            <a:off x="11018520" y="411480"/>
            <a:ext cx="109728" cy="109728"/>
          </a:xfrm>
          <a:prstGeom prst="rect">
            <a:avLst/>
          </a:prstGeom>
          <a:solidFill>
            <a:srgbClr val="C9945A">
              <a:alpha val="18000"/>
            </a:srgbClr>
          </a:solidFill>
          <a:ln w="6350">
            <a:solidFill>
              <a:srgbClr val="C9945A">
                <a:alpha val="10000"/>
              </a:srgbClr>
            </a:solidFill>
            <a:prstDash val="solid"/>
          </a:ln>
        </p:spPr>
      </p:sp>
      <p:sp>
        <p:nvSpPr>
          <p:cNvPr id="8" name="Shape 6"/>
          <p:cNvSpPr/>
          <p:nvPr/>
        </p:nvSpPr>
        <p:spPr>
          <a:xfrm rot="2700000">
            <a:off x="11612880" y="411480"/>
            <a:ext cx="109728" cy="109728"/>
          </a:xfrm>
          <a:prstGeom prst="rect">
            <a:avLst/>
          </a:prstGeom>
          <a:solidFill>
            <a:srgbClr val="C9945A">
              <a:alpha val="18000"/>
            </a:srgbClr>
          </a:solidFill>
          <a:ln w="6350">
            <a:solidFill>
              <a:srgbClr val="C9945A">
                <a:alpha val="10000"/>
              </a:srgbClr>
            </a:solidFill>
            <a:prstDash val="solid"/>
          </a:ln>
        </p:spPr>
      </p:sp>
      <p:sp>
        <p:nvSpPr>
          <p:cNvPr id="9" name="Shape 7"/>
          <p:cNvSpPr/>
          <p:nvPr/>
        </p:nvSpPr>
        <p:spPr>
          <a:xfrm rot="2700000">
            <a:off x="12207240" y="411480"/>
            <a:ext cx="109728" cy="109728"/>
          </a:xfrm>
          <a:prstGeom prst="rect">
            <a:avLst/>
          </a:prstGeom>
          <a:solidFill>
            <a:srgbClr val="C9945A">
              <a:alpha val="18000"/>
            </a:srgbClr>
          </a:solidFill>
          <a:ln w="6350">
            <a:solidFill>
              <a:srgbClr val="C9945A">
                <a:alpha val="10000"/>
              </a:srgbClr>
            </a:solidFill>
            <a:prstDash val="solid"/>
          </a:ln>
        </p:spPr>
      </p:sp>
      <p:sp>
        <p:nvSpPr>
          <p:cNvPr id="10" name="Shape 8"/>
          <p:cNvSpPr/>
          <p:nvPr/>
        </p:nvSpPr>
        <p:spPr>
          <a:xfrm rot="2700000">
            <a:off x="8339328" y="1005840"/>
            <a:ext cx="109728" cy="109728"/>
          </a:xfrm>
          <a:prstGeom prst="rect">
            <a:avLst/>
          </a:prstGeom>
          <a:solidFill>
            <a:srgbClr val="C9945A">
              <a:alpha val="18000"/>
            </a:srgbClr>
          </a:solidFill>
          <a:ln w="6350">
            <a:solidFill>
              <a:srgbClr val="C9945A">
                <a:alpha val="10000"/>
              </a:srgbClr>
            </a:solidFill>
            <a:prstDash val="solid"/>
          </a:ln>
        </p:spPr>
      </p:sp>
      <p:sp>
        <p:nvSpPr>
          <p:cNvPr id="11" name="Shape 9"/>
          <p:cNvSpPr/>
          <p:nvPr/>
        </p:nvSpPr>
        <p:spPr>
          <a:xfrm rot="2700000">
            <a:off x="8933688" y="1005840"/>
            <a:ext cx="109728" cy="109728"/>
          </a:xfrm>
          <a:prstGeom prst="rect">
            <a:avLst/>
          </a:prstGeom>
          <a:solidFill>
            <a:srgbClr val="C9945A">
              <a:alpha val="18000"/>
            </a:srgbClr>
          </a:solidFill>
          <a:ln w="6350">
            <a:solidFill>
              <a:srgbClr val="C9945A">
                <a:alpha val="10000"/>
              </a:srgbClr>
            </a:solidFill>
            <a:prstDash val="solid"/>
          </a:ln>
        </p:spPr>
      </p:sp>
      <p:sp>
        <p:nvSpPr>
          <p:cNvPr id="12" name="Shape 10"/>
          <p:cNvSpPr/>
          <p:nvPr/>
        </p:nvSpPr>
        <p:spPr>
          <a:xfrm rot="2700000">
            <a:off x="9528048" y="1005840"/>
            <a:ext cx="109728" cy="109728"/>
          </a:xfrm>
          <a:prstGeom prst="rect">
            <a:avLst/>
          </a:prstGeom>
          <a:solidFill>
            <a:srgbClr val="C9945A">
              <a:alpha val="18000"/>
            </a:srgbClr>
          </a:solidFill>
          <a:ln w="6350">
            <a:solidFill>
              <a:srgbClr val="C9945A">
                <a:alpha val="10000"/>
              </a:srgbClr>
            </a:solidFill>
            <a:prstDash val="solid"/>
          </a:ln>
        </p:spPr>
      </p:sp>
      <p:sp>
        <p:nvSpPr>
          <p:cNvPr id="13" name="Shape 11"/>
          <p:cNvSpPr/>
          <p:nvPr/>
        </p:nvSpPr>
        <p:spPr>
          <a:xfrm rot="2700000">
            <a:off x="10122408" y="1005840"/>
            <a:ext cx="109728" cy="109728"/>
          </a:xfrm>
          <a:prstGeom prst="rect">
            <a:avLst/>
          </a:prstGeom>
          <a:solidFill>
            <a:srgbClr val="C9945A">
              <a:alpha val="18000"/>
            </a:srgbClr>
          </a:solidFill>
          <a:ln w="6350">
            <a:solidFill>
              <a:srgbClr val="C9945A">
                <a:alpha val="10000"/>
              </a:srgbClr>
            </a:solidFill>
            <a:prstDash val="solid"/>
          </a:ln>
        </p:spPr>
      </p:sp>
      <p:sp>
        <p:nvSpPr>
          <p:cNvPr id="14" name="Shape 12"/>
          <p:cNvSpPr/>
          <p:nvPr/>
        </p:nvSpPr>
        <p:spPr>
          <a:xfrm rot="2700000">
            <a:off x="10716768" y="1005840"/>
            <a:ext cx="109728" cy="109728"/>
          </a:xfrm>
          <a:prstGeom prst="rect">
            <a:avLst/>
          </a:prstGeom>
          <a:solidFill>
            <a:srgbClr val="C9945A">
              <a:alpha val="18000"/>
            </a:srgbClr>
          </a:solidFill>
          <a:ln w="6350">
            <a:solidFill>
              <a:srgbClr val="C9945A">
                <a:alpha val="10000"/>
              </a:srgbClr>
            </a:solidFill>
            <a:prstDash val="solid"/>
          </a:ln>
        </p:spPr>
      </p:sp>
      <p:sp>
        <p:nvSpPr>
          <p:cNvPr id="15" name="Shape 13"/>
          <p:cNvSpPr/>
          <p:nvPr/>
        </p:nvSpPr>
        <p:spPr>
          <a:xfrm rot="2700000">
            <a:off x="11311128" y="1005840"/>
            <a:ext cx="109728" cy="109728"/>
          </a:xfrm>
          <a:prstGeom prst="rect">
            <a:avLst/>
          </a:prstGeom>
          <a:solidFill>
            <a:srgbClr val="C9945A">
              <a:alpha val="18000"/>
            </a:srgbClr>
          </a:solidFill>
          <a:ln w="6350">
            <a:solidFill>
              <a:srgbClr val="C9945A">
                <a:alpha val="10000"/>
              </a:srgbClr>
            </a:solidFill>
            <a:prstDash val="solid"/>
          </a:ln>
        </p:spPr>
      </p:sp>
      <p:sp>
        <p:nvSpPr>
          <p:cNvPr id="16" name="Shape 14"/>
          <p:cNvSpPr/>
          <p:nvPr/>
        </p:nvSpPr>
        <p:spPr>
          <a:xfrm rot="2700000">
            <a:off x="11905488" y="1005840"/>
            <a:ext cx="109728" cy="109728"/>
          </a:xfrm>
          <a:prstGeom prst="rect">
            <a:avLst/>
          </a:prstGeom>
          <a:solidFill>
            <a:srgbClr val="C9945A">
              <a:alpha val="18000"/>
            </a:srgbClr>
          </a:solidFill>
          <a:ln w="6350">
            <a:solidFill>
              <a:srgbClr val="C9945A">
                <a:alpha val="10000"/>
              </a:srgbClr>
            </a:solidFill>
            <a:prstDash val="solid"/>
          </a:ln>
        </p:spPr>
      </p:sp>
      <p:sp>
        <p:nvSpPr>
          <p:cNvPr id="17" name="Shape 15"/>
          <p:cNvSpPr/>
          <p:nvPr/>
        </p:nvSpPr>
        <p:spPr>
          <a:xfrm rot="2700000">
            <a:off x="12499848" y="1005840"/>
            <a:ext cx="109728" cy="109728"/>
          </a:xfrm>
          <a:prstGeom prst="rect">
            <a:avLst/>
          </a:prstGeom>
          <a:solidFill>
            <a:srgbClr val="C9945A">
              <a:alpha val="18000"/>
            </a:srgbClr>
          </a:solidFill>
          <a:ln w="6350">
            <a:solidFill>
              <a:srgbClr val="C9945A">
                <a:alpha val="10000"/>
              </a:srgbClr>
            </a:solidFill>
            <a:prstDash val="solid"/>
          </a:ln>
        </p:spPr>
      </p:sp>
      <p:sp>
        <p:nvSpPr>
          <p:cNvPr id="18" name="Shape 16"/>
          <p:cNvSpPr/>
          <p:nvPr/>
        </p:nvSpPr>
        <p:spPr>
          <a:xfrm rot="2700000">
            <a:off x="8046720" y="1600200"/>
            <a:ext cx="109728" cy="109728"/>
          </a:xfrm>
          <a:prstGeom prst="rect">
            <a:avLst/>
          </a:prstGeom>
          <a:solidFill>
            <a:srgbClr val="C9945A">
              <a:alpha val="18000"/>
            </a:srgbClr>
          </a:solidFill>
          <a:ln w="6350">
            <a:solidFill>
              <a:srgbClr val="C9945A">
                <a:alpha val="10000"/>
              </a:srgbClr>
            </a:solidFill>
            <a:prstDash val="solid"/>
          </a:ln>
        </p:spPr>
      </p:sp>
      <p:sp>
        <p:nvSpPr>
          <p:cNvPr id="19" name="Shape 17"/>
          <p:cNvSpPr/>
          <p:nvPr/>
        </p:nvSpPr>
        <p:spPr>
          <a:xfrm rot="2700000">
            <a:off x="8641080" y="1600200"/>
            <a:ext cx="109728" cy="109728"/>
          </a:xfrm>
          <a:prstGeom prst="rect">
            <a:avLst/>
          </a:prstGeom>
          <a:solidFill>
            <a:srgbClr val="C9945A">
              <a:alpha val="18000"/>
            </a:srgbClr>
          </a:solidFill>
          <a:ln w="6350">
            <a:solidFill>
              <a:srgbClr val="C9945A">
                <a:alpha val="10000"/>
              </a:srgbClr>
            </a:solidFill>
            <a:prstDash val="solid"/>
          </a:ln>
        </p:spPr>
      </p:sp>
      <p:sp>
        <p:nvSpPr>
          <p:cNvPr id="20" name="Shape 18"/>
          <p:cNvSpPr/>
          <p:nvPr/>
        </p:nvSpPr>
        <p:spPr>
          <a:xfrm rot="2700000">
            <a:off x="9235440" y="1600200"/>
            <a:ext cx="109728" cy="109728"/>
          </a:xfrm>
          <a:prstGeom prst="rect">
            <a:avLst/>
          </a:prstGeom>
          <a:solidFill>
            <a:srgbClr val="C9945A">
              <a:alpha val="18000"/>
            </a:srgbClr>
          </a:solidFill>
          <a:ln w="6350">
            <a:solidFill>
              <a:srgbClr val="C9945A">
                <a:alpha val="10000"/>
              </a:srgbClr>
            </a:solidFill>
            <a:prstDash val="solid"/>
          </a:ln>
        </p:spPr>
      </p:sp>
      <p:sp>
        <p:nvSpPr>
          <p:cNvPr id="21" name="Shape 19"/>
          <p:cNvSpPr/>
          <p:nvPr/>
        </p:nvSpPr>
        <p:spPr>
          <a:xfrm rot="2700000">
            <a:off x="9829800" y="1600200"/>
            <a:ext cx="109728" cy="109728"/>
          </a:xfrm>
          <a:prstGeom prst="rect">
            <a:avLst/>
          </a:prstGeom>
          <a:solidFill>
            <a:srgbClr val="C9945A">
              <a:alpha val="18000"/>
            </a:srgbClr>
          </a:solidFill>
          <a:ln w="6350">
            <a:solidFill>
              <a:srgbClr val="C9945A">
                <a:alpha val="10000"/>
              </a:srgbClr>
            </a:solidFill>
            <a:prstDash val="solid"/>
          </a:ln>
        </p:spPr>
      </p:sp>
      <p:sp>
        <p:nvSpPr>
          <p:cNvPr id="22" name="Shape 20"/>
          <p:cNvSpPr/>
          <p:nvPr/>
        </p:nvSpPr>
        <p:spPr>
          <a:xfrm rot="2700000">
            <a:off x="10424160" y="1600200"/>
            <a:ext cx="109728" cy="109728"/>
          </a:xfrm>
          <a:prstGeom prst="rect">
            <a:avLst/>
          </a:prstGeom>
          <a:solidFill>
            <a:srgbClr val="C9945A">
              <a:alpha val="18000"/>
            </a:srgbClr>
          </a:solidFill>
          <a:ln w="6350">
            <a:solidFill>
              <a:srgbClr val="C9945A">
                <a:alpha val="10000"/>
              </a:srgbClr>
            </a:solidFill>
            <a:prstDash val="solid"/>
          </a:ln>
        </p:spPr>
      </p:sp>
      <p:sp>
        <p:nvSpPr>
          <p:cNvPr id="23" name="Shape 21"/>
          <p:cNvSpPr/>
          <p:nvPr/>
        </p:nvSpPr>
        <p:spPr>
          <a:xfrm rot="2700000">
            <a:off x="11018520" y="1600200"/>
            <a:ext cx="109728" cy="109728"/>
          </a:xfrm>
          <a:prstGeom prst="rect">
            <a:avLst/>
          </a:prstGeom>
          <a:solidFill>
            <a:srgbClr val="C9945A">
              <a:alpha val="18000"/>
            </a:srgbClr>
          </a:solidFill>
          <a:ln w="6350">
            <a:solidFill>
              <a:srgbClr val="C9945A">
                <a:alpha val="10000"/>
              </a:srgbClr>
            </a:solidFill>
            <a:prstDash val="solid"/>
          </a:ln>
        </p:spPr>
      </p:sp>
      <p:sp>
        <p:nvSpPr>
          <p:cNvPr id="24" name="Shape 22"/>
          <p:cNvSpPr/>
          <p:nvPr/>
        </p:nvSpPr>
        <p:spPr>
          <a:xfrm rot="2700000">
            <a:off x="11612880" y="1600200"/>
            <a:ext cx="109728" cy="109728"/>
          </a:xfrm>
          <a:prstGeom prst="rect">
            <a:avLst/>
          </a:prstGeom>
          <a:solidFill>
            <a:srgbClr val="C9945A">
              <a:alpha val="18000"/>
            </a:srgbClr>
          </a:solidFill>
          <a:ln w="6350">
            <a:solidFill>
              <a:srgbClr val="C9945A">
                <a:alpha val="10000"/>
              </a:srgbClr>
            </a:solidFill>
            <a:prstDash val="solid"/>
          </a:ln>
        </p:spPr>
      </p:sp>
      <p:sp>
        <p:nvSpPr>
          <p:cNvPr id="25" name="Shape 23"/>
          <p:cNvSpPr/>
          <p:nvPr/>
        </p:nvSpPr>
        <p:spPr>
          <a:xfrm rot="2700000">
            <a:off x="12207240" y="1600200"/>
            <a:ext cx="109728" cy="109728"/>
          </a:xfrm>
          <a:prstGeom prst="rect">
            <a:avLst/>
          </a:prstGeom>
          <a:solidFill>
            <a:srgbClr val="C9945A">
              <a:alpha val="18000"/>
            </a:srgbClr>
          </a:solidFill>
          <a:ln w="6350">
            <a:solidFill>
              <a:srgbClr val="C9945A">
                <a:alpha val="10000"/>
              </a:srgbClr>
            </a:solidFill>
            <a:prstDash val="solid"/>
          </a:ln>
        </p:spPr>
      </p:sp>
      <p:pic>
        <p:nvPicPr>
          <p:cNvPr id="26" name="Image 0" descr="/Users/home/Desktop/likeGonzi/public/camera/mcm-logo.png">    </p:cNvPr>
          <p:cNvPicPr>
            <a:picLocks noChangeAspect="1"/>
          </p:cNvPicPr>
          <p:nvPr/>
        </p:nvPicPr>
        <p:blipFill>
          <a:blip r:embed="rId1"/>
          <a:stretch>
            <a:fillRect/>
          </a:stretch>
        </p:blipFill>
        <p:spPr>
          <a:xfrm>
            <a:off x="713232" y="585216"/>
            <a:ext cx="493776" cy="384048"/>
          </a:xfrm>
          <a:prstGeom prst="rect">
            <a:avLst/>
          </a:prstGeom>
        </p:spPr>
      </p:pic>
      <p:sp>
        <p:nvSpPr>
          <p:cNvPr id="27" name="Text 24"/>
          <p:cNvSpPr/>
          <p:nvPr/>
        </p:nvSpPr>
        <p:spPr>
          <a:xfrm>
            <a:off x="1335024" y="649224"/>
            <a:ext cx="2926080" cy="201168"/>
          </a:xfrm>
          <a:prstGeom prst="rect">
            <a:avLst/>
          </a:prstGeom>
          <a:noFill/>
          <a:ln/>
        </p:spPr>
        <p:txBody>
          <a:bodyPr wrap="square" lIns="0" tIns="0" rIns="0" bIns="0" rtlCol="0" anchor="ctr">
            <a:normAutofit/>
          </a:bodyPr>
          <a:lstStyle/>
          <a:p>
            <a:pPr indent="0" marL="0">
              <a:buNone/>
            </a:pPr>
            <a:r>
              <a:rPr lang="en-US" sz="950" spc="200" kern="0" dirty="0">
                <a:solidFill>
                  <a:srgbClr val="FFFFFF"/>
                </a:solidFill>
                <a:latin typeface="Apple SD Gothic Neo" pitchFamily="34" charset="0"/>
                <a:ea typeface="Apple SD Gothic Neo" pitchFamily="34" charset="-122"/>
                <a:cs typeface="Apple SD Gothic Neo" pitchFamily="34" charset="-120"/>
              </a:rPr>
              <a:t>MCM · STORYBOOK</a:t>
            </a:r>
            <a:endParaRPr lang="en-US" sz="950" dirty="0"/>
          </a:p>
        </p:txBody>
      </p:sp>
      <p:sp>
        <p:nvSpPr>
          <p:cNvPr id="28" name="Text 25"/>
          <p:cNvSpPr/>
          <p:nvPr/>
        </p:nvSpPr>
        <p:spPr>
          <a:xfrm>
            <a:off x="749808" y="1847088"/>
            <a:ext cx="7406640" cy="1234440"/>
          </a:xfrm>
          <a:prstGeom prst="rect">
            <a:avLst/>
          </a:prstGeom>
          <a:noFill/>
          <a:ln/>
        </p:spPr>
        <p:txBody>
          <a:bodyPr wrap="square" lIns="0" tIns="0" rIns="0" bIns="0" rtlCol="0" anchor="t">
            <a:normAutofit/>
          </a:bodyPr>
          <a:lstStyle/>
          <a:p>
            <a:pPr indent="0" marL="0">
              <a:lnSpc>
                <a:spcPct val="87000"/>
              </a:lnSpc>
              <a:buNone/>
            </a:pPr>
            <a:r>
              <a:rPr lang="en-US" sz="2900" b="1" dirty="0">
                <a:solidFill>
                  <a:srgbClr val="FFFFFF"/>
                </a:solidFill>
                <a:latin typeface="Apple SD Gothic Neo" pitchFamily="34" charset="0"/>
                <a:ea typeface="Apple SD Gothic Neo" pitchFamily="34" charset="-122"/>
                <a:cs typeface="Apple SD Gothic Neo" pitchFamily="34" charset="-120"/>
              </a:rPr>
              <a:t>DPP가 증명하는 진품성 위에,</a:t>
            </a:r>
            <a:endParaRPr lang="en-US" sz="2900" dirty="0"/>
          </a:p>
          <a:p>
            <a:pPr indent="0" marL="0">
              <a:lnSpc>
                <a:spcPct val="87000"/>
              </a:lnSpc>
              <a:buNone/>
            </a:pPr>
            <a:r>
              <a:rPr lang="en-US" sz="2900" b="1" dirty="0">
                <a:solidFill>
                  <a:srgbClr val="FFFFFF"/>
                </a:solidFill>
                <a:latin typeface="Apple SD Gothic Neo" pitchFamily="34" charset="0"/>
                <a:ea typeface="Apple SD Gothic Neo" pitchFamily="34" charset="-122"/>
                <a:cs typeface="Apple SD Gothic Neo" pitchFamily="34" charset="-120"/>
              </a:rPr>
              <a:t>기억이 증명하는 관계를 쌓겠습니다</a:t>
            </a:r>
            <a:endParaRPr lang="en-US" sz="2900" dirty="0"/>
          </a:p>
        </p:txBody>
      </p:sp>
      <p:sp>
        <p:nvSpPr>
          <p:cNvPr id="29" name="Text 26"/>
          <p:cNvSpPr/>
          <p:nvPr/>
        </p:nvSpPr>
        <p:spPr>
          <a:xfrm>
            <a:off x="768096" y="3401568"/>
            <a:ext cx="6675120" cy="365760"/>
          </a:xfrm>
          <a:prstGeom prst="rect">
            <a:avLst/>
          </a:prstGeom>
          <a:noFill/>
          <a:ln/>
        </p:spPr>
        <p:txBody>
          <a:bodyPr wrap="square" lIns="0" tIns="0" rIns="0" bIns="0" rtlCol="0" anchor="ctr">
            <a:normAutofit/>
          </a:bodyPr>
          <a:lstStyle/>
          <a:p>
            <a:pPr indent="0" marL="0">
              <a:buNone/>
            </a:pPr>
            <a:r>
              <a:rPr lang="en-US" sz="1350" b="1" dirty="0">
                <a:solidFill>
                  <a:srgbClr val="C9945A"/>
                </a:solidFill>
                <a:latin typeface="Apple SD Gothic Neo" pitchFamily="34" charset="0"/>
                <a:ea typeface="Apple SD Gothic Neo" pitchFamily="34" charset="-122"/>
                <a:cs typeface="Apple SD Gothic Neo" pitchFamily="34" charset="-120"/>
              </a:rPr>
              <a:t>제품의 이력을 넘어, 제품과 함께한 삶까지 기록하는 디지털 라이프 플랫폼</a:t>
            </a:r>
            <a:endParaRPr lang="en-US" sz="1350" dirty="0"/>
          </a:p>
        </p:txBody>
      </p:sp>
      <p:sp>
        <p:nvSpPr>
          <p:cNvPr id="30" name="Shape 27"/>
          <p:cNvSpPr/>
          <p:nvPr/>
        </p:nvSpPr>
        <p:spPr>
          <a:xfrm>
            <a:off x="8138160" y="1627632"/>
            <a:ext cx="3246120" cy="3401568"/>
          </a:xfrm>
          <a:prstGeom prst="roundRect">
            <a:avLst>
              <a:gd name="adj" fmla="val 3944"/>
            </a:avLst>
          </a:prstGeom>
          <a:solidFill>
            <a:srgbClr val="272220"/>
          </a:solidFill>
          <a:ln w="10160">
            <a:solidFill>
              <a:srgbClr val="463D38"/>
            </a:solidFill>
            <a:prstDash val="solid"/>
          </a:ln>
        </p:spPr>
      </p:sp>
      <p:sp>
        <p:nvSpPr>
          <p:cNvPr id="31" name="Text 28"/>
          <p:cNvSpPr/>
          <p:nvPr/>
        </p:nvSpPr>
        <p:spPr>
          <a:xfrm>
            <a:off x="8458200" y="1965960"/>
            <a:ext cx="2468880" cy="201168"/>
          </a:xfrm>
          <a:prstGeom prst="rect">
            <a:avLst/>
          </a:prstGeom>
          <a:noFill/>
          <a:ln/>
        </p:spPr>
        <p:txBody>
          <a:bodyPr wrap="square" lIns="0" tIns="0" rIns="0" bIns="0" rtlCol="0" anchor="ctr">
            <a:normAutofit/>
          </a:bodyPr>
          <a:lstStyle/>
          <a:p>
            <a:pPr indent="0" marL="0">
              <a:buNone/>
            </a:pPr>
            <a:r>
              <a:rPr lang="en-US" sz="850" b="1" spc="160" kern="0" dirty="0">
                <a:solidFill>
                  <a:srgbClr val="C9945A"/>
                </a:solidFill>
                <a:latin typeface="Apple SD Gothic Neo" pitchFamily="34" charset="0"/>
                <a:ea typeface="Apple SD Gothic Neo" pitchFamily="34" charset="-122"/>
                <a:cs typeface="Apple SD Gothic Neo" pitchFamily="34" charset="-120"/>
              </a:rPr>
              <a:t>PARTNERSHIP ASK</a:t>
            </a:r>
            <a:endParaRPr lang="en-US" sz="850" dirty="0"/>
          </a:p>
        </p:txBody>
      </p:sp>
      <p:sp>
        <p:nvSpPr>
          <p:cNvPr id="32" name="Text 29"/>
          <p:cNvSpPr/>
          <p:nvPr/>
        </p:nvSpPr>
        <p:spPr>
          <a:xfrm>
            <a:off x="8458200" y="2514600"/>
            <a:ext cx="347472" cy="182880"/>
          </a:xfrm>
          <a:prstGeom prst="rect">
            <a:avLst/>
          </a:prstGeom>
          <a:noFill/>
          <a:ln/>
        </p:spPr>
        <p:txBody>
          <a:bodyPr wrap="square" lIns="0" tIns="0" rIns="0" bIns="0" rtlCol="0" anchor="ctr">
            <a:normAutofit/>
          </a:bodyPr>
          <a:lstStyle/>
          <a:p>
            <a:pPr indent="0" marL="0">
              <a:buNone/>
            </a:pPr>
            <a:r>
              <a:rPr lang="en-US" sz="850" b="1" dirty="0">
                <a:solidFill>
                  <a:srgbClr val="C9945A"/>
                </a:solidFill>
                <a:latin typeface="Apple SD Gothic Neo" pitchFamily="34" charset="0"/>
                <a:ea typeface="Apple SD Gothic Neo" pitchFamily="34" charset="-122"/>
                <a:cs typeface="Apple SD Gothic Neo" pitchFamily="34" charset="-120"/>
              </a:rPr>
              <a:t>01</a:t>
            </a:r>
            <a:endParaRPr lang="en-US" sz="850" dirty="0"/>
          </a:p>
        </p:txBody>
      </p:sp>
      <p:sp>
        <p:nvSpPr>
          <p:cNvPr id="33" name="Text 30"/>
          <p:cNvSpPr/>
          <p:nvPr/>
        </p:nvSpPr>
        <p:spPr>
          <a:xfrm>
            <a:off x="8942832" y="2432304"/>
            <a:ext cx="2011680" cy="310896"/>
          </a:xfrm>
          <a:prstGeom prst="rect">
            <a:avLst/>
          </a:prstGeom>
          <a:noFill/>
          <a:ln/>
        </p:spPr>
        <p:txBody>
          <a:bodyPr wrap="square" lIns="0" tIns="0" rIns="0" bIns="0" rtlCol="0" anchor="ctr">
            <a:normAutofit/>
          </a:bodyPr>
          <a:lstStyle/>
          <a:p>
            <a:pPr indent="0" marL="0">
              <a:buNone/>
            </a:pPr>
            <a:r>
              <a:rPr lang="en-US" sz="1150" b="1" dirty="0">
                <a:solidFill>
                  <a:srgbClr val="FFFFFF"/>
                </a:solidFill>
                <a:latin typeface="Apple SD Gothic Neo" pitchFamily="34" charset="0"/>
                <a:ea typeface="Apple SD Gothic Neo" pitchFamily="34" charset="-122"/>
                <a:cs typeface="Apple SD Gothic Neo" pitchFamily="34" charset="-120"/>
              </a:rPr>
              <a:t>DPP·제품 데이터 샌드박스</a:t>
            </a:r>
            <a:endParaRPr lang="en-US" sz="1150" dirty="0"/>
          </a:p>
        </p:txBody>
      </p:sp>
      <p:sp>
        <p:nvSpPr>
          <p:cNvPr id="34" name="Text 31"/>
          <p:cNvSpPr/>
          <p:nvPr/>
        </p:nvSpPr>
        <p:spPr>
          <a:xfrm>
            <a:off x="8458200" y="3172968"/>
            <a:ext cx="347472" cy="182880"/>
          </a:xfrm>
          <a:prstGeom prst="rect">
            <a:avLst/>
          </a:prstGeom>
          <a:noFill/>
          <a:ln/>
        </p:spPr>
        <p:txBody>
          <a:bodyPr wrap="square" lIns="0" tIns="0" rIns="0" bIns="0" rtlCol="0" anchor="ctr">
            <a:normAutofit/>
          </a:bodyPr>
          <a:lstStyle/>
          <a:p>
            <a:pPr indent="0" marL="0">
              <a:buNone/>
            </a:pPr>
            <a:r>
              <a:rPr lang="en-US" sz="850" b="1" dirty="0">
                <a:solidFill>
                  <a:srgbClr val="C9945A"/>
                </a:solidFill>
                <a:latin typeface="Apple SD Gothic Neo" pitchFamily="34" charset="0"/>
                <a:ea typeface="Apple SD Gothic Neo" pitchFamily="34" charset="-122"/>
                <a:cs typeface="Apple SD Gothic Neo" pitchFamily="34" charset="-120"/>
              </a:rPr>
              <a:t>02</a:t>
            </a:r>
            <a:endParaRPr lang="en-US" sz="850" dirty="0"/>
          </a:p>
        </p:txBody>
      </p:sp>
      <p:sp>
        <p:nvSpPr>
          <p:cNvPr id="35" name="Text 32"/>
          <p:cNvSpPr/>
          <p:nvPr/>
        </p:nvSpPr>
        <p:spPr>
          <a:xfrm>
            <a:off x="8942832" y="3090672"/>
            <a:ext cx="2011680" cy="310896"/>
          </a:xfrm>
          <a:prstGeom prst="rect">
            <a:avLst/>
          </a:prstGeom>
          <a:noFill/>
          <a:ln/>
        </p:spPr>
        <p:txBody>
          <a:bodyPr wrap="square" lIns="0" tIns="0" rIns="0" bIns="0" rtlCol="0" anchor="ctr">
            <a:normAutofit/>
          </a:bodyPr>
          <a:lstStyle/>
          <a:p>
            <a:pPr indent="0" marL="0">
              <a:buNone/>
            </a:pPr>
            <a:r>
              <a:rPr lang="en-US" sz="1150" b="1" dirty="0">
                <a:solidFill>
                  <a:srgbClr val="FFFFFF"/>
                </a:solidFill>
                <a:latin typeface="Apple SD Gothic Neo" pitchFamily="34" charset="0"/>
                <a:ea typeface="Apple SD Gothic Neo" pitchFamily="34" charset="-122"/>
                <a:cs typeface="Apple SD Gothic Neo" pitchFamily="34" charset="-120"/>
              </a:rPr>
              <a:t>Care &amp; Repair 운영 데이터</a:t>
            </a:r>
            <a:endParaRPr lang="en-US" sz="1150" dirty="0"/>
          </a:p>
        </p:txBody>
      </p:sp>
      <p:sp>
        <p:nvSpPr>
          <p:cNvPr id="36" name="Text 33"/>
          <p:cNvSpPr/>
          <p:nvPr/>
        </p:nvSpPr>
        <p:spPr>
          <a:xfrm>
            <a:off x="8458200" y="3831336"/>
            <a:ext cx="347472" cy="182880"/>
          </a:xfrm>
          <a:prstGeom prst="rect">
            <a:avLst/>
          </a:prstGeom>
          <a:noFill/>
          <a:ln/>
        </p:spPr>
        <p:txBody>
          <a:bodyPr wrap="square" lIns="0" tIns="0" rIns="0" bIns="0" rtlCol="0" anchor="ctr">
            <a:normAutofit/>
          </a:bodyPr>
          <a:lstStyle/>
          <a:p>
            <a:pPr indent="0" marL="0">
              <a:buNone/>
            </a:pPr>
            <a:r>
              <a:rPr lang="en-US" sz="850" b="1" dirty="0">
                <a:solidFill>
                  <a:srgbClr val="C9945A"/>
                </a:solidFill>
                <a:latin typeface="Apple SD Gothic Neo" pitchFamily="34" charset="0"/>
                <a:ea typeface="Apple SD Gothic Neo" pitchFamily="34" charset="-122"/>
                <a:cs typeface="Apple SD Gothic Neo" pitchFamily="34" charset="-120"/>
              </a:rPr>
              <a:t>03</a:t>
            </a:r>
            <a:endParaRPr lang="en-US" sz="850" dirty="0"/>
          </a:p>
        </p:txBody>
      </p:sp>
      <p:sp>
        <p:nvSpPr>
          <p:cNvPr id="37" name="Text 34"/>
          <p:cNvSpPr/>
          <p:nvPr/>
        </p:nvSpPr>
        <p:spPr>
          <a:xfrm>
            <a:off x="8942832" y="3749040"/>
            <a:ext cx="2011680" cy="310896"/>
          </a:xfrm>
          <a:prstGeom prst="rect">
            <a:avLst/>
          </a:prstGeom>
          <a:noFill/>
          <a:ln/>
        </p:spPr>
        <p:txBody>
          <a:bodyPr wrap="square" lIns="0" tIns="0" rIns="0" bIns="0" rtlCol="0" anchor="ctr">
            <a:normAutofit/>
          </a:bodyPr>
          <a:lstStyle/>
          <a:p>
            <a:pPr indent="0" marL="0">
              <a:buNone/>
            </a:pPr>
            <a:r>
              <a:rPr lang="en-US" sz="1150" b="1" dirty="0">
                <a:solidFill>
                  <a:srgbClr val="FFFFFF"/>
                </a:solidFill>
                <a:latin typeface="Apple SD Gothic Neo" pitchFamily="34" charset="0"/>
                <a:ea typeface="Apple SD Gothic Neo" pitchFamily="34" charset="-122"/>
                <a:cs typeface="Apple SD Gothic Neo" pitchFamily="34" charset="-120"/>
              </a:rPr>
              <a:t>단일 제품 라인 파일럿 협업</a:t>
            </a:r>
            <a:endParaRPr lang="en-US" sz="1150" dirty="0"/>
          </a:p>
        </p:txBody>
      </p:sp>
      <p:sp>
        <p:nvSpPr>
          <p:cNvPr id="38" name="Text 35"/>
          <p:cNvSpPr/>
          <p:nvPr/>
        </p:nvSpPr>
        <p:spPr>
          <a:xfrm>
            <a:off x="768096" y="5330952"/>
            <a:ext cx="1508760" cy="164592"/>
          </a:xfrm>
          <a:prstGeom prst="rect">
            <a:avLst/>
          </a:prstGeom>
          <a:noFill/>
          <a:ln/>
        </p:spPr>
        <p:txBody>
          <a:bodyPr wrap="square" lIns="0" tIns="0" rIns="0" bIns="0" rtlCol="0" anchor="ctr">
            <a:normAutofit/>
          </a:bodyPr>
          <a:lstStyle/>
          <a:p>
            <a:pPr indent="0" marL="0">
              <a:buNone/>
            </a:pPr>
            <a:r>
              <a:rPr lang="en-US" sz="750" b="1" spc="125" kern="0" dirty="0">
                <a:solidFill>
                  <a:srgbClr val="C9945A"/>
                </a:solidFill>
                <a:latin typeface="Apple SD Gothic Neo" pitchFamily="34" charset="0"/>
                <a:ea typeface="Apple SD Gothic Neo" pitchFamily="34" charset="-122"/>
                <a:cs typeface="Apple SD Gothic Neo" pitchFamily="34" charset="-120"/>
              </a:rPr>
              <a:t>OFFICIAL SOURCES</a:t>
            </a:r>
            <a:endParaRPr lang="en-US" sz="750" dirty="0"/>
          </a:p>
        </p:txBody>
      </p:sp>
      <p:sp>
        <p:nvSpPr>
          <p:cNvPr id="39" name="Text 36">
            <a:hlinkClick r:id="rId2" tooltip=""/>
          </p:cNvPr>
          <p:cNvSpPr/>
          <p:nvPr/>
        </p:nvSpPr>
        <p:spPr>
          <a:xfrm>
            <a:off x="768096" y="5641848"/>
            <a:ext cx="5303520" cy="201168"/>
          </a:xfrm>
          <a:prstGeom prst="rect">
            <a:avLst/>
          </a:prstGeom>
          <a:noFill/>
          <a:ln/>
        </p:spPr>
        <p:txBody>
          <a:bodyPr wrap="square" lIns="0" tIns="0" rIns="0" bIns="0" rtlCol="0" anchor="ctr">
            <a:normAutofit/>
          </a:bodyPr>
          <a:lstStyle/>
          <a:p>
            <a:pPr indent="0" marL="0">
              <a:buNone/>
            </a:pPr>
            <a:r>
              <a:rPr lang="en-US" sz="850" u="sng" dirty="0">
                <a:solidFill>
                  <a:srgbClr val="B7ADA4"/>
                </a:solidFill>
                <a:latin typeface="Apple SD Gothic Neo" pitchFamily="34" charset="0"/>
                <a:ea typeface="Apple SD Gothic Neo" pitchFamily="34" charset="-122"/>
                <a:cs typeface="Apple SD Gothic Neo" pitchFamily="34" charset="-120"/>
                <a:hlinkClick r:id="rId2" invalidUrl="" action="" tgtFrame="" tooltip="" history="1" highlightClick="0" endSnd="0">
                  <a:extLst>
                    <a:ext uri="{A12FA001-AC4F-418D-AE19-62706E023703}">
                      <ahyp:hlinkClr xmlns:ahyp="http://schemas.microsoft.com/office/drawing/2018/hyperlinkcolor" val="tx"/>
                    </a:ext>
                  </a:extLst>
                </a:hlinkClick>
              </a:rPr>
              <a:t>MCM Digital Product Passport · kr.mcmworldwide.com/ko_KR/digital-passport</a:t>
            </a:r>
            <a:endParaRPr lang="en-US" sz="850" dirty="0"/>
          </a:p>
        </p:txBody>
      </p:sp>
      <p:sp>
        <p:nvSpPr>
          <p:cNvPr id="40" name="Text 37">
            <a:hlinkClick r:id="rId3" tooltip=""/>
          </p:cNvPr>
          <p:cNvSpPr/>
          <p:nvPr/>
        </p:nvSpPr>
        <p:spPr>
          <a:xfrm>
            <a:off x="768096" y="5934456"/>
            <a:ext cx="5303520" cy="201168"/>
          </a:xfrm>
          <a:prstGeom prst="rect">
            <a:avLst/>
          </a:prstGeom>
          <a:noFill/>
          <a:ln/>
        </p:spPr>
        <p:txBody>
          <a:bodyPr wrap="square" lIns="0" tIns="0" rIns="0" bIns="0" rtlCol="0" anchor="ctr">
            <a:normAutofit/>
          </a:bodyPr>
          <a:lstStyle/>
          <a:p>
            <a:pPr indent="0" marL="0">
              <a:buNone/>
            </a:pPr>
            <a:r>
              <a:rPr lang="en-US" sz="850" u="sng" dirty="0">
                <a:solidFill>
                  <a:srgbClr val="B7ADA4"/>
                </a:solidFill>
                <a:latin typeface="Apple SD Gothic Neo" pitchFamily="34" charset="0"/>
                <a:ea typeface="Apple SD Gothic Neo" pitchFamily="34" charset="-122"/>
                <a:cs typeface="Apple SD Gothic Neo" pitchFamily="34" charset="-120"/>
                <a:hlinkClick r:id="rId3" invalidUrl="" action="" tgtFrame="" tooltip="" history="1" highlightClick="0" endSnd="0">
                  <a:extLst>
                    <a:ext uri="{A12FA001-AC4F-418D-AE19-62706E023703}">
                      <ahyp:hlinkClr xmlns:ahyp="http://schemas.microsoft.com/office/drawing/2018/hyperlinkcolor" val="tx"/>
                    </a:ext>
                  </a:extLst>
                </a:hlinkClick>
              </a:rPr>
              <a:t>Aura Blockchain Consortium · MCM DPP Use Case</a:t>
            </a:r>
            <a:endParaRPr lang="en-US" sz="850" dirty="0"/>
          </a:p>
        </p:txBody>
      </p:sp>
      <p:sp>
        <p:nvSpPr>
          <p:cNvPr id="41" name="Text 38"/>
          <p:cNvSpPr/>
          <p:nvPr/>
        </p:nvSpPr>
        <p:spPr>
          <a:xfrm>
            <a:off x="8549640" y="5961888"/>
            <a:ext cx="2788920" cy="201168"/>
          </a:xfrm>
          <a:prstGeom prst="rect">
            <a:avLst/>
          </a:prstGeom>
          <a:noFill/>
          <a:ln/>
        </p:spPr>
        <p:txBody>
          <a:bodyPr wrap="square" lIns="0" tIns="0" rIns="0" bIns="0" rtlCol="0" anchor="ctr">
            <a:normAutofit/>
          </a:bodyPr>
          <a:lstStyle/>
          <a:p>
            <a:pPr algn="r" indent="0" marL="0">
              <a:buNone/>
            </a:pPr>
            <a:r>
              <a:rPr lang="en-US" sz="850" dirty="0">
                <a:solidFill>
                  <a:srgbClr val="746D68"/>
                </a:solidFill>
                <a:latin typeface="Apple SD Gothic Neo" pitchFamily="34" charset="0"/>
                <a:ea typeface="Apple SD Gothic Neo" pitchFamily="34" charset="-122"/>
                <a:cs typeface="Apple SD Gothic Neo" pitchFamily="34" charset="-120"/>
              </a:rPr>
              <a:t>Prototype IR  ·  2026.08</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ple SD Gothic Neo"/>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ple SD Gothic Neo"/>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MCM Storybook</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MCM Storybook IR 2026</dc:title>
  <dc:subject>MCM Storybook Digital Life Platform IR</dc:subject>
  <dc:creator>MCM Storybook Prototype Team</dc:creator>
  <cp:lastModifiedBy>MCM Storybook Prototype Team</cp:lastModifiedBy>
  <cp:revision>1</cp:revision>
  <dcterms:created xsi:type="dcterms:W3CDTF">2026-08-15T10:29:02Z</dcterms:created>
  <dcterms:modified xsi:type="dcterms:W3CDTF">2026-08-15T10:29:02Z</dcterms:modified>
</cp:coreProperties>
</file>