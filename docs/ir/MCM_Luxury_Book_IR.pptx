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럭셔리는 새것일 때 가장 비쌉니다. 그래서 사람들은 쓰기를 두려워합니다. 저희는 그 방향을 뒤집었습니다.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별도 앱 설치가 없습니다. 제품의 QR·NFC가 진입점입니다. 등록하면 구매 기록이 첫 줄로 자동 생성돼 빈 화면을 보여주지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3번 과제는 발견부터 구매 이후까지입니다. 길거리 캠페인 QR로 브랜드를 발견하고, 매장에서 사고, 박스의 QR이나 NFC로 개봉하고, 등록하면 그때부터 기록과 관리가 이어집니다. 마지막은 다음 소유자에게 공식 이력이 그대로 넘어가는 것입니다. 오프라인과 온라인을 QR과 NFC가 잇습니다.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Story는 기록입니다. Care와 Repair는 제품 수명을 늘립니다. REMADE는 선택형 커스터마이징이고, 소유권 이전은 다음 사용자에게 공식 이력을 넘깁니다. 네 가지가 각각 떨어진 기능이 아니라 하나의 타임라인 위에 쌓이는 레이어입니다. 소유권 이전은 스키마까지 있고 화면은 다음 단계입니다.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이건 목업이 아니라 실제로 생성된 결과입니다. 손상 사진과 부위를 넣으면 AI가 그 자리에 어울리는 시안을 세 개 만듭니다. 사용자는 고르기만 하고 실물 제작은 MCM 매장이 합니다. 수선이 서비스가 아니라 상품이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럭셔리 브랜드의 광고와 매장은 새것 상태를 보여줍니다.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 오는 날 안 들고 나가고, 긁힐까 봐 조심하고, 결국 옷장에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가격만 보면 MCM은 준명품입니다. 축을 하나 더 두면 자리가 달라집니다. 일상 사용 빈도입니다. 3대장은 가격이 높아 옷장에 머뭅니다. 매스 브랜드는 매일 쓰지만 애착이 없습니다. 이 구간이 매일 들 수 있으면서 애착이 생기는 유일한 자리입니다.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가격대가 그걸 허락합니다. 3대장은 못 하는 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쓰면 생기는 일입니다. 그리고 이건 이 구간에만 생기는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3대장은 안 쓰니까 안 상합니다. 매스 브랜드는 상하면 버립니다. MCM 구간만 매일 쓰고, 상하고, 버리기엔 아까운 물건입니다.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불편은 감성이 아니라 돈입니다. 같은 제품도 구성품과 이력이 있느냐에 따라 리셀 가격이 30에서 40퍼센트 갈립니다. 명품 플랫폼에 소비자가 요구한 개선점 1위가 정품 보증 시스템이었고, 감정에서 걸러진 가품이 50개 중 1개입니다. 그런데 그 증빙을 지금은 각자 종이로 보관합니다. 보증서를 잃어버리는 순간 값도 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수선은 있지만 원래대로 되돌려주는 것뿐입니다.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신사임당이 얼룩 위에 포도를 그린 이야기가 있습니다. 일본에는 킨츠기가 있습니다. 그리고 1988년 할렘에서 같은 일이 일어났습니다.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Eric B. &amp; Rakim, Salt-N-Pepa, LL Cool J가 그 옷을 입었습니다. 2020년에는 그 계보의 스타일리스트 Misa Hylton이 MCM 글로벌 크리에이티브 파트너가 됐습니다.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큰 지출을 했을 때 두려운 건 통장이 아니라 평판입니다. 연령대 실측은 미확보이며 페르소나는 가설입니다.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기록이 값이 된다는 건 앞에서 봤습니다. 그런데 지금은 세 군데로 흩어져 있고, 모으라고 하면 아무도 하지 않습니다. 여기가 AI가 들어갈 자리입니다.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사진 한 장, 상황 칩 세 번, 여덟 초. 문장은 AI가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서비스는 사용자에게 입력을 요구했습니다. 저희는 반대로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AI가 손상 부위에 어울리는 문양 시안 세 개를 만들고 실물은 MCM 장인이 만듭니다. AI가 손을 대체하지 않습니다. 진품성이 유지되고 세상에 하나뿐이라는 증명이 붙기 때문에 값이 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심사에서 구현 수준을 오해하지 않도록 미리 밝힙니다. Story와 Recap, REMADE 시안은 실제로 API를 호출해 생성됩니다. Care Score와 견적은 규칙 계산이고 AI가 아닙니다. 결제는 데모라 실제 정산이 없습니다. 소유권 이전은 스키마까지만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MCM은 이미 NFC와 Aura 블록체인 패스포트를 갖고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스캔해서 도착하는 자리가 제품 상세라, 새 화면을 만들지 않고 인증 정보를 여권으로 키웠습니다. EU ESPR이 요구하는 항목을 그대로 채웁니다. 다만 수치는 아직 저희 가정치라 화면에 시연용이라고 같이 띄웁니다. 뒷받침 못 하는 숫자를 사실처럼 보여주지 않습니다. MCM 실데이터를 받으면 표시가 자동으로 사라집니다. Aura 원장 기록만 브랜드 연동이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스크롤을 멈추면 애니메이션도 멈춥니다. 수선은 제품 사진 위에서 부위를 직접 누릅니다.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사용자가 자기 추억을 남기는 과정에서 자연스럽게 얻어집니다. 동의 없이도 개인 기능은 전부 동작합니다. 코드로 보여드릴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MCM은 이미 Aura에 있습니다. 인프라 경쟁에 뛰어들면 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사용자가 실제로 대체하는 건 인프라 회사가 아닙니다. 사진은 갤러리에, 수선은 브랜드 A/S 창구에 맡깁니다. DPP 플랫폼은 제조 이력만 담습니다. 하나씩은 이미 다 있습니다. 다섯을 한 줄에 놓은 곳이 없을 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MCM은 이미 NFC와 Aura 패스포트를 운영 중입니다. Coach는 같은 접근으로 FY2025 북미 신규 120만 명을 얻었고 3분의 2가 Gen Z입니다. 그리고 EU 규제가 밀어줍니다. 2027년 의무화라고 말하지 말고 위임법 2027, 시행 2028에서 29로 나눠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리셀과 소유권 이전은 로드맵입니다.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1은 스토리북과 Care/Repair, REMADE, 기존 DPP 연동입니다. Phase 2는 Archive Style과 B2B 대시보드, Phase 3은 멀티 브랜드와 리셀 연계입니다.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jpg"/><Relationship Id="rId3" Type="http://schemas.openxmlformats.org/officeDocument/2006/relationships/image" Target="../media/image-23-3.jpg"/><Relationship Id="rId4" Type="http://schemas.openxmlformats.org/officeDocument/2006/relationships/image" Target="../media/image-23-4.jpg"/><Relationship Id="rId5" Type="http://schemas.openxmlformats.org/officeDocument/2006/relationships/image" Target="../media/image-23-5.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868680" y="658368"/>
            <a:ext cx="5486400" cy="310896"/>
          </a:xfrm>
          <a:prstGeom prst="rect">
            <a:avLst/>
          </a:prstGeom>
          <a:noFill/>
          <a:ln/>
        </p:spPr>
        <p:txBody>
          <a:bodyPr wrap="square" lIns="0" tIns="0" rIns="0" bIns="0" rtlCol="0" anchor="ctr"/>
          <a:lstStyle/>
          <a:p>
            <a:pPr indent="0" marL="0">
              <a:buNone/>
            </a:pPr>
            <a:r>
              <a:rPr lang="en-US" sz="1250" b="1" spc="260" kern="0" dirty="0">
                <a:solidFill>
                  <a:srgbClr val="FFFFFF"/>
                </a:solidFill>
                <a:latin typeface="Apple SD Gothic Neo" pitchFamily="34" charset="0"/>
                <a:ea typeface="Apple SD Gothic Neo" pitchFamily="34" charset="-122"/>
                <a:cs typeface="Apple SD Gothic Neo" pitchFamily="34" charset="-120"/>
              </a:rPr>
              <a:t>MCM LUXURY BOOK</a:t>
            </a:r>
            <a:endParaRPr lang="en-US" sz="1250" dirty="0"/>
          </a:p>
        </p:txBody>
      </p:sp>
      <p:sp>
        <p:nvSpPr>
          <p:cNvPr id="4" name="Text 1"/>
          <p:cNvSpPr/>
          <p:nvPr/>
        </p:nvSpPr>
        <p:spPr>
          <a:xfrm>
            <a:off x="868680" y="2286000"/>
            <a:ext cx="10607040" cy="2011680"/>
          </a:xfrm>
          <a:prstGeom prst="rect">
            <a:avLst/>
          </a:prstGeom>
          <a:noFill/>
          <a:ln/>
        </p:spPr>
        <p:txBody>
          <a:bodyPr wrap="square" lIns="0" tIns="0" rIns="0" bIns="0" rtlCol="0" anchor="ctr"/>
          <a:lstStyle/>
          <a:p>
            <a:pPr indent="0" marL="0">
              <a:lnSpc>
                <a:spcPts val="7400"/>
              </a:lnSpc>
              <a:buNone/>
            </a:pPr>
            <a:r>
              <a:rPr lang="en-US" sz="5200" b="1" dirty="0">
                <a:solidFill>
                  <a:srgbClr val="FFFFFF"/>
                </a:solidFill>
                <a:latin typeface="Apple SD Gothic Neo" pitchFamily="34" charset="0"/>
                <a:ea typeface="Apple SD Gothic Neo" pitchFamily="34" charset="-122"/>
                <a:cs typeface="Apple SD Gothic Neo" pitchFamily="34" charset="-120"/>
              </a:rPr>
              <a:t>흠을 지우지 않습니다.</a:t>
            </a:r>
            <a:endParaRPr lang="en-US" sz="5200" dirty="0"/>
          </a:p>
          <a:p>
            <a:pPr indent="0" marL="0">
              <a:lnSpc>
                <a:spcPts val="7400"/>
              </a:lnSpc>
              <a:buNone/>
            </a:pPr>
            <a:r>
              <a:rPr lang="en-US" sz="5200" b="1" dirty="0">
                <a:solidFill>
                  <a:srgbClr val="C4915F"/>
                </a:solidFill>
                <a:latin typeface="Apple SD Gothic Neo" pitchFamily="34" charset="0"/>
                <a:ea typeface="Apple SD Gothic Neo" pitchFamily="34" charset="-122"/>
                <a:cs typeface="Apple SD Gothic Neo" pitchFamily="34" charset="-120"/>
              </a:rPr>
              <a:t>나의 것으로 만듭니다</a:t>
            </a:r>
            <a:endParaRPr lang="en-US" sz="5200" dirty="0"/>
          </a:p>
        </p:txBody>
      </p:sp>
      <p:sp>
        <p:nvSpPr>
          <p:cNvPr id="5" name="Text 2"/>
          <p:cNvSpPr/>
          <p:nvPr/>
        </p:nvSpPr>
        <p:spPr>
          <a:xfrm>
            <a:off x="896112" y="4937760"/>
            <a:ext cx="10058400" cy="310896"/>
          </a:xfrm>
          <a:prstGeom prst="rect">
            <a:avLst/>
          </a:prstGeom>
          <a:noFill/>
          <a:ln/>
        </p:spPr>
        <p:txBody>
          <a:bodyPr wrap="square" lIns="0" tIns="0" rIns="0" bIns="0" rtlCol="0" anchor="ctr"/>
          <a:lstStyle/>
          <a:p>
            <a:pPr indent="0" marL="0">
              <a:buNone/>
            </a:pPr>
            <a:r>
              <a:rPr lang="en-US" sz="1300" dirty="0">
                <a:solidFill>
                  <a:srgbClr val="6E6459"/>
                </a:solidFill>
                <a:latin typeface="Apple SD Gothic Neo" pitchFamily="34" charset="0"/>
                <a:ea typeface="Apple SD Gothic Neo" pitchFamily="34" charset="-122"/>
                <a:cs typeface="Apple SD Gothic Neo" pitchFamily="34" charset="-120"/>
              </a:rPr>
              <a:t>Challenge 03 · 360° 고객 경험        2026.08</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SOLUTION</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5360"/>
              </a:lnSpc>
              <a:buNone/>
            </a:pPr>
            <a:r>
              <a:rPr lang="en-US" sz="4000" b="1" dirty="0">
                <a:solidFill>
                  <a:srgbClr val="FFFFFF"/>
                </a:solidFill>
                <a:latin typeface="Apple SD Gothic Neo" pitchFamily="34" charset="0"/>
                <a:ea typeface="Apple SD Gothic Neo" pitchFamily="34" charset="-122"/>
                <a:cs typeface="Apple SD Gothic Neo" pitchFamily="34" charset="-120"/>
              </a:rPr>
              <a:t>하나의 타임라인</a:t>
            </a:r>
            <a:endParaRPr lang="en-US" sz="40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0" y="1883664"/>
            <a:ext cx="12161520" cy="292608"/>
          </a:xfrm>
          <a:prstGeom prst="rect">
            <a:avLst/>
          </a:prstGeom>
          <a:noFill/>
          <a:ln/>
        </p:spPr>
        <p:txBody>
          <a:bodyPr wrap="square" lIns="0" tIns="0" rIns="0" bIns="0" rtlCol="0" anchor="ctr"/>
          <a:lstStyle/>
          <a:p>
            <a:pPr algn="ctr" indent="0" marL="0">
              <a:buNone/>
            </a:pPr>
            <a:r>
              <a:rPr lang="en-US" sz="1150" b="1" spc="240" kern="0" dirty="0">
                <a:solidFill>
                  <a:srgbClr val="6E6459"/>
                </a:solidFill>
                <a:latin typeface="Apple SD Gothic Neo" pitchFamily="34" charset="0"/>
                <a:ea typeface="Apple SD Gothic Neo" pitchFamily="34" charset="-122"/>
                <a:cs typeface="Apple SD Gothic Neo" pitchFamily="34" charset="-120"/>
              </a:rPr>
              <a:t>CHALLENGE 03 · 360° 고객 경험</a:t>
            </a:r>
            <a:endParaRPr lang="en-US" sz="1150" dirty="0"/>
          </a:p>
        </p:txBody>
      </p:sp>
      <p:sp>
        <p:nvSpPr>
          <p:cNvPr id="7" name="Shape 4"/>
          <p:cNvSpPr/>
          <p:nvPr/>
        </p:nvSpPr>
        <p:spPr>
          <a:xfrm>
            <a:off x="1927860" y="3584448"/>
            <a:ext cx="8305800" cy="0"/>
          </a:xfrm>
          <a:prstGeom prst="line">
            <a:avLst/>
          </a:prstGeom>
          <a:noFill/>
          <a:ln w="12700">
            <a:solidFill>
              <a:srgbClr val="3A3025"/>
            </a:solidFill>
            <a:prstDash val="solid"/>
          </a:ln>
        </p:spPr>
      </p:sp>
      <p:sp>
        <p:nvSpPr>
          <p:cNvPr id="8" name="Shape 5"/>
          <p:cNvSpPr/>
          <p:nvPr/>
        </p:nvSpPr>
        <p:spPr>
          <a:xfrm>
            <a:off x="1868424" y="3525012"/>
            <a:ext cx="118872" cy="118872"/>
          </a:xfrm>
          <a:prstGeom prst="ellipse">
            <a:avLst/>
          </a:prstGeom>
          <a:solidFill>
            <a:srgbClr val="9A8F84"/>
          </a:solidFill>
          <a:ln/>
        </p:spPr>
      </p:sp>
      <p:sp>
        <p:nvSpPr>
          <p:cNvPr id="9" name="Text 6"/>
          <p:cNvSpPr/>
          <p:nvPr/>
        </p:nvSpPr>
        <p:spPr>
          <a:xfrm>
            <a:off x="1097280" y="3913632"/>
            <a:ext cx="1661160" cy="329184"/>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발견</a:t>
            </a:r>
            <a:endParaRPr lang="en-US" sz="1700" dirty="0"/>
          </a:p>
        </p:txBody>
      </p:sp>
      <p:sp>
        <p:nvSpPr>
          <p:cNvPr id="10" name="Shape 7"/>
          <p:cNvSpPr/>
          <p:nvPr/>
        </p:nvSpPr>
        <p:spPr>
          <a:xfrm>
            <a:off x="3529584" y="3525012"/>
            <a:ext cx="118872" cy="118872"/>
          </a:xfrm>
          <a:prstGeom prst="ellipse">
            <a:avLst/>
          </a:prstGeom>
          <a:solidFill>
            <a:srgbClr val="9A8F84"/>
          </a:solidFill>
          <a:ln/>
        </p:spPr>
      </p:sp>
      <p:sp>
        <p:nvSpPr>
          <p:cNvPr id="11" name="Text 8"/>
          <p:cNvSpPr/>
          <p:nvPr/>
        </p:nvSpPr>
        <p:spPr>
          <a:xfrm>
            <a:off x="2758440" y="3913632"/>
            <a:ext cx="1661160" cy="329184"/>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구매</a:t>
            </a:r>
            <a:endParaRPr lang="en-US" sz="1700" dirty="0"/>
          </a:p>
        </p:txBody>
      </p:sp>
      <p:sp>
        <p:nvSpPr>
          <p:cNvPr id="12" name="Shape 9"/>
          <p:cNvSpPr/>
          <p:nvPr/>
        </p:nvSpPr>
        <p:spPr>
          <a:xfrm>
            <a:off x="5190744" y="3525012"/>
            <a:ext cx="118872" cy="118872"/>
          </a:xfrm>
          <a:prstGeom prst="ellipse">
            <a:avLst/>
          </a:prstGeom>
          <a:solidFill>
            <a:srgbClr val="9A8F84"/>
          </a:solidFill>
          <a:ln/>
        </p:spPr>
      </p:sp>
      <p:sp>
        <p:nvSpPr>
          <p:cNvPr id="13" name="Text 10"/>
          <p:cNvSpPr/>
          <p:nvPr/>
        </p:nvSpPr>
        <p:spPr>
          <a:xfrm>
            <a:off x="4419600" y="3913632"/>
            <a:ext cx="1661160" cy="329184"/>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사용</a:t>
            </a:r>
            <a:endParaRPr lang="en-US" sz="1700" dirty="0"/>
          </a:p>
        </p:txBody>
      </p:sp>
      <p:sp>
        <p:nvSpPr>
          <p:cNvPr id="14" name="Shape 11"/>
          <p:cNvSpPr/>
          <p:nvPr/>
        </p:nvSpPr>
        <p:spPr>
          <a:xfrm>
            <a:off x="6824472" y="3497580"/>
            <a:ext cx="173736" cy="173736"/>
          </a:xfrm>
          <a:prstGeom prst="ellipse">
            <a:avLst/>
          </a:prstGeom>
          <a:solidFill>
            <a:srgbClr val="C4915F"/>
          </a:solidFill>
          <a:ln/>
        </p:spPr>
      </p:sp>
      <p:sp>
        <p:nvSpPr>
          <p:cNvPr id="15" name="Text 12"/>
          <p:cNvSpPr/>
          <p:nvPr/>
        </p:nvSpPr>
        <p:spPr>
          <a:xfrm>
            <a:off x="6080760" y="3913632"/>
            <a:ext cx="1661160"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관리</a:t>
            </a:r>
            <a:endParaRPr lang="en-US" sz="1700" dirty="0"/>
          </a:p>
        </p:txBody>
      </p:sp>
      <p:sp>
        <p:nvSpPr>
          <p:cNvPr id="16" name="Shape 13"/>
          <p:cNvSpPr/>
          <p:nvPr/>
        </p:nvSpPr>
        <p:spPr>
          <a:xfrm>
            <a:off x="8485632" y="3497580"/>
            <a:ext cx="173736" cy="173736"/>
          </a:xfrm>
          <a:prstGeom prst="ellipse">
            <a:avLst/>
          </a:prstGeom>
          <a:solidFill>
            <a:srgbClr val="C4915F"/>
          </a:solidFill>
          <a:ln/>
        </p:spPr>
      </p:sp>
      <p:sp>
        <p:nvSpPr>
          <p:cNvPr id="17" name="Text 14"/>
          <p:cNvSpPr/>
          <p:nvPr/>
        </p:nvSpPr>
        <p:spPr>
          <a:xfrm>
            <a:off x="7741920" y="3913632"/>
            <a:ext cx="1661160"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수선</a:t>
            </a:r>
            <a:endParaRPr lang="en-US" sz="1700" dirty="0"/>
          </a:p>
        </p:txBody>
      </p:sp>
      <p:sp>
        <p:nvSpPr>
          <p:cNvPr id="18" name="Shape 15"/>
          <p:cNvSpPr/>
          <p:nvPr/>
        </p:nvSpPr>
        <p:spPr>
          <a:xfrm>
            <a:off x="10146792" y="3497580"/>
            <a:ext cx="173736" cy="173736"/>
          </a:xfrm>
          <a:prstGeom prst="ellipse">
            <a:avLst/>
          </a:prstGeom>
          <a:solidFill>
            <a:srgbClr val="C4915F"/>
          </a:solidFill>
          <a:ln/>
        </p:spPr>
      </p:sp>
      <p:sp>
        <p:nvSpPr>
          <p:cNvPr id="19" name="Text 16"/>
          <p:cNvSpPr/>
          <p:nvPr/>
        </p:nvSpPr>
        <p:spPr>
          <a:xfrm>
            <a:off x="9403080" y="3913632"/>
            <a:ext cx="1661160"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물려주기</a:t>
            </a:r>
            <a:endParaRPr lang="en-US" sz="1700" dirty="0"/>
          </a:p>
        </p:txBody>
      </p:sp>
      <p:sp>
        <p:nvSpPr>
          <p:cNvPr id="20" name="Text 17"/>
          <p:cNvSpPr/>
          <p:nvPr/>
        </p:nvSpPr>
        <p:spPr>
          <a:xfrm>
            <a:off x="914400" y="4773168"/>
            <a:ext cx="10332720"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내가 남긴 기록과 브랜드가 남긴 기록이 같은 줄에 흐릅니다</a:t>
            </a:r>
            <a:endParaRPr lang="en-US" sz="2200" dirty="0"/>
          </a:p>
        </p:txBody>
      </p:sp>
      <p:sp>
        <p:nvSpPr>
          <p:cNvPr id="21" name="Text 18"/>
          <p:cNvSpPr/>
          <p:nvPr/>
        </p:nvSpPr>
        <p:spPr>
          <a:xfrm>
            <a:off x="914400" y="5266944"/>
            <a:ext cx="10332720" cy="310896"/>
          </a:xfrm>
          <a:prstGeom prst="rect">
            <a:avLst/>
          </a:prstGeom>
          <a:noFill/>
          <a:ln/>
        </p:spPr>
        <p:txBody>
          <a:bodyPr wrap="square" lIns="0" tIns="0" rIns="0" bIns="0" rtlCol="0" anchor="ctr"/>
          <a:lstStyle/>
          <a:p>
            <a:pPr algn="ct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이 둘이 같이 있는 곳은 지금 없습니다</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360° CUSTOMER JOURNEY</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발견부터 다음 소유자까지</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0" y="1847088"/>
            <a:ext cx="12161520" cy="292608"/>
          </a:xfrm>
          <a:prstGeom prst="rect">
            <a:avLst/>
          </a:prstGeom>
          <a:noFill/>
          <a:ln/>
        </p:spPr>
        <p:txBody>
          <a:bodyPr wrap="square" lIns="0" tIns="0" rIns="0" bIns="0" rtlCol="0" anchor="ctr"/>
          <a:lstStyle/>
          <a:p>
            <a:pPr algn="ctr" indent="0" marL="0">
              <a:buNone/>
            </a:pPr>
            <a:r>
              <a:rPr lang="en-US" sz="1150" b="1" spc="240" kern="0" dirty="0">
                <a:solidFill>
                  <a:srgbClr val="6E6459"/>
                </a:solidFill>
                <a:latin typeface="Apple SD Gothic Neo" pitchFamily="34" charset="0"/>
                <a:ea typeface="Apple SD Gothic Neo" pitchFamily="34" charset="-122"/>
                <a:cs typeface="Apple SD Gothic Neo" pitchFamily="34" charset="-120"/>
              </a:rPr>
              <a:t>CHALLENGE 03 · 360° 고객 경험</a:t>
            </a:r>
            <a:endParaRPr lang="en-US" sz="1150" dirty="0"/>
          </a:p>
        </p:txBody>
      </p:sp>
      <p:sp>
        <p:nvSpPr>
          <p:cNvPr id="7" name="Shape 4"/>
          <p:cNvSpPr/>
          <p:nvPr/>
        </p:nvSpPr>
        <p:spPr>
          <a:xfrm>
            <a:off x="1574074" y="3200400"/>
            <a:ext cx="9013371" cy="0"/>
          </a:xfrm>
          <a:prstGeom prst="line">
            <a:avLst/>
          </a:prstGeom>
          <a:noFill/>
          <a:ln w="12700">
            <a:solidFill>
              <a:srgbClr val="3A3025"/>
            </a:solidFill>
            <a:prstDash val="solid"/>
          </a:ln>
        </p:spPr>
      </p:sp>
      <p:sp>
        <p:nvSpPr>
          <p:cNvPr id="8" name="Shape 5"/>
          <p:cNvSpPr/>
          <p:nvPr/>
        </p:nvSpPr>
        <p:spPr>
          <a:xfrm>
            <a:off x="1514638" y="3140964"/>
            <a:ext cx="118872" cy="118872"/>
          </a:xfrm>
          <a:prstGeom prst="ellipse">
            <a:avLst/>
          </a:prstGeom>
          <a:solidFill>
            <a:srgbClr val="9A8F84"/>
          </a:solidFill>
          <a:ln/>
        </p:spPr>
      </p:sp>
      <p:sp>
        <p:nvSpPr>
          <p:cNvPr id="9" name="Text 6"/>
          <p:cNvSpPr/>
          <p:nvPr/>
        </p:nvSpPr>
        <p:spPr>
          <a:xfrm>
            <a:off x="822960" y="3529584"/>
            <a:ext cx="1502229" cy="329184"/>
          </a:xfrm>
          <a:prstGeom prst="rect">
            <a:avLst/>
          </a:prstGeom>
          <a:noFill/>
          <a:ln/>
        </p:spPr>
        <p:txBody>
          <a:bodyPr wrap="square" lIns="0" tIns="0" rIns="0" bIns="0" rtlCol="0" anchor="ctr"/>
          <a:lstStyle/>
          <a:p>
            <a:pPr algn="ctr" indent="0" marL="0">
              <a:buNone/>
            </a:pPr>
            <a:r>
              <a:rPr lang="en-US" sz="1700" b="1" dirty="0">
                <a:solidFill>
                  <a:srgbClr val="9A8F84"/>
                </a:solidFill>
                <a:latin typeface="Apple SD Gothic Neo" pitchFamily="34" charset="0"/>
                <a:ea typeface="Apple SD Gothic Neo" pitchFamily="34" charset="-122"/>
                <a:cs typeface="Apple SD Gothic Neo" pitchFamily="34" charset="-120"/>
              </a:rPr>
              <a:t>발견</a:t>
            </a:r>
            <a:endParaRPr lang="en-US" sz="1700" dirty="0"/>
          </a:p>
        </p:txBody>
      </p:sp>
      <p:sp>
        <p:nvSpPr>
          <p:cNvPr id="10" name="Text 7"/>
          <p:cNvSpPr/>
          <p:nvPr/>
        </p:nvSpPr>
        <p:spPr>
          <a:xfrm>
            <a:off x="822960"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길거리 캠페인 QR</a:t>
            </a:r>
            <a:endParaRPr lang="en-US" sz="1150" dirty="0"/>
          </a:p>
        </p:txBody>
      </p:sp>
      <p:sp>
        <p:nvSpPr>
          <p:cNvPr id="11" name="Shape 8"/>
          <p:cNvSpPr/>
          <p:nvPr/>
        </p:nvSpPr>
        <p:spPr>
          <a:xfrm>
            <a:off x="3016867" y="3140964"/>
            <a:ext cx="118872" cy="118872"/>
          </a:xfrm>
          <a:prstGeom prst="ellipse">
            <a:avLst/>
          </a:prstGeom>
          <a:solidFill>
            <a:srgbClr val="9A8F84"/>
          </a:solidFill>
          <a:ln/>
        </p:spPr>
      </p:sp>
      <p:sp>
        <p:nvSpPr>
          <p:cNvPr id="12" name="Text 9"/>
          <p:cNvSpPr/>
          <p:nvPr/>
        </p:nvSpPr>
        <p:spPr>
          <a:xfrm>
            <a:off x="2325189" y="3529584"/>
            <a:ext cx="1502229" cy="329184"/>
          </a:xfrm>
          <a:prstGeom prst="rect">
            <a:avLst/>
          </a:prstGeom>
          <a:noFill/>
          <a:ln/>
        </p:spPr>
        <p:txBody>
          <a:bodyPr wrap="square" lIns="0" tIns="0" rIns="0" bIns="0" rtlCol="0" anchor="ctr"/>
          <a:lstStyle/>
          <a:p>
            <a:pPr algn="ctr" indent="0" marL="0">
              <a:buNone/>
            </a:pPr>
            <a:r>
              <a:rPr lang="en-US" sz="1700" b="1" dirty="0">
                <a:solidFill>
                  <a:srgbClr val="9A8F84"/>
                </a:solidFill>
                <a:latin typeface="Apple SD Gothic Neo" pitchFamily="34" charset="0"/>
                <a:ea typeface="Apple SD Gothic Neo" pitchFamily="34" charset="-122"/>
                <a:cs typeface="Apple SD Gothic Neo" pitchFamily="34" charset="-120"/>
              </a:rPr>
              <a:t>구매</a:t>
            </a:r>
            <a:endParaRPr lang="en-US" sz="1700" dirty="0"/>
          </a:p>
        </p:txBody>
      </p:sp>
      <p:sp>
        <p:nvSpPr>
          <p:cNvPr id="13" name="Text 10"/>
          <p:cNvSpPr/>
          <p:nvPr/>
        </p:nvSpPr>
        <p:spPr>
          <a:xfrm>
            <a:off x="2325189"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MCM 매장</a:t>
            </a:r>
            <a:endParaRPr lang="en-US" sz="1150" dirty="0"/>
          </a:p>
        </p:txBody>
      </p:sp>
      <p:sp>
        <p:nvSpPr>
          <p:cNvPr id="14" name="Shape 11"/>
          <p:cNvSpPr/>
          <p:nvPr/>
        </p:nvSpPr>
        <p:spPr>
          <a:xfrm>
            <a:off x="4487091" y="3108960"/>
            <a:ext cx="182880" cy="182880"/>
          </a:xfrm>
          <a:prstGeom prst="ellipse">
            <a:avLst/>
          </a:prstGeom>
          <a:solidFill>
            <a:srgbClr val="C4915F"/>
          </a:solidFill>
          <a:ln/>
        </p:spPr>
      </p:sp>
      <p:sp>
        <p:nvSpPr>
          <p:cNvPr id="15" name="Text 12"/>
          <p:cNvSpPr/>
          <p:nvPr/>
        </p:nvSpPr>
        <p:spPr>
          <a:xfrm>
            <a:off x="3827417" y="3529584"/>
            <a:ext cx="1502229"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개봉</a:t>
            </a:r>
            <a:endParaRPr lang="en-US" sz="1700" dirty="0"/>
          </a:p>
        </p:txBody>
      </p:sp>
      <p:sp>
        <p:nvSpPr>
          <p:cNvPr id="16" name="Text 13"/>
          <p:cNvSpPr/>
          <p:nvPr/>
        </p:nvSpPr>
        <p:spPr>
          <a:xfrm>
            <a:off x="3827417"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박스 QR·NFC 스캔</a:t>
            </a:r>
            <a:endParaRPr lang="en-US" sz="1150" dirty="0"/>
          </a:p>
        </p:txBody>
      </p:sp>
      <p:sp>
        <p:nvSpPr>
          <p:cNvPr id="17" name="Shape 14"/>
          <p:cNvSpPr/>
          <p:nvPr/>
        </p:nvSpPr>
        <p:spPr>
          <a:xfrm>
            <a:off x="5989320" y="3108960"/>
            <a:ext cx="182880" cy="182880"/>
          </a:xfrm>
          <a:prstGeom prst="ellipse">
            <a:avLst/>
          </a:prstGeom>
          <a:solidFill>
            <a:srgbClr val="C4915F"/>
          </a:solidFill>
          <a:ln/>
        </p:spPr>
      </p:sp>
      <p:sp>
        <p:nvSpPr>
          <p:cNvPr id="18" name="Text 15"/>
          <p:cNvSpPr/>
          <p:nvPr/>
        </p:nvSpPr>
        <p:spPr>
          <a:xfrm>
            <a:off x="5329646" y="3529584"/>
            <a:ext cx="1502229"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등록</a:t>
            </a:r>
            <a:endParaRPr lang="en-US" sz="1700" dirty="0"/>
          </a:p>
        </p:txBody>
      </p:sp>
      <p:sp>
        <p:nvSpPr>
          <p:cNvPr id="19" name="Text 16"/>
          <p:cNvSpPr/>
          <p:nvPr/>
        </p:nvSpPr>
        <p:spPr>
          <a:xfrm>
            <a:off x="5329646"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제품이 내 것이 된다</a:t>
            </a:r>
            <a:endParaRPr lang="en-US" sz="1150" dirty="0"/>
          </a:p>
        </p:txBody>
      </p:sp>
      <p:sp>
        <p:nvSpPr>
          <p:cNvPr id="20" name="Shape 17"/>
          <p:cNvSpPr/>
          <p:nvPr/>
        </p:nvSpPr>
        <p:spPr>
          <a:xfrm>
            <a:off x="7491549" y="3108960"/>
            <a:ext cx="182880" cy="182880"/>
          </a:xfrm>
          <a:prstGeom prst="ellipse">
            <a:avLst/>
          </a:prstGeom>
          <a:solidFill>
            <a:srgbClr val="C4915F"/>
          </a:solidFill>
          <a:ln/>
        </p:spPr>
      </p:sp>
      <p:sp>
        <p:nvSpPr>
          <p:cNvPr id="21" name="Text 18"/>
          <p:cNvSpPr/>
          <p:nvPr/>
        </p:nvSpPr>
        <p:spPr>
          <a:xfrm>
            <a:off x="6831874" y="3529584"/>
            <a:ext cx="1502229"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기록</a:t>
            </a:r>
            <a:endParaRPr lang="en-US" sz="1700" dirty="0"/>
          </a:p>
        </p:txBody>
      </p:sp>
      <p:sp>
        <p:nvSpPr>
          <p:cNvPr id="22" name="Text 19"/>
          <p:cNvSpPr/>
          <p:nvPr/>
        </p:nvSpPr>
        <p:spPr>
          <a:xfrm>
            <a:off x="6831874"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Story · Care</a:t>
            </a:r>
            <a:endParaRPr lang="en-US" sz="1150" dirty="0"/>
          </a:p>
        </p:txBody>
      </p:sp>
      <p:sp>
        <p:nvSpPr>
          <p:cNvPr id="23" name="Shape 20"/>
          <p:cNvSpPr/>
          <p:nvPr/>
        </p:nvSpPr>
        <p:spPr>
          <a:xfrm>
            <a:off x="8993777" y="3108960"/>
            <a:ext cx="182880" cy="182880"/>
          </a:xfrm>
          <a:prstGeom prst="ellipse">
            <a:avLst/>
          </a:prstGeom>
          <a:solidFill>
            <a:srgbClr val="C4915F"/>
          </a:solidFill>
          <a:ln/>
        </p:spPr>
      </p:sp>
      <p:sp>
        <p:nvSpPr>
          <p:cNvPr id="24" name="Text 21"/>
          <p:cNvSpPr/>
          <p:nvPr/>
        </p:nvSpPr>
        <p:spPr>
          <a:xfrm>
            <a:off x="8334103" y="3529584"/>
            <a:ext cx="1502229"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수선</a:t>
            </a:r>
            <a:endParaRPr lang="en-US" sz="1700" dirty="0"/>
          </a:p>
        </p:txBody>
      </p:sp>
      <p:sp>
        <p:nvSpPr>
          <p:cNvPr id="25" name="Text 22"/>
          <p:cNvSpPr/>
          <p:nvPr/>
        </p:nvSpPr>
        <p:spPr>
          <a:xfrm>
            <a:off x="8334103"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복원 또는 REMADE</a:t>
            </a:r>
            <a:endParaRPr lang="en-US" sz="1150" dirty="0"/>
          </a:p>
        </p:txBody>
      </p:sp>
      <p:sp>
        <p:nvSpPr>
          <p:cNvPr id="26" name="Shape 23"/>
          <p:cNvSpPr/>
          <p:nvPr/>
        </p:nvSpPr>
        <p:spPr>
          <a:xfrm>
            <a:off x="10528010" y="3140964"/>
            <a:ext cx="118872" cy="118872"/>
          </a:xfrm>
          <a:prstGeom prst="ellipse">
            <a:avLst/>
          </a:prstGeom>
          <a:solidFill>
            <a:srgbClr val="9A8F84"/>
          </a:solidFill>
          <a:ln/>
        </p:spPr>
      </p:sp>
      <p:sp>
        <p:nvSpPr>
          <p:cNvPr id="27" name="Text 24"/>
          <p:cNvSpPr/>
          <p:nvPr/>
        </p:nvSpPr>
        <p:spPr>
          <a:xfrm>
            <a:off x="9836331" y="3529584"/>
            <a:ext cx="1502229" cy="329184"/>
          </a:xfrm>
          <a:prstGeom prst="rect">
            <a:avLst/>
          </a:prstGeom>
          <a:noFill/>
          <a:ln/>
        </p:spPr>
        <p:txBody>
          <a:bodyPr wrap="square" lIns="0" tIns="0" rIns="0" bIns="0" rtlCol="0" anchor="ctr"/>
          <a:lstStyle/>
          <a:p>
            <a:pPr algn="ctr" indent="0" marL="0">
              <a:buNone/>
            </a:pPr>
            <a:r>
              <a:rPr lang="en-US" sz="1700" b="1" dirty="0">
                <a:solidFill>
                  <a:srgbClr val="9A8F84"/>
                </a:solidFill>
                <a:latin typeface="Apple SD Gothic Neo" pitchFamily="34" charset="0"/>
                <a:ea typeface="Apple SD Gothic Neo" pitchFamily="34" charset="-122"/>
                <a:cs typeface="Apple SD Gothic Neo" pitchFamily="34" charset="-120"/>
              </a:rPr>
              <a:t>이전</a:t>
            </a:r>
            <a:endParaRPr lang="en-US" sz="1700" dirty="0"/>
          </a:p>
        </p:txBody>
      </p:sp>
      <p:sp>
        <p:nvSpPr>
          <p:cNvPr id="28" name="Text 25"/>
          <p:cNvSpPr/>
          <p:nvPr/>
        </p:nvSpPr>
        <p:spPr>
          <a:xfrm>
            <a:off x="9836331"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다음 소유자에게</a:t>
            </a:r>
            <a:endParaRPr lang="en-US" sz="1150" dirty="0"/>
          </a:p>
        </p:txBody>
      </p:sp>
      <p:sp>
        <p:nvSpPr>
          <p:cNvPr id="29" name="Text 26"/>
          <p:cNvSpPr/>
          <p:nvPr/>
        </p:nvSpPr>
        <p:spPr>
          <a:xfrm>
            <a:off x="914400" y="4901184"/>
            <a:ext cx="10332720" cy="384048"/>
          </a:xfrm>
          <a:prstGeom prst="rect">
            <a:avLst/>
          </a:prstGeom>
          <a:noFill/>
          <a:ln/>
        </p:spPr>
        <p:txBody>
          <a:bodyPr wrap="square" lIns="0" tIns="0" rIns="0" bIns="0" rtlCol="0" anchor="ctr"/>
          <a:lstStyle/>
          <a:p>
            <a:pPr algn="ct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오프라인에서 발견하고 사서, 온라인에서 남기고 고치고 넘깁니다</a:t>
            </a:r>
            <a:endParaRPr lang="en-US" sz="2000" dirty="0"/>
          </a:p>
        </p:txBody>
      </p:sp>
      <p:sp>
        <p:nvSpPr>
          <p:cNvPr id="30" name="Text 27"/>
          <p:cNvSpPr/>
          <p:nvPr/>
        </p:nvSpPr>
        <p:spPr>
          <a:xfrm>
            <a:off x="914400" y="5394960"/>
            <a:ext cx="10332720" cy="329184"/>
          </a:xfrm>
          <a:prstGeom prst="rect">
            <a:avLst/>
          </a:prstGeom>
          <a:noFill/>
          <a:ln/>
        </p:spPr>
        <p:txBody>
          <a:bodyPr wrap="square" lIns="0" tIns="0" rIns="0" bIns="0" rtlCol="0" anchor="ctr"/>
          <a:lstStyle/>
          <a:p>
            <a:pPr algn="ctr" indent="0" marL="0">
              <a:buNone/>
            </a:pPr>
            <a:r>
              <a:rPr lang="en-US" sz="1400" dirty="0">
                <a:solidFill>
                  <a:srgbClr val="C4915F"/>
                </a:solidFill>
                <a:latin typeface="Apple SD Gothic Neo" pitchFamily="34" charset="0"/>
                <a:ea typeface="Apple SD Gothic Neo" pitchFamily="34" charset="-122"/>
                <a:cs typeface="Apple SD Gothic Neo" pitchFamily="34" charset="-120"/>
              </a:rPr>
              <a:t>QR·NFC가 그 사이를 잇습니다</a:t>
            </a:r>
            <a:endParaRPr lang="en-US" sz="1400" dirty="0"/>
          </a:p>
        </p:txBody>
      </p:sp>
      <p:sp>
        <p:nvSpPr>
          <p:cNvPr id="31" name="Text 28"/>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WHAT WE BUILT</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타임라인 위에 네 가지가 얹힙니다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097280" y="2432304"/>
            <a:ext cx="2080260" cy="274320"/>
          </a:xfrm>
          <a:prstGeom prst="rect">
            <a:avLst/>
          </a:prstGeom>
          <a:noFill/>
          <a:ln/>
        </p:spPr>
        <p:txBody>
          <a:bodyPr wrap="square" lIns="0" tIns="0" rIns="0" bIns="0" rtlCol="0" anchor="ctr"/>
          <a:lstStyle/>
          <a:p>
            <a:pPr indent="0" marL="0">
              <a:buNone/>
            </a:pPr>
            <a:r>
              <a:rPr lang="en-US" sz="1100" b="1" spc="140" kern="0" dirty="0">
                <a:solidFill>
                  <a:srgbClr val="C4915F"/>
                </a:solidFill>
                <a:latin typeface="Apple SD Gothic Neo" pitchFamily="34" charset="0"/>
                <a:ea typeface="Apple SD Gothic Neo" pitchFamily="34" charset="-122"/>
                <a:cs typeface="Apple SD Gothic Neo" pitchFamily="34" charset="-120"/>
              </a:rPr>
              <a:t>STORY</a:t>
            </a:r>
            <a:endParaRPr lang="en-US" sz="1100" dirty="0"/>
          </a:p>
        </p:txBody>
      </p:sp>
      <p:sp>
        <p:nvSpPr>
          <p:cNvPr id="7" name="Text 4"/>
          <p:cNvSpPr/>
          <p:nvPr/>
        </p:nvSpPr>
        <p:spPr>
          <a:xfrm>
            <a:off x="1097280" y="2779776"/>
            <a:ext cx="2125980" cy="402336"/>
          </a:xfrm>
          <a:prstGeom prst="rect">
            <a:avLst/>
          </a:prstGeom>
          <a:noFill/>
          <a:ln/>
        </p:spPr>
        <p:txBody>
          <a:bodyPr wrap="square" lIns="0" tIns="0" rIns="0" bIns="0" rtlCol="0" anchor="ctr"/>
          <a:lstStyle/>
          <a:p>
            <a:pP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기록</a:t>
            </a:r>
            <a:endParaRPr lang="en-US" sz="2000" dirty="0"/>
          </a:p>
        </p:txBody>
      </p:sp>
      <p:sp>
        <p:nvSpPr>
          <p:cNvPr id="8" name="Text 5"/>
          <p:cNvSpPr/>
          <p:nvPr/>
        </p:nvSpPr>
        <p:spPr>
          <a:xfrm>
            <a:off x="1097280" y="3328416"/>
            <a:ext cx="2061972" cy="822960"/>
          </a:xfrm>
          <a:prstGeom prst="rect">
            <a:avLst/>
          </a:prstGeom>
          <a:noFill/>
          <a:ln/>
        </p:spPr>
        <p:txBody>
          <a:bodyPr wrap="square" lIns="0" tIns="0" rIns="0" bIns="0" rtlCol="0" anchor="ctr"/>
          <a:lstStyle/>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사진 한 장을 올리면</a:t>
            </a:r>
            <a:endParaRPr lang="en-US" sz="1300" dirty="0"/>
          </a:p>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AI가 문장으로 남긴다</a:t>
            </a:r>
            <a:endParaRPr lang="en-US" sz="1300" dirty="0"/>
          </a:p>
        </p:txBody>
      </p:sp>
      <p:sp>
        <p:nvSpPr>
          <p:cNvPr id="9" name="Text 6"/>
          <p:cNvSpPr/>
          <p:nvPr/>
        </p:nvSpPr>
        <p:spPr>
          <a:xfrm>
            <a:off x="1097280" y="4261104"/>
            <a:ext cx="2080260" cy="274320"/>
          </a:xfrm>
          <a:prstGeom prst="rect">
            <a:avLst/>
          </a:prstGeom>
          <a:noFill/>
          <a:ln/>
        </p:spPr>
        <p:txBody>
          <a:bodyPr wrap="square" lIns="0" tIns="0" rIns="0" bIns="0" rtlCol="0" anchor="ctr"/>
          <a:lstStyle/>
          <a:p>
            <a:pPr indent="0" marL="0">
              <a:buNone/>
            </a:pPr>
            <a:r>
              <a:rPr lang="en-US" sz="1100" dirty="0">
                <a:solidFill>
                  <a:srgbClr val="C4915F"/>
                </a:solidFill>
                <a:latin typeface="Apple SD Gothic Neo" pitchFamily="34" charset="0"/>
                <a:ea typeface="Apple SD Gothic Neo" pitchFamily="34" charset="-122"/>
                <a:cs typeface="Apple SD Gothic Neo" pitchFamily="34" charset="-120"/>
              </a:rPr>
              <a:t>구현</a:t>
            </a:r>
            <a:endParaRPr lang="en-US" sz="1100" dirty="0"/>
          </a:p>
        </p:txBody>
      </p:sp>
      <p:sp>
        <p:nvSpPr>
          <p:cNvPr id="10" name="Shape 7"/>
          <p:cNvSpPr/>
          <p:nvPr/>
        </p:nvSpPr>
        <p:spPr>
          <a:xfrm>
            <a:off x="3451860" y="2377440"/>
            <a:ext cx="0" cy="2286000"/>
          </a:xfrm>
          <a:prstGeom prst="line">
            <a:avLst/>
          </a:prstGeom>
          <a:noFill/>
          <a:ln w="9525">
            <a:solidFill>
              <a:srgbClr val="3A3025"/>
            </a:solidFill>
            <a:prstDash val="solid"/>
          </a:ln>
        </p:spPr>
      </p:sp>
      <p:sp>
        <p:nvSpPr>
          <p:cNvPr id="11" name="Text 8"/>
          <p:cNvSpPr/>
          <p:nvPr/>
        </p:nvSpPr>
        <p:spPr>
          <a:xfrm>
            <a:off x="3726180" y="2432304"/>
            <a:ext cx="2080260" cy="274320"/>
          </a:xfrm>
          <a:prstGeom prst="rect">
            <a:avLst/>
          </a:prstGeom>
          <a:noFill/>
          <a:ln/>
        </p:spPr>
        <p:txBody>
          <a:bodyPr wrap="square" lIns="0" tIns="0" rIns="0" bIns="0" rtlCol="0" anchor="ctr"/>
          <a:lstStyle/>
          <a:p>
            <a:pPr indent="0" marL="0">
              <a:buNone/>
            </a:pPr>
            <a:r>
              <a:rPr lang="en-US" sz="1100" b="1" spc="140" kern="0" dirty="0">
                <a:solidFill>
                  <a:srgbClr val="C4915F"/>
                </a:solidFill>
                <a:latin typeface="Apple SD Gothic Neo" pitchFamily="34" charset="0"/>
                <a:ea typeface="Apple SD Gothic Neo" pitchFamily="34" charset="-122"/>
                <a:cs typeface="Apple SD Gothic Neo" pitchFamily="34" charset="-120"/>
              </a:rPr>
              <a:t>CARE · REPAIR</a:t>
            </a:r>
            <a:endParaRPr lang="en-US" sz="1100" dirty="0"/>
          </a:p>
        </p:txBody>
      </p:sp>
      <p:sp>
        <p:nvSpPr>
          <p:cNvPr id="12" name="Text 9"/>
          <p:cNvSpPr/>
          <p:nvPr/>
        </p:nvSpPr>
        <p:spPr>
          <a:xfrm>
            <a:off x="3726180" y="2779776"/>
            <a:ext cx="2125980" cy="402336"/>
          </a:xfrm>
          <a:prstGeom prst="rect">
            <a:avLst/>
          </a:prstGeom>
          <a:noFill/>
          <a:ln/>
        </p:spPr>
        <p:txBody>
          <a:bodyPr wrap="square" lIns="0" tIns="0" rIns="0" bIns="0" rtlCol="0" anchor="ctr"/>
          <a:lstStyle/>
          <a:p>
            <a:pP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제품 수명 연장</a:t>
            </a:r>
            <a:endParaRPr lang="en-US" sz="2000" dirty="0"/>
          </a:p>
        </p:txBody>
      </p:sp>
      <p:sp>
        <p:nvSpPr>
          <p:cNvPr id="13" name="Text 10"/>
          <p:cNvSpPr/>
          <p:nvPr/>
        </p:nvSpPr>
        <p:spPr>
          <a:xfrm>
            <a:off x="3726180" y="3328416"/>
            <a:ext cx="2061972" cy="822960"/>
          </a:xfrm>
          <a:prstGeom prst="rect">
            <a:avLst/>
          </a:prstGeom>
          <a:noFill/>
          <a:ln/>
        </p:spPr>
        <p:txBody>
          <a:bodyPr wrap="square" lIns="0" tIns="0" rIns="0" bIns="0" rtlCol="0" anchor="ctr"/>
          <a:lstStyle/>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세척 · 보강 · 부품 교체</a:t>
            </a:r>
            <a:endParaRPr lang="en-US" sz="1300" dirty="0"/>
          </a:p>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부위를 눌러 접수한다</a:t>
            </a:r>
            <a:endParaRPr lang="en-US" sz="1300" dirty="0"/>
          </a:p>
        </p:txBody>
      </p:sp>
      <p:sp>
        <p:nvSpPr>
          <p:cNvPr id="14" name="Text 11"/>
          <p:cNvSpPr/>
          <p:nvPr/>
        </p:nvSpPr>
        <p:spPr>
          <a:xfrm>
            <a:off x="3726180" y="4261104"/>
            <a:ext cx="2080260" cy="274320"/>
          </a:xfrm>
          <a:prstGeom prst="rect">
            <a:avLst/>
          </a:prstGeom>
          <a:noFill/>
          <a:ln/>
        </p:spPr>
        <p:txBody>
          <a:bodyPr wrap="square" lIns="0" tIns="0" rIns="0" bIns="0" rtlCol="0" anchor="ctr"/>
          <a:lstStyle/>
          <a:p>
            <a:pPr indent="0" marL="0">
              <a:buNone/>
            </a:pPr>
            <a:r>
              <a:rPr lang="en-US" sz="1100" dirty="0">
                <a:solidFill>
                  <a:srgbClr val="C4915F"/>
                </a:solidFill>
                <a:latin typeface="Apple SD Gothic Neo" pitchFamily="34" charset="0"/>
                <a:ea typeface="Apple SD Gothic Neo" pitchFamily="34" charset="-122"/>
                <a:cs typeface="Apple SD Gothic Neo" pitchFamily="34" charset="-120"/>
              </a:rPr>
              <a:t>구현</a:t>
            </a:r>
            <a:endParaRPr lang="en-US" sz="1100" dirty="0"/>
          </a:p>
        </p:txBody>
      </p:sp>
      <p:sp>
        <p:nvSpPr>
          <p:cNvPr id="15" name="Shape 12"/>
          <p:cNvSpPr/>
          <p:nvPr/>
        </p:nvSpPr>
        <p:spPr>
          <a:xfrm>
            <a:off x="6080760" y="2377440"/>
            <a:ext cx="0" cy="2286000"/>
          </a:xfrm>
          <a:prstGeom prst="line">
            <a:avLst/>
          </a:prstGeom>
          <a:noFill/>
          <a:ln w="9525">
            <a:solidFill>
              <a:srgbClr val="3A3025"/>
            </a:solidFill>
            <a:prstDash val="solid"/>
          </a:ln>
        </p:spPr>
      </p:sp>
      <p:sp>
        <p:nvSpPr>
          <p:cNvPr id="16" name="Text 13"/>
          <p:cNvSpPr/>
          <p:nvPr/>
        </p:nvSpPr>
        <p:spPr>
          <a:xfrm>
            <a:off x="6355080" y="2432304"/>
            <a:ext cx="2080260" cy="274320"/>
          </a:xfrm>
          <a:prstGeom prst="rect">
            <a:avLst/>
          </a:prstGeom>
          <a:noFill/>
          <a:ln/>
        </p:spPr>
        <p:txBody>
          <a:bodyPr wrap="square" lIns="0" tIns="0" rIns="0" bIns="0" rtlCol="0" anchor="ctr"/>
          <a:lstStyle/>
          <a:p>
            <a:pPr indent="0" marL="0">
              <a:buNone/>
            </a:pPr>
            <a:r>
              <a:rPr lang="en-US" sz="1100" b="1" spc="140" kern="0" dirty="0">
                <a:solidFill>
                  <a:srgbClr val="C4915F"/>
                </a:solidFill>
                <a:latin typeface="Apple SD Gothic Neo" pitchFamily="34" charset="0"/>
                <a:ea typeface="Apple SD Gothic Neo" pitchFamily="34" charset="-122"/>
                <a:cs typeface="Apple SD Gothic Neo" pitchFamily="34" charset="-120"/>
              </a:rPr>
              <a:t>REMADE</a:t>
            </a:r>
            <a:endParaRPr lang="en-US" sz="1100" dirty="0"/>
          </a:p>
        </p:txBody>
      </p:sp>
      <p:sp>
        <p:nvSpPr>
          <p:cNvPr id="17" name="Text 14"/>
          <p:cNvSpPr/>
          <p:nvPr/>
        </p:nvSpPr>
        <p:spPr>
          <a:xfrm>
            <a:off x="6355080" y="2779776"/>
            <a:ext cx="2125980" cy="402336"/>
          </a:xfrm>
          <a:prstGeom prst="rect">
            <a:avLst/>
          </a:prstGeom>
          <a:noFill/>
          <a:ln/>
        </p:spPr>
        <p:txBody>
          <a:bodyPr wrap="square" lIns="0" tIns="0" rIns="0" bIns="0" rtlCol="0" anchor="ctr"/>
          <a:lstStyle/>
          <a:p>
            <a:pP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선택형 커스터마이징</a:t>
            </a:r>
            <a:endParaRPr lang="en-US" sz="2000" dirty="0"/>
          </a:p>
        </p:txBody>
      </p:sp>
      <p:sp>
        <p:nvSpPr>
          <p:cNvPr id="18" name="Text 15"/>
          <p:cNvSpPr/>
          <p:nvPr/>
        </p:nvSpPr>
        <p:spPr>
          <a:xfrm>
            <a:off x="6355080" y="3328416"/>
            <a:ext cx="2061972" cy="822960"/>
          </a:xfrm>
          <a:prstGeom prst="rect">
            <a:avLst/>
          </a:prstGeom>
          <a:noFill/>
          <a:ln/>
        </p:spPr>
        <p:txBody>
          <a:bodyPr wrap="square" lIns="0" tIns="0" rIns="0" bIns="0" rtlCol="0" anchor="ctr"/>
          <a:lstStyle/>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흠 위에 무늬를 새긴다</a:t>
            </a:r>
            <a:endParaRPr lang="en-US" sz="1300" dirty="0"/>
          </a:p>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AI 시안 · MCM 제작</a:t>
            </a:r>
            <a:endParaRPr lang="en-US" sz="1300" dirty="0"/>
          </a:p>
        </p:txBody>
      </p:sp>
      <p:sp>
        <p:nvSpPr>
          <p:cNvPr id="19" name="Text 16"/>
          <p:cNvSpPr/>
          <p:nvPr/>
        </p:nvSpPr>
        <p:spPr>
          <a:xfrm>
            <a:off x="6355080" y="4261104"/>
            <a:ext cx="2080260" cy="274320"/>
          </a:xfrm>
          <a:prstGeom prst="rect">
            <a:avLst/>
          </a:prstGeom>
          <a:noFill/>
          <a:ln/>
        </p:spPr>
        <p:txBody>
          <a:bodyPr wrap="square" lIns="0" tIns="0" rIns="0" bIns="0" rtlCol="0" anchor="ctr"/>
          <a:lstStyle/>
          <a:p>
            <a:pPr indent="0" marL="0">
              <a:buNone/>
            </a:pPr>
            <a:r>
              <a:rPr lang="en-US" sz="1100" dirty="0">
                <a:solidFill>
                  <a:srgbClr val="C4915F"/>
                </a:solidFill>
                <a:latin typeface="Apple SD Gothic Neo" pitchFamily="34" charset="0"/>
                <a:ea typeface="Apple SD Gothic Neo" pitchFamily="34" charset="-122"/>
                <a:cs typeface="Apple SD Gothic Neo" pitchFamily="34" charset="-120"/>
              </a:rPr>
              <a:t>구현</a:t>
            </a:r>
            <a:endParaRPr lang="en-US" sz="1100" dirty="0"/>
          </a:p>
        </p:txBody>
      </p:sp>
      <p:sp>
        <p:nvSpPr>
          <p:cNvPr id="20" name="Shape 17"/>
          <p:cNvSpPr/>
          <p:nvPr/>
        </p:nvSpPr>
        <p:spPr>
          <a:xfrm>
            <a:off x="8709660" y="2377440"/>
            <a:ext cx="0" cy="2286000"/>
          </a:xfrm>
          <a:prstGeom prst="line">
            <a:avLst/>
          </a:prstGeom>
          <a:noFill/>
          <a:ln w="9525">
            <a:solidFill>
              <a:srgbClr val="3A3025"/>
            </a:solidFill>
            <a:prstDash val="solid"/>
          </a:ln>
        </p:spPr>
      </p:sp>
      <p:sp>
        <p:nvSpPr>
          <p:cNvPr id="21" name="Text 18"/>
          <p:cNvSpPr/>
          <p:nvPr/>
        </p:nvSpPr>
        <p:spPr>
          <a:xfrm>
            <a:off x="8983980" y="2432304"/>
            <a:ext cx="2080260" cy="274320"/>
          </a:xfrm>
          <a:prstGeom prst="rect">
            <a:avLst/>
          </a:prstGeom>
          <a:noFill/>
          <a:ln/>
        </p:spPr>
        <p:txBody>
          <a:bodyPr wrap="square" lIns="0" tIns="0" rIns="0" bIns="0" rtlCol="0" anchor="ctr"/>
          <a:lstStyle/>
          <a:p>
            <a:pPr indent="0" marL="0">
              <a:buNone/>
            </a:pPr>
            <a:r>
              <a:rPr lang="en-US" sz="1100" b="1" spc="140" kern="0" dirty="0">
                <a:solidFill>
                  <a:srgbClr val="C4915F"/>
                </a:solidFill>
                <a:latin typeface="Apple SD Gothic Neo" pitchFamily="34" charset="0"/>
                <a:ea typeface="Apple SD Gothic Neo" pitchFamily="34" charset="-122"/>
                <a:cs typeface="Apple SD Gothic Neo" pitchFamily="34" charset="-120"/>
              </a:rPr>
              <a:t>TRANSFER</a:t>
            </a:r>
            <a:endParaRPr lang="en-US" sz="1100" dirty="0"/>
          </a:p>
        </p:txBody>
      </p:sp>
      <p:sp>
        <p:nvSpPr>
          <p:cNvPr id="22" name="Text 19"/>
          <p:cNvSpPr/>
          <p:nvPr/>
        </p:nvSpPr>
        <p:spPr>
          <a:xfrm>
            <a:off x="8983980" y="2779776"/>
            <a:ext cx="2125980" cy="402336"/>
          </a:xfrm>
          <a:prstGeom prst="rect">
            <a:avLst/>
          </a:prstGeom>
          <a:noFill/>
          <a:ln/>
        </p:spPr>
        <p:txBody>
          <a:bodyPr wrap="square" lIns="0" tIns="0" rIns="0" bIns="0" rtlCol="0" anchor="ctr"/>
          <a:lstStyle/>
          <a:p>
            <a:pP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다음 소유자로</a:t>
            </a:r>
            <a:endParaRPr lang="en-US" sz="2000" dirty="0"/>
          </a:p>
        </p:txBody>
      </p:sp>
      <p:sp>
        <p:nvSpPr>
          <p:cNvPr id="23" name="Text 20"/>
          <p:cNvSpPr/>
          <p:nvPr/>
        </p:nvSpPr>
        <p:spPr>
          <a:xfrm>
            <a:off x="8983980" y="3328416"/>
            <a:ext cx="2061972" cy="822960"/>
          </a:xfrm>
          <a:prstGeom prst="rect">
            <a:avLst/>
          </a:prstGeom>
          <a:noFill/>
          <a:ln/>
        </p:spPr>
        <p:txBody>
          <a:bodyPr wrap="square" lIns="0" tIns="0" rIns="0" bIns="0" rtlCol="0" anchor="ctr"/>
          <a:lstStyle/>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공식 이력이 그대로</a:t>
            </a:r>
            <a:endParaRPr lang="en-US" sz="1300" dirty="0"/>
          </a:p>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넘어간다</a:t>
            </a:r>
            <a:endParaRPr lang="en-US" sz="1300" dirty="0"/>
          </a:p>
        </p:txBody>
      </p:sp>
      <p:sp>
        <p:nvSpPr>
          <p:cNvPr id="24" name="Text 21"/>
          <p:cNvSpPr/>
          <p:nvPr/>
        </p:nvSpPr>
        <p:spPr>
          <a:xfrm>
            <a:off x="8983980" y="4261104"/>
            <a:ext cx="2080260" cy="274320"/>
          </a:xfrm>
          <a:prstGeom prst="rect">
            <a:avLst/>
          </a:prstGeom>
          <a:noFill/>
          <a:ln/>
        </p:spPr>
        <p:txBody>
          <a:bodyPr wrap="square" lIns="0" tIns="0" rIns="0" bIns="0" rtlCol="0" anchor="ctr"/>
          <a:lstStyle/>
          <a:p>
            <a:pP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로드맵</a:t>
            </a:r>
            <a:endParaRPr lang="en-US" sz="1100" dirty="0"/>
          </a:p>
        </p:txBody>
      </p:sp>
      <p:sp>
        <p:nvSpPr>
          <p:cNvPr id="25" name="Text 22"/>
          <p:cNvSpPr/>
          <p:nvPr/>
        </p:nvSpPr>
        <p:spPr>
          <a:xfrm>
            <a:off x="914400" y="5029200"/>
            <a:ext cx="1033272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네 가지가 각각의 앱이 아니라, 하나의 타임라인 위 레이어입니다</a:t>
            </a:r>
            <a:endParaRPr lang="en-US" sz="1800" dirty="0"/>
          </a:p>
        </p:txBody>
      </p:sp>
      <p:sp>
        <p:nvSpPr>
          <p:cNvPr id="26" name="Text 2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REMADE</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긁힌 자리에 무늬를 새깁니다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pic>
        <p:nvPicPr>
          <p:cNvPr id="6" name="Image 1" descr="/private/tmp/claude-501/-Users-home-Desktop-likeGonzi/55b29f25-80a9-40cb-9e3c-00904cc11cc6/scratchpad/damage.jpg">    </p:cNvPr>
          <p:cNvPicPr>
            <a:picLocks noChangeAspect="1"/>
          </p:cNvPicPr>
          <p:nvPr/>
        </p:nvPicPr>
        <p:blipFill>
          <a:blip r:embed="rId2"/>
          <a:stretch>
            <a:fillRect/>
          </a:stretch>
        </p:blipFill>
        <p:spPr>
          <a:xfrm>
            <a:off x="877824" y="2212848"/>
            <a:ext cx="2395728" cy="2395728"/>
          </a:xfrm>
          <a:prstGeom prst="rect">
            <a:avLst/>
          </a:prstGeom>
        </p:spPr>
      </p:pic>
      <p:sp>
        <p:nvSpPr>
          <p:cNvPr id="7" name="Text 3"/>
          <p:cNvSpPr/>
          <p:nvPr/>
        </p:nvSpPr>
        <p:spPr>
          <a:xfrm>
            <a:off x="877824" y="4736592"/>
            <a:ext cx="2395728" cy="292608"/>
          </a:xfrm>
          <a:prstGeom prst="rect">
            <a:avLst/>
          </a:prstGeom>
          <a:noFill/>
          <a:ln/>
        </p:spPr>
        <p:txBody>
          <a:bodyPr wrap="square" lIns="0" tIns="0" rIns="0" bIns="0" rtlCol="0" anchor="ctr"/>
          <a:lstStyle/>
          <a:p>
            <a:pPr algn="ctr" indent="0" marL="0">
              <a:buNone/>
            </a:pPr>
            <a:r>
              <a:rPr lang="en-US" sz="1300" dirty="0">
                <a:solidFill>
                  <a:srgbClr val="9A8F84"/>
                </a:solidFill>
                <a:latin typeface="Apple SD Gothic Neo" pitchFamily="34" charset="0"/>
                <a:ea typeface="Apple SD Gothic Neo" pitchFamily="34" charset="-122"/>
                <a:cs typeface="Apple SD Gothic Neo" pitchFamily="34" charset="-120"/>
              </a:rPr>
              <a:t>긁혔다</a:t>
            </a:r>
            <a:endParaRPr lang="en-US" sz="1300" dirty="0"/>
          </a:p>
        </p:txBody>
      </p:sp>
      <p:pic>
        <p:nvPicPr>
          <p:cNvPr id="8" name="Image 2" descr="/private/tmp/claude-501/-Users-home-Desktop-likeGonzi/55b29f25-80a9-40cb-9e3c-00904cc11cc6/scratchpad/remade-1.jpg">    </p:cNvPr>
          <p:cNvPicPr>
            <a:picLocks noChangeAspect="1"/>
          </p:cNvPicPr>
          <p:nvPr/>
        </p:nvPicPr>
        <p:blipFill>
          <a:blip r:embed="rId3"/>
          <a:stretch>
            <a:fillRect/>
          </a:stretch>
        </p:blipFill>
        <p:spPr>
          <a:xfrm>
            <a:off x="3547872" y="2212848"/>
            <a:ext cx="2395728" cy="2395728"/>
          </a:xfrm>
          <a:prstGeom prst="rect">
            <a:avLst/>
          </a:prstGeom>
        </p:spPr>
      </p:pic>
      <p:sp>
        <p:nvSpPr>
          <p:cNvPr id="9" name="Shape 4"/>
          <p:cNvSpPr/>
          <p:nvPr/>
        </p:nvSpPr>
        <p:spPr>
          <a:xfrm>
            <a:off x="3547872" y="2212848"/>
            <a:ext cx="2395728" cy="2395728"/>
          </a:xfrm>
          <a:prstGeom prst="rect">
            <a:avLst/>
          </a:prstGeom>
          <a:ln w="15875">
            <a:solidFill>
              <a:srgbClr val="C4915F"/>
            </a:solidFill>
            <a:prstDash val="solid"/>
          </a:ln>
        </p:spPr>
      </p:sp>
      <p:sp>
        <p:nvSpPr>
          <p:cNvPr id="10" name="Text 5"/>
          <p:cNvSpPr/>
          <p:nvPr/>
        </p:nvSpPr>
        <p:spPr>
          <a:xfrm>
            <a:off x="3547872" y="4736592"/>
            <a:ext cx="2395728" cy="292608"/>
          </a:xfrm>
          <a:prstGeom prst="rect">
            <a:avLst/>
          </a:prstGeom>
          <a:noFill/>
          <a:ln/>
        </p:spPr>
        <p:txBody>
          <a:bodyPr wrap="square" lIns="0" tIns="0" rIns="0" bIns="0" rtlCol="0" anchor="ctr"/>
          <a:lstStyle/>
          <a:p>
            <a:pPr algn="ct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시안 A</a:t>
            </a:r>
            <a:endParaRPr lang="en-US" sz="1300" dirty="0"/>
          </a:p>
        </p:txBody>
      </p:sp>
      <p:pic>
        <p:nvPicPr>
          <p:cNvPr id="11" name="Image 3" descr="/private/tmp/claude-501/-Users-home-Desktop-likeGonzi/55b29f25-80a9-40cb-9e3c-00904cc11cc6/scratchpad/remade-2.jpg">    </p:cNvPr>
          <p:cNvPicPr>
            <a:picLocks noChangeAspect="1"/>
          </p:cNvPicPr>
          <p:nvPr/>
        </p:nvPicPr>
        <p:blipFill>
          <a:blip r:embed="rId4"/>
          <a:stretch>
            <a:fillRect/>
          </a:stretch>
        </p:blipFill>
        <p:spPr>
          <a:xfrm>
            <a:off x="6217920" y="2212848"/>
            <a:ext cx="2395728" cy="2395728"/>
          </a:xfrm>
          <a:prstGeom prst="rect">
            <a:avLst/>
          </a:prstGeom>
        </p:spPr>
      </p:pic>
      <p:sp>
        <p:nvSpPr>
          <p:cNvPr id="12" name="Shape 6"/>
          <p:cNvSpPr/>
          <p:nvPr/>
        </p:nvSpPr>
        <p:spPr>
          <a:xfrm>
            <a:off x="6217920" y="2212848"/>
            <a:ext cx="2395728" cy="2395728"/>
          </a:xfrm>
          <a:prstGeom prst="rect">
            <a:avLst/>
          </a:prstGeom>
          <a:ln w="15875">
            <a:solidFill>
              <a:srgbClr val="C4915F"/>
            </a:solidFill>
            <a:prstDash val="solid"/>
          </a:ln>
        </p:spPr>
      </p:sp>
      <p:sp>
        <p:nvSpPr>
          <p:cNvPr id="13" name="Text 7"/>
          <p:cNvSpPr/>
          <p:nvPr/>
        </p:nvSpPr>
        <p:spPr>
          <a:xfrm>
            <a:off x="6217920" y="4736592"/>
            <a:ext cx="2395728" cy="292608"/>
          </a:xfrm>
          <a:prstGeom prst="rect">
            <a:avLst/>
          </a:prstGeom>
          <a:noFill/>
          <a:ln/>
        </p:spPr>
        <p:txBody>
          <a:bodyPr wrap="square" lIns="0" tIns="0" rIns="0" bIns="0" rtlCol="0" anchor="ctr"/>
          <a:lstStyle/>
          <a:p>
            <a:pPr algn="ct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시안 B</a:t>
            </a:r>
            <a:endParaRPr lang="en-US" sz="1300" dirty="0"/>
          </a:p>
        </p:txBody>
      </p:sp>
      <p:pic>
        <p:nvPicPr>
          <p:cNvPr id="14" name="Image 4" descr="/private/tmp/claude-501/-Users-home-Desktop-likeGonzi/55b29f25-80a9-40cb-9e3c-00904cc11cc6/scratchpad/remade-3.jpg">    </p:cNvPr>
          <p:cNvPicPr>
            <a:picLocks noChangeAspect="1"/>
          </p:cNvPicPr>
          <p:nvPr/>
        </p:nvPicPr>
        <p:blipFill>
          <a:blip r:embed="rId5"/>
          <a:stretch>
            <a:fillRect/>
          </a:stretch>
        </p:blipFill>
        <p:spPr>
          <a:xfrm>
            <a:off x="8887968" y="2212848"/>
            <a:ext cx="2395728" cy="2395728"/>
          </a:xfrm>
          <a:prstGeom prst="rect">
            <a:avLst/>
          </a:prstGeom>
        </p:spPr>
      </p:pic>
      <p:sp>
        <p:nvSpPr>
          <p:cNvPr id="15" name="Shape 8"/>
          <p:cNvSpPr/>
          <p:nvPr/>
        </p:nvSpPr>
        <p:spPr>
          <a:xfrm>
            <a:off x="8887968" y="2212848"/>
            <a:ext cx="2395728" cy="2395728"/>
          </a:xfrm>
          <a:prstGeom prst="rect">
            <a:avLst/>
          </a:prstGeom>
          <a:ln w="15875">
            <a:solidFill>
              <a:srgbClr val="C4915F"/>
            </a:solidFill>
            <a:prstDash val="solid"/>
          </a:ln>
        </p:spPr>
      </p:sp>
      <p:sp>
        <p:nvSpPr>
          <p:cNvPr id="16" name="Text 9"/>
          <p:cNvSpPr/>
          <p:nvPr/>
        </p:nvSpPr>
        <p:spPr>
          <a:xfrm>
            <a:off x="8887968" y="4736592"/>
            <a:ext cx="2395728" cy="292608"/>
          </a:xfrm>
          <a:prstGeom prst="rect">
            <a:avLst/>
          </a:prstGeom>
          <a:noFill/>
          <a:ln/>
        </p:spPr>
        <p:txBody>
          <a:bodyPr wrap="square" lIns="0" tIns="0" rIns="0" bIns="0" rtlCol="0" anchor="ctr"/>
          <a:lstStyle/>
          <a:p>
            <a:pPr algn="ct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시안 C</a:t>
            </a:r>
            <a:endParaRPr lang="en-US" sz="1300" dirty="0"/>
          </a:p>
        </p:txBody>
      </p:sp>
      <p:sp>
        <p:nvSpPr>
          <p:cNvPr id="17" name="Text 10"/>
          <p:cNvSpPr/>
          <p:nvPr/>
        </p:nvSpPr>
        <p:spPr>
          <a:xfrm>
            <a:off x="914400" y="5541264"/>
            <a:ext cx="1033272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실제 생성 결과입니다. 사용자는 셋 중 하나를 고르고, 제작은 MCM 매장이 합니다.</a:t>
            </a:r>
            <a:endParaRPr lang="en-US" sz="1600" dirty="0"/>
          </a:p>
        </p:txBody>
      </p:sp>
      <p:sp>
        <p:nvSpPr>
          <p:cNvPr id="18" name="Text 1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1</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왜 이걸 만들었나</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사용 빈도라는 축을 하나 더 두면 자리가 달라진다</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6528"/>
              </a:lnSpc>
              <a:buNone/>
            </a:pPr>
            <a:r>
              <a:rPr lang="en-US" sz="4800" b="1" dirty="0">
                <a:solidFill>
                  <a:srgbClr val="FFFFFF"/>
                </a:solidFill>
                <a:latin typeface="Apple SD Gothic Neo" pitchFamily="34" charset="0"/>
                <a:ea typeface="Apple SD Gothic Neo" pitchFamily="34" charset="-122"/>
                <a:cs typeface="Apple SD Gothic Neo" pitchFamily="34" charset="-120"/>
              </a:rPr>
              <a:t>럭셔리는 새것일 때 가장 비쌉니다</a:t>
            </a:r>
            <a:endParaRPr lang="en-US" sz="48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440"/>
              </a:lnSpc>
              <a:buNone/>
            </a:pPr>
            <a:r>
              <a:rPr lang="en-US" sz="4000" b="1" dirty="0">
                <a:solidFill>
                  <a:srgbClr val="FFFFFF"/>
                </a:solidFill>
                <a:latin typeface="Apple SD Gothic Neo" pitchFamily="34" charset="0"/>
                <a:ea typeface="Apple SD Gothic Neo" pitchFamily="34" charset="-122"/>
                <a:cs typeface="Apple SD Gothic Neo" pitchFamily="34" charset="-120"/>
              </a:rPr>
              <a:t>그래서 사람들은</a:t>
            </a:r>
            <a:endParaRPr lang="en-US" sz="4000" dirty="0"/>
          </a:p>
          <a:p>
            <a:pPr algn="ctr" indent="0" marL="0">
              <a:lnSpc>
                <a:spcPts val="5440"/>
              </a:lnSpc>
              <a:buNone/>
            </a:pPr>
            <a:r>
              <a:rPr lang="en-US" sz="4000" b="1" dirty="0">
                <a:solidFill>
                  <a:srgbClr val="C4915F"/>
                </a:solidFill>
                <a:latin typeface="Apple SD Gothic Neo" pitchFamily="34" charset="0"/>
                <a:ea typeface="Apple SD Gothic Neo" pitchFamily="34" charset="-122"/>
                <a:cs typeface="Apple SD Gothic Neo" pitchFamily="34" charset="-120"/>
              </a:rPr>
              <a:t>쓰지 않습니다</a:t>
            </a:r>
            <a:endParaRPr lang="en-US" sz="40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POSITIONING</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사용 빈도로 보면 자리가 다릅니다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Shape 3"/>
          <p:cNvSpPr/>
          <p:nvPr/>
        </p:nvSpPr>
        <p:spPr>
          <a:xfrm>
            <a:off x="5846674" y="3032150"/>
            <a:ext cx="4882896" cy="2165299"/>
          </a:xfrm>
          <a:prstGeom prst="roundRect">
            <a:avLst>
              <a:gd name="adj" fmla="val 3378"/>
            </a:avLst>
          </a:prstGeom>
          <a:solidFill>
            <a:srgbClr val="8B5A2B">
              <a:alpha val="12000"/>
            </a:srgbClr>
          </a:solidFill>
          <a:ln w="12700">
            <a:solidFill>
              <a:srgbClr val="C4915F"/>
            </a:solidFill>
            <a:prstDash val="solid"/>
          </a:ln>
        </p:spPr>
      </p:sp>
      <p:sp>
        <p:nvSpPr>
          <p:cNvPr id="7" name="Text 4"/>
          <p:cNvSpPr/>
          <p:nvPr/>
        </p:nvSpPr>
        <p:spPr>
          <a:xfrm>
            <a:off x="5846674" y="2702966"/>
            <a:ext cx="4882896" cy="274320"/>
          </a:xfrm>
          <a:prstGeom prst="rect">
            <a:avLst/>
          </a:prstGeom>
          <a:noFill/>
          <a:ln/>
        </p:spPr>
        <p:txBody>
          <a:bodyPr wrap="square" lIns="0" tIns="0" rIns="0" bIns="0" rtlCol="0" anchor="ctr"/>
          <a:lstStyle/>
          <a:p>
            <a:pPr algn="ctr" indent="0" marL="0">
              <a:buNone/>
            </a:pPr>
            <a:r>
              <a:rPr lang="en-US" sz="1250" b="1" spc="140" kern="0" dirty="0">
                <a:solidFill>
                  <a:srgbClr val="C4915F"/>
                </a:solidFill>
                <a:latin typeface="Apple SD Gothic Neo" pitchFamily="34" charset="0"/>
                <a:ea typeface="Apple SD Gothic Neo" pitchFamily="34" charset="-122"/>
                <a:cs typeface="Apple SD Gothic Neo" pitchFamily="34" charset="-120"/>
              </a:rPr>
              <a:t>매일 드는 럭셔리</a:t>
            </a:r>
            <a:endParaRPr lang="en-US" sz="1250" dirty="0"/>
          </a:p>
        </p:txBody>
      </p:sp>
      <p:sp>
        <p:nvSpPr>
          <p:cNvPr id="8" name="Shape 5"/>
          <p:cNvSpPr/>
          <p:nvPr/>
        </p:nvSpPr>
        <p:spPr>
          <a:xfrm>
            <a:off x="2103120" y="5806440"/>
            <a:ext cx="8138160" cy="0"/>
          </a:xfrm>
          <a:prstGeom prst="line">
            <a:avLst/>
          </a:prstGeom>
          <a:noFill/>
          <a:ln w="12700">
            <a:solidFill>
              <a:srgbClr val="3A3025"/>
            </a:solidFill>
            <a:prstDash val="solid"/>
          </a:ln>
        </p:spPr>
      </p:sp>
      <p:sp>
        <p:nvSpPr>
          <p:cNvPr id="9" name="Shape 6"/>
          <p:cNvSpPr/>
          <p:nvPr/>
        </p:nvSpPr>
        <p:spPr>
          <a:xfrm>
            <a:off x="2103120" y="2423160"/>
            <a:ext cx="0" cy="3383280"/>
          </a:xfrm>
          <a:prstGeom prst="line">
            <a:avLst/>
          </a:prstGeom>
          <a:noFill/>
          <a:ln w="12700">
            <a:solidFill>
              <a:srgbClr val="3A3025"/>
            </a:solidFill>
            <a:prstDash val="solid"/>
          </a:ln>
        </p:spPr>
      </p:sp>
      <p:sp>
        <p:nvSpPr>
          <p:cNvPr id="10" name="Text 7"/>
          <p:cNvSpPr/>
          <p:nvPr/>
        </p:nvSpPr>
        <p:spPr>
          <a:xfrm>
            <a:off x="2048256" y="2075688"/>
            <a:ext cx="1280160" cy="274320"/>
          </a:xfrm>
          <a:prstGeom prst="rect">
            <a:avLst/>
          </a:prstGeom>
          <a:noFill/>
          <a:ln/>
        </p:spPr>
        <p:txBody>
          <a:bodyPr wrap="square" lIns="0" tIns="0" rIns="0" bIns="0" rtlCol="0" anchor="ctr"/>
          <a:lstStyle/>
          <a:p>
            <a:pPr indent="0" marL="0">
              <a:buNone/>
            </a:pPr>
            <a:r>
              <a:rPr lang="en-US" sz="1200" dirty="0">
                <a:solidFill>
                  <a:srgbClr val="6E6459"/>
                </a:solidFill>
                <a:latin typeface="Apple SD Gothic Neo" pitchFamily="34" charset="0"/>
                <a:ea typeface="Apple SD Gothic Neo" pitchFamily="34" charset="-122"/>
                <a:cs typeface="Apple SD Gothic Neo" pitchFamily="34" charset="-120"/>
              </a:rPr>
              <a:t>↑ 가격</a:t>
            </a:r>
            <a:endParaRPr lang="en-US" sz="1200" dirty="0"/>
          </a:p>
        </p:txBody>
      </p:sp>
      <p:sp>
        <p:nvSpPr>
          <p:cNvPr id="11" name="Text 8"/>
          <p:cNvSpPr/>
          <p:nvPr/>
        </p:nvSpPr>
        <p:spPr>
          <a:xfrm>
            <a:off x="2103120" y="5916168"/>
            <a:ext cx="8138160" cy="274320"/>
          </a:xfrm>
          <a:prstGeom prst="rect">
            <a:avLst/>
          </a:prstGeom>
          <a:noFill/>
          <a:ln/>
        </p:spPr>
        <p:txBody>
          <a:bodyPr wrap="square" lIns="0" tIns="0" rIns="0" bIns="0" rtlCol="0" anchor="ctr"/>
          <a:lstStyle/>
          <a:p>
            <a:pPr algn="ctr" indent="0" marL="0">
              <a:buNone/>
            </a:pPr>
            <a:r>
              <a:rPr lang="en-US" sz="1200" dirty="0">
                <a:solidFill>
                  <a:srgbClr val="6E6459"/>
                </a:solidFill>
                <a:latin typeface="Apple SD Gothic Neo" pitchFamily="34" charset="0"/>
                <a:ea typeface="Apple SD Gothic Neo" pitchFamily="34" charset="-122"/>
                <a:cs typeface="Apple SD Gothic Neo" pitchFamily="34" charset="-120"/>
              </a:rPr>
              <a:t>일상 사용 빈도  →</a:t>
            </a:r>
            <a:endParaRPr lang="en-US" sz="1200" dirty="0"/>
          </a:p>
        </p:txBody>
      </p:sp>
      <p:sp>
        <p:nvSpPr>
          <p:cNvPr id="12" name="Shape 9"/>
          <p:cNvSpPr/>
          <p:nvPr/>
        </p:nvSpPr>
        <p:spPr>
          <a:xfrm>
            <a:off x="3011119" y="2828239"/>
            <a:ext cx="137160" cy="137160"/>
          </a:xfrm>
          <a:prstGeom prst="ellipse">
            <a:avLst/>
          </a:prstGeom>
          <a:solidFill>
            <a:srgbClr val="9A8F84"/>
          </a:solidFill>
          <a:ln/>
        </p:spPr>
      </p:sp>
      <p:sp>
        <p:nvSpPr>
          <p:cNvPr id="13" name="Text 10"/>
          <p:cNvSpPr/>
          <p:nvPr/>
        </p:nvSpPr>
        <p:spPr>
          <a:xfrm>
            <a:off x="3262579" y="2723083"/>
            <a:ext cx="2926080" cy="347472"/>
          </a:xfrm>
          <a:prstGeom prst="rect">
            <a:avLst/>
          </a:prstGeom>
          <a:noFill/>
          <a:ln/>
        </p:spPr>
        <p:txBody>
          <a:bodyPr wrap="square" lIns="0" tIns="0" rIns="0" bIns="0" rtlCol="0" anchor="ctr"/>
          <a:lstStyle/>
          <a:p>
            <a:pPr algn="l" indent="0" marL="0">
              <a:buNone/>
            </a:pPr>
            <a:r>
              <a:rPr lang="en-US" sz="1450" dirty="0">
                <a:solidFill>
                  <a:srgbClr val="9A8F84"/>
                </a:solidFill>
                <a:latin typeface="Apple SD Gothic Neo" pitchFamily="34" charset="0"/>
                <a:ea typeface="Apple SD Gothic Neo" pitchFamily="34" charset="-122"/>
                <a:cs typeface="Apple SD Gothic Neo" pitchFamily="34" charset="-120"/>
              </a:rPr>
              <a:t>에르메스 · 샤넬 · 루이비통</a:t>
            </a:r>
            <a:endParaRPr lang="en-US" sz="1450" dirty="0"/>
          </a:p>
        </p:txBody>
      </p:sp>
      <p:sp>
        <p:nvSpPr>
          <p:cNvPr id="14" name="Shape 11"/>
          <p:cNvSpPr/>
          <p:nvPr/>
        </p:nvSpPr>
        <p:spPr>
          <a:xfrm>
            <a:off x="6917436" y="4316882"/>
            <a:ext cx="137160" cy="137160"/>
          </a:xfrm>
          <a:prstGeom prst="ellipse">
            <a:avLst/>
          </a:prstGeom>
          <a:solidFill>
            <a:srgbClr val="9A8F84"/>
          </a:solidFill>
          <a:ln/>
        </p:spPr>
      </p:sp>
      <p:sp>
        <p:nvSpPr>
          <p:cNvPr id="15" name="Text 12"/>
          <p:cNvSpPr/>
          <p:nvPr/>
        </p:nvSpPr>
        <p:spPr>
          <a:xfrm>
            <a:off x="7168896" y="4211726"/>
            <a:ext cx="2926080" cy="347472"/>
          </a:xfrm>
          <a:prstGeom prst="rect">
            <a:avLst/>
          </a:prstGeom>
          <a:noFill/>
          <a:ln/>
        </p:spPr>
        <p:txBody>
          <a:bodyPr wrap="square" lIns="0" tIns="0" rIns="0" bIns="0" rtlCol="0" anchor="ctr"/>
          <a:lstStyle/>
          <a:p>
            <a:pPr algn="l" indent="0" marL="0">
              <a:buNone/>
            </a:pPr>
            <a:r>
              <a:rPr lang="en-US" sz="1450" dirty="0">
                <a:solidFill>
                  <a:srgbClr val="9A8F84"/>
                </a:solidFill>
                <a:latin typeface="Apple SD Gothic Neo" pitchFamily="34" charset="0"/>
                <a:ea typeface="Apple SD Gothic Neo" pitchFamily="34" charset="-122"/>
                <a:cs typeface="Apple SD Gothic Neo" pitchFamily="34" charset="-120"/>
              </a:rPr>
              <a:t>Coach · Michael Kors</a:t>
            </a:r>
            <a:endParaRPr lang="en-US" sz="1450" dirty="0"/>
          </a:p>
        </p:txBody>
      </p:sp>
      <p:sp>
        <p:nvSpPr>
          <p:cNvPr id="16" name="Shape 13"/>
          <p:cNvSpPr/>
          <p:nvPr/>
        </p:nvSpPr>
        <p:spPr>
          <a:xfrm>
            <a:off x="8707831" y="4925873"/>
            <a:ext cx="137160" cy="137160"/>
          </a:xfrm>
          <a:prstGeom prst="ellipse">
            <a:avLst/>
          </a:prstGeom>
          <a:solidFill>
            <a:srgbClr val="9A8F84"/>
          </a:solidFill>
          <a:ln/>
        </p:spPr>
      </p:sp>
      <p:sp>
        <p:nvSpPr>
          <p:cNvPr id="17" name="Text 14"/>
          <p:cNvSpPr/>
          <p:nvPr/>
        </p:nvSpPr>
        <p:spPr>
          <a:xfrm>
            <a:off x="8959291" y="4820717"/>
            <a:ext cx="2926080" cy="347472"/>
          </a:xfrm>
          <a:prstGeom prst="rect">
            <a:avLst/>
          </a:prstGeom>
          <a:noFill/>
          <a:ln/>
        </p:spPr>
        <p:txBody>
          <a:bodyPr wrap="square" lIns="0" tIns="0" rIns="0" bIns="0" rtlCol="0" anchor="ctr"/>
          <a:lstStyle/>
          <a:p>
            <a:pPr algn="l" indent="0" marL="0">
              <a:buNone/>
            </a:pPr>
            <a:r>
              <a:rPr lang="en-US" sz="1450" dirty="0">
                <a:solidFill>
                  <a:srgbClr val="9A8F84"/>
                </a:solidFill>
                <a:latin typeface="Apple SD Gothic Neo" pitchFamily="34" charset="0"/>
                <a:ea typeface="Apple SD Gothic Neo" pitchFamily="34" charset="-122"/>
                <a:cs typeface="Apple SD Gothic Neo" pitchFamily="34" charset="-120"/>
              </a:rPr>
              <a:t>Longchamp</a:t>
            </a:r>
            <a:endParaRPr lang="en-US" sz="1450" dirty="0"/>
          </a:p>
        </p:txBody>
      </p:sp>
      <p:sp>
        <p:nvSpPr>
          <p:cNvPr id="18" name="Shape 15"/>
          <p:cNvSpPr/>
          <p:nvPr/>
        </p:nvSpPr>
        <p:spPr>
          <a:xfrm>
            <a:off x="8006486" y="3522269"/>
            <a:ext cx="237744" cy="237744"/>
          </a:xfrm>
          <a:prstGeom prst="ellipse">
            <a:avLst/>
          </a:prstGeom>
          <a:solidFill>
            <a:srgbClr val="C4915F"/>
          </a:solidFill>
          <a:ln/>
        </p:spPr>
      </p:sp>
      <p:sp>
        <p:nvSpPr>
          <p:cNvPr id="19" name="Text 16"/>
          <p:cNvSpPr/>
          <p:nvPr/>
        </p:nvSpPr>
        <p:spPr>
          <a:xfrm>
            <a:off x="8308238" y="3467405"/>
            <a:ext cx="2926080" cy="347472"/>
          </a:xfrm>
          <a:prstGeom prst="rect">
            <a:avLst/>
          </a:prstGeom>
          <a:noFill/>
          <a:ln/>
        </p:spPr>
        <p:txBody>
          <a:bodyPr wrap="square" lIns="0" tIns="0" rIns="0" bIns="0" rtlCol="0" anchor="ctr"/>
          <a:lstStyle/>
          <a:p>
            <a:pPr algn="l" indent="0" marL="0">
              <a:buNone/>
            </a:pPr>
            <a:r>
              <a:rPr lang="en-US" sz="2300" b="1" dirty="0">
                <a:solidFill>
                  <a:srgbClr val="FFFFFF"/>
                </a:solidFill>
                <a:latin typeface="Apple SD Gothic Neo" pitchFamily="34" charset="0"/>
                <a:ea typeface="Apple SD Gothic Neo" pitchFamily="34" charset="-122"/>
                <a:cs typeface="Apple SD Gothic Neo" pitchFamily="34" charset="-120"/>
              </a:rPr>
              <a:t>MCM</a:t>
            </a:r>
            <a:endParaRPr lang="en-US" sz="2300" dirty="0"/>
          </a:p>
        </p:txBody>
      </p:sp>
      <p:sp>
        <p:nvSpPr>
          <p:cNvPr id="20" name="Shape 17"/>
          <p:cNvSpPr/>
          <p:nvPr/>
        </p:nvSpPr>
        <p:spPr>
          <a:xfrm>
            <a:off x="9521647" y="5501030"/>
            <a:ext cx="137160" cy="137160"/>
          </a:xfrm>
          <a:prstGeom prst="ellipse">
            <a:avLst/>
          </a:prstGeom>
          <a:solidFill>
            <a:srgbClr val="9A8F84"/>
          </a:solidFill>
          <a:ln/>
        </p:spPr>
      </p:sp>
      <p:sp>
        <p:nvSpPr>
          <p:cNvPr id="21" name="Text 18"/>
          <p:cNvSpPr/>
          <p:nvPr/>
        </p:nvSpPr>
        <p:spPr>
          <a:xfrm>
            <a:off x="6481267" y="5395874"/>
            <a:ext cx="2926080" cy="347472"/>
          </a:xfrm>
          <a:prstGeom prst="rect">
            <a:avLst/>
          </a:prstGeom>
          <a:noFill/>
          <a:ln/>
        </p:spPr>
        <p:txBody>
          <a:bodyPr wrap="square" lIns="0" tIns="0" rIns="0" bIns="0" rtlCol="0" anchor="ctr"/>
          <a:lstStyle/>
          <a:p>
            <a:pPr algn="r" indent="0" marL="0">
              <a:buNone/>
            </a:pPr>
            <a:r>
              <a:rPr lang="en-US" sz="1450" dirty="0">
                <a:solidFill>
                  <a:srgbClr val="9A8F84"/>
                </a:solidFill>
                <a:latin typeface="Apple SD Gothic Neo" pitchFamily="34" charset="0"/>
                <a:ea typeface="Apple SD Gothic Neo" pitchFamily="34" charset="-122"/>
                <a:cs typeface="Apple SD Gothic Neo" pitchFamily="34" charset="-120"/>
              </a:rPr>
              <a:t>매스 브랜드</a:t>
            </a:r>
            <a:endParaRPr lang="en-US" sz="1450" dirty="0"/>
          </a:p>
        </p:txBody>
      </p:sp>
      <p:sp>
        <p:nvSpPr>
          <p:cNvPr id="22" name="Text 19"/>
          <p:cNvSpPr/>
          <p:nvPr/>
        </p:nvSpPr>
        <p:spPr>
          <a:xfrm>
            <a:off x="731520" y="6437376"/>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Coach는 접근 가능 럭셔리 1위 · Longchamp $100–250 · Michael Kors $150–800 (2026)</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pic>
        <p:nvPicPr>
          <p:cNvPr id="3" name="Image 1" descr="/private/tmp/claude-501/-Users-home-Desktop-likeGonzi/55b29f25-80a9-40cb-9e3c-00904cc11cc6/scratchpad/product.png">    </p:cNvPr>
          <p:cNvPicPr>
            <a:picLocks noChangeAspect="1"/>
          </p:cNvPicPr>
          <p:nvPr/>
        </p:nvPicPr>
        <p:blipFill>
          <a:blip r:embed="rId2"/>
          <a:stretch>
            <a:fillRect/>
          </a:stretch>
        </p:blipFill>
        <p:spPr>
          <a:xfrm>
            <a:off x="822960" y="1371600"/>
            <a:ext cx="4114800" cy="4114800"/>
          </a:xfrm>
          <a:prstGeom prst="rect">
            <a:avLst/>
          </a:prstGeom>
        </p:spPr>
      </p:pic>
      <p:sp>
        <p:nvSpPr>
          <p:cNvPr id="4" name="Text 0"/>
          <p:cNvSpPr/>
          <p:nvPr/>
        </p:nvSpPr>
        <p:spPr>
          <a:xfrm>
            <a:off x="5577840" y="2103120"/>
            <a:ext cx="5760720" cy="1737360"/>
          </a:xfrm>
          <a:prstGeom prst="rect">
            <a:avLst/>
          </a:prstGeom>
          <a:noFill/>
          <a:ln/>
        </p:spPr>
        <p:txBody>
          <a:bodyPr wrap="square" lIns="0" tIns="0" rIns="0" bIns="0" rtlCol="0" anchor="ctr"/>
          <a:lstStyle/>
          <a:p>
            <a:pP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MCM은</a:t>
            </a:r>
            <a:endParaRPr lang="en-US" sz="4000" dirty="0"/>
          </a:p>
          <a:p>
            <a:pP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매일 드는 가방입니다</a:t>
            </a:r>
            <a:endParaRPr lang="en-US" sz="4000" dirty="0"/>
          </a:p>
        </p:txBody>
      </p:sp>
      <p:sp>
        <p:nvSpPr>
          <p:cNvPr id="5" name="Text 1"/>
          <p:cNvSpPr/>
          <p:nvPr/>
        </p:nvSpPr>
        <p:spPr>
          <a:xfrm>
            <a:off x="5623560" y="4041648"/>
            <a:ext cx="5760720" cy="384048"/>
          </a:xfrm>
          <a:prstGeom prst="rect">
            <a:avLst/>
          </a:prstGeom>
          <a:noFill/>
          <a:ln/>
        </p:spPr>
        <p:txBody>
          <a:bodyPr wrap="square" lIns="0" tIns="0" rIns="0" bIns="0" rtlCol="0" anchor="ctr"/>
          <a:lstStyle/>
          <a:p>
            <a:pPr indent="0" marL="0">
              <a:buNone/>
            </a:pPr>
            <a:r>
              <a:rPr lang="en-US" sz="1800" dirty="0">
                <a:solidFill>
                  <a:srgbClr val="C4915F"/>
                </a:solidFill>
                <a:latin typeface="Apple SD Gothic Neo" pitchFamily="34" charset="0"/>
                <a:ea typeface="Apple SD Gothic Neo" pitchFamily="34" charset="-122"/>
                <a:cs typeface="Apple SD Gothic Neo" pitchFamily="34" charset="-120"/>
              </a:rPr>
              <a:t>그래서 언제든 고칠 수 있어야 합니다</a:t>
            </a:r>
            <a:endParaRPr lang="en-US" sz="1800" dirty="0"/>
          </a:p>
        </p:txBody>
      </p:sp>
      <p:sp>
        <p:nvSpPr>
          <p:cNvPr id="6"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6528"/>
              </a:lnSpc>
              <a:buNone/>
            </a:pPr>
            <a:r>
              <a:rPr lang="en-US" sz="4800" b="1" dirty="0">
                <a:solidFill>
                  <a:srgbClr val="FFFFFF"/>
                </a:solidFill>
                <a:latin typeface="Apple SD Gothic Neo" pitchFamily="34" charset="0"/>
                <a:ea typeface="Apple SD Gothic Neo" pitchFamily="34" charset="-122"/>
                <a:cs typeface="Apple SD Gothic Neo" pitchFamily="34" charset="-120"/>
              </a:rPr>
              <a:t>매일 쓰면 상합니다</a:t>
            </a:r>
            <a:endParaRPr lang="en-US" sz="48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THE PARADOX</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상함을 다루는 방식이 다릅니다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3대장</a:t>
            </a:r>
            <a:endParaRPr lang="en-US" sz="1200" dirty="0"/>
          </a:p>
        </p:txBody>
      </p:sp>
      <p:sp>
        <p:nvSpPr>
          <p:cNvPr id="7" name="Text 4"/>
          <p:cNvSpPr/>
          <p:nvPr/>
        </p:nvSpPr>
        <p:spPr>
          <a:xfrm>
            <a:off x="140817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안 씁니다</a:t>
            </a:r>
            <a:endParaRPr lang="en-US" sz="2400" dirty="0"/>
          </a:p>
        </p:txBody>
      </p:sp>
      <p:sp>
        <p:nvSpPr>
          <p:cNvPr id="8" name="Text 5"/>
          <p:cNvSpPr/>
          <p:nvPr/>
        </p:nvSpPr>
        <p:spPr>
          <a:xfrm>
            <a:off x="140817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그래서 안 상합니다.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대신 함께한 시간도 없습니다.</a:t>
            </a:r>
            <a:endParaRPr lang="en-US" sz="1400" dirty="0"/>
          </a:p>
        </p:txBody>
      </p:sp>
      <p:sp>
        <p:nvSpPr>
          <p:cNvPr id="9" name="Shape 6"/>
          <p:cNvSpPr/>
          <p:nvPr/>
        </p:nvSpPr>
        <p:spPr>
          <a:xfrm>
            <a:off x="4419600" y="3035808"/>
            <a:ext cx="0" cy="1920240"/>
          </a:xfrm>
          <a:prstGeom prst="line">
            <a:avLst/>
          </a:prstGeom>
          <a:noFill/>
          <a:ln w="9525">
            <a:solidFill>
              <a:srgbClr val="3A3025"/>
            </a:solidFill>
            <a:prstDash val="solid"/>
          </a:ln>
        </p:spPr>
      </p:sp>
      <p:sp>
        <p:nvSpPr>
          <p:cNvPr id="10" name="Text 7"/>
          <p:cNvSpPr/>
          <p:nvPr/>
        </p:nvSpPr>
        <p:spPr>
          <a:xfrm>
            <a:off x="473049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매스 브랜드</a:t>
            </a:r>
            <a:endParaRPr lang="en-US" sz="1200" dirty="0"/>
          </a:p>
        </p:txBody>
      </p:sp>
      <p:sp>
        <p:nvSpPr>
          <p:cNvPr id="11" name="Text 8"/>
          <p:cNvSpPr/>
          <p:nvPr/>
        </p:nvSpPr>
        <p:spPr>
          <a:xfrm>
            <a:off x="473049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버립니다</a:t>
            </a:r>
            <a:endParaRPr lang="en-US" sz="2400" dirty="0"/>
          </a:p>
        </p:txBody>
      </p:sp>
      <p:sp>
        <p:nvSpPr>
          <p:cNvPr id="12" name="Text 9"/>
          <p:cNvSpPr/>
          <p:nvPr/>
        </p:nvSpPr>
        <p:spPr>
          <a:xfrm>
            <a:off x="473049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애착이 없어서</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고칠 이유가 없습니다.</a:t>
            </a:r>
            <a:endParaRPr lang="en-US" sz="1400" dirty="0"/>
          </a:p>
        </p:txBody>
      </p:sp>
      <p:sp>
        <p:nvSpPr>
          <p:cNvPr id="13" name="Shape 10"/>
          <p:cNvSpPr/>
          <p:nvPr/>
        </p:nvSpPr>
        <p:spPr>
          <a:xfrm>
            <a:off x="7741920" y="3035808"/>
            <a:ext cx="0" cy="1920240"/>
          </a:xfrm>
          <a:prstGeom prst="line">
            <a:avLst/>
          </a:prstGeom>
          <a:noFill/>
          <a:ln w="9525">
            <a:solidFill>
              <a:srgbClr val="3A3025"/>
            </a:solidFill>
            <a:prstDash val="solid"/>
          </a:ln>
        </p:spPr>
      </p:sp>
      <p:sp>
        <p:nvSpPr>
          <p:cNvPr id="14" name="Text 11"/>
          <p:cNvSpPr/>
          <p:nvPr/>
        </p:nvSpPr>
        <p:spPr>
          <a:xfrm>
            <a:off x="8052816" y="3127248"/>
            <a:ext cx="2682240" cy="292608"/>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MCM</a:t>
            </a:r>
            <a:endParaRPr lang="en-US" sz="1200" dirty="0"/>
          </a:p>
        </p:txBody>
      </p:sp>
      <p:sp>
        <p:nvSpPr>
          <p:cNvPr id="15" name="Text 12"/>
          <p:cNvSpPr/>
          <p:nvPr/>
        </p:nvSpPr>
        <p:spPr>
          <a:xfrm>
            <a:off x="8052816" y="3529584"/>
            <a:ext cx="2773680" cy="457200"/>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고칩니다</a:t>
            </a:r>
            <a:endParaRPr lang="en-US" sz="2400" dirty="0"/>
          </a:p>
        </p:txBody>
      </p:sp>
      <p:sp>
        <p:nvSpPr>
          <p:cNvPr id="16" name="Text 13"/>
          <p:cNvSpPr/>
          <p:nvPr/>
        </p:nvSpPr>
        <p:spPr>
          <a:xfrm>
            <a:off x="805281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버리기엔 아깝습니다.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고쳐 쓸 값은 합니다.</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WHAT ACTUALLY HURTS</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기록이 없으면 값을 잃습니다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2798064"/>
            <a:ext cx="2773680" cy="603504"/>
          </a:xfrm>
          <a:prstGeom prst="rect">
            <a:avLst/>
          </a:prstGeom>
          <a:noFill/>
          <a:ln/>
        </p:spPr>
        <p:txBody>
          <a:bodyPr wrap="square" lIns="0" tIns="0" rIns="0" bIns="0" rtlCol="0" anchor="ctr"/>
          <a:lstStyle/>
          <a:p>
            <a:pPr indent="0" marL="0">
              <a:buNone/>
            </a:pPr>
            <a:r>
              <a:rPr lang="en-US" sz="4000" b="1" dirty="0">
                <a:solidFill>
                  <a:srgbClr val="C4915F"/>
                </a:solidFill>
                <a:latin typeface="Apple SD Gothic Neo" pitchFamily="34" charset="0"/>
                <a:ea typeface="Apple SD Gothic Neo" pitchFamily="34" charset="-122"/>
                <a:cs typeface="Apple SD Gothic Neo" pitchFamily="34" charset="-120"/>
              </a:rPr>
              <a:t>30–40%</a:t>
            </a:r>
            <a:endParaRPr lang="en-US" sz="4000" dirty="0"/>
          </a:p>
        </p:txBody>
      </p:sp>
      <p:sp>
        <p:nvSpPr>
          <p:cNvPr id="7" name="Text 4"/>
          <p:cNvSpPr/>
          <p:nvPr/>
        </p:nvSpPr>
        <p:spPr>
          <a:xfrm>
            <a:off x="1408176" y="3584448"/>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같은 제품도 구성품과 이력 유무로</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리셀 가격이 갈린다</a:t>
            </a:r>
            <a:endParaRPr lang="en-US" sz="1400" dirty="0"/>
          </a:p>
        </p:txBody>
      </p:sp>
      <p:sp>
        <p:nvSpPr>
          <p:cNvPr id="8" name="Shape 5"/>
          <p:cNvSpPr/>
          <p:nvPr/>
        </p:nvSpPr>
        <p:spPr>
          <a:xfrm>
            <a:off x="4419600" y="2743200"/>
            <a:ext cx="0" cy="1645920"/>
          </a:xfrm>
          <a:prstGeom prst="line">
            <a:avLst/>
          </a:prstGeom>
          <a:noFill/>
          <a:ln w="9525">
            <a:solidFill>
              <a:srgbClr val="3A3025"/>
            </a:solidFill>
            <a:prstDash val="solid"/>
          </a:ln>
        </p:spPr>
      </p:sp>
      <p:sp>
        <p:nvSpPr>
          <p:cNvPr id="9" name="Text 6"/>
          <p:cNvSpPr/>
          <p:nvPr/>
        </p:nvSpPr>
        <p:spPr>
          <a:xfrm>
            <a:off x="4730496" y="2798064"/>
            <a:ext cx="2773680" cy="603504"/>
          </a:xfrm>
          <a:prstGeom prst="rect">
            <a:avLst/>
          </a:prstGeom>
          <a:noFill/>
          <a:ln/>
        </p:spPr>
        <p:txBody>
          <a:bodyPr wrap="square" lIns="0" tIns="0" rIns="0" bIns="0" rtlCol="0" anchor="ctr"/>
          <a:lstStyle/>
          <a:p>
            <a:pPr indent="0" marL="0">
              <a:buNone/>
            </a:pPr>
            <a:r>
              <a:rPr lang="en-US" sz="4000" b="1" dirty="0">
                <a:solidFill>
                  <a:srgbClr val="C4915F"/>
                </a:solidFill>
                <a:latin typeface="Apple SD Gothic Neo" pitchFamily="34" charset="0"/>
                <a:ea typeface="Apple SD Gothic Neo" pitchFamily="34" charset="-122"/>
                <a:cs typeface="Apple SD Gothic Neo" pitchFamily="34" charset="-120"/>
              </a:rPr>
              <a:t>1위</a:t>
            </a:r>
            <a:endParaRPr lang="en-US" sz="4000" dirty="0"/>
          </a:p>
        </p:txBody>
      </p:sp>
      <p:sp>
        <p:nvSpPr>
          <p:cNvPr id="10" name="Text 7"/>
          <p:cNvSpPr/>
          <p:nvPr/>
        </p:nvSpPr>
        <p:spPr>
          <a:xfrm>
            <a:off x="4730496" y="3584448"/>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명품 플랫폼에 소비자가 요구한 개선점</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 정품 보증 시스템 강화</a:t>
            </a:r>
            <a:endParaRPr lang="en-US" sz="1400" dirty="0"/>
          </a:p>
        </p:txBody>
      </p:sp>
      <p:sp>
        <p:nvSpPr>
          <p:cNvPr id="11" name="Shape 8"/>
          <p:cNvSpPr/>
          <p:nvPr/>
        </p:nvSpPr>
        <p:spPr>
          <a:xfrm>
            <a:off x="7741920" y="2743200"/>
            <a:ext cx="0" cy="1645920"/>
          </a:xfrm>
          <a:prstGeom prst="line">
            <a:avLst/>
          </a:prstGeom>
          <a:noFill/>
          <a:ln w="9525">
            <a:solidFill>
              <a:srgbClr val="3A3025"/>
            </a:solidFill>
            <a:prstDash val="solid"/>
          </a:ln>
        </p:spPr>
      </p:sp>
      <p:sp>
        <p:nvSpPr>
          <p:cNvPr id="12" name="Text 9"/>
          <p:cNvSpPr/>
          <p:nvPr/>
        </p:nvSpPr>
        <p:spPr>
          <a:xfrm>
            <a:off x="8052816" y="2798064"/>
            <a:ext cx="2773680" cy="603504"/>
          </a:xfrm>
          <a:prstGeom prst="rect">
            <a:avLst/>
          </a:prstGeom>
          <a:noFill/>
          <a:ln/>
        </p:spPr>
        <p:txBody>
          <a:bodyPr wrap="square" lIns="0" tIns="0" rIns="0" bIns="0" rtlCol="0" anchor="ctr"/>
          <a:lstStyle/>
          <a:p>
            <a:pPr indent="0" marL="0">
              <a:buNone/>
            </a:pPr>
            <a:r>
              <a:rPr lang="en-US" sz="4000" b="1" dirty="0">
                <a:solidFill>
                  <a:srgbClr val="C4915F"/>
                </a:solidFill>
                <a:latin typeface="Apple SD Gothic Neo" pitchFamily="34" charset="0"/>
                <a:ea typeface="Apple SD Gothic Neo" pitchFamily="34" charset="-122"/>
                <a:cs typeface="Apple SD Gothic Neo" pitchFamily="34" charset="-120"/>
              </a:rPr>
              <a:t>50개 중 1개</a:t>
            </a:r>
            <a:endParaRPr lang="en-US" sz="4000" dirty="0"/>
          </a:p>
        </p:txBody>
      </p:sp>
      <p:sp>
        <p:nvSpPr>
          <p:cNvPr id="13" name="Text 10"/>
          <p:cNvSpPr/>
          <p:nvPr/>
        </p:nvSpPr>
        <p:spPr>
          <a:xfrm>
            <a:off x="8052816" y="3584448"/>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감정에서 걸러진 가품 비율.</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40%는 백화점·아웃렛에서 산 것</a:t>
            </a:r>
            <a:endParaRPr lang="en-US" sz="1400" dirty="0"/>
          </a:p>
        </p:txBody>
      </p:sp>
      <p:sp>
        <p:nvSpPr>
          <p:cNvPr id="14" name="Text 11"/>
          <p:cNvSpPr/>
          <p:nvPr/>
        </p:nvSpPr>
        <p:spPr>
          <a:xfrm>
            <a:off x="914400" y="4882896"/>
            <a:ext cx="1033272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보증서 분실과 일련번호 불일치가 명품 거래 분쟁의 주된 원인입니다</a:t>
            </a:r>
            <a:endParaRPr lang="en-US" sz="1800" dirty="0"/>
          </a:p>
        </p:txBody>
      </p:sp>
      <p:sp>
        <p:nvSpPr>
          <p:cNvPr id="15" name="Text 12"/>
          <p:cNvSpPr/>
          <p:nvPr/>
        </p:nvSpPr>
        <p:spPr>
          <a:xfrm>
            <a:off x="731520" y="6400800"/>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트렌비 감정센터 · 명품 플랫폼 소비자 조사 · 한국소비자원 (2025)</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440"/>
              </a:lnSpc>
              <a:buNone/>
            </a:pPr>
            <a:r>
              <a:rPr lang="en-US" sz="4000" b="1" dirty="0">
                <a:solidFill>
                  <a:srgbClr val="FFFFFF"/>
                </a:solidFill>
                <a:latin typeface="Apple SD Gothic Neo" pitchFamily="34" charset="0"/>
                <a:ea typeface="Apple SD Gothic Neo" pitchFamily="34" charset="-122"/>
                <a:cs typeface="Apple SD Gothic Neo" pitchFamily="34" charset="-120"/>
              </a:rPr>
              <a:t>지금 이 문제를 푸는 브랜드는 없습니다</a:t>
            </a:r>
            <a:endParaRPr lang="en-US" sz="40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2</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흠이 역사가 된다</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고칠수록 나만의 것이 되는 이유</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THIS IS NOT NEW</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같은 생각이 이미 세 번 있었습니다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조선</a:t>
            </a:r>
            <a:endParaRPr lang="en-US" sz="1200" dirty="0"/>
          </a:p>
        </p:txBody>
      </p:sp>
      <p:sp>
        <p:nvSpPr>
          <p:cNvPr id="7" name="Text 4"/>
          <p:cNvSpPr/>
          <p:nvPr/>
        </p:nvSpPr>
        <p:spPr>
          <a:xfrm>
            <a:off x="140817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신사임당의 포도</a:t>
            </a:r>
            <a:endParaRPr lang="en-US" sz="2400" dirty="0"/>
          </a:p>
        </p:txBody>
      </p:sp>
      <p:sp>
        <p:nvSpPr>
          <p:cNvPr id="8" name="Text 5"/>
          <p:cNvSpPr/>
          <p:nvPr/>
        </p:nvSpPr>
        <p:spPr>
          <a:xfrm>
            <a:off x="140817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치마 얼룩 위에 포도를 그렸다.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버려질 옷이 오히려 팔렸다.</a:t>
            </a:r>
            <a:endParaRPr lang="en-US" sz="1400" dirty="0"/>
          </a:p>
        </p:txBody>
      </p:sp>
      <p:sp>
        <p:nvSpPr>
          <p:cNvPr id="9" name="Shape 6"/>
          <p:cNvSpPr/>
          <p:nvPr/>
        </p:nvSpPr>
        <p:spPr>
          <a:xfrm>
            <a:off x="4419600" y="3035808"/>
            <a:ext cx="0" cy="1920240"/>
          </a:xfrm>
          <a:prstGeom prst="line">
            <a:avLst/>
          </a:prstGeom>
          <a:noFill/>
          <a:ln w="9525">
            <a:solidFill>
              <a:srgbClr val="3A3025"/>
            </a:solidFill>
            <a:prstDash val="solid"/>
          </a:ln>
        </p:spPr>
      </p:sp>
      <p:sp>
        <p:nvSpPr>
          <p:cNvPr id="10" name="Text 7"/>
          <p:cNvSpPr/>
          <p:nvPr/>
        </p:nvSpPr>
        <p:spPr>
          <a:xfrm>
            <a:off x="473049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일본</a:t>
            </a:r>
            <a:endParaRPr lang="en-US" sz="1200" dirty="0"/>
          </a:p>
        </p:txBody>
      </p:sp>
      <p:sp>
        <p:nvSpPr>
          <p:cNvPr id="11" name="Text 8"/>
          <p:cNvSpPr/>
          <p:nvPr/>
        </p:nvSpPr>
        <p:spPr>
          <a:xfrm>
            <a:off x="473049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킨츠기 金継ぎ</a:t>
            </a:r>
            <a:endParaRPr lang="en-US" sz="2400" dirty="0"/>
          </a:p>
        </p:txBody>
      </p:sp>
      <p:sp>
        <p:nvSpPr>
          <p:cNvPr id="12" name="Text 9"/>
          <p:cNvSpPr/>
          <p:nvPr/>
        </p:nvSpPr>
        <p:spPr>
          <a:xfrm>
            <a:off x="473049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깨진 자리를 금으로 잇는다.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흉터를 감추지 않고 드러낸다.</a:t>
            </a:r>
            <a:endParaRPr lang="en-US" sz="1400" dirty="0"/>
          </a:p>
        </p:txBody>
      </p:sp>
      <p:sp>
        <p:nvSpPr>
          <p:cNvPr id="13" name="Shape 10"/>
          <p:cNvSpPr/>
          <p:nvPr/>
        </p:nvSpPr>
        <p:spPr>
          <a:xfrm>
            <a:off x="7741920" y="3035808"/>
            <a:ext cx="0" cy="1920240"/>
          </a:xfrm>
          <a:prstGeom prst="line">
            <a:avLst/>
          </a:prstGeom>
          <a:noFill/>
          <a:ln w="9525">
            <a:solidFill>
              <a:srgbClr val="3A3025"/>
            </a:solidFill>
            <a:prstDash val="solid"/>
          </a:ln>
        </p:spPr>
      </p:sp>
      <p:sp>
        <p:nvSpPr>
          <p:cNvPr id="14" name="Text 11"/>
          <p:cNvSpPr/>
          <p:nvPr/>
        </p:nvSpPr>
        <p:spPr>
          <a:xfrm>
            <a:off x="8052816" y="3127248"/>
            <a:ext cx="2682240" cy="292608"/>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1988 · 할렘</a:t>
            </a:r>
            <a:endParaRPr lang="en-US" sz="1200" dirty="0"/>
          </a:p>
        </p:txBody>
      </p:sp>
      <p:sp>
        <p:nvSpPr>
          <p:cNvPr id="15" name="Text 12"/>
          <p:cNvSpPr/>
          <p:nvPr/>
        </p:nvSpPr>
        <p:spPr>
          <a:xfrm>
            <a:off x="8052816" y="3529584"/>
            <a:ext cx="2773680" cy="457200"/>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Dapper Dan</a:t>
            </a:r>
            <a:endParaRPr lang="en-US" sz="2400" dirty="0"/>
          </a:p>
        </p:txBody>
      </p:sp>
      <p:sp>
        <p:nvSpPr>
          <p:cNvPr id="16" name="Text 13"/>
          <p:cNvSpPr/>
          <p:nvPr/>
        </p:nvSpPr>
        <p:spPr>
          <a:xfrm>
            <a:off x="805281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MCM 코냑 비세토스를 뜯어</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무대의상으로 다시 꿰맸다.</a:t>
            </a:r>
            <a:endParaRPr lang="en-US" sz="1400" dirty="0"/>
          </a:p>
        </p:txBody>
      </p:sp>
      <p:sp>
        <p:nvSpPr>
          <p:cNvPr id="17" name="Text 14"/>
          <p:cNvSpPr/>
          <p:nvPr/>
        </p:nvSpPr>
        <p:spPr>
          <a:xfrm>
            <a:off x="731520" y="6144768"/>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신사임당은 전해지는 일화 · Dapper Dan은 브랜드 기록 (Highsnobiety)</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168"/>
              </a:lnSpc>
              <a:buNone/>
            </a:pPr>
            <a:r>
              <a:rPr lang="en-US" sz="3800" b="1" dirty="0">
                <a:solidFill>
                  <a:srgbClr val="FFFFFF"/>
                </a:solidFill>
                <a:latin typeface="Apple SD Gothic Neo" pitchFamily="34" charset="0"/>
                <a:ea typeface="Apple SD Gothic Neo" pitchFamily="34" charset="-122"/>
                <a:cs typeface="Apple SD Gothic Neo" pitchFamily="34" charset="-120"/>
              </a:rPr>
              <a:t>내 가방의 역사이자,</a:t>
            </a:r>
            <a:endParaRPr lang="en-US" sz="3800" dirty="0"/>
          </a:p>
          <a:p>
            <a:pPr algn="ctr" indent="0" marL="0">
              <a:lnSpc>
                <a:spcPts val="5168"/>
              </a:lnSpc>
              <a:buNone/>
            </a:pPr>
            <a:r>
              <a:rPr lang="en-US" sz="3800" b="1" dirty="0">
                <a:solidFill>
                  <a:srgbClr val="C4915F"/>
                </a:solidFill>
                <a:latin typeface="Apple SD Gothic Neo" pitchFamily="34" charset="0"/>
                <a:ea typeface="Apple SD Gothic Neo" pitchFamily="34" charset="-122"/>
                <a:cs typeface="Apple SD Gothic Neo" pitchFamily="34" charset="-120"/>
              </a:rPr>
              <a:t>MCM의 역사입니다</a:t>
            </a:r>
            <a:endParaRPr lang="en-US" sz="3800" dirty="0"/>
          </a:p>
        </p:txBody>
      </p:sp>
      <p:sp>
        <p:nvSpPr>
          <p:cNvPr id="4" name="Text 1"/>
          <p:cNvSpPr/>
          <p:nvPr/>
        </p:nvSpPr>
        <p:spPr>
          <a:xfrm>
            <a:off x="1463040" y="4846320"/>
            <a:ext cx="9235440" cy="365760"/>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Dapper Dan이 뜯어 만든 옷이 이 브랜드를 아이콘으로 만들었습니다</a:t>
            </a:r>
            <a:endParaRPr lang="en-US" sz="15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WHO WE BUILD FOR</a:t>
            </a:r>
            <a:endParaRPr lang="en-US" sz="1150" dirty="0"/>
          </a:p>
        </p:txBody>
      </p:sp>
      <p:sp>
        <p:nvSpPr>
          <p:cNvPr id="4" name="Text 1"/>
          <p:cNvSpPr/>
          <p:nvPr/>
        </p:nvSpPr>
        <p:spPr>
          <a:xfrm>
            <a:off x="914400" y="2212848"/>
            <a:ext cx="10332720" cy="1554480"/>
          </a:xfrm>
          <a:prstGeom prst="rect">
            <a:avLst/>
          </a:prstGeom>
          <a:noFill/>
          <a:ln/>
        </p:spPr>
        <p:txBody>
          <a:bodyPr wrap="square" lIns="0" tIns="0" rIns="0" bIns="0" rtlCol="0" anchor="ctr"/>
          <a:lstStyle/>
          <a:p>
            <a:pPr algn="ct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“무리해서 산 거 아니야.</a:t>
            </a:r>
            <a:endParaRPr lang="en-US" sz="4000" dirty="0"/>
          </a:p>
          <a:p>
            <a:pPr algn="ct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3년째 잘 쓰고 있어.”</a:t>
            </a:r>
            <a:endParaRPr lang="en-US" sz="4000" dirty="0"/>
          </a:p>
        </p:txBody>
      </p:sp>
      <p:sp>
        <p:nvSpPr>
          <p:cNvPr id="5" name="Text 2"/>
          <p:cNvSpPr/>
          <p:nvPr/>
        </p:nvSpPr>
        <p:spPr>
          <a:xfrm>
            <a:off x="914400" y="4059936"/>
            <a:ext cx="10332720" cy="329184"/>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서지우 · 28 · 뷰티 브랜드 마케터 4년차</a:t>
            </a:r>
            <a:endParaRPr lang="en-US" sz="1500" dirty="0"/>
          </a:p>
        </p:txBody>
      </p:sp>
      <p:sp>
        <p:nvSpPr>
          <p:cNvPr id="6" name="Shape 3"/>
          <p:cNvSpPr/>
          <p:nvPr/>
        </p:nvSpPr>
        <p:spPr>
          <a:xfrm>
            <a:off x="4023360" y="4791456"/>
            <a:ext cx="4114800" cy="0"/>
          </a:xfrm>
          <a:prstGeom prst="line">
            <a:avLst/>
          </a:prstGeom>
          <a:noFill/>
          <a:ln w="9525">
            <a:solidFill>
              <a:srgbClr val="3A3025"/>
            </a:solidFill>
            <a:prstDash val="solid"/>
          </a:ln>
        </p:spPr>
      </p:sp>
      <p:sp>
        <p:nvSpPr>
          <p:cNvPr id="7" name="Text 4"/>
          <p:cNvSpPr/>
          <p:nvPr/>
        </p:nvSpPr>
        <p:spPr>
          <a:xfrm>
            <a:off x="914400" y="5047488"/>
            <a:ext cx="10332720" cy="365760"/>
          </a:xfrm>
          <a:prstGeom prst="rect">
            <a:avLst/>
          </a:prstGeom>
          <a:noFill/>
          <a:ln/>
        </p:spPr>
        <p:txBody>
          <a:bodyPr wrap="square" lIns="0" tIns="0" rIns="0" bIns="0" rtlCol="0" anchor="ctr"/>
          <a:lstStyle/>
          <a:p>
            <a:pPr algn="ctr" indent="0" marL="0">
              <a:buNone/>
            </a:pPr>
            <a:r>
              <a:rPr lang="en-US" sz="2000" b="1" dirty="0">
                <a:solidFill>
                  <a:srgbClr val="C4915F"/>
                </a:solidFill>
                <a:latin typeface="Apple SD Gothic Neo" pitchFamily="34" charset="0"/>
                <a:ea typeface="Apple SD Gothic Neo" pitchFamily="34" charset="-122"/>
                <a:cs typeface="Apple SD Gothic Neo" pitchFamily="34" charset="-120"/>
              </a:rPr>
              <a:t>과시하고 싶다. 그런데 과시로 보이면 안 된다.</a:t>
            </a:r>
            <a:endParaRPr lang="en-US" sz="2000" dirty="0"/>
          </a:p>
        </p:txBody>
      </p:sp>
      <p:sp>
        <p:nvSpPr>
          <p:cNvPr id="8" name="Text 5"/>
          <p:cNvSpPr/>
          <p:nvPr/>
        </p:nvSpPr>
        <p:spPr>
          <a:xfrm>
            <a:off x="914400" y="5541264"/>
            <a:ext cx="10332720" cy="310896"/>
          </a:xfrm>
          <a:prstGeom prst="rect">
            <a:avLst/>
          </a:prstGeom>
          <a:noFill/>
          <a:ln/>
        </p:spPr>
        <p:txBody>
          <a:bodyPr wrap="square" lIns="0" tIns="0" rIns="0" bIns="0" rtlCol="0" anchor="ctr"/>
          <a:lstStyle/>
          <a:p>
            <a:pPr algn="ct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흠이 서사가 되면 흠이 있는 쪽이 더 당당합니다</a:t>
            </a:r>
            <a:endParaRPr lang="en-US" sz="1400" dirty="0"/>
          </a:p>
        </p:txBody>
      </p:sp>
      <p:sp>
        <p:nvSpPr>
          <p:cNvPr id="9" name="Text 6"/>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3</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어떻게 동작하나</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AI가 마찰을 없애고 흠을 무늬로 바꾼다</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THE FRICTION</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기록은 흩어졌다가 사라집니다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2926080"/>
            <a:ext cx="277368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사진</a:t>
            </a:r>
            <a:endParaRPr lang="en-US" sz="2400" dirty="0"/>
          </a:p>
        </p:txBody>
      </p:sp>
      <p:sp>
        <p:nvSpPr>
          <p:cNvPr id="7" name="Text 4"/>
          <p:cNvSpPr/>
          <p:nvPr/>
        </p:nvSpPr>
        <p:spPr>
          <a:xfrm>
            <a:off x="1408176" y="3493008"/>
            <a:ext cx="2663952" cy="365760"/>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SNS와 갤러리에</a:t>
            </a:r>
            <a:endParaRPr lang="en-US" sz="1400" dirty="0"/>
          </a:p>
        </p:txBody>
      </p:sp>
      <p:sp>
        <p:nvSpPr>
          <p:cNvPr id="8" name="Shape 5"/>
          <p:cNvSpPr/>
          <p:nvPr/>
        </p:nvSpPr>
        <p:spPr>
          <a:xfrm>
            <a:off x="4419600" y="2834640"/>
            <a:ext cx="0" cy="1097280"/>
          </a:xfrm>
          <a:prstGeom prst="line">
            <a:avLst/>
          </a:prstGeom>
          <a:noFill/>
          <a:ln w="9525">
            <a:solidFill>
              <a:srgbClr val="3A3025"/>
            </a:solidFill>
            <a:prstDash val="solid"/>
          </a:ln>
        </p:spPr>
      </p:sp>
      <p:sp>
        <p:nvSpPr>
          <p:cNvPr id="9" name="Text 6"/>
          <p:cNvSpPr/>
          <p:nvPr/>
        </p:nvSpPr>
        <p:spPr>
          <a:xfrm>
            <a:off x="4730496" y="2926080"/>
            <a:ext cx="277368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구매 · 보증</a:t>
            </a:r>
            <a:endParaRPr lang="en-US" sz="2400" dirty="0"/>
          </a:p>
        </p:txBody>
      </p:sp>
      <p:sp>
        <p:nvSpPr>
          <p:cNvPr id="10" name="Text 7"/>
          <p:cNvSpPr/>
          <p:nvPr/>
        </p:nvSpPr>
        <p:spPr>
          <a:xfrm>
            <a:off x="4730496" y="3493008"/>
            <a:ext cx="2663952" cy="365760"/>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종이 영수증과 카드에</a:t>
            </a:r>
            <a:endParaRPr lang="en-US" sz="1400" dirty="0"/>
          </a:p>
        </p:txBody>
      </p:sp>
      <p:sp>
        <p:nvSpPr>
          <p:cNvPr id="11" name="Shape 8"/>
          <p:cNvSpPr/>
          <p:nvPr/>
        </p:nvSpPr>
        <p:spPr>
          <a:xfrm>
            <a:off x="7741920" y="2834640"/>
            <a:ext cx="0" cy="1097280"/>
          </a:xfrm>
          <a:prstGeom prst="line">
            <a:avLst/>
          </a:prstGeom>
          <a:noFill/>
          <a:ln w="9525">
            <a:solidFill>
              <a:srgbClr val="3A3025"/>
            </a:solidFill>
            <a:prstDash val="solid"/>
          </a:ln>
        </p:spPr>
      </p:sp>
      <p:sp>
        <p:nvSpPr>
          <p:cNvPr id="12" name="Text 9"/>
          <p:cNvSpPr/>
          <p:nvPr/>
        </p:nvSpPr>
        <p:spPr>
          <a:xfrm>
            <a:off x="8052816" y="2926080"/>
            <a:ext cx="277368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수선 이력</a:t>
            </a:r>
            <a:endParaRPr lang="en-US" sz="2400" dirty="0"/>
          </a:p>
        </p:txBody>
      </p:sp>
      <p:sp>
        <p:nvSpPr>
          <p:cNvPr id="13" name="Text 10"/>
          <p:cNvSpPr/>
          <p:nvPr/>
        </p:nvSpPr>
        <p:spPr>
          <a:xfrm>
            <a:off x="8052816" y="3493008"/>
            <a:ext cx="2663952" cy="365760"/>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브랜드 내부에만</a:t>
            </a:r>
            <a:endParaRPr lang="en-US" sz="1400" dirty="0"/>
          </a:p>
        </p:txBody>
      </p:sp>
      <p:sp>
        <p:nvSpPr>
          <p:cNvPr id="14" name="Text 11"/>
          <p:cNvSpPr/>
          <p:nvPr/>
        </p:nvSpPr>
        <p:spPr>
          <a:xfrm>
            <a:off x="914400" y="4443984"/>
            <a:ext cx="10332720" cy="402336"/>
          </a:xfrm>
          <a:prstGeom prst="rect">
            <a:avLst/>
          </a:prstGeom>
          <a:noFill/>
          <a:ln/>
        </p:spPr>
        <p:txBody>
          <a:bodyPr wrap="square" lIns="0" tIns="0" rIns="0" bIns="0" rtlCol="0" anchor="ctr"/>
          <a:lstStyle/>
          <a:p>
            <a:pPr algn="ct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모으라고 하면 아무도 하지 않습니다</a:t>
            </a:r>
            <a:endParaRPr lang="en-US" sz="2400" dirty="0"/>
          </a:p>
        </p:txBody>
      </p:sp>
      <p:sp>
        <p:nvSpPr>
          <p:cNvPr id="15" name="Shape 12"/>
          <p:cNvSpPr/>
          <p:nvPr/>
        </p:nvSpPr>
        <p:spPr>
          <a:xfrm>
            <a:off x="4023360" y="5084064"/>
            <a:ext cx="4114800" cy="0"/>
          </a:xfrm>
          <a:prstGeom prst="line">
            <a:avLst/>
          </a:prstGeom>
          <a:noFill/>
          <a:ln w="9525">
            <a:solidFill>
              <a:srgbClr val="3A3025"/>
            </a:solidFill>
            <a:prstDash val="solid"/>
          </a:ln>
        </p:spPr>
      </p:sp>
      <p:sp>
        <p:nvSpPr>
          <p:cNvPr id="16" name="Text 13"/>
          <p:cNvSpPr/>
          <p:nvPr/>
        </p:nvSpPr>
        <p:spPr>
          <a:xfrm>
            <a:off x="914400" y="5321808"/>
            <a:ext cx="10332720" cy="329184"/>
          </a:xfrm>
          <a:prstGeom prst="rect">
            <a:avLst/>
          </a:prstGeom>
          <a:noFill/>
          <a:ln/>
        </p:spPr>
        <p:txBody>
          <a:bodyPr wrap="square" lIns="0" tIns="0" rIns="0" bIns="0" rtlCol="0" anchor="ctr"/>
          <a:lstStyle/>
          <a:p>
            <a:pPr algn="ct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사진 고르고, 날짜 쓰고, 장소 쓰고, 설명 쓰고 — 입력창을 더 주면 더 안 합니다</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984"/>
              </a:lnSpc>
              <a:buNone/>
            </a:pPr>
            <a:r>
              <a:rPr lang="en-US" sz="4400" b="1" dirty="0">
                <a:solidFill>
                  <a:srgbClr val="FFFFFF"/>
                </a:solidFill>
                <a:latin typeface="Apple SD Gothic Neo" pitchFamily="34" charset="0"/>
                <a:ea typeface="Apple SD Gothic Neo" pitchFamily="34" charset="-122"/>
                <a:cs typeface="Apple SD Gothic Neo" pitchFamily="34" charset="-120"/>
              </a:rPr>
              <a:t>사진을 올리면</a:t>
            </a:r>
            <a:endParaRPr lang="en-US" sz="4400" dirty="0"/>
          </a:p>
          <a:p>
            <a:pPr algn="ctr" indent="0" marL="0">
              <a:lnSpc>
                <a:spcPts val="5984"/>
              </a:lnSpc>
              <a:buNone/>
            </a:pPr>
            <a:r>
              <a:rPr lang="en-US" sz="4400" b="1" dirty="0">
                <a:solidFill>
                  <a:srgbClr val="C4915F"/>
                </a:solidFill>
                <a:latin typeface="Apple SD Gothic Neo" pitchFamily="34" charset="0"/>
                <a:ea typeface="Apple SD Gothic Neo" pitchFamily="34" charset="-122"/>
                <a:cs typeface="Apple SD Gothic Neo" pitchFamily="34" charset="-120"/>
              </a:rPr>
              <a:t>AI가 알아서 기록합니다</a:t>
            </a:r>
            <a:endParaRPr lang="en-US" sz="44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HOW WE USE AI</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사용자가 하는 일은 사진 한 장뿐입니다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기록</a:t>
            </a:r>
            <a:endParaRPr lang="en-US" sz="1200" dirty="0"/>
          </a:p>
        </p:txBody>
      </p:sp>
      <p:sp>
        <p:nvSpPr>
          <p:cNvPr id="7" name="Text 4"/>
          <p:cNvSpPr/>
          <p:nvPr/>
        </p:nvSpPr>
        <p:spPr>
          <a:xfrm>
            <a:off x="140817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문장을 쓴다</a:t>
            </a:r>
            <a:endParaRPr lang="en-US" sz="2400" dirty="0"/>
          </a:p>
        </p:txBody>
      </p:sp>
      <p:sp>
        <p:nvSpPr>
          <p:cNvPr id="8" name="Text 5"/>
          <p:cNvSpPr/>
          <p:nvPr/>
        </p:nvSpPr>
        <p:spPr>
          <a:xfrm>
            <a:off x="140817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장소·날짜·제품을 엮어</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한 편의 글로 만든다.</a:t>
            </a:r>
            <a:endParaRPr lang="en-US" sz="1400" dirty="0"/>
          </a:p>
        </p:txBody>
      </p:sp>
      <p:sp>
        <p:nvSpPr>
          <p:cNvPr id="9" name="Shape 6"/>
          <p:cNvSpPr/>
          <p:nvPr/>
        </p:nvSpPr>
        <p:spPr>
          <a:xfrm>
            <a:off x="4419600" y="3035808"/>
            <a:ext cx="0" cy="1920240"/>
          </a:xfrm>
          <a:prstGeom prst="line">
            <a:avLst/>
          </a:prstGeom>
          <a:noFill/>
          <a:ln w="9525">
            <a:solidFill>
              <a:srgbClr val="3A3025"/>
            </a:solidFill>
            <a:prstDash val="solid"/>
          </a:ln>
        </p:spPr>
      </p:sp>
      <p:sp>
        <p:nvSpPr>
          <p:cNvPr id="10" name="Text 7"/>
          <p:cNvSpPr/>
          <p:nvPr/>
        </p:nvSpPr>
        <p:spPr>
          <a:xfrm>
            <a:off x="473049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축적</a:t>
            </a:r>
            <a:endParaRPr lang="en-US" sz="1200" dirty="0"/>
          </a:p>
        </p:txBody>
      </p:sp>
      <p:sp>
        <p:nvSpPr>
          <p:cNvPr id="11" name="Text 8"/>
          <p:cNvSpPr/>
          <p:nvPr/>
        </p:nvSpPr>
        <p:spPr>
          <a:xfrm>
            <a:off x="473049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이야기로 묶는다</a:t>
            </a:r>
            <a:endParaRPr lang="en-US" sz="2400" dirty="0"/>
          </a:p>
        </p:txBody>
      </p:sp>
      <p:sp>
        <p:nvSpPr>
          <p:cNvPr id="12" name="Text 9"/>
          <p:cNvSpPr/>
          <p:nvPr/>
        </p:nvSpPr>
        <p:spPr>
          <a:xfrm>
            <a:off x="473049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흩어진 기록을</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하나의 Recap으로.</a:t>
            </a:r>
            <a:endParaRPr lang="en-US" sz="1400" dirty="0"/>
          </a:p>
        </p:txBody>
      </p:sp>
      <p:sp>
        <p:nvSpPr>
          <p:cNvPr id="13" name="Shape 10"/>
          <p:cNvSpPr/>
          <p:nvPr/>
        </p:nvSpPr>
        <p:spPr>
          <a:xfrm>
            <a:off x="7741920" y="3035808"/>
            <a:ext cx="0" cy="1920240"/>
          </a:xfrm>
          <a:prstGeom prst="line">
            <a:avLst/>
          </a:prstGeom>
          <a:noFill/>
          <a:ln w="9525">
            <a:solidFill>
              <a:srgbClr val="3A3025"/>
            </a:solidFill>
            <a:prstDash val="solid"/>
          </a:ln>
        </p:spPr>
      </p:sp>
      <p:sp>
        <p:nvSpPr>
          <p:cNvPr id="14" name="Text 11"/>
          <p:cNvSpPr/>
          <p:nvPr/>
        </p:nvSpPr>
        <p:spPr>
          <a:xfrm>
            <a:off x="8052816" y="3127248"/>
            <a:ext cx="2682240" cy="292608"/>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수선</a:t>
            </a:r>
            <a:endParaRPr lang="en-US" sz="1200" dirty="0"/>
          </a:p>
        </p:txBody>
      </p:sp>
      <p:sp>
        <p:nvSpPr>
          <p:cNvPr id="15" name="Text 12"/>
          <p:cNvSpPr/>
          <p:nvPr/>
        </p:nvSpPr>
        <p:spPr>
          <a:xfrm>
            <a:off x="8052816" y="3529584"/>
            <a:ext cx="2773680" cy="457200"/>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그 자리에 그린다</a:t>
            </a:r>
            <a:endParaRPr lang="en-US" sz="2400" dirty="0"/>
          </a:p>
        </p:txBody>
      </p:sp>
      <p:sp>
        <p:nvSpPr>
          <p:cNvPr id="16" name="Text 13"/>
          <p:cNvSpPr/>
          <p:nvPr/>
        </p:nvSpPr>
        <p:spPr>
          <a:xfrm>
            <a:off x="805281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손상 부위에 어울리는</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리폼 시안 3안.</a:t>
            </a:r>
            <a:endParaRPr lang="en-US" sz="1400" dirty="0"/>
          </a:p>
        </p:txBody>
      </p:sp>
      <p:sp>
        <p:nvSpPr>
          <p:cNvPr id="17" name="Text 14"/>
          <p:cNvSpPr/>
          <p:nvPr/>
        </p:nvSpPr>
        <p:spPr>
          <a:xfrm>
            <a:off x="731520" y="6144768"/>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제품 상태 판정에는 AI를 쓰지 않습니다. 그건 기록 기반 계산입니다.</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REMADE</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MCM이 직접 만드는 수선 상품입니다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26464" y="3108960"/>
            <a:ext cx="914400" cy="310896"/>
          </a:xfrm>
          <a:prstGeom prst="rect">
            <a:avLst/>
          </a:prstGeom>
          <a:noFill/>
          <a:ln/>
        </p:spPr>
        <p:txBody>
          <a:bodyPr wrap="square" lIns="0" tIns="0" rIns="0" bIns="0" rtlCol="0" anchor="ctr"/>
          <a:lstStyle/>
          <a:p>
            <a:pP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01</a:t>
            </a:r>
            <a:endParaRPr lang="en-US" sz="1300" dirty="0"/>
          </a:p>
        </p:txBody>
      </p:sp>
      <p:sp>
        <p:nvSpPr>
          <p:cNvPr id="7" name="Text 4"/>
          <p:cNvSpPr/>
          <p:nvPr/>
        </p:nvSpPr>
        <p:spPr>
          <a:xfrm>
            <a:off x="1426464" y="3493008"/>
            <a:ext cx="1851660" cy="402336"/>
          </a:xfrm>
          <a:prstGeom prst="rect">
            <a:avLst/>
          </a:prstGeom>
          <a:noFill/>
          <a:ln/>
        </p:spPr>
        <p:txBody>
          <a:bodyPr wrap="square" lIns="0" tIns="0" rIns="0" bIns="0" rtlCol="0" anchor="ctr"/>
          <a:lstStyle/>
          <a:p>
            <a:pP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긁혔다</a:t>
            </a:r>
            <a:endParaRPr lang="en-US" sz="2200" dirty="0"/>
          </a:p>
        </p:txBody>
      </p:sp>
      <p:sp>
        <p:nvSpPr>
          <p:cNvPr id="8" name="Shape 5"/>
          <p:cNvSpPr/>
          <p:nvPr/>
        </p:nvSpPr>
        <p:spPr>
          <a:xfrm>
            <a:off x="3589020" y="3072384"/>
            <a:ext cx="0" cy="1005840"/>
          </a:xfrm>
          <a:prstGeom prst="line">
            <a:avLst/>
          </a:prstGeom>
          <a:noFill/>
          <a:ln w="9525">
            <a:solidFill>
              <a:srgbClr val="3A3025"/>
            </a:solidFill>
            <a:prstDash val="solid"/>
          </a:ln>
        </p:spPr>
      </p:sp>
      <p:sp>
        <p:nvSpPr>
          <p:cNvPr id="9" name="Text 6"/>
          <p:cNvSpPr/>
          <p:nvPr/>
        </p:nvSpPr>
        <p:spPr>
          <a:xfrm>
            <a:off x="3918204" y="3108960"/>
            <a:ext cx="914400" cy="310896"/>
          </a:xfrm>
          <a:prstGeom prst="rect">
            <a:avLst/>
          </a:prstGeom>
          <a:noFill/>
          <a:ln/>
        </p:spPr>
        <p:txBody>
          <a:bodyPr wrap="square" lIns="0" tIns="0" rIns="0" bIns="0" rtlCol="0" anchor="ctr"/>
          <a:lstStyle/>
          <a:p>
            <a:pP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02</a:t>
            </a:r>
            <a:endParaRPr lang="en-US" sz="1300" dirty="0"/>
          </a:p>
        </p:txBody>
      </p:sp>
      <p:sp>
        <p:nvSpPr>
          <p:cNvPr id="10" name="Text 7"/>
          <p:cNvSpPr/>
          <p:nvPr/>
        </p:nvSpPr>
        <p:spPr>
          <a:xfrm>
            <a:off x="3918204" y="3493008"/>
            <a:ext cx="1851660" cy="402336"/>
          </a:xfrm>
          <a:prstGeom prst="rect">
            <a:avLst/>
          </a:prstGeom>
          <a:noFill/>
          <a:ln/>
        </p:spPr>
        <p:txBody>
          <a:bodyPr wrap="square" lIns="0" tIns="0" rIns="0" bIns="0" rtlCol="0" anchor="ctr"/>
          <a:lstStyle/>
          <a:p>
            <a:pP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AI가 그린다</a:t>
            </a:r>
            <a:endParaRPr lang="en-US" sz="2200" dirty="0"/>
          </a:p>
        </p:txBody>
      </p:sp>
      <p:sp>
        <p:nvSpPr>
          <p:cNvPr id="11" name="Shape 8"/>
          <p:cNvSpPr/>
          <p:nvPr/>
        </p:nvSpPr>
        <p:spPr>
          <a:xfrm>
            <a:off x="6080760" y="3072384"/>
            <a:ext cx="0" cy="1005840"/>
          </a:xfrm>
          <a:prstGeom prst="line">
            <a:avLst/>
          </a:prstGeom>
          <a:noFill/>
          <a:ln w="9525">
            <a:solidFill>
              <a:srgbClr val="3A3025"/>
            </a:solidFill>
            <a:prstDash val="solid"/>
          </a:ln>
        </p:spPr>
      </p:sp>
      <p:sp>
        <p:nvSpPr>
          <p:cNvPr id="12" name="Text 9"/>
          <p:cNvSpPr/>
          <p:nvPr/>
        </p:nvSpPr>
        <p:spPr>
          <a:xfrm>
            <a:off x="6409944" y="3108960"/>
            <a:ext cx="914400" cy="310896"/>
          </a:xfrm>
          <a:prstGeom prst="rect">
            <a:avLst/>
          </a:prstGeom>
          <a:noFill/>
          <a:ln/>
        </p:spPr>
        <p:txBody>
          <a:bodyPr wrap="square" lIns="0" tIns="0" rIns="0" bIns="0" rtlCol="0" anchor="ctr"/>
          <a:lstStyle/>
          <a:p>
            <a:pP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03</a:t>
            </a:r>
            <a:endParaRPr lang="en-US" sz="1300" dirty="0"/>
          </a:p>
        </p:txBody>
      </p:sp>
      <p:sp>
        <p:nvSpPr>
          <p:cNvPr id="13" name="Text 10"/>
          <p:cNvSpPr/>
          <p:nvPr/>
        </p:nvSpPr>
        <p:spPr>
          <a:xfrm>
            <a:off x="6409944" y="3493008"/>
            <a:ext cx="1851660" cy="402336"/>
          </a:xfrm>
          <a:prstGeom prst="rect">
            <a:avLst/>
          </a:prstGeom>
          <a:noFill/>
          <a:ln/>
        </p:spPr>
        <p:txBody>
          <a:bodyPr wrap="square" lIns="0" tIns="0" rIns="0" bIns="0" rtlCol="0" anchor="ctr"/>
          <a:lstStyle/>
          <a:p>
            <a:pPr indent="0" marL="0">
              <a:buNone/>
            </a:pPr>
            <a:r>
              <a:rPr lang="en-US" sz="2200" b="1" dirty="0">
                <a:solidFill>
                  <a:srgbClr val="C4915F"/>
                </a:solidFill>
                <a:latin typeface="Apple SD Gothic Neo" pitchFamily="34" charset="0"/>
                <a:ea typeface="Apple SD Gothic Neo" pitchFamily="34" charset="-122"/>
                <a:cs typeface="Apple SD Gothic Neo" pitchFamily="34" charset="-120"/>
              </a:rPr>
              <a:t>장인이 만든다</a:t>
            </a:r>
            <a:endParaRPr lang="en-US" sz="2200" dirty="0"/>
          </a:p>
        </p:txBody>
      </p:sp>
      <p:sp>
        <p:nvSpPr>
          <p:cNvPr id="14" name="Shape 11"/>
          <p:cNvSpPr/>
          <p:nvPr/>
        </p:nvSpPr>
        <p:spPr>
          <a:xfrm>
            <a:off x="8572500" y="3072384"/>
            <a:ext cx="0" cy="1005840"/>
          </a:xfrm>
          <a:prstGeom prst="line">
            <a:avLst/>
          </a:prstGeom>
          <a:noFill/>
          <a:ln w="9525">
            <a:solidFill>
              <a:srgbClr val="3A3025"/>
            </a:solidFill>
            <a:prstDash val="solid"/>
          </a:ln>
        </p:spPr>
      </p:sp>
      <p:sp>
        <p:nvSpPr>
          <p:cNvPr id="15" name="Text 12"/>
          <p:cNvSpPr/>
          <p:nvPr/>
        </p:nvSpPr>
        <p:spPr>
          <a:xfrm>
            <a:off x="8901684" y="3108960"/>
            <a:ext cx="914400" cy="310896"/>
          </a:xfrm>
          <a:prstGeom prst="rect">
            <a:avLst/>
          </a:prstGeom>
          <a:noFill/>
          <a:ln/>
        </p:spPr>
        <p:txBody>
          <a:bodyPr wrap="square" lIns="0" tIns="0" rIns="0" bIns="0" rtlCol="0" anchor="ctr"/>
          <a:lstStyle/>
          <a:p>
            <a:pP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04</a:t>
            </a:r>
            <a:endParaRPr lang="en-US" sz="1300" dirty="0"/>
          </a:p>
        </p:txBody>
      </p:sp>
      <p:sp>
        <p:nvSpPr>
          <p:cNvPr id="16" name="Text 13"/>
          <p:cNvSpPr/>
          <p:nvPr/>
        </p:nvSpPr>
        <p:spPr>
          <a:xfrm>
            <a:off x="8901684" y="3493008"/>
            <a:ext cx="1851660" cy="402336"/>
          </a:xfrm>
          <a:prstGeom prst="rect">
            <a:avLst/>
          </a:prstGeom>
          <a:noFill/>
          <a:ln/>
        </p:spPr>
        <p:txBody>
          <a:bodyPr wrap="square" lIns="0" tIns="0" rIns="0" bIns="0" rtlCol="0" anchor="ctr"/>
          <a:lstStyle/>
          <a:p>
            <a:pP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기록된다</a:t>
            </a:r>
            <a:endParaRPr lang="en-US" sz="2200" dirty="0"/>
          </a:p>
        </p:txBody>
      </p:sp>
      <p:pic>
        <p:nvPicPr>
          <p:cNvPr id="17" name="Image 1" descr="/private/tmp/claude-501/-Users-home-Desktop-likeGonzi/55b29f25-80a9-40cb-9e3c-00904cc11cc6/scratchpad/damage.jpg">    </p:cNvPr>
          <p:cNvPicPr>
            <a:picLocks noChangeAspect="1"/>
          </p:cNvPicPr>
          <p:nvPr/>
        </p:nvPicPr>
        <p:blipFill>
          <a:blip r:embed="rId2"/>
          <a:stretch>
            <a:fillRect/>
          </a:stretch>
        </p:blipFill>
        <p:spPr>
          <a:xfrm>
            <a:off x="1417320" y="4224528"/>
            <a:ext cx="1371600" cy="1371600"/>
          </a:xfrm>
          <a:prstGeom prst="rect">
            <a:avLst/>
          </a:prstGeom>
        </p:spPr>
      </p:pic>
      <p:sp>
        <p:nvSpPr>
          <p:cNvPr id="18" name="Text 14"/>
          <p:cNvSpPr/>
          <p:nvPr/>
        </p:nvSpPr>
        <p:spPr>
          <a:xfrm>
            <a:off x="2926080" y="4791456"/>
            <a:ext cx="365760" cy="274320"/>
          </a:xfrm>
          <a:prstGeom prst="rect">
            <a:avLst/>
          </a:prstGeom>
          <a:noFill/>
          <a:ln/>
        </p:spPr>
        <p:txBody>
          <a:bodyPr wrap="square" lIns="0" tIns="0" rIns="0" bIns="0" rtlCol="0" anchor="ctr"/>
          <a:lstStyle/>
          <a:p>
            <a:pPr algn="ctr" indent="0" marL="0">
              <a:buNone/>
            </a:pPr>
            <a:r>
              <a:rPr lang="en-US" sz="1500" dirty="0">
                <a:solidFill>
                  <a:srgbClr val="6E6459"/>
                </a:solidFill>
                <a:latin typeface="Apple SD Gothic Neo" pitchFamily="34" charset="0"/>
                <a:ea typeface="Apple SD Gothic Neo" pitchFamily="34" charset="-122"/>
                <a:cs typeface="Apple SD Gothic Neo" pitchFamily="34" charset="-120"/>
              </a:rPr>
              <a:t>→</a:t>
            </a:r>
            <a:endParaRPr lang="en-US" sz="1500" dirty="0"/>
          </a:p>
        </p:txBody>
      </p:sp>
      <p:pic>
        <p:nvPicPr>
          <p:cNvPr id="19" name="Image 2" descr="/private/tmp/claude-501/-Users-home-Desktop-likeGonzi/55b29f25-80a9-40cb-9e3c-00904cc11cc6/scratchpad/remade-1.jpg">    </p:cNvPr>
          <p:cNvPicPr>
            <a:picLocks noChangeAspect="1"/>
          </p:cNvPicPr>
          <p:nvPr/>
        </p:nvPicPr>
        <p:blipFill>
          <a:blip r:embed="rId3"/>
          <a:stretch>
            <a:fillRect/>
          </a:stretch>
        </p:blipFill>
        <p:spPr>
          <a:xfrm>
            <a:off x="3429000" y="4224528"/>
            <a:ext cx="1371600" cy="1371600"/>
          </a:xfrm>
          <a:prstGeom prst="rect">
            <a:avLst/>
          </a:prstGeom>
        </p:spPr>
      </p:pic>
      <p:pic>
        <p:nvPicPr>
          <p:cNvPr id="20" name="Image 3" descr="/private/tmp/claude-501/-Users-home-Desktop-likeGonzi/55b29f25-80a9-40cb-9e3c-00904cc11cc6/scratchpad/remade-2.jpg">    </p:cNvPr>
          <p:cNvPicPr>
            <a:picLocks noChangeAspect="1"/>
          </p:cNvPicPr>
          <p:nvPr/>
        </p:nvPicPr>
        <p:blipFill>
          <a:blip r:embed="rId4"/>
          <a:stretch>
            <a:fillRect/>
          </a:stretch>
        </p:blipFill>
        <p:spPr>
          <a:xfrm>
            <a:off x="4983480" y="4224528"/>
            <a:ext cx="1371600" cy="1371600"/>
          </a:xfrm>
          <a:prstGeom prst="rect">
            <a:avLst/>
          </a:prstGeom>
        </p:spPr>
      </p:pic>
      <p:pic>
        <p:nvPicPr>
          <p:cNvPr id="21" name="Image 4" descr="/private/tmp/claude-501/-Users-home-Desktop-likeGonzi/55b29f25-80a9-40cb-9e3c-00904cc11cc6/scratchpad/remade-3.jpg">    </p:cNvPr>
          <p:cNvPicPr>
            <a:picLocks noChangeAspect="1"/>
          </p:cNvPicPr>
          <p:nvPr/>
        </p:nvPicPr>
        <p:blipFill>
          <a:blip r:embed="rId5"/>
          <a:stretch>
            <a:fillRect/>
          </a:stretch>
        </p:blipFill>
        <p:spPr>
          <a:xfrm>
            <a:off x="6537960" y="4224528"/>
            <a:ext cx="1371600" cy="1371600"/>
          </a:xfrm>
          <a:prstGeom prst="rect">
            <a:avLst/>
          </a:prstGeom>
        </p:spPr>
      </p:pic>
      <p:sp>
        <p:nvSpPr>
          <p:cNvPr id="22" name="Text 15"/>
          <p:cNvSpPr/>
          <p:nvPr/>
        </p:nvSpPr>
        <p:spPr>
          <a:xfrm>
            <a:off x="8321040" y="4443984"/>
            <a:ext cx="2926080" cy="822960"/>
          </a:xfrm>
          <a:prstGeom prst="rect">
            <a:avLst/>
          </a:prstGeom>
          <a:noFill/>
          <a:ln/>
        </p:spPr>
        <p:txBody>
          <a:bodyPr wrap="square" lIns="0" tIns="0" rIns="0" bIns="0" rtlCol="0" anchor="ctr"/>
          <a:lstStyle/>
          <a:p>
            <a:pPr indent="0" marL="0">
              <a:lnSpc>
                <a:spcPts val="2600"/>
              </a:lnSpc>
              <a:buNone/>
            </a:pPr>
            <a:r>
              <a:rPr lang="en-US" sz="1600" b="1" dirty="0">
                <a:solidFill>
                  <a:srgbClr val="FFFFFF"/>
                </a:solidFill>
                <a:latin typeface="Apple SD Gothic Neo" pitchFamily="34" charset="0"/>
                <a:ea typeface="Apple SD Gothic Neo" pitchFamily="34" charset="-122"/>
                <a:cs typeface="Apple SD Gothic Neo" pitchFamily="34" charset="-120"/>
              </a:rPr>
              <a:t>AI는 시안만 그립니다.</a:t>
            </a:r>
            <a:endParaRPr lang="en-US" sz="1600" dirty="0"/>
          </a:p>
          <a:p>
            <a:pPr indent="0" marL="0">
              <a:lnSpc>
                <a:spcPts val="2600"/>
              </a:lnSpc>
              <a:buNone/>
            </a:pPr>
            <a:r>
              <a:rPr lang="en-US" sz="1600" b="1" dirty="0">
                <a:solidFill>
                  <a:srgbClr val="FFFFFF"/>
                </a:solidFill>
                <a:latin typeface="Apple SD Gothic Neo" pitchFamily="34" charset="0"/>
                <a:ea typeface="Apple SD Gothic Neo" pitchFamily="34" charset="-122"/>
                <a:cs typeface="Apple SD Gothic Neo" pitchFamily="34" charset="-120"/>
              </a:rPr>
              <a:t>만드는 건 MCM 매장입니다.</a:t>
            </a:r>
            <a:endParaRPr lang="en-US" sz="1600" dirty="0"/>
          </a:p>
        </p:txBody>
      </p:sp>
      <p:sp>
        <p:nvSpPr>
          <p:cNvPr id="23" name="Text 16"/>
          <p:cNvSpPr/>
          <p:nvPr/>
        </p:nvSpPr>
        <p:spPr>
          <a:xfrm>
            <a:off x="914400" y="5870448"/>
            <a:ext cx="10332720" cy="329184"/>
          </a:xfrm>
          <a:prstGeom prst="rect">
            <a:avLst/>
          </a:prstGeom>
          <a:noFill/>
          <a:ln/>
        </p:spPr>
        <p:txBody>
          <a:bodyPr wrap="square" lIns="0" tIns="0" rIns="0" bIns="0" rtlCol="0" anchor="ctr"/>
          <a:lstStyle/>
          <a:p>
            <a:pPr algn="ctr" indent="0" marL="0">
              <a:buNone/>
            </a:pPr>
            <a:r>
              <a:rPr lang="en-US" sz="1300" dirty="0">
                <a:solidFill>
                  <a:srgbClr val="9A8F84"/>
                </a:solidFill>
                <a:latin typeface="Apple SD Gothic Neo" pitchFamily="34" charset="0"/>
                <a:ea typeface="Apple SD Gothic Neo" pitchFamily="34" charset="-122"/>
                <a:cs typeface="Apple SD Gothic Neo" pitchFamily="34" charset="-120"/>
              </a:rPr>
              <a:t>리폼하면 보통 리셀가가 떨어집니다. 브랜드 공식 리폼 + DPP 기록이면 오히려 오릅니다.</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WHAT IS REAL</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어디까지 만들었는지 밝힙니다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188720" y="2286000"/>
            <a:ext cx="393192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AI Story · Recap 생성</a:t>
            </a:r>
            <a:endParaRPr lang="en-US" sz="1500" dirty="0"/>
          </a:p>
        </p:txBody>
      </p:sp>
      <p:sp>
        <p:nvSpPr>
          <p:cNvPr id="7" name="Text 4"/>
          <p:cNvSpPr/>
          <p:nvPr/>
        </p:nvSpPr>
        <p:spPr>
          <a:xfrm>
            <a:off x="5212080" y="2304288"/>
            <a:ext cx="429768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gpt-4o-mini</a:t>
            </a:r>
            <a:endParaRPr lang="en-US" sz="1250" dirty="0"/>
          </a:p>
        </p:txBody>
      </p:sp>
      <p:sp>
        <p:nvSpPr>
          <p:cNvPr id="8" name="Text 5"/>
          <p:cNvSpPr/>
          <p:nvPr/>
        </p:nvSpPr>
        <p:spPr>
          <a:xfrm>
            <a:off x="9601200" y="2295144"/>
            <a:ext cx="1463040" cy="274320"/>
          </a:xfrm>
          <a:prstGeom prst="rect">
            <a:avLst/>
          </a:prstGeom>
          <a:noFill/>
          <a:ln/>
        </p:spPr>
        <p:txBody>
          <a:bodyPr wrap="square" lIns="0" tIns="0" rIns="0" bIns="0" rtlCol="0" anchor="ctr"/>
          <a:lstStyle/>
          <a:p>
            <a:pPr algn="r" indent="0" marL="0">
              <a:buNone/>
            </a:pPr>
            <a:r>
              <a:rPr lang="en-US" sz="1250" b="1" dirty="0">
                <a:solidFill>
                  <a:srgbClr val="C4915F"/>
                </a:solidFill>
                <a:latin typeface="Apple SD Gothic Neo" pitchFamily="34" charset="0"/>
                <a:ea typeface="Apple SD Gothic Neo" pitchFamily="34" charset="-122"/>
                <a:cs typeface="Apple SD Gothic Neo" pitchFamily="34" charset="-120"/>
              </a:rPr>
              <a:t>구현</a:t>
            </a:r>
            <a:endParaRPr lang="en-US" sz="1250" dirty="0"/>
          </a:p>
        </p:txBody>
      </p:sp>
      <p:sp>
        <p:nvSpPr>
          <p:cNvPr id="9" name="Shape 6"/>
          <p:cNvSpPr/>
          <p:nvPr/>
        </p:nvSpPr>
        <p:spPr>
          <a:xfrm>
            <a:off x="1097280" y="2633472"/>
            <a:ext cx="9966960" cy="0"/>
          </a:xfrm>
          <a:prstGeom prst="line">
            <a:avLst/>
          </a:prstGeom>
          <a:noFill/>
          <a:ln w="9525">
            <a:solidFill>
              <a:srgbClr val="3A3025"/>
            </a:solidFill>
            <a:prstDash val="solid"/>
          </a:ln>
        </p:spPr>
      </p:sp>
      <p:sp>
        <p:nvSpPr>
          <p:cNvPr id="10" name="Text 7"/>
          <p:cNvSpPr/>
          <p:nvPr/>
        </p:nvSpPr>
        <p:spPr>
          <a:xfrm>
            <a:off x="1188720" y="2743200"/>
            <a:ext cx="393192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REMADE 시안 생성</a:t>
            </a:r>
            <a:endParaRPr lang="en-US" sz="1500" dirty="0"/>
          </a:p>
        </p:txBody>
      </p:sp>
      <p:sp>
        <p:nvSpPr>
          <p:cNvPr id="11" name="Text 8"/>
          <p:cNvSpPr/>
          <p:nvPr/>
        </p:nvSpPr>
        <p:spPr>
          <a:xfrm>
            <a:off x="5212080" y="2761488"/>
            <a:ext cx="429768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gpt-image-1-mini · 3안 15초</a:t>
            </a:r>
            <a:endParaRPr lang="en-US" sz="1250" dirty="0"/>
          </a:p>
        </p:txBody>
      </p:sp>
      <p:sp>
        <p:nvSpPr>
          <p:cNvPr id="12" name="Text 9"/>
          <p:cNvSpPr/>
          <p:nvPr/>
        </p:nvSpPr>
        <p:spPr>
          <a:xfrm>
            <a:off x="9601200" y="2752344"/>
            <a:ext cx="1463040" cy="274320"/>
          </a:xfrm>
          <a:prstGeom prst="rect">
            <a:avLst/>
          </a:prstGeom>
          <a:noFill/>
          <a:ln/>
        </p:spPr>
        <p:txBody>
          <a:bodyPr wrap="square" lIns="0" tIns="0" rIns="0" bIns="0" rtlCol="0" anchor="ctr"/>
          <a:lstStyle/>
          <a:p>
            <a:pPr algn="r" indent="0" marL="0">
              <a:buNone/>
            </a:pPr>
            <a:r>
              <a:rPr lang="en-US" sz="1250" b="1" dirty="0">
                <a:solidFill>
                  <a:srgbClr val="C4915F"/>
                </a:solidFill>
                <a:latin typeface="Apple SD Gothic Neo" pitchFamily="34" charset="0"/>
                <a:ea typeface="Apple SD Gothic Neo" pitchFamily="34" charset="-122"/>
                <a:cs typeface="Apple SD Gothic Neo" pitchFamily="34" charset="-120"/>
              </a:rPr>
              <a:t>구현</a:t>
            </a:r>
            <a:endParaRPr lang="en-US" sz="1250" dirty="0"/>
          </a:p>
        </p:txBody>
      </p:sp>
      <p:sp>
        <p:nvSpPr>
          <p:cNvPr id="13" name="Shape 10"/>
          <p:cNvSpPr/>
          <p:nvPr/>
        </p:nvSpPr>
        <p:spPr>
          <a:xfrm>
            <a:off x="1097280" y="3090672"/>
            <a:ext cx="9966960" cy="0"/>
          </a:xfrm>
          <a:prstGeom prst="line">
            <a:avLst/>
          </a:prstGeom>
          <a:noFill/>
          <a:ln w="9525">
            <a:solidFill>
              <a:srgbClr val="3A3025"/>
            </a:solidFill>
            <a:prstDash val="solid"/>
          </a:ln>
        </p:spPr>
      </p:sp>
      <p:sp>
        <p:nvSpPr>
          <p:cNvPr id="14" name="Text 11"/>
          <p:cNvSpPr/>
          <p:nvPr/>
        </p:nvSpPr>
        <p:spPr>
          <a:xfrm>
            <a:off x="1188720" y="3200400"/>
            <a:ext cx="393192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GS1 Digital Link 태그</a:t>
            </a:r>
            <a:endParaRPr lang="en-US" sz="1500" dirty="0"/>
          </a:p>
        </p:txBody>
      </p:sp>
      <p:sp>
        <p:nvSpPr>
          <p:cNvPr id="15" name="Text 12"/>
          <p:cNvSpPr/>
          <p:nvPr/>
        </p:nvSpPr>
        <p:spPr>
          <a:xfrm>
            <a:off x="5212080" y="3218688"/>
            <a:ext cx="429768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/01/{gtin}/21/{serial} 표준 라우팅</a:t>
            </a:r>
            <a:endParaRPr lang="en-US" sz="1250" dirty="0"/>
          </a:p>
        </p:txBody>
      </p:sp>
      <p:sp>
        <p:nvSpPr>
          <p:cNvPr id="16" name="Text 13"/>
          <p:cNvSpPr/>
          <p:nvPr/>
        </p:nvSpPr>
        <p:spPr>
          <a:xfrm>
            <a:off x="9601200" y="3209544"/>
            <a:ext cx="1463040" cy="274320"/>
          </a:xfrm>
          <a:prstGeom prst="rect">
            <a:avLst/>
          </a:prstGeom>
          <a:noFill/>
          <a:ln/>
        </p:spPr>
        <p:txBody>
          <a:bodyPr wrap="square" lIns="0" tIns="0" rIns="0" bIns="0" rtlCol="0" anchor="ctr"/>
          <a:lstStyle/>
          <a:p>
            <a:pPr algn="r" indent="0" marL="0">
              <a:buNone/>
            </a:pPr>
            <a:r>
              <a:rPr lang="en-US" sz="1250" b="1" dirty="0">
                <a:solidFill>
                  <a:srgbClr val="C4915F"/>
                </a:solidFill>
                <a:latin typeface="Apple SD Gothic Neo" pitchFamily="34" charset="0"/>
                <a:ea typeface="Apple SD Gothic Neo" pitchFamily="34" charset="-122"/>
                <a:cs typeface="Apple SD Gothic Neo" pitchFamily="34" charset="-120"/>
              </a:rPr>
              <a:t>구현</a:t>
            </a:r>
            <a:endParaRPr lang="en-US" sz="1250" dirty="0"/>
          </a:p>
        </p:txBody>
      </p:sp>
      <p:sp>
        <p:nvSpPr>
          <p:cNvPr id="17" name="Shape 14"/>
          <p:cNvSpPr/>
          <p:nvPr/>
        </p:nvSpPr>
        <p:spPr>
          <a:xfrm>
            <a:off x="1097280" y="3547872"/>
            <a:ext cx="9966960" cy="0"/>
          </a:xfrm>
          <a:prstGeom prst="line">
            <a:avLst/>
          </a:prstGeom>
          <a:noFill/>
          <a:ln w="9525">
            <a:solidFill>
              <a:srgbClr val="3A3025"/>
            </a:solidFill>
            <a:prstDash val="solid"/>
          </a:ln>
        </p:spPr>
      </p:sp>
      <p:sp>
        <p:nvSpPr>
          <p:cNvPr id="18" name="Text 15"/>
          <p:cNvSpPr/>
          <p:nvPr/>
        </p:nvSpPr>
        <p:spPr>
          <a:xfrm>
            <a:off x="1188720" y="3657600"/>
            <a:ext cx="393192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EU ESPR 여권 항목</a:t>
            </a:r>
            <a:endParaRPr lang="en-US" sz="1500" dirty="0"/>
          </a:p>
        </p:txBody>
      </p:sp>
      <p:sp>
        <p:nvSpPr>
          <p:cNvPr id="19" name="Text 16"/>
          <p:cNvSpPr/>
          <p:nvPr/>
        </p:nvSpPr>
        <p:spPr>
          <a:xfrm>
            <a:off x="5212080" y="3675888"/>
            <a:ext cx="429768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소재 구성 · 재활용 함량 · 수리가능성 · 원산지</a:t>
            </a:r>
            <a:endParaRPr lang="en-US" sz="1250" dirty="0"/>
          </a:p>
        </p:txBody>
      </p:sp>
      <p:sp>
        <p:nvSpPr>
          <p:cNvPr id="20" name="Text 17"/>
          <p:cNvSpPr/>
          <p:nvPr/>
        </p:nvSpPr>
        <p:spPr>
          <a:xfrm>
            <a:off x="9601200" y="3666744"/>
            <a:ext cx="1463040" cy="274320"/>
          </a:xfrm>
          <a:prstGeom prst="rect">
            <a:avLst/>
          </a:prstGeom>
          <a:noFill/>
          <a:ln/>
        </p:spPr>
        <p:txBody>
          <a:bodyPr wrap="square" lIns="0" tIns="0" rIns="0" bIns="0" rtlCol="0" anchor="ctr"/>
          <a:lstStyle/>
          <a:p>
            <a:pPr algn="r" indent="0" marL="0">
              <a:buNone/>
            </a:pPr>
            <a:r>
              <a:rPr lang="en-US" sz="1250" b="1" dirty="0">
                <a:solidFill>
                  <a:srgbClr val="C4915F"/>
                </a:solidFill>
                <a:latin typeface="Apple SD Gothic Neo" pitchFamily="34" charset="0"/>
                <a:ea typeface="Apple SD Gothic Neo" pitchFamily="34" charset="-122"/>
                <a:cs typeface="Apple SD Gothic Neo" pitchFamily="34" charset="-120"/>
              </a:rPr>
              <a:t>구현</a:t>
            </a:r>
            <a:endParaRPr lang="en-US" sz="1250" dirty="0"/>
          </a:p>
        </p:txBody>
      </p:sp>
      <p:sp>
        <p:nvSpPr>
          <p:cNvPr id="21" name="Shape 18"/>
          <p:cNvSpPr/>
          <p:nvPr/>
        </p:nvSpPr>
        <p:spPr>
          <a:xfrm>
            <a:off x="1097280" y="4005072"/>
            <a:ext cx="9966960" cy="0"/>
          </a:xfrm>
          <a:prstGeom prst="line">
            <a:avLst/>
          </a:prstGeom>
          <a:noFill/>
          <a:ln w="9525">
            <a:solidFill>
              <a:srgbClr val="3A3025"/>
            </a:solidFill>
            <a:prstDash val="solid"/>
          </a:ln>
        </p:spPr>
      </p:sp>
      <p:sp>
        <p:nvSpPr>
          <p:cNvPr id="22" name="Text 19"/>
          <p:cNvSpPr/>
          <p:nvPr/>
        </p:nvSpPr>
        <p:spPr>
          <a:xfrm>
            <a:off x="1188720" y="4114800"/>
            <a:ext cx="393192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수선 접수 · 상황 데이터 집계</a:t>
            </a:r>
            <a:endParaRPr lang="en-US" sz="1500" dirty="0"/>
          </a:p>
        </p:txBody>
      </p:sp>
      <p:sp>
        <p:nvSpPr>
          <p:cNvPr id="23" name="Text 20"/>
          <p:cNvSpPr/>
          <p:nvPr/>
        </p:nvSpPr>
        <p:spPr>
          <a:xfrm>
            <a:off x="5212080" y="4133088"/>
            <a:ext cx="429768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실사 위 좌표 · 동의 기반 k-익명성</a:t>
            </a:r>
            <a:endParaRPr lang="en-US" sz="1250" dirty="0"/>
          </a:p>
        </p:txBody>
      </p:sp>
      <p:sp>
        <p:nvSpPr>
          <p:cNvPr id="24" name="Text 21"/>
          <p:cNvSpPr/>
          <p:nvPr/>
        </p:nvSpPr>
        <p:spPr>
          <a:xfrm>
            <a:off x="9601200" y="4123944"/>
            <a:ext cx="1463040" cy="274320"/>
          </a:xfrm>
          <a:prstGeom prst="rect">
            <a:avLst/>
          </a:prstGeom>
          <a:noFill/>
          <a:ln/>
        </p:spPr>
        <p:txBody>
          <a:bodyPr wrap="square" lIns="0" tIns="0" rIns="0" bIns="0" rtlCol="0" anchor="ctr"/>
          <a:lstStyle/>
          <a:p>
            <a:pPr algn="r" indent="0" marL="0">
              <a:buNone/>
            </a:pPr>
            <a:r>
              <a:rPr lang="en-US" sz="1250" b="1" dirty="0">
                <a:solidFill>
                  <a:srgbClr val="C4915F"/>
                </a:solidFill>
                <a:latin typeface="Apple SD Gothic Neo" pitchFamily="34" charset="0"/>
                <a:ea typeface="Apple SD Gothic Neo" pitchFamily="34" charset="-122"/>
                <a:cs typeface="Apple SD Gothic Neo" pitchFamily="34" charset="-120"/>
              </a:rPr>
              <a:t>구현</a:t>
            </a:r>
            <a:endParaRPr lang="en-US" sz="1250" dirty="0"/>
          </a:p>
        </p:txBody>
      </p:sp>
      <p:sp>
        <p:nvSpPr>
          <p:cNvPr id="25" name="Shape 22"/>
          <p:cNvSpPr/>
          <p:nvPr/>
        </p:nvSpPr>
        <p:spPr>
          <a:xfrm>
            <a:off x="1097280" y="4462272"/>
            <a:ext cx="9966960" cy="0"/>
          </a:xfrm>
          <a:prstGeom prst="line">
            <a:avLst/>
          </a:prstGeom>
          <a:noFill/>
          <a:ln w="9525">
            <a:solidFill>
              <a:srgbClr val="3A3025"/>
            </a:solidFill>
            <a:prstDash val="solid"/>
          </a:ln>
        </p:spPr>
      </p:sp>
      <p:sp>
        <p:nvSpPr>
          <p:cNvPr id="26" name="Text 23"/>
          <p:cNvSpPr/>
          <p:nvPr/>
        </p:nvSpPr>
        <p:spPr>
          <a:xfrm>
            <a:off x="1188720" y="4572000"/>
            <a:ext cx="393192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Care Score · 수선 견적</a:t>
            </a:r>
            <a:endParaRPr lang="en-US" sz="1500" dirty="0"/>
          </a:p>
        </p:txBody>
      </p:sp>
      <p:sp>
        <p:nvSpPr>
          <p:cNvPr id="27" name="Text 24"/>
          <p:cNvSpPr/>
          <p:nvPr/>
        </p:nvSpPr>
        <p:spPr>
          <a:xfrm>
            <a:off x="5212080" y="4590288"/>
            <a:ext cx="429768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기록 기반 규칙 계산 · AI 아님</a:t>
            </a:r>
            <a:endParaRPr lang="en-US" sz="1250" dirty="0"/>
          </a:p>
        </p:txBody>
      </p:sp>
      <p:sp>
        <p:nvSpPr>
          <p:cNvPr id="28" name="Text 25"/>
          <p:cNvSpPr/>
          <p:nvPr/>
        </p:nvSpPr>
        <p:spPr>
          <a:xfrm>
            <a:off x="9601200" y="4581144"/>
            <a:ext cx="1463040" cy="274320"/>
          </a:xfrm>
          <a:prstGeom prst="rect">
            <a:avLst/>
          </a:prstGeom>
          <a:noFill/>
          <a:ln/>
        </p:spPr>
        <p:txBody>
          <a:bodyPr wrap="square" lIns="0" tIns="0" rIns="0" bIns="0" rtlCol="0" anchor="ctr"/>
          <a:lstStyle/>
          <a:p>
            <a:pPr algn="r" indent="0" marL="0">
              <a:buNone/>
            </a:pPr>
            <a:r>
              <a:rPr lang="en-US" sz="1250" b="1" dirty="0">
                <a:solidFill>
                  <a:srgbClr val="FFFFFF"/>
                </a:solidFill>
                <a:latin typeface="Apple SD Gothic Neo" pitchFamily="34" charset="0"/>
                <a:ea typeface="Apple SD Gothic Neo" pitchFamily="34" charset="-122"/>
                <a:cs typeface="Apple SD Gothic Neo" pitchFamily="34" charset="-120"/>
              </a:rPr>
              <a:t>규칙</a:t>
            </a:r>
            <a:endParaRPr lang="en-US" sz="1250" dirty="0"/>
          </a:p>
        </p:txBody>
      </p:sp>
      <p:sp>
        <p:nvSpPr>
          <p:cNvPr id="29" name="Shape 26"/>
          <p:cNvSpPr/>
          <p:nvPr/>
        </p:nvSpPr>
        <p:spPr>
          <a:xfrm>
            <a:off x="1097280" y="4919472"/>
            <a:ext cx="9966960" cy="0"/>
          </a:xfrm>
          <a:prstGeom prst="line">
            <a:avLst/>
          </a:prstGeom>
          <a:noFill/>
          <a:ln w="9525">
            <a:solidFill>
              <a:srgbClr val="3A3025"/>
            </a:solidFill>
            <a:prstDash val="solid"/>
          </a:ln>
        </p:spPr>
      </p:sp>
      <p:sp>
        <p:nvSpPr>
          <p:cNvPr id="30" name="Text 27"/>
          <p:cNvSpPr/>
          <p:nvPr/>
        </p:nvSpPr>
        <p:spPr>
          <a:xfrm>
            <a:off x="1188720" y="5029200"/>
            <a:ext cx="393192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여권 수치 · 결제</a:t>
            </a:r>
            <a:endParaRPr lang="en-US" sz="1500" dirty="0"/>
          </a:p>
        </p:txBody>
      </p:sp>
      <p:sp>
        <p:nvSpPr>
          <p:cNvPr id="31" name="Text 28"/>
          <p:cNvSpPr/>
          <p:nvPr/>
        </p:nvSpPr>
        <p:spPr>
          <a:xfrm>
            <a:off x="5212080" y="5047488"/>
            <a:ext cx="429768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시연용 가정치 · 실제 정산 없음</a:t>
            </a:r>
            <a:endParaRPr lang="en-US" sz="1250" dirty="0"/>
          </a:p>
        </p:txBody>
      </p:sp>
      <p:sp>
        <p:nvSpPr>
          <p:cNvPr id="32" name="Text 29"/>
          <p:cNvSpPr/>
          <p:nvPr/>
        </p:nvSpPr>
        <p:spPr>
          <a:xfrm>
            <a:off x="9601200" y="5038344"/>
            <a:ext cx="1463040" cy="274320"/>
          </a:xfrm>
          <a:prstGeom prst="rect">
            <a:avLst/>
          </a:prstGeom>
          <a:noFill/>
          <a:ln/>
        </p:spPr>
        <p:txBody>
          <a:bodyPr wrap="square" lIns="0" tIns="0" rIns="0" bIns="0" rtlCol="0" anchor="ctr"/>
          <a:lstStyle/>
          <a:p>
            <a:pPr algn="r" indent="0" marL="0">
              <a:buNone/>
            </a:pPr>
            <a:r>
              <a:rPr lang="en-US" sz="1250" b="1" dirty="0">
                <a:solidFill>
                  <a:srgbClr val="9A8F84"/>
                </a:solidFill>
                <a:latin typeface="Apple SD Gothic Neo" pitchFamily="34" charset="0"/>
                <a:ea typeface="Apple SD Gothic Neo" pitchFamily="34" charset="-122"/>
                <a:cs typeface="Apple SD Gothic Neo" pitchFamily="34" charset="-120"/>
              </a:rPr>
              <a:t>데모</a:t>
            </a:r>
            <a:endParaRPr lang="en-US" sz="1250" dirty="0"/>
          </a:p>
        </p:txBody>
      </p:sp>
      <p:sp>
        <p:nvSpPr>
          <p:cNvPr id="33" name="Shape 30"/>
          <p:cNvSpPr/>
          <p:nvPr/>
        </p:nvSpPr>
        <p:spPr>
          <a:xfrm>
            <a:off x="1097280" y="5376672"/>
            <a:ext cx="9966960" cy="0"/>
          </a:xfrm>
          <a:prstGeom prst="line">
            <a:avLst/>
          </a:prstGeom>
          <a:noFill/>
          <a:ln w="9525">
            <a:solidFill>
              <a:srgbClr val="3A3025"/>
            </a:solidFill>
            <a:prstDash val="solid"/>
          </a:ln>
        </p:spPr>
      </p:sp>
      <p:sp>
        <p:nvSpPr>
          <p:cNvPr id="34" name="Text 31"/>
          <p:cNvSpPr/>
          <p:nvPr/>
        </p:nvSpPr>
        <p:spPr>
          <a:xfrm>
            <a:off x="1188720" y="5486400"/>
            <a:ext cx="393192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Aura 원장 기록</a:t>
            </a:r>
            <a:endParaRPr lang="en-US" sz="1500" dirty="0"/>
          </a:p>
        </p:txBody>
      </p:sp>
      <p:sp>
        <p:nvSpPr>
          <p:cNvPr id="35" name="Text 32"/>
          <p:cNvSpPr/>
          <p:nvPr/>
        </p:nvSpPr>
        <p:spPr>
          <a:xfrm>
            <a:off x="5212080" y="5504688"/>
            <a:ext cx="429768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브랜드 연동 필요</a:t>
            </a:r>
            <a:endParaRPr lang="en-US" sz="1250" dirty="0"/>
          </a:p>
        </p:txBody>
      </p:sp>
      <p:sp>
        <p:nvSpPr>
          <p:cNvPr id="36" name="Text 33"/>
          <p:cNvSpPr/>
          <p:nvPr/>
        </p:nvSpPr>
        <p:spPr>
          <a:xfrm>
            <a:off x="9601200" y="5495544"/>
            <a:ext cx="1463040" cy="274320"/>
          </a:xfrm>
          <a:prstGeom prst="rect">
            <a:avLst/>
          </a:prstGeom>
          <a:noFill/>
          <a:ln/>
        </p:spPr>
        <p:txBody>
          <a:bodyPr wrap="square" lIns="0" tIns="0" rIns="0" bIns="0" rtlCol="0" anchor="ctr"/>
          <a:lstStyle/>
          <a:p>
            <a:pPr algn="r" indent="0" marL="0">
              <a:buNone/>
            </a:pPr>
            <a:r>
              <a:rPr lang="en-US" sz="1250" b="1" dirty="0">
                <a:solidFill>
                  <a:srgbClr val="9A8F84"/>
                </a:solidFill>
                <a:latin typeface="Apple SD Gothic Neo" pitchFamily="34" charset="0"/>
                <a:ea typeface="Apple SD Gothic Neo" pitchFamily="34" charset="-122"/>
                <a:cs typeface="Apple SD Gothic Neo" pitchFamily="34" charset="-120"/>
              </a:rPr>
              <a:t>연동 예정</a:t>
            </a:r>
            <a:endParaRPr lang="en-US" sz="1250" dirty="0"/>
          </a:p>
        </p:txBody>
      </p:sp>
      <p:sp>
        <p:nvSpPr>
          <p:cNvPr id="37" name="Shape 34"/>
          <p:cNvSpPr/>
          <p:nvPr/>
        </p:nvSpPr>
        <p:spPr>
          <a:xfrm>
            <a:off x="1097280" y="5833872"/>
            <a:ext cx="9966960" cy="0"/>
          </a:xfrm>
          <a:prstGeom prst="line">
            <a:avLst/>
          </a:prstGeom>
          <a:noFill/>
          <a:ln w="9525">
            <a:solidFill>
              <a:srgbClr val="3A3025"/>
            </a:solidFill>
            <a:prstDash val="solid"/>
          </a:ln>
        </p:spPr>
      </p:sp>
      <p:sp>
        <p:nvSpPr>
          <p:cNvPr id="38" name="Text 35"/>
          <p:cNvSpPr/>
          <p:nvPr/>
        </p:nvSpPr>
        <p:spPr>
          <a:xfrm>
            <a:off x="1188720" y="5943600"/>
            <a:ext cx="393192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캠페인 QR · 소유권 이전</a:t>
            </a:r>
            <a:endParaRPr lang="en-US" sz="1500" dirty="0"/>
          </a:p>
        </p:txBody>
      </p:sp>
      <p:sp>
        <p:nvSpPr>
          <p:cNvPr id="39" name="Text 36"/>
          <p:cNvSpPr/>
          <p:nvPr/>
        </p:nvSpPr>
        <p:spPr>
          <a:xfrm>
            <a:off x="5212080" y="5961888"/>
            <a:ext cx="429768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화면 없음</a:t>
            </a:r>
            <a:endParaRPr lang="en-US" sz="1250" dirty="0"/>
          </a:p>
        </p:txBody>
      </p:sp>
      <p:sp>
        <p:nvSpPr>
          <p:cNvPr id="40" name="Text 37"/>
          <p:cNvSpPr/>
          <p:nvPr/>
        </p:nvSpPr>
        <p:spPr>
          <a:xfrm>
            <a:off x="9601200" y="5952744"/>
            <a:ext cx="1463040" cy="274320"/>
          </a:xfrm>
          <a:prstGeom prst="rect">
            <a:avLst/>
          </a:prstGeom>
          <a:noFill/>
          <a:ln/>
        </p:spPr>
        <p:txBody>
          <a:bodyPr wrap="square" lIns="0" tIns="0" rIns="0" bIns="0" rtlCol="0" anchor="ctr"/>
          <a:lstStyle/>
          <a:p>
            <a:pPr algn="r" indent="0" marL="0">
              <a:buNone/>
            </a:pPr>
            <a:r>
              <a:rPr lang="en-US" sz="1250" b="1" dirty="0">
                <a:solidFill>
                  <a:srgbClr val="6E6459"/>
                </a:solidFill>
                <a:latin typeface="Apple SD Gothic Neo" pitchFamily="34" charset="0"/>
                <a:ea typeface="Apple SD Gothic Neo" pitchFamily="34" charset="-122"/>
                <a:cs typeface="Apple SD Gothic Neo" pitchFamily="34" charset="-120"/>
              </a:rPr>
              <a:t>로드맵</a:t>
            </a:r>
            <a:endParaRPr lang="en-US" sz="1250" dirty="0"/>
          </a:p>
        </p:txBody>
      </p:sp>
      <p:sp>
        <p:nvSpPr>
          <p:cNvPr id="41" name="Text 38"/>
          <p:cNvSpPr/>
          <p:nvPr/>
        </p:nvSpPr>
        <p:spPr>
          <a:xfrm>
            <a:off x="914400" y="6345936"/>
            <a:ext cx="10332720" cy="310896"/>
          </a:xfrm>
          <a:prstGeom prst="rect">
            <a:avLst/>
          </a:prstGeom>
          <a:noFill/>
          <a:ln/>
        </p:spPr>
        <p:txBody>
          <a:bodyPr wrap="square" lIns="0" tIns="0" rIns="0" bIns="0" rtlCol="0" anchor="ctr"/>
          <a:lstStyle/>
          <a:p>
            <a:pPr algn="ctr" indent="0" marL="0">
              <a:buNone/>
            </a:pPr>
            <a:r>
              <a:rPr lang="en-US" sz="1350" dirty="0">
                <a:solidFill>
                  <a:srgbClr val="C4915F"/>
                </a:solidFill>
                <a:latin typeface="Apple SD Gothic Neo" pitchFamily="34" charset="0"/>
                <a:ea typeface="Apple SD Gothic Neo" pitchFamily="34" charset="-122"/>
                <a:cs typeface="Apple SD Gothic Neo" pitchFamily="34" charset="-120"/>
              </a:rPr>
              <a:t>제품 상태를 AI가 판정하지 않습니다. 어디에 안 쓰는지도 적어둡니다.</a:t>
            </a:r>
            <a:endParaRPr lang="en-US" sz="1350" dirty="0"/>
          </a:p>
        </p:txBody>
      </p:sp>
      <p:sp>
        <p:nvSpPr>
          <p:cNvPr id="42" name="Text 39"/>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440"/>
              </a:lnSpc>
              <a:buNone/>
            </a:pPr>
            <a:r>
              <a:rPr lang="en-US" sz="4000" b="1" dirty="0">
                <a:solidFill>
                  <a:srgbClr val="FFFFFF"/>
                </a:solidFill>
                <a:latin typeface="Apple SD Gothic Neo" pitchFamily="34" charset="0"/>
                <a:ea typeface="Apple SD Gothic Neo" pitchFamily="34" charset="-122"/>
                <a:cs typeface="Apple SD Gothic Neo" pitchFamily="34" charset="-120"/>
              </a:rPr>
              <a:t>MCM이 이미 가진 것을</a:t>
            </a:r>
            <a:endParaRPr lang="en-US" sz="4000" dirty="0"/>
          </a:p>
          <a:p>
            <a:pPr algn="ctr" indent="0" marL="0">
              <a:lnSpc>
                <a:spcPts val="5440"/>
              </a:lnSpc>
              <a:buNone/>
            </a:pPr>
            <a:r>
              <a:rPr lang="en-US" sz="4000" b="1" dirty="0">
                <a:solidFill>
                  <a:srgbClr val="C4915F"/>
                </a:solidFill>
                <a:latin typeface="Apple SD Gothic Neo" pitchFamily="34" charset="0"/>
                <a:ea typeface="Apple SD Gothic Neo" pitchFamily="34" charset="-122"/>
                <a:cs typeface="Apple SD Gothic Neo" pitchFamily="34" charset="-120"/>
              </a:rPr>
              <a:t>그대로 씁니다</a:t>
            </a:r>
            <a:endParaRPr lang="en-US" sz="40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DIGITAL PRODUCT PASSPORT</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스캔하면 도착하는 자리입니다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188720" y="2487168"/>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시리얼</a:t>
            </a:r>
            <a:endParaRPr lang="en-US" sz="1250" dirty="0"/>
          </a:p>
        </p:txBody>
      </p:sp>
      <p:sp>
        <p:nvSpPr>
          <p:cNvPr id="7" name="Text 4"/>
          <p:cNvSpPr/>
          <p:nvPr/>
        </p:nvSpPr>
        <p:spPr>
          <a:xfrm>
            <a:off x="2788920" y="2478024"/>
            <a:ext cx="2880360" cy="292608"/>
          </a:xfrm>
          <a:prstGeom prst="rect">
            <a:avLst/>
          </a:prstGeom>
          <a:noFill/>
          <a:ln/>
        </p:spPr>
        <p:txBody>
          <a:bodyPr wrap="square" lIns="0" tIns="0" rIns="0" bIns="0" rtlCol="0" anchor="ctr"/>
          <a:lstStyle/>
          <a:p>
            <a:pPr indent="0" marL="0">
              <a:buNone/>
            </a:pPr>
            <a:r>
              <a:rPr lang="en-US" sz="1300" dirty="0">
                <a:solidFill>
                  <a:srgbClr val="FFFFFF"/>
                </a:solidFill>
                <a:latin typeface="Apple SD Gothic Neo" pitchFamily="34" charset="0"/>
                <a:ea typeface="Apple SD Gothic Neo" pitchFamily="34" charset="-122"/>
                <a:cs typeface="Apple SD Gothic Neo" pitchFamily="34" charset="-120"/>
              </a:rPr>
              <a:t>MWKCSVE01C0002</a:t>
            </a:r>
            <a:endParaRPr lang="en-US" sz="1300" dirty="0"/>
          </a:p>
        </p:txBody>
      </p:sp>
      <p:sp>
        <p:nvSpPr>
          <p:cNvPr id="8" name="Shape 5"/>
          <p:cNvSpPr/>
          <p:nvPr/>
        </p:nvSpPr>
        <p:spPr>
          <a:xfrm>
            <a:off x="1188720" y="2907792"/>
            <a:ext cx="4480560" cy="0"/>
          </a:xfrm>
          <a:prstGeom prst="line">
            <a:avLst/>
          </a:prstGeom>
          <a:noFill/>
          <a:ln w="9525">
            <a:solidFill>
              <a:srgbClr val="3A3025"/>
            </a:solidFill>
            <a:prstDash val="solid"/>
          </a:ln>
        </p:spPr>
      </p:sp>
      <p:sp>
        <p:nvSpPr>
          <p:cNvPr id="9" name="Text 6"/>
          <p:cNvSpPr/>
          <p:nvPr/>
        </p:nvSpPr>
        <p:spPr>
          <a:xfrm>
            <a:off x="1188720" y="3054096"/>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구매처</a:t>
            </a:r>
            <a:endParaRPr lang="en-US" sz="1250" dirty="0"/>
          </a:p>
        </p:txBody>
      </p:sp>
      <p:sp>
        <p:nvSpPr>
          <p:cNvPr id="10" name="Text 7"/>
          <p:cNvSpPr/>
          <p:nvPr/>
        </p:nvSpPr>
        <p:spPr>
          <a:xfrm>
            <a:off x="2788920" y="3044952"/>
            <a:ext cx="2880360" cy="292608"/>
          </a:xfrm>
          <a:prstGeom prst="rect">
            <a:avLst/>
          </a:prstGeom>
          <a:noFill/>
          <a:ln/>
        </p:spPr>
        <p:txBody>
          <a:bodyPr wrap="square" lIns="0" tIns="0" rIns="0" bIns="0" rtlCol="0" anchor="ctr"/>
          <a:lstStyle/>
          <a:p>
            <a:pPr indent="0" marL="0">
              <a:buNone/>
            </a:pPr>
            <a:r>
              <a:rPr lang="en-US" sz="1300" dirty="0">
                <a:solidFill>
                  <a:srgbClr val="FFFFFF"/>
                </a:solidFill>
                <a:latin typeface="Apple SD Gothic Neo" pitchFamily="34" charset="0"/>
                <a:ea typeface="Apple SD Gothic Neo" pitchFamily="34" charset="-122"/>
                <a:cs typeface="Apple SD Gothic Neo" pitchFamily="34" charset="-120"/>
              </a:rPr>
              <a:t>MCM Gangnam</a:t>
            </a:r>
            <a:endParaRPr lang="en-US" sz="1300" dirty="0"/>
          </a:p>
        </p:txBody>
      </p:sp>
      <p:sp>
        <p:nvSpPr>
          <p:cNvPr id="11" name="Shape 8"/>
          <p:cNvSpPr/>
          <p:nvPr/>
        </p:nvSpPr>
        <p:spPr>
          <a:xfrm>
            <a:off x="1188720" y="3474720"/>
            <a:ext cx="4480560" cy="0"/>
          </a:xfrm>
          <a:prstGeom prst="line">
            <a:avLst/>
          </a:prstGeom>
          <a:noFill/>
          <a:ln w="9525">
            <a:solidFill>
              <a:srgbClr val="3A3025"/>
            </a:solidFill>
            <a:prstDash val="solid"/>
          </a:ln>
        </p:spPr>
      </p:sp>
      <p:sp>
        <p:nvSpPr>
          <p:cNvPr id="12" name="Text 9"/>
          <p:cNvSpPr/>
          <p:nvPr/>
        </p:nvSpPr>
        <p:spPr>
          <a:xfrm>
            <a:off x="1188720" y="3621024"/>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등록일</a:t>
            </a:r>
            <a:endParaRPr lang="en-US" sz="1250" dirty="0"/>
          </a:p>
        </p:txBody>
      </p:sp>
      <p:sp>
        <p:nvSpPr>
          <p:cNvPr id="13" name="Text 10"/>
          <p:cNvSpPr/>
          <p:nvPr/>
        </p:nvSpPr>
        <p:spPr>
          <a:xfrm>
            <a:off x="2788920" y="3611880"/>
            <a:ext cx="2880360" cy="292608"/>
          </a:xfrm>
          <a:prstGeom prst="rect">
            <a:avLst/>
          </a:prstGeom>
          <a:noFill/>
          <a:ln/>
        </p:spPr>
        <p:txBody>
          <a:bodyPr wrap="square" lIns="0" tIns="0" rIns="0" bIns="0" rtlCol="0" anchor="ctr"/>
          <a:lstStyle/>
          <a:p>
            <a:pPr indent="0" marL="0">
              <a:buNone/>
            </a:pPr>
            <a:r>
              <a:rPr lang="en-US" sz="1300" dirty="0">
                <a:solidFill>
                  <a:srgbClr val="FFFFFF"/>
                </a:solidFill>
                <a:latin typeface="Apple SD Gothic Neo" pitchFamily="34" charset="0"/>
                <a:ea typeface="Apple SD Gothic Neo" pitchFamily="34" charset="-122"/>
                <a:cs typeface="Apple SD Gothic Neo" pitchFamily="34" charset="-120"/>
              </a:rPr>
              <a:t>2026.08.19</a:t>
            </a:r>
            <a:endParaRPr lang="en-US" sz="1300" dirty="0"/>
          </a:p>
        </p:txBody>
      </p:sp>
      <p:sp>
        <p:nvSpPr>
          <p:cNvPr id="14" name="Shape 11"/>
          <p:cNvSpPr/>
          <p:nvPr/>
        </p:nvSpPr>
        <p:spPr>
          <a:xfrm>
            <a:off x="1188720" y="4041648"/>
            <a:ext cx="4480560" cy="0"/>
          </a:xfrm>
          <a:prstGeom prst="line">
            <a:avLst/>
          </a:prstGeom>
          <a:noFill/>
          <a:ln w="9525">
            <a:solidFill>
              <a:srgbClr val="3A3025"/>
            </a:solidFill>
            <a:prstDash val="solid"/>
          </a:ln>
        </p:spPr>
      </p:sp>
      <p:sp>
        <p:nvSpPr>
          <p:cNvPr id="15" name="Text 12"/>
          <p:cNvSpPr/>
          <p:nvPr/>
        </p:nvSpPr>
        <p:spPr>
          <a:xfrm>
            <a:off x="1188720" y="4187952"/>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GTIN</a:t>
            </a:r>
            <a:endParaRPr lang="en-US" sz="1250" dirty="0"/>
          </a:p>
        </p:txBody>
      </p:sp>
      <p:sp>
        <p:nvSpPr>
          <p:cNvPr id="16" name="Text 13"/>
          <p:cNvSpPr/>
          <p:nvPr/>
        </p:nvSpPr>
        <p:spPr>
          <a:xfrm>
            <a:off x="2788920" y="4178808"/>
            <a:ext cx="2880360" cy="292608"/>
          </a:xfrm>
          <a:prstGeom prst="rect">
            <a:avLst/>
          </a:prstGeom>
          <a:noFill/>
          <a:ln/>
        </p:spPr>
        <p:txBody>
          <a:bodyPr wrap="square" lIns="0" tIns="0" rIns="0" bIns="0" rtlCol="0" anchor="ctr"/>
          <a:lstStyle/>
          <a:p>
            <a:pPr indent="0" marL="0">
              <a:buNone/>
            </a:pPr>
            <a:r>
              <a:rPr lang="en-US" sz="1300" dirty="0">
                <a:solidFill>
                  <a:srgbClr val="FFFFFF"/>
                </a:solidFill>
                <a:latin typeface="Apple SD Gothic Neo" pitchFamily="34" charset="0"/>
                <a:ea typeface="Apple SD Gothic Neo" pitchFamily="34" charset="-122"/>
                <a:cs typeface="Apple SD Gothic Neo" pitchFamily="34" charset="-120"/>
              </a:rPr>
              <a:t>2900000000018</a:t>
            </a:r>
            <a:endParaRPr lang="en-US" sz="1300" dirty="0"/>
          </a:p>
        </p:txBody>
      </p:sp>
      <p:sp>
        <p:nvSpPr>
          <p:cNvPr id="17" name="Text 14"/>
          <p:cNvSpPr/>
          <p:nvPr/>
        </p:nvSpPr>
        <p:spPr>
          <a:xfrm>
            <a:off x="6309360" y="2487168"/>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원산지</a:t>
            </a:r>
            <a:endParaRPr lang="en-US" sz="1250" dirty="0"/>
          </a:p>
        </p:txBody>
      </p:sp>
      <p:sp>
        <p:nvSpPr>
          <p:cNvPr id="18" name="Text 15"/>
          <p:cNvSpPr/>
          <p:nvPr/>
        </p:nvSpPr>
        <p:spPr>
          <a:xfrm>
            <a:off x="7909560" y="2478024"/>
            <a:ext cx="2880360" cy="292608"/>
          </a:xfrm>
          <a:prstGeom prst="rect">
            <a:avLst/>
          </a:prstGeom>
          <a:noFill/>
          <a:ln/>
        </p:spPr>
        <p:txBody>
          <a:bodyPr wrap="square" lIns="0" tIns="0" rIns="0" bIns="0" rtlCol="0" anchor="ctr"/>
          <a:lstStyle/>
          <a:p>
            <a:pPr indent="0" marL="0">
              <a:buNone/>
            </a:pPr>
            <a:r>
              <a:rPr lang="en-US" sz="1300" dirty="0">
                <a:solidFill>
                  <a:srgbClr val="FFFFFF"/>
                </a:solidFill>
                <a:latin typeface="Apple SD Gothic Neo" pitchFamily="34" charset="0"/>
                <a:ea typeface="Apple SD Gothic Neo" pitchFamily="34" charset="-122"/>
                <a:cs typeface="Apple SD Gothic Neo" pitchFamily="34" charset="-120"/>
              </a:rPr>
              <a:t>IT</a:t>
            </a:r>
            <a:endParaRPr lang="en-US" sz="1300" dirty="0"/>
          </a:p>
        </p:txBody>
      </p:sp>
      <p:sp>
        <p:nvSpPr>
          <p:cNvPr id="19" name="Shape 16"/>
          <p:cNvSpPr/>
          <p:nvPr/>
        </p:nvSpPr>
        <p:spPr>
          <a:xfrm>
            <a:off x="6309360" y="2907792"/>
            <a:ext cx="4480560" cy="0"/>
          </a:xfrm>
          <a:prstGeom prst="line">
            <a:avLst/>
          </a:prstGeom>
          <a:noFill/>
          <a:ln w="9525">
            <a:solidFill>
              <a:srgbClr val="3A3025"/>
            </a:solidFill>
            <a:prstDash val="solid"/>
          </a:ln>
        </p:spPr>
      </p:sp>
      <p:sp>
        <p:nvSpPr>
          <p:cNvPr id="20" name="Text 17"/>
          <p:cNvSpPr/>
          <p:nvPr/>
        </p:nvSpPr>
        <p:spPr>
          <a:xfrm>
            <a:off x="6309360" y="3054096"/>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소재 구성</a:t>
            </a:r>
            <a:endParaRPr lang="en-US" sz="1250" dirty="0"/>
          </a:p>
        </p:txBody>
      </p:sp>
      <p:sp>
        <p:nvSpPr>
          <p:cNvPr id="21" name="Text 18"/>
          <p:cNvSpPr/>
          <p:nvPr/>
        </p:nvSpPr>
        <p:spPr>
          <a:xfrm>
            <a:off x="7909560" y="3044952"/>
            <a:ext cx="2880360" cy="292608"/>
          </a:xfrm>
          <a:prstGeom prst="rect">
            <a:avLst/>
          </a:prstGeom>
          <a:noFill/>
          <a:ln/>
        </p:spPr>
        <p:txBody>
          <a:bodyPr wrap="square" lIns="0" tIns="0" rIns="0" bIns="0" rtlCol="0" anchor="ctr"/>
          <a:lstStyle/>
          <a:p>
            <a:pPr indent="0" marL="0">
              <a:buNone/>
            </a:pPr>
            <a:r>
              <a:rPr lang="en-US" sz="1300" dirty="0">
                <a:solidFill>
                  <a:srgbClr val="FFFFFF"/>
                </a:solidFill>
                <a:latin typeface="Apple SD Gothic Neo" pitchFamily="34" charset="0"/>
                <a:ea typeface="Apple SD Gothic Neo" pitchFamily="34" charset="-122"/>
                <a:cs typeface="Apple SD Gothic Neo" pitchFamily="34" charset="-120"/>
              </a:rPr>
              <a:t>coated canvas 72% · calf 24% · brass 4%</a:t>
            </a:r>
            <a:endParaRPr lang="en-US" sz="1300" dirty="0"/>
          </a:p>
        </p:txBody>
      </p:sp>
      <p:sp>
        <p:nvSpPr>
          <p:cNvPr id="22" name="Shape 19"/>
          <p:cNvSpPr/>
          <p:nvPr/>
        </p:nvSpPr>
        <p:spPr>
          <a:xfrm>
            <a:off x="6309360" y="3474720"/>
            <a:ext cx="4480560" cy="0"/>
          </a:xfrm>
          <a:prstGeom prst="line">
            <a:avLst/>
          </a:prstGeom>
          <a:noFill/>
          <a:ln w="9525">
            <a:solidFill>
              <a:srgbClr val="3A3025"/>
            </a:solidFill>
            <a:prstDash val="solid"/>
          </a:ln>
        </p:spPr>
      </p:sp>
      <p:sp>
        <p:nvSpPr>
          <p:cNvPr id="23" name="Text 20"/>
          <p:cNvSpPr/>
          <p:nvPr/>
        </p:nvSpPr>
        <p:spPr>
          <a:xfrm>
            <a:off x="6309360" y="3621024"/>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재활용 함량</a:t>
            </a:r>
            <a:endParaRPr lang="en-US" sz="1250" dirty="0"/>
          </a:p>
        </p:txBody>
      </p:sp>
      <p:sp>
        <p:nvSpPr>
          <p:cNvPr id="24" name="Text 21"/>
          <p:cNvSpPr/>
          <p:nvPr/>
        </p:nvSpPr>
        <p:spPr>
          <a:xfrm>
            <a:off x="7909560" y="3611880"/>
            <a:ext cx="2880360" cy="292608"/>
          </a:xfrm>
          <a:prstGeom prst="rect">
            <a:avLst/>
          </a:prstGeom>
          <a:noFill/>
          <a:ln/>
        </p:spPr>
        <p:txBody>
          <a:bodyPr wrap="square" lIns="0" tIns="0" rIns="0" bIns="0" rtlCol="0" anchor="ctr"/>
          <a:lstStyle/>
          <a:p>
            <a:pPr indent="0" marL="0">
              <a:buNone/>
            </a:pPr>
            <a:r>
              <a:rPr lang="en-US" sz="1300" dirty="0">
                <a:solidFill>
                  <a:srgbClr val="FFFFFF"/>
                </a:solidFill>
                <a:latin typeface="Apple SD Gothic Neo" pitchFamily="34" charset="0"/>
                <a:ea typeface="Apple SD Gothic Neo" pitchFamily="34" charset="-122"/>
                <a:cs typeface="Apple SD Gothic Neo" pitchFamily="34" charset="-120"/>
              </a:rPr>
              <a:t>18%</a:t>
            </a:r>
            <a:endParaRPr lang="en-US" sz="1300" dirty="0"/>
          </a:p>
        </p:txBody>
      </p:sp>
      <p:sp>
        <p:nvSpPr>
          <p:cNvPr id="25" name="Shape 22"/>
          <p:cNvSpPr/>
          <p:nvPr/>
        </p:nvSpPr>
        <p:spPr>
          <a:xfrm>
            <a:off x="6309360" y="4041648"/>
            <a:ext cx="4480560" cy="0"/>
          </a:xfrm>
          <a:prstGeom prst="line">
            <a:avLst/>
          </a:prstGeom>
          <a:noFill/>
          <a:ln w="9525">
            <a:solidFill>
              <a:srgbClr val="3A3025"/>
            </a:solidFill>
            <a:prstDash val="solid"/>
          </a:ln>
        </p:spPr>
      </p:sp>
      <p:sp>
        <p:nvSpPr>
          <p:cNvPr id="26" name="Text 23"/>
          <p:cNvSpPr/>
          <p:nvPr/>
        </p:nvSpPr>
        <p:spPr>
          <a:xfrm>
            <a:off x="6309360" y="4187952"/>
            <a:ext cx="1554480" cy="274320"/>
          </a:xfrm>
          <a:prstGeom prst="rect">
            <a:avLst/>
          </a:prstGeom>
          <a:noFill/>
          <a:ln/>
        </p:spPr>
        <p:txBody>
          <a:bodyPr wrap="square" lIns="0" tIns="0" rIns="0" bIns="0" rtlCol="0" anchor="ctr"/>
          <a:lstStyle/>
          <a:p>
            <a:pPr indent="0" marL="0">
              <a:buNone/>
            </a:pPr>
            <a:r>
              <a:rPr lang="en-US" sz="1250" dirty="0">
                <a:solidFill>
                  <a:srgbClr val="6E6459"/>
                </a:solidFill>
                <a:latin typeface="Apple SD Gothic Neo" pitchFamily="34" charset="0"/>
                <a:ea typeface="Apple SD Gothic Neo" pitchFamily="34" charset="-122"/>
                <a:cs typeface="Apple SD Gothic Neo" pitchFamily="34" charset="-120"/>
              </a:rPr>
              <a:t>수리가능성</a:t>
            </a:r>
            <a:endParaRPr lang="en-US" sz="1250" dirty="0"/>
          </a:p>
        </p:txBody>
      </p:sp>
      <p:sp>
        <p:nvSpPr>
          <p:cNvPr id="27" name="Text 24"/>
          <p:cNvSpPr/>
          <p:nvPr/>
        </p:nvSpPr>
        <p:spPr>
          <a:xfrm>
            <a:off x="7909560" y="4178808"/>
            <a:ext cx="2880360" cy="292608"/>
          </a:xfrm>
          <a:prstGeom prst="rect">
            <a:avLst/>
          </a:prstGeom>
          <a:noFill/>
          <a:ln/>
        </p:spPr>
        <p:txBody>
          <a:bodyPr wrap="square" lIns="0" tIns="0" rIns="0" bIns="0" rtlCol="0" anchor="ctr"/>
          <a:lstStyle/>
          <a:p>
            <a:pPr indent="0" marL="0">
              <a:buNone/>
            </a:pPr>
            <a:r>
              <a:rPr lang="en-US" sz="1300" dirty="0">
                <a:solidFill>
                  <a:srgbClr val="FFFFFF"/>
                </a:solidFill>
                <a:latin typeface="Apple SD Gothic Neo" pitchFamily="34" charset="0"/>
                <a:ea typeface="Apple SD Gothic Neo" pitchFamily="34" charset="-122"/>
                <a:cs typeface="Apple SD Gothic Neo" pitchFamily="34" charset="-120"/>
              </a:rPr>
              <a:t>8.2 / 10</a:t>
            </a:r>
            <a:endParaRPr lang="en-US" sz="1300" dirty="0"/>
          </a:p>
        </p:txBody>
      </p:sp>
      <p:sp>
        <p:nvSpPr>
          <p:cNvPr id="28" name="Text 25"/>
          <p:cNvSpPr/>
          <p:nvPr/>
        </p:nvSpPr>
        <p:spPr>
          <a:xfrm>
            <a:off x="914400" y="4956048"/>
            <a:ext cx="10332720" cy="365760"/>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EU ESPR 여권 항목을 그대로 채웁니다. GS1 Digital Link 표준 태그로 도착합니다.</a:t>
            </a:r>
            <a:endParaRPr lang="en-US" sz="1700" dirty="0"/>
          </a:p>
        </p:txBody>
      </p:sp>
      <p:sp>
        <p:nvSpPr>
          <p:cNvPr id="29" name="Text 26"/>
          <p:cNvSpPr/>
          <p:nvPr/>
        </p:nvSpPr>
        <p:spPr>
          <a:xfrm>
            <a:off x="914400" y="5413248"/>
            <a:ext cx="10332720" cy="694944"/>
          </a:xfrm>
          <a:prstGeom prst="rect">
            <a:avLst/>
          </a:prstGeom>
          <a:noFill/>
          <a:ln/>
        </p:spPr>
        <p:txBody>
          <a:bodyPr wrap="square" lIns="0" tIns="0" rIns="0" bIns="0" rtlCol="0" anchor="ctr"/>
          <a:lstStyle/>
          <a:p>
            <a:pPr algn="ct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소재 · 재활용 · 수리가능성 수치는 화면에 “시연용 가정치”라고 함께 띄웁니다.</a:t>
            </a:r>
            <a:endParaRPr lang="en-US" sz="1300" dirty="0"/>
          </a:p>
          <a:p>
            <a:pPr algn="ct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블록체인 원장 기록은 “아직 연결되지 않았습니다”라고 적습니다.</a:t>
            </a:r>
            <a:endParaRPr lang="en-US" sz="1300" dirty="0"/>
          </a:p>
        </p:txBody>
      </p:sp>
      <p:sp>
        <p:nvSpPr>
          <p:cNvPr id="30" name="Text 27"/>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DEMO</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매장에서 산 박스가 시작점입니다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26464" y="3383280"/>
            <a:ext cx="185166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스캔</a:t>
            </a:r>
            <a:endParaRPr lang="en-US" sz="2400" dirty="0"/>
          </a:p>
        </p:txBody>
      </p:sp>
      <p:sp>
        <p:nvSpPr>
          <p:cNvPr id="7" name="Text 4"/>
          <p:cNvSpPr/>
          <p:nvPr/>
        </p:nvSpPr>
        <p:spPr>
          <a:xfrm>
            <a:off x="142646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박스를 열면</a:t>
            </a:r>
            <a:endParaRPr lang="en-US" sz="1400" dirty="0"/>
          </a:p>
        </p:txBody>
      </p:sp>
      <p:sp>
        <p:nvSpPr>
          <p:cNvPr id="8" name="Shape 5"/>
          <p:cNvSpPr/>
          <p:nvPr/>
        </p:nvSpPr>
        <p:spPr>
          <a:xfrm>
            <a:off x="3589020" y="3291840"/>
            <a:ext cx="0" cy="1188720"/>
          </a:xfrm>
          <a:prstGeom prst="line">
            <a:avLst/>
          </a:prstGeom>
          <a:noFill/>
          <a:ln w="9525">
            <a:solidFill>
              <a:srgbClr val="3A3025"/>
            </a:solidFill>
            <a:prstDash val="solid"/>
          </a:ln>
        </p:spPr>
      </p:sp>
      <p:sp>
        <p:nvSpPr>
          <p:cNvPr id="9" name="Text 6"/>
          <p:cNvSpPr/>
          <p:nvPr/>
        </p:nvSpPr>
        <p:spPr>
          <a:xfrm>
            <a:off x="3918204" y="3383280"/>
            <a:ext cx="185166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등록</a:t>
            </a:r>
            <a:endParaRPr lang="en-US" sz="2400" dirty="0"/>
          </a:p>
        </p:txBody>
      </p:sp>
      <p:sp>
        <p:nvSpPr>
          <p:cNvPr id="10" name="Text 7"/>
          <p:cNvSpPr/>
          <p:nvPr/>
        </p:nvSpPr>
        <p:spPr>
          <a:xfrm>
            <a:off x="391820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첫 줄이 찍히고</a:t>
            </a:r>
            <a:endParaRPr lang="en-US" sz="1400" dirty="0"/>
          </a:p>
        </p:txBody>
      </p:sp>
      <p:sp>
        <p:nvSpPr>
          <p:cNvPr id="11" name="Shape 8"/>
          <p:cNvSpPr/>
          <p:nvPr/>
        </p:nvSpPr>
        <p:spPr>
          <a:xfrm>
            <a:off x="6080760" y="3291840"/>
            <a:ext cx="0" cy="1188720"/>
          </a:xfrm>
          <a:prstGeom prst="line">
            <a:avLst/>
          </a:prstGeom>
          <a:noFill/>
          <a:ln w="9525">
            <a:solidFill>
              <a:srgbClr val="3A3025"/>
            </a:solidFill>
            <a:prstDash val="solid"/>
          </a:ln>
        </p:spPr>
      </p:sp>
      <p:sp>
        <p:nvSpPr>
          <p:cNvPr id="12" name="Text 9"/>
          <p:cNvSpPr/>
          <p:nvPr/>
        </p:nvSpPr>
        <p:spPr>
          <a:xfrm>
            <a:off x="6409944" y="3383280"/>
            <a:ext cx="185166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기록</a:t>
            </a:r>
            <a:endParaRPr lang="en-US" sz="2400" dirty="0"/>
          </a:p>
        </p:txBody>
      </p:sp>
      <p:sp>
        <p:nvSpPr>
          <p:cNvPr id="13" name="Text 10"/>
          <p:cNvSpPr/>
          <p:nvPr/>
        </p:nvSpPr>
        <p:spPr>
          <a:xfrm>
            <a:off x="640994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AI가 쓰고</a:t>
            </a:r>
            <a:endParaRPr lang="en-US" sz="1400" dirty="0"/>
          </a:p>
        </p:txBody>
      </p:sp>
      <p:sp>
        <p:nvSpPr>
          <p:cNvPr id="14" name="Shape 11"/>
          <p:cNvSpPr/>
          <p:nvPr/>
        </p:nvSpPr>
        <p:spPr>
          <a:xfrm>
            <a:off x="8572500" y="3291840"/>
            <a:ext cx="0" cy="1188720"/>
          </a:xfrm>
          <a:prstGeom prst="line">
            <a:avLst/>
          </a:prstGeom>
          <a:noFill/>
          <a:ln w="9525">
            <a:solidFill>
              <a:srgbClr val="3A3025"/>
            </a:solidFill>
            <a:prstDash val="solid"/>
          </a:ln>
        </p:spPr>
      </p:sp>
      <p:sp>
        <p:nvSpPr>
          <p:cNvPr id="15" name="Text 12"/>
          <p:cNvSpPr/>
          <p:nvPr/>
        </p:nvSpPr>
        <p:spPr>
          <a:xfrm>
            <a:off x="8901684" y="3383280"/>
            <a:ext cx="1851660" cy="420624"/>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REMADE</a:t>
            </a:r>
            <a:endParaRPr lang="en-US" sz="2400" dirty="0"/>
          </a:p>
        </p:txBody>
      </p:sp>
      <p:sp>
        <p:nvSpPr>
          <p:cNvPr id="16" name="Text 13"/>
          <p:cNvSpPr/>
          <p:nvPr/>
        </p:nvSpPr>
        <p:spPr>
          <a:xfrm>
            <a:off x="890168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그 자리에 그린다</a:t>
            </a:r>
            <a:endParaRPr lang="en-US" sz="1400" dirty="0"/>
          </a:p>
        </p:txBody>
      </p:sp>
      <p:sp>
        <p:nvSpPr>
          <p:cNvPr id="17" name="Text 14"/>
          <p:cNvSpPr/>
          <p:nvPr/>
        </p:nvSpPr>
        <p:spPr>
          <a:xfrm>
            <a:off x="914400" y="5029200"/>
            <a:ext cx="10332720" cy="365760"/>
          </a:xfrm>
          <a:prstGeom prst="rect">
            <a:avLst/>
          </a:prstGeom>
          <a:noFill/>
          <a:ln/>
        </p:spPr>
        <p:txBody>
          <a:bodyPr wrap="square" lIns="0" tIns="0" rIns="0" bIns="0" rtlCol="0" anchor="ctr"/>
          <a:lstStyle/>
          <a:p>
            <a:pPr algn="ctr" indent="0" marL="0">
              <a:buNone/>
            </a:pPr>
            <a:r>
              <a:rPr lang="en-US" sz="1800" dirty="0">
                <a:solidFill>
                  <a:srgbClr val="FFFFFF"/>
                </a:solidFill>
                <a:latin typeface="Apple SD Gothic Neo" pitchFamily="34" charset="0"/>
                <a:ea typeface="Apple SD Gothic Neo" pitchFamily="34" charset="-122"/>
                <a:cs typeface="Apple SD Gothic Neo" pitchFamily="34" charset="-120"/>
              </a:rPr>
              <a:t>박스는 손으로 끌어서 엽니다. 속도는 사용자가 정합니다</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4</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왜 지금, 무엇으로 버는가</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데이터 · 경쟁 · 타이밍</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DATA ASSET</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브랜드가 몰랐던 것이 보입니다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914400" y="2432304"/>
            <a:ext cx="10332720" cy="822960"/>
          </a:xfrm>
          <a:prstGeom prst="rect">
            <a:avLst/>
          </a:prstGeom>
          <a:noFill/>
          <a:ln/>
        </p:spPr>
        <p:txBody>
          <a:bodyPr wrap="square" lIns="0" tIns="0" rIns="0" bIns="0" rtlCol="0" anchor="ctr"/>
          <a:lstStyle/>
          <a:p>
            <a:pPr algn="ctr" indent="0" marL="0">
              <a:lnSpc>
                <a:spcPts val="2800"/>
              </a:lnSpc>
              <a:buNone/>
            </a:pPr>
            <a:r>
              <a:rPr lang="en-US" sz="1700" dirty="0">
                <a:solidFill>
                  <a:srgbClr val="9A8F84"/>
                </a:solidFill>
                <a:latin typeface="Apple SD Gothic Neo" pitchFamily="34" charset="0"/>
                <a:ea typeface="Apple SD Gothic Neo" pitchFamily="34" charset="-122"/>
                <a:cs typeface="Apple SD Gothic Neo" pitchFamily="34" charset="-120"/>
              </a:rPr>
              <a:t>브랜드는 무엇이 팔렸는지는 압니다.</a:t>
            </a:r>
            <a:endParaRPr lang="en-US" sz="1700" dirty="0"/>
          </a:p>
          <a:p>
            <a:pPr algn="ctr" indent="0" marL="0">
              <a:lnSpc>
                <a:spcPts val="2800"/>
              </a:lnSpc>
              <a:buNone/>
            </a:pPr>
            <a:r>
              <a:rPr lang="en-US" sz="1700" dirty="0">
                <a:solidFill>
                  <a:srgbClr val="9A8F84"/>
                </a:solidFill>
                <a:latin typeface="Apple SD Gothic Neo" pitchFamily="34" charset="0"/>
                <a:ea typeface="Apple SD Gothic Neo" pitchFamily="34" charset="-122"/>
                <a:cs typeface="Apple SD Gothic Neo" pitchFamily="34" charset="-120"/>
              </a:rPr>
              <a:t>언제, 어떤 상황에 쓰이는지는 모릅니다.</a:t>
            </a:r>
            <a:endParaRPr lang="en-US" sz="1700" dirty="0"/>
          </a:p>
        </p:txBody>
      </p:sp>
      <p:sp>
        <p:nvSpPr>
          <p:cNvPr id="7" name="Text 4"/>
          <p:cNvSpPr/>
          <p:nvPr/>
        </p:nvSpPr>
        <p:spPr>
          <a:xfrm>
            <a:off x="1097280" y="3950208"/>
            <a:ext cx="3322320" cy="402336"/>
          </a:xfrm>
          <a:prstGeom prst="rect">
            <a:avLst/>
          </a:prstGeom>
          <a:noFill/>
          <a:ln/>
        </p:spPr>
        <p:txBody>
          <a:bodyPr wrap="square" lIns="0" tIns="0" rIns="0" bIns="0" rtlCol="0" anchor="ctr"/>
          <a:lstStyle/>
          <a:p>
            <a:pPr algn="ct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상황 분포</a:t>
            </a:r>
            <a:endParaRPr lang="en-US" sz="2400" dirty="0"/>
          </a:p>
        </p:txBody>
      </p:sp>
      <p:sp>
        <p:nvSpPr>
          <p:cNvPr id="8" name="Shape 5"/>
          <p:cNvSpPr/>
          <p:nvPr/>
        </p:nvSpPr>
        <p:spPr>
          <a:xfrm>
            <a:off x="4419600" y="3785616"/>
            <a:ext cx="0" cy="731520"/>
          </a:xfrm>
          <a:prstGeom prst="line">
            <a:avLst/>
          </a:prstGeom>
          <a:noFill/>
          <a:ln w="9525">
            <a:solidFill>
              <a:srgbClr val="3A3025"/>
            </a:solidFill>
            <a:prstDash val="solid"/>
          </a:ln>
        </p:spPr>
      </p:sp>
      <p:sp>
        <p:nvSpPr>
          <p:cNvPr id="9" name="Text 6"/>
          <p:cNvSpPr/>
          <p:nvPr/>
        </p:nvSpPr>
        <p:spPr>
          <a:xfrm>
            <a:off x="4419600" y="3950208"/>
            <a:ext cx="3322320" cy="402336"/>
          </a:xfrm>
          <a:prstGeom prst="rect">
            <a:avLst/>
          </a:prstGeom>
          <a:noFill/>
          <a:ln/>
        </p:spPr>
        <p:txBody>
          <a:bodyPr wrap="square" lIns="0" tIns="0" rIns="0" bIns="0" rtlCol="0" anchor="ctr"/>
          <a:lstStyle/>
          <a:p>
            <a:pPr algn="ct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수선 부위</a:t>
            </a:r>
            <a:endParaRPr lang="en-US" sz="2400" dirty="0"/>
          </a:p>
        </p:txBody>
      </p:sp>
      <p:sp>
        <p:nvSpPr>
          <p:cNvPr id="10" name="Shape 7"/>
          <p:cNvSpPr/>
          <p:nvPr/>
        </p:nvSpPr>
        <p:spPr>
          <a:xfrm>
            <a:off x="7741920" y="3785616"/>
            <a:ext cx="0" cy="731520"/>
          </a:xfrm>
          <a:prstGeom prst="line">
            <a:avLst/>
          </a:prstGeom>
          <a:noFill/>
          <a:ln w="9525">
            <a:solidFill>
              <a:srgbClr val="3A3025"/>
            </a:solidFill>
            <a:prstDash val="solid"/>
          </a:ln>
        </p:spPr>
      </p:sp>
      <p:sp>
        <p:nvSpPr>
          <p:cNvPr id="11" name="Text 8"/>
          <p:cNvSpPr/>
          <p:nvPr/>
        </p:nvSpPr>
        <p:spPr>
          <a:xfrm>
            <a:off x="7741920" y="3950208"/>
            <a:ext cx="3322320" cy="402336"/>
          </a:xfrm>
          <a:prstGeom prst="rect">
            <a:avLst/>
          </a:prstGeom>
          <a:noFill/>
          <a:ln/>
        </p:spPr>
        <p:txBody>
          <a:bodyPr wrap="square" lIns="0" tIns="0" rIns="0" bIns="0" rtlCol="0" anchor="ctr"/>
          <a:lstStyle/>
          <a:p>
            <a:pPr algn="ct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도시별 사용</a:t>
            </a:r>
            <a:endParaRPr lang="en-US" sz="2400" dirty="0"/>
          </a:p>
        </p:txBody>
      </p:sp>
      <p:sp>
        <p:nvSpPr>
          <p:cNvPr id="12" name="Text 9"/>
          <p:cNvSpPr/>
          <p:nvPr/>
        </p:nvSpPr>
        <p:spPr>
          <a:xfrm>
            <a:off x="914400" y="4773168"/>
            <a:ext cx="10332720" cy="329184"/>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어느 부위가 자주 상하는가 → 다음 제품 설계로</a:t>
            </a:r>
            <a:endParaRPr lang="en-US" sz="1500" dirty="0"/>
          </a:p>
        </p:txBody>
      </p:sp>
      <p:sp>
        <p:nvSpPr>
          <p:cNvPr id="13" name="Shape 10"/>
          <p:cNvSpPr/>
          <p:nvPr/>
        </p:nvSpPr>
        <p:spPr>
          <a:xfrm>
            <a:off x="4023360" y="5376672"/>
            <a:ext cx="4114800" cy="0"/>
          </a:xfrm>
          <a:prstGeom prst="line">
            <a:avLst/>
          </a:prstGeom>
          <a:noFill/>
          <a:ln w="9525">
            <a:solidFill>
              <a:srgbClr val="3A3025"/>
            </a:solidFill>
            <a:prstDash val="solid"/>
          </a:ln>
        </p:spPr>
      </p:sp>
      <p:sp>
        <p:nvSpPr>
          <p:cNvPr id="14" name="Text 11"/>
          <p:cNvSpPr/>
          <p:nvPr/>
        </p:nvSpPr>
        <p:spPr>
          <a:xfrm>
            <a:off x="914400" y="5614416"/>
            <a:ext cx="10332720" cy="329184"/>
          </a:xfrm>
          <a:prstGeom prst="rect">
            <a:avLst/>
          </a:prstGeom>
          <a:noFill/>
          <a:ln/>
        </p:spPr>
        <p:txBody>
          <a:bodyPr wrap="square" lIns="0" tIns="0" rIns="0" bIns="0" rtlCol="0" anchor="ctr"/>
          <a:lstStyle/>
          <a:p>
            <a:pPr algn="ctr" indent="0" marL="0">
              <a:buNone/>
            </a:pPr>
            <a:r>
              <a:rPr lang="en-US" sz="1400" dirty="0">
                <a:solidFill>
                  <a:srgbClr val="FFFFFF"/>
                </a:solidFill>
                <a:latin typeface="Apple SD Gothic Neo" pitchFamily="34" charset="0"/>
                <a:ea typeface="Apple SD Gothic Neo" pitchFamily="34" charset="-122"/>
                <a:cs typeface="Apple SD Gothic Neo" pitchFamily="34" charset="-120"/>
              </a:rPr>
              <a:t>동의한 사용자만 집계합니다 · 5건 미만 그룹은 뺍니다</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4896"/>
              </a:lnSpc>
              <a:buNone/>
            </a:pPr>
            <a:r>
              <a:rPr lang="en-US" sz="3600" b="1" dirty="0">
                <a:solidFill>
                  <a:srgbClr val="FFFFFF"/>
                </a:solidFill>
                <a:latin typeface="Apple SD Gothic Neo" pitchFamily="34" charset="0"/>
                <a:ea typeface="Apple SD Gothic Neo" pitchFamily="34" charset="-122"/>
                <a:cs typeface="Apple SD Gothic Neo" pitchFamily="34" charset="-120"/>
              </a:rPr>
              <a:t>저희 자리는</a:t>
            </a:r>
            <a:endParaRPr lang="en-US" sz="3600" dirty="0"/>
          </a:p>
          <a:p>
            <a:pPr algn="ctr" indent="0" marL="0">
              <a:lnSpc>
                <a:spcPts val="4896"/>
              </a:lnSpc>
              <a:buNone/>
            </a:pPr>
            <a:r>
              <a:rPr lang="en-US" sz="3600" b="1" dirty="0">
                <a:solidFill>
                  <a:srgbClr val="C4915F"/>
                </a:solidFill>
                <a:latin typeface="Apple SD Gothic Neo" pitchFamily="34" charset="0"/>
                <a:ea typeface="Apple SD Gothic Neo" pitchFamily="34" charset="-122"/>
                <a:cs typeface="Apple SD Gothic Neo" pitchFamily="34" charset="-120"/>
              </a:rPr>
              <a:t>DPP 위층입니다</a:t>
            </a:r>
            <a:endParaRPr lang="en-US" sz="36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COMPETITIVE POSITION</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020"/>
              </a:lnSpc>
              <a:buNone/>
            </a:pPr>
            <a:r>
              <a:rPr lang="en-US" sz="3000" b="1" dirty="0">
                <a:solidFill>
                  <a:srgbClr val="FFFFFF"/>
                </a:solidFill>
                <a:latin typeface="Apple SD Gothic Neo" pitchFamily="34" charset="0"/>
                <a:ea typeface="Apple SD Gothic Neo" pitchFamily="34" charset="-122"/>
                <a:cs typeface="Apple SD Gothic Neo" pitchFamily="34" charset="-120"/>
              </a:rPr>
              <a:t>대체재는 셋인데, 다섯을 다 가진 곳은 없습니다</a:t>
            </a:r>
            <a:endParaRPr lang="en-US" sz="30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4572000" y="2377440"/>
            <a:ext cx="1335024" cy="457200"/>
          </a:xfrm>
          <a:prstGeom prst="rect">
            <a:avLst/>
          </a:prstGeom>
          <a:noFill/>
          <a:ln/>
        </p:spPr>
        <p:txBody>
          <a:bodyPr wrap="square" lIns="0" tIns="0" rIns="0" bIns="0" rtlCol="0" anchor="ctr"/>
          <a:lstStyle/>
          <a:p>
            <a:pPr algn="ctr" indent="0" marL="0">
              <a:lnSpc>
                <a:spcPts val="1600"/>
              </a:lnSpc>
              <a:buNone/>
            </a:pPr>
            <a:r>
              <a:rPr lang="en-US" sz="1150" dirty="0">
                <a:solidFill>
                  <a:srgbClr val="6E6459"/>
                </a:solidFill>
                <a:latin typeface="Apple SD Gothic Neo" pitchFamily="34" charset="0"/>
                <a:ea typeface="Apple SD Gothic Neo" pitchFamily="34" charset="-122"/>
                <a:cs typeface="Apple SD Gothic Neo" pitchFamily="34" charset="-120"/>
              </a:rPr>
              <a:t>개인 추억</a:t>
            </a:r>
            <a:endParaRPr lang="en-US" sz="1150" dirty="0"/>
          </a:p>
        </p:txBody>
      </p:sp>
      <p:sp>
        <p:nvSpPr>
          <p:cNvPr id="7" name="Text 4"/>
          <p:cNvSpPr/>
          <p:nvPr/>
        </p:nvSpPr>
        <p:spPr>
          <a:xfrm>
            <a:off x="5907024" y="2377440"/>
            <a:ext cx="1335024" cy="457200"/>
          </a:xfrm>
          <a:prstGeom prst="rect">
            <a:avLst/>
          </a:prstGeom>
          <a:noFill/>
          <a:ln/>
        </p:spPr>
        <p:txBody>
          <a:bodyPr wrap="square" lIns="0" tIns="0" rIns="0" bIns="0" rtlCol="0" anchor="ctr"/>
          <a:lstStyle/>
          <a:p>
            <a:pPr algn="ctr" indent="0" marL="0">
              <a:lnSpc>
                <a:spcPts val="1600"/>
              </a:lnSpc>
              <a:buNone/>
            </a:pPr>
            <a:r>
              <a:rPr lang="en-US" sz="1150" dirty="0">
                <a:solidFill>
                  <a:srgbClr val="6E6459"/>
                </a:solidFill>
                <a:latin typeface="Apple SD Gothic Neo" pitchFamily="34" charset="0"/>
                <a:ea typeface="Apple SD Gothic Neo" pitchFamily="34" charset="-122"/>
                <a:cs typeface="Apple SD Gothic Neo" pitchFamily="34" charset="-120"/>
              </a:rPr>
              <a:t>공식 제품 이력</a:t>
            </a:r>
            <a:endParaRPr lang="en-US" sz="1150" dirty="0"/>
          </a:p>
        </p:txBody>
      </p:sp>
      <p:sp>
        <p:nvSpPr>
          <p:cNvPr id="8" name="Text 5"/>
          <p:cNvSpPr/>
          <p:nvPr/>
        </p:nvSpPr>
        <p:spPr>
          <a:xfrm>
            <a:off x="7242048" y="2377440"/>
            <a:ext cx="1335024" cy="457200"/>
          </a:xfrm>
          <a:prstGeom prst="rect">
            <a:avLst/>
          </a:prstGeom>
          <a:noFill/>
          <a:ln/>
        </p:spPr>
        <p:txBody>
          <a:bodyPr wrap="square" lIns="0" tIns="0" rIns="0" bIns="0" rtlCol="0" anchor="ctr"/>
          <a:lstStyle/>
          <a:p>
            <a:pPr algn="ctr" indent="0" marL="0">
              <a:lnSpc>
                <a:spcPts val="1600"/>
              </a:lnSpc>
              <a:buNone/>
            </a:pPr>
            <a:r>
              <a:rPr lang="en-US" sz="1150" dirty="0">
                <a:solidFill>
                  <a:srgbClr val="6E6459"/>
                </a:solidFill>
                <a:latin typeface="Apple SD Gothic Neo" pitchFamily="34" charset="0"/>
                <a:ea typeface="Apple SD Gothic Neo" pitchFamily="34" charset="-122"/>
                <a:cs typeface="Apple SD Gothic Neo" pitchFamily="34" charset="-120"/>
              </a:rPr>
              <a:t>AI Story</a:t>
            </a:r>
            <a:endParaRPr lang="en-US" sz="1150" dirty="0"/>
          </a:p>
        </p:txBody>
      </p:sp>
      <p:sp>
        <p:nvSpPr>
          <p:cNvPr id="9" name="Text 6"/>
          <p:cNvSpPr/>
          <p:nvPr/>
        </p:nvSpPr>
        <p:spPr>
          <a:xfrm>
            <a:off x="8577072" y="2377440"/>
            <a:ext cx="1335024" cy="457200"/>
          </a:xfrm>
          <a:prstGeom prst="rect">
            <a:avLst/>
          </a:prstGeom>
          <a:noFill/>
          <a:ln/>
        </p:spPr>
        <p:txBody>
          <a:bodyPr wrap="square" lIns="0" tIns="0" rIns="0" bIns="0" rtlCol="0" anchor="ctr"/>
          <a:lstStyle/>
          <a:p>
            <a:pPr algn="ctr" indent="0" marL="0">
              <a:lnSpc>
                <a:spcPts val="1600"/>
              </a:lnSpc>
              <a:buNone/>
            </a:pPr>
            <a:r>
              <a:rPr lang="en-US" sz="1150" dirty="0">
                <a:solidFill>
                  <a:srgbClr val="6E6459"/>
                </a:solidFill>
                <a:latin typeface="Apple SD Gothic Neo" pitchFamily="34" charset="0"/>
                <a:ea typeface="Apple SD Gothic Neo" pitchFamily="34" charset="-122"/>
                <a:cs typeface="Apple SD Gothic Neo" pitchFamily="34" charset="-120"/>
              </a:rPr>
              <a:t>Care · Repair</a:t>
            </a:r>
            <a:endParaRPr lang="en-US" sz="1150" dirty="0"/>
          </a:p>
        </p:txBody>
      </p:sp>
      <p:sp>
        <p:nvSpPr>
          <p:cNvPr id="10" name="Text 7"/>
          <p:cNvSpPr/>
          <p:nvPr/>
        </p:nvSpPr>
        <p:spPr>
          <a:xfrm>
            <a:off x="9912096" y="2377440"/>
            <a:ext cx="1335024" cy="457200"/>
          </a:xfrm>
          <a:prstGeom prst="rect">
            <a:avLst/>
          </a:prstGeom>
          <a:noFill/>
          <a:ln/>
        </p:spPr>
        <p:txBody>
          <a:bodyPr wrap="square" lIns="0" tIns="0" rIns="0" bIns="0" rtlCol="0" anchor="ctr"/>
          <a:lstStyle/>
          <a:p>
            <a:pPr algn="ctr" indent="0" marL="0">
              <a:lnSpc>
                <a:spcPts val="1600"/>
              </a:lnSpc>
              <a:buNone/>
            </a:pPr>
            <a:r>
              <a:rPr lang="en-US" sz="1150" dirty="0">
                <a:solidFill>
                  <a:srgbClr val="6E6459"/>
                </a:solidFill>
                <a:latin typeface="Apple SD Gothic Neo" pitchFamily="34" charset="0"/>
                <a:ea typeface="Apple SD Gothic Neo" pitchFamily="34" charset="-122"/>
                <a:cs typeface="Apple SD Gothic Neo" pitchFamily="34" charset="-120"/>
              </a:rPr>
              <a:t>소유권 이전</a:t>
            </a:r>
            <a:endParaRPr lang="en-US" sz="1150" dirty="0"/>
          </a:p>
        </p:txBody>
      </p:sp>
      <p:sp>
        <p:nvSpPr>
          <p:cNvPr id="11" name="Text 8"/>
          <p:cNvSpPr/>
          <p:nvPr/>
        </p:nvSpPr>
        <p:spPr>
          <a:xfrm>
            <a:off x="1188720" y="3090672"/>
            <a:ext cx="3291840" cy="329184"/>
          </a:xfrm>
          <a:prstGeom prst="rect">
            <a:avLst/>
          </a:prstGeom>
          <a:noFill/>
          <a:ln/>
        </p:spPr>
        <p:txBody>
          <a:bodyPr wrap="square" lIns="0" tIns="0" rIns="0" bIns="0" rtlCol="0" anchor="ctr"/>
          <a:lstStyle/>
          <a:p>
            <a:pPr indent="0" marL="0">
              <a:buNone/>
            </a:pPr>
            <a:r>
              <a:rPr lang="en-US" sz="1450" dirty="0">
                <a:solidFill>
                  <a:srgbClr val="9A8F84"/>
                </a:solidFill>
                <a:latin typeface="Apple SD Gothic Neo" pitchFamily="34" charset="0"/>
                <a:ea typeface="Apple SD Gothic Neo" pitchFamily="34" charset="-122"/>
                <a:cs typeface="Apple SD Gothic Neo" pitchFamily="34" charset="-120"/>
              </a:rPr>
              <a:t>Google Photos · 갤러리</a:t>
            </a:r>
            <a:endParaRPr lang="en-US" sz="1450" dirty="0"/>
          </a:p>
        </p:txBody>
      </p:sp>
      <p:sp>
        <p:nvSpPr>
          <p:cNvPr id="12" name="Text 9"/>
          <p:cNvSpPr/>
          <p:nvPr/>
        </p:nvSpPr>
        <p:spPr>
          <a:xfrm>
            <a:off x="4572000" y="3054096"/>
            <a:ext cx="1335024"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a:t>
            </a:r>
            <a:endParaRPr lang="en-US" sz="1700" dirty="0"/>
          </a:p>
        </p:txBody>
      </p:sp>
      <p:sp>
        <p:nvSpPr>
          <p:cNvPr id="13" name="Text 10"/>
          <p:cNvSpPr/>
          <p:nvPr/>
        </p:nvSpPr>
        <p:spPr>
          <a:xfrm>
            <a:off x="5907024" y="3054096"/>
            <a:ext cx="1335024" cy="365760"/>
          </a:xfrm>
          <a:prstGeom prst="rect">
            <a:avLst/>
          </a:prstGeom>
          <a:noFill/>
          <a:ln/>
        </p:spPr>
        <p:txBody>
          <a:bodyPr wrap="square" lIns="0" tIns="0" rIns="0" bIns="0" rtlCol="0" anchor="ctr"/>
          <a:lstStyle/>
          <a:p>
            <a:pPr algn="ctr" indent="0" marL="0">
              <a:buNone/>
            </a:pPr>
            <a:endParaRPr lang="en-US" sz="1700" dirty="0"/>
          </a:p>
        </p:txBody>
      </p:sp>
      <p:sp>
        <p:nvSpPr>
          <p:cNvPr id="14" name="Text 11"/>
          <p:cNvSpPr/>
          <p:nvPr/>
        </p:nvSpPr>
        <p:spPr>
          <a:xfrm>
            <a:off x="7242048" y="3054096"/>
            <a:ext cx="1335024" cy="365760"/>
          </a:xfrm>
          <a:prstGeom prst="rect">
            <a:avLst/>
          </a:prstGeom>
          <a:noFill/>
          <a:ln/>
        </p:spPr>
        <p:txBody>
          <a:bodyPr wrap="square" lIns="0" tIns="0" rIns="0" bIns="0" rtlCol="0" anchor="ctr"/>
          <a:lstStyle/>
          <a:p>
            <a:pPr algn="ctr" indent="0" marL="0">
              <a:buNone/>
            </a:pPr>
            <a:endParaRPr lang="en-US" sz="1700" dirty="0"/>
          </a:p>
        </p:txBody>
      </p:sp>
      <p:sp>
        <p:nvSpPr>
          <p:cNvPr id="15" name="Text 12"/>
          <p:cNvSpPr/>
          <p:nvPr/>
        </p:nvSpPr>
        <p:spPr>
          <a:xfrm>
            <a:off x="8577072" y="3054096"/>
            <a:ext cx="1335024" cy="365760"/>
          </a:xfrm>
          <a:prstGeom prst="rect">
            <a:avLst/>
          </a:prstGeom>
          <a:noFill/>
          <a:ln/>
        </p:spPr>
        <p:txBody>
          <a:bodyPr wrap="square" lIns="0" tIns="0" rIns="0" bIns="0" rtlCol="0" anchor="ctr"/>
          <a:lstStyle/>
          <a:p>
            <a:pPr algn="ctr" indent="0" marL="0">
              <a:buNone/>
            </a:pPr>
            <a:endParaRPr lang="en-US" sz="1700" dirty="0"/>
          </a:p>
        </p:txBody>
      </p:sp>
      <p:sp>
        <p:nvSpPr>
          <p:cNvPr id="16" name="Text 13"/>
          <p:cNvSpPr/>
          <p:nvPr/>
        </p:nvSpPr>
        <p:spPr>
          <a:xfrm>
            <a:off x="9912096" y="3054096"/>
            <a:ext cx="1335024" cy="365760"/>
          </a:xfrm>
          <a:prstGeom prst="rect">
            <a:avLst/>
          </a:prstGeom>
          <a:noFill/>
          <a:ln/>
        </p:spPr>
        <p:txBody>
          <a:bodyPr wrap="square" lIns="0" tIns="0" rIns="0" bIns="0" rtlCol="0" anchor="ctr"/>
          <a:lstStyle/>
          <a:p>
            <a:pPr algn="ctr" indent="0" marL="0">
              <a:buNone/>
            </a:pPr>
            <a:endParaRPr lang="en-US" sz="1700" dirty="0"/>
          </a:p>
        </p:txBody>
      </p:sp>
      <p:sp>
        <p:nvSpPr>
          <p:cNvPr id="17" name="Shape 14"/>
          <p:cNvSpPr/>
          <p:nvPr/>
        </p:nvSpPr>
        <p:spPr>
          <a:xfrm>
            <a:off x="1097280" y="3621024"/>
            <a:ext cx="9966960" cy="0"/>
          </a:xfrm>
          <a:prstGeom prst="line">
            <a:avLst/>
          </a:prstGeom>
          <a:noFill/>
          <a:ln w="9525">
            <a:solidFill>
              <a:srgbClr val="3A3025"/>
            </a:solidFill>
            <a:prstDash val="solid"/>
          </a:ln>
        </p:spPr>
      </p:sp>
      <p:sp>
        <p:nvSpPr>
          <p:cNvPr id="18" name="Text 15"/>
          <p:cNvSpPr/>
          <p:nvPr/>
        </p:nvSpPr>
        <p:spPr>
          <a:xfrm>
            <a:off x="1188720" y="3803904"/>
            <a:ext cx="3291840" cy="329184"/>
          </a:xfrm>
          <a:prstGeom prst="rect">
            <a:avLst/>
          </a:prstGeom>
          <a:noFill/>
          <a:ln/>
        </p:spPr>
        <p:txBody>
          <a:bodyPr wrap="square" lIns="0" tIns="0" rIns="0" bIns="0" rtlCol="0" anchor="ctr"/>
          <a:lstStyle/>
          <a:p>
            <a:pPr indent="0" marL="0">
              <a:buNone/>
            </a:pPr>
            <a:r>
              <a:rPr lang="en-US" sz="1450" dirty="0">
                <a:solidFill>
                  <a:srgbClr val="9A8F84"/>
                </a:solidFill>
                <a:latin typeface="Apple SD Gothic Neo" pitchFamily="34" charset="0"/>
                <a:ea typeface="Apple SD Gothic Neo" pitchFamily="34" charset="-122"/>
                <a:cs typeface="Apple SD Gothic Neo" pitchFamily="34" charset="-120"/>
              </a:rPr>
              <a:t>브랜드 A/S 창구</a:t>
            </a:r>
            <a:endParaRPr lang="en-US" sz="1450" dirty="0"/>
          </a:p>
        </p:txBody>
      </p:sp>
      <p:sp>
        <p:nvSpPr>
          <p:cNvPr id="19" name="Text 16"/>
          <p:cNvSpPr/>
          <p:nvPr/>
        </p:nvSpPr>
        <p:spPr>
          <a:xfrm>
            <a:off x="4572000" y="3767328"/>
            <a:ext cx="1335024" cy="365760"/>
          </a:xfrm>
          <a:prstGeom prst="rect">
            <a:avLst/>
          </a:prstGeom>
          <a:noFill/>
          <a:ln/>
        </p:spPr>
        <p:txBody>
          <a:bodyPr wrap="square" lIns="0" tIns="0" rIns="0" bIns="0" rtlCol="0" anchor="ctr"/>
          <a:lstStyle/>
          <a:p>
            <a:pPr algn="ctr" indent="0" marL="0">
              <a:buNone/>
            </a:pPr>
            <a:endParaRPr lang="en-US" sz="1700" dirty="0"/>
          </a:p>
        </p:txBody>
      </p:sp>
      <p:sp>
        <p:nvSpPr>
          <p:cNvPr id="20" name="Text 17"/>
          <p:cNvSpPr/>
          <p:nvPr/>
        </p:nvSpPr>
        <p:spPr>
          <a:xfrm>
            <a:off x="5907024" y="3767328"/>
            <a:ext cx="1335024"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a:t>
            </a:r>
            <a:endParaRPr lang="en-US" sz="1700" dirty="0"/>
          </a:p>
        </p:txBody>
      </p:sp>
      <p:sp>
        <p:nvSpPr>
          <p:cNvPr id="21" name="Text 18"/>
          <p:cNvSpPr/>
          <p:nvPr/>
        </p:nvSpPr>
        <p:spPr>
          <a:xfrm>
            <a:off x="7242048" y="3767328"/>
            <a:ext cx="1335024" cy="365760"/>
          </a:xfrm>
          <a:prstGeom prst="rect">
            <a:avLst/>
          </a:prstGeom>
          <a:noFill/>
          <a:ln/>
        </p:spPr>
        <p:txBody>
          <a:bodyPr wrap="square" lIns="0" tIns="0" rIns="0" bIns="0" rtlCol="0" anchor="ctr"/>
          <a:lstStyle/>
          <a:p>
            <a:pPr algn="ctr" indent="0" marL="0">
              <a:buNone/>
            </a:pPr>
            <a:endParaRPr lang="en-US" sz="1700" dirty="0"/>
          </a:p>
        </p:txBody>
      </p:sp>
      <p:sp>
        <p:nvSpPr>
          <p:cNvPr id="22" name="Text 19"/>
          <p:cNvSpPr/>
          <p:nvPr/>
        </p:nvSpPr>
        <p:spPr>
          <a:xfrm>
            <a:off x="8577072" y="3767328"/>
            <a:ext cx="1335024"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a:t>
            </a:r>
            <a:endParaRPr lang="en-US" sz="1700" dirty="0"/>
          </a:p>
        </p:txBody>
      </p:sp>
      <p:sp>
        <p:nvSpPr>
          <p:cNvPr id="23" name="Text 20"/>
          <p:cNvSpPr/>
          <p:nvPr/>
        </p:nvSpPr>
        <p:spPr>
          <a:xfrm>
            <a:off x="9912096" y="3767328"/>
            <a:ext cx="1335024" cy="365760"/>
          </a:xfrm>
          <a:prstGeom prst="rect">
            <a:avLst/>
          </a:prstGeom>
          <a:noFill/>
          <a:ln/>
        </p:spPr>
        <p:txBody>
          <a:bodyPr wrap="square" lIns="0" tIns="0" rIns="0" bIns="0" rtlCol="0" anchor="ctr"/>
          <a:lstStyle/>
          <a:p>
            <a:pPr algn="ctr" indent="0" marL="0">
              <a:buNone/>
            </a:pPr>
            <a:endParaRPr lang="en-US" sz="1700" dirty="0"/>
          </a:p>
        </p:txBody>
      </p:sp>
      <p:sp>
        <p:nvSpPr>
          <p:cNvPr id="24" name="Shape 21"/>
          <p:cNvSpPr/>
          <p:nvPr/>
        </p:nvSpPr>
        <p:spPr>
          <a:xfrm>
            <a:off x="1097280" y="4334256"/>
            <a:ext cx="9966960" cy="0"/>
          </a:xfrm>
          <a:prstGeom prst="line">
            <a:avLst/>
          </a:prstGeom>
          <a:noFill/>
          <a:ln w="9525">
            <a:solidFill>
              <a:srgbClr val="3A3025"/>
            </a:solidFill>
            <a:prstDash val="solid"/>
          </a:ln>
        </p:spPr>
      </p:sp>
      <p:sp>
        <p:nvSpPr>
          <p:cNvPr id="25" name="Text 22"/>
          <p:cNvSpPr/>
          <p:nvPr/>
        </p:nvSpPr>
        <p:spPr>
          <a:xfrm>
            <a:off x="1188720" y="4517136"/>
            <a:ext cx="3291840" cy="329184"/>
          </a:xfrm>
          <a:prstGeom prst="rect">
            <a:avLst/>
          </a:prstGeom>
          <a:noFill/>
          <a:ln/>
        </p:spPr>
        <p:txBody>
          <a:bodyPr wrap="square" lIns="0" tIns="0" rIns="0" bIns="0" rtlCol="0" anchor="ctr"/>
          <a:lstStyle/>
          <a:p>
            <a:pPr indent="0" marL="0">
              <a:buNone/>
            </a:pPr>
            <a:r>
              <a:rPr lang="en-US" sz="1450" dirty="0">
                <a:solidFill>
                  <a:srgbClr val="9A8F84"/>
                </a:solidFill>
                <a:latin typeface="Apple SD Gothic Neo" pitchFamily="34" charset="0"/>
                <a:ea typeface="Apple SD Gothic Neo" pitchFamily="34" charset="-122"/>
                <a:cs typeface="Apple SD Gothic Neo" pitchFamily="34" charset="-120"/>
              </a:rPr>
              <a:t>DPP 플랫폼 (Aura · Arianee)</a:t>
            </a:r>
            <a:endParaRPr lang="en-US" sz="1450" dirty="0"/>
          </a:p>
        </p:txBody>
      </p:sp>
      <p:sp>
        <p:nvSpPr>
          <p:cNvPr id="26" name="Text 23"/>
          <p:cNvSpPr/>
          <p:nvPr/>
        </p:nvSpPr>
        <p:spPr>
          <a:xfrm>
            <a:off x="4572000" y="4480560"/>
            <a:ext cx="1335024" cy="365760"/>
          </a:xfrm>
          <a:prstGeom prst="rect">
            <a:avLst/>
          </a:prstGeom>
          <a:noFill/>
          <a:ln/>
        </p:spPr>
        <p:txBody>
          <a:bodyPr wrap="square" lIns="0" tIns="0" rIns="0" bIns="0" rtlCol="0" anchor="ctr"/>
          <a:lstStyle/>
          <a:p>
            <a:pPr algn="ctr" indent="0" marL="0">
              <a:buNone/>
            </a:pPr>
            <a:endParaRPr lang="en-US" sz="1700" dirty="0"/>
          </a:p>
        </p:txBody>
      </p:sp>
      <p:sp>
        <p:nvSpPr>
          <p:cNvPr id="27" name="Text 24"/>
          <p:cNvSpPr/>
          <p:nvPr/>
        </p:nvSpPr>
        <p:spPr>
          <a:xfrm>
            <a:off x="5907024" y="4480560"/>
            <a:ext cx="1335024"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a:t>
            </a:r>
            <a:endParaRPr lang="en-US" sz="1700" dirty="0"/>
          </a:p>
        </p:txBody>
      </p:sp>
      <p:sp>
        <p:nvSpPr>
          <p:cNvPr id="28" name="Text 25"/>
          <p:cNvSpPr/>
          <p:nvPr/>
        </p:nvSpPr>
        <p:spPr>
          <a:xfrm>
            <a:off x="7242048" y="4480560"/>
            <a:ext cx="1335024" cy="365760"/>
          </a:xfrm>
          <a:prstGeom prst="rect">
            <a:avLst/>
          </a:prstGeom>
          <a:noFill/>
          <a:ln/>
        </p:spPr>
        <p:txBody>
          <a:bodyPr wrap="square" lIns="0" tIns="0" rIns="0" bIns="0" rtlCol="0" anchor="ctr"/>
          <a:lstStyle/>
          <a:p>
            <a:pPr algn="ctr" indent="0" marL="0">
              <a:buNone/>
            </a:pPr>
            <a:endParaRPr lang="en-US" sz="1700" dirty="0"/>
          </a:p>
        </p:txBody>
      </p:sp>
      <p:sp>
        <p:nvSpPr>
          <p:cNvPr id="29" name="Text 26"/>
          <p:cNvSpPr/>
          <p:nvPr/>
        </p:nvSpPr>
        <p:spPr>
          <a:xfrm>
            <a:off x="8577072" y="4480560"/>
            <a:ext cx="1335024" cy="365760"/>
          </a:xfrm>
          <a:prstGeom prst="rect">
            <a:avLst/>
          </a:prstGeom>
          <a:noFill/>
          <a:ln/>
        </p:spPr>
        <p:txBody>
          <a:bodyPr wrap="square" lIns="0" tIns="0" rIns="0" bIns="0" rtlCol="0" anchor="ctr"/>
          <a:lstStyle/>
          <a:p>
            <a:pPr algn="ctr" indent="0" marL="0">
              <a:buNone/>
            </a:pPr>
            <a:endParaRPr lang="en-US" sz="1700" dirty="0"/>
          </a:p>
        </p:txBody>
      </p:sp>
      <p:sp>
        <p:nvSpPr>
          <p:cNvPr id="30" name="Text 27"/>
          <p:cNvSpPr/>
          <p:nvPr/>
        </p:nvSpPr>
        <p:spPr>
          <a:xfrm>
            <a:off x="9912096" y="4480560"/>
            <a:ext cx="1335024"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a:t>
            </a:r>
            <a:endParaRPr lang="en-US" sz="1700" dirty="0"/>
          </a:p>
        </p:txBody>
      </p:sp>
      <p:sp>
        <p:nvSpPr>
          <p:cNvPr id="31" name="Shape 28"/>
          <p:cNvSpPr/>
          <p:nvPr/>
        </p:nvSpPr>
        <p:spPr>
          <a:xfrm>
            <a:off x="1097280" y="5047488"/>
            <a:ext cx="9966960" cy="0"/>
          </a:xfrm>
          <a:prstGeom prst="line">
            <a:avLst/>
          </a:prstGeom>
          <a:noFill/>
          <a:ln w="9525">
            <a:solidFill>
              <a:srgbClr val="3A3025"/>
            </a:solidFill>
            <a:prstDash val="solid"/>
          </a:ln>
        </p:spPr>
      </p:sp>
      <p:sp>
        <p:nvSpPr>
          <p:cNvPr id="32" name="Text 29"/>
          <p:cNvSpPr/>
          <p:nvPr/>
        </p:nvSpPr>
        <p:spPr>
          <a:xfrm>
            <a:off x="1188720" y="5230368"/>
            <a:ext cx="3291840" cy="329184"/>
          </a:xfrm>
          <a:prstGeom prst="rect">
            <a:avLst/>
          </a:prstGeom>
          <a:noFill/>
          <a:ln/>
        </p:spPr>
        <p:txBody>
          <a:bodyPr wrap="square" lIns="0" tIns="0" rIns="0" bIns="0" rtlCol="0" anchor="ctr"/>
          <a:lstStyle/>
          <a:p>
            <a:pPr indent="0" marL="0">
              <a:buNone/>
            </a:pPr>
            <a:r>
              <a:rPr lang="en-US" sz="1450" b="1" dirty="0">
                <a:solidFill>
                  <a:srgbClr val="C4915F"/>
                </a:solidFill>
                <a:latin typeface="Apple SD Gothic Neo" pitchFamily="34" charset="0"/>
                <a:ea typeface="Apple SD Gothic Neo" pitchFamily="34" charset="-122"/>
                <a:cs typeface="Apple SD Gothic Neo" pitchFamily="34" charset="-120"/>
              </a:rPr>
              <a:t>MCM Luxury Book</a:t>
            </a:r>
            <a:endParaRPr lang="en-US" sz="1450" dirty="0"/>
          </a:p>
        </p:txBody>
      </p:sp>
      <p:sp>
        <p:nvSpPr>
          <p:cNvPr id="33" name="Text 30"/>
          <p:cNvSpPr/>
          <p:nvPr/>
        </p:nvSpPr>
        <p:spPr>
          <a:xfrm>
            <a:off x="4572000" y="5193792"/>
            <a:ext cx="1335024" cy="365760"/>
          </a:xfrm>
          <a:prstGeom prst="rect">
            <a:avLst/>
          </a:prstGeom>
          <a:noFill/>
          <a:ln/>
        </p:spPr>
        <p:txBody>
          <a:bodyPr wrap="square" lIns="0" tIns="0" rIns="0" bIns="0" rtlCol="0" anchor="ctr"/>
          <a:lstStyle/>
          <a:p>
            <a:pPr algn="ctr" indent="0" marL="0">
              <a:buNone/>
            </a:pPr>
            <a:r>
              <a:rPr lang="en-US" sz="1700" dirty="0">
                <a:solidFill>
                  <a:srgbClr val="C4915F"/>
                </a:solidFill>
                <a:latin typeface="Apple SD Gothic Neo" pitchFamily="34" charset="0"/>
                <a:ea typeface="Apple SD Gothic Neo" pitchFamily="34" charset="-122"/>
                <a:cs typeface="Apple SD Gothic Neo" pitchFamily="34" charset="-120"/>
              </a:rPr>
              <a:t>●</a:t>
            </a:r>
            <a:endParaRPr lang="en-US" sz="1700" dirty="0"/>
          </a:p>
        </p:txBody>
      </p:sp>
      <p:sp>
        <p:nvSpPr>
          <p:cNvPr id="34" name="Text 31"/>
          <p:cNvSpPr/>
          <p:nvPr/>
        </p:nvSpPr>
        <p:spPr>
          <a:xfrm>
            <a:off x="5907024" y="5193792"/>
            <a:ext cx="1335024" cy="365760"/>
          </a:xfrm>
          <a:prstGeom prst="rect">
            <a:avLst/>
          </a:prstGeom>
          <a:noFill/>
          <a:ln/>
        </p:spPr>
        <p:txBody>
          <a:bodyPr wrap="square" lIns="0" tIns="0" rIns="0" bIns="0" rtlCol="0" anchor="ctr"/>
          <a:lstStyle/>
          <a:p>
            <a:pPr algn="ctr" indent="0" marL="0">
              <a:buNone/>
            </a:pPr>
            <a:r>
              <a:rPr lang="en-US" sz="1700" dirty="0">
                <a:solidFill>
                  <a:srgbClr val="C4915F"/>
                </a:solidFill>
                <a:latin typeface="Apple SD Gothic Neo" pitchFamily="34" charset="0"/>
                <a:ea typeface="Apple SD Gothic Neo" pitchFamily="34" charset="-122"/>
                <a:cs typeface="Apple SD Gothic Neo" pitchFamily="34" charset="-120"/>
              </a:rPr>
              <a:t>●</a:t>
            </a:r>
            <a:endParaRPr lang="en-US" sz="1700" dirty="0"/>
          </a:p>
        </p:txBody>
      </p:sp>
      <p:sp>
        <p:nvSpPr>
          <p:cNvPr id="35" name="Text 32"/>
          <p:cNvSpPr/>
          <p:nvPr/>
        </p:nvSpPr>
        <p:spPr>
          <a:xfrm>
            <a:off x="7242048" y="5193792"/>
            <a:ext cx="1335024" cy="365760"/>
          </a:xfrm>
          <a:prstGeom prst="rect">
            <a:avLst/>
          </a:prstGeom>
          <a:noFill/>
          <a:ln/>
        </p:spPr>
        <p:txBody>
          <a:bodyPr wrap="square" lIns="0" tIns="0" rIns="0" bIns="0" rtlCol="0" anchor="ctr"/>
          <a:lstStyle/>
          <a:p>
            <a:pPr algn="ctr" indent="0" marL="0">
              <a:buNone/>
            </a:pPr>
            <a:r>
              <a:rPr lang="en-US" sz="1700" dirty="0">
                <a:solidFill>
                  <a:srgbClr val="C4915F"/>
                </a:solidFill>
                <a:latin typeface="Apple SD Gothic Neo" pitchFamily="34" charset="0"/>
                <a:ea typeface="Apple SD Gothic Neo" pitchFamily="34" charset="-122"/>
                <a:cs typeface="Apple SD Gothic Neo" pitchFamily="34" charset="-120"/>
              </a:rPr>
              <a:t>●</a:t>
            </a:r>
            <a:endParaRPr lang="en-US" sz="1700" dirty="0"/>
          </a:p>
        </p:txBody>
      </p:sp>
      <p:sp>
        <p:nvSpPr>
          <p:cNvPr id="36" name="Text 33"/>
          <p:cNvSpPr/>
          <p:nvPr/>
        </p:nvSpPr>
        <p:spPr>
          <a:xfrm>
            <a:off x="8577072" y="5193792"/>
            <a:ext cx="1335024" cy="365760"/>
          </a:xfrm>
          <a:prstGeom prst="rect">
            <a:avLst/>
          </a:prstGeom>
          <a:noFill/>
          <a:ln/>
        </p:spPr>
        <p:txBody>
          <a:bodyPr wrap="square" lIns="0" tIns="0" rIns="0" bIns="0" rtlCol="0" anchor="ctr"/>
          <a:lstStyle/>
          <a:p>
            <a:pPr algn="ctr" indent="0" marL="0">
              <a:buNone/>
            </a:pPr>
            <a:r>
              <a:rPr lang="en-US" sz="1700" dirty="0">
                <a:solidFill>
                  <a:srgbClr val="C4915F"/>
                </a:solidFill>
                <a:latin typeface="Apple SD Gothic Neo" pitchFamily="34" charset="0"/>
                <a:ea typeface="Apple SD Gothic Neo" pitchFamily="34" charset="-122"/>
                <a:cs typeface="Apple SD Gothic Neo" pitchFamily="34" charset="-120"/>
              </a:rPr>
              <a:t>●</a:t>
            </a:r>
            <a:endParaRPr lang="en-US" sz="1700" dirty="0"/>
          </a:p>
        </p:txBody>
      </p:sp>
      <p:sp>
        <p:nvSpPr>
          <p:cNvPr id="37" name="Text 34"/>
          <p:cNvSpPr/>
          <p:nvPr/>
        </p:nvSpPr>
        <p:spPr>
          <a:xfrm>
            <a:off x="9912096" y="5193792"/>
            <a:ext cx="1335024" cy="365760"/>
          </a:xfrm>
          <a:prstGeom prst="rect">
            <a:avLst/>
          </a:prstGeom>
          <a:noFill/>
          <a:ln/>
        </p:spPr>
        <p:txBody>
          <a:bodyPr wrap="square" lIns="0" tIns="0" rIns="0" bIns="0" rtlCol="0" anchor="ctr"/>
          <a:lstStyle/>
          <a:p>
            <a:pPr algn="ctr" indent="0" marL="0">
              <a:buNone/>
            </a:pPr>
            <a:r>
              <a:rPr lang="en-US" sz="1700" dirty="0">
                <a:solidFill>
                  <a:srgbClr val="C4915F"/>
                </a:solidFill>
                <a:latin typeface="Apple SD Gothic Neo" pitchFamily="34" charset="0"/>
                <a:ea typeface="Apple SD Gothic Neo" pitchFamily="34" charset="-122"/>
                <a:cs typeface="Apple SD Gothic Neo" pitchFamily="34" charset="-120"/>
              </a:rPr>
              <a:t>◐</a:t>
            </a:r>
            <a:endParaRPr lang="en-US" sz="1700" dirty="0"/>
          </a:p>
        </p:txBody>
      </p:sp>
      <p:sp>
        <p:nvSpPr>
          <p:cNvPr id="38" name="Text 35"/>
          <p:cNvSpPr/>
          <p:nvPr/>
        </p:nvSpPr>
        <p:spPr>
          <a:xfrm>
            <a:off x="1097280" y="5797296"/>
            <a:ext cx="9966960" cy="292608"/>
          </a:xfrm>
          <a:prstGeom prst="rect">
            <a:avLst/>
          </a:prstGeom>
          <a:noFill/>
          <a:ln/>
        </p:spPr>
        <p:txBody>
          <a:bodyPr wrap="square" lIns="0" tIns="0" rIns="0" bIns="0" rtlCol="0" anchor="ctr"/>
          <a:lstStyle/>
          <a:p>
            <a:pPr indent="0" marL="0">
              <a:buNone/>
            </a:pPr>
            <a:r>
              <a:rPr lang="en-US" sz="1150" dirty="0">
                <a:solidFill>
                  <a:srgbClr val="6E6459"/>
                </a:solidFill>
                <a:latin typeface="Apple SD Gothic Neo" pitchFamily="34" charset="0"/>
                <a:ea typeface="Apple SD Gothic Neo" pitchFamily="34" charset="-122"/>
                <a:cs typeface="Apple SD Gothic Neo" pitchFamily="34" charset="-120"/>
              </a:rPr>
              <a:t>◐ 소유권 이전은 스키마까지. 화면은 다음 단계입니다.</a:t>
            </a:r>
            <a:endParaRPr lang="en-US" sz="1150" dirty="0"/>
          </a:p>
        </p:txBody>
      </p:sp>
      <p:sp>
        <p:nvSpPr>
          <p:cNvPr id="39" name="Text 36"/>
          <p:cNvSpPr/>
          <p:nvPr/>
        </p:nvSpPr>
        <p:spPr>
          <a:xfrm>
            <a:off x="914400" y="6163056"/>
            <a:ext cx="10332720"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결합이 곧 해자입니다. 하나씩은 이미 다 있습니다.</a:t>
            </a:r>
            <a:endParaRPr lang="en-US" sz="1600" dirty="0"/>
          </a:p>
        </p:txBody>
      </p:sp>
      <p:sp>
        <p:nvSpPr>
          <p:cNvPr id="40" name="Text 37"/>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WHY NOW</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MCM이 직접 써놓은 문장입니다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097280" y="2487168"/>
            <a:ext cx="9966960" cy="1737360"/>
          </a:xfrm>
          <a:prstGeom prst="rect">
            <a:avLst/>
          </a:prstGeom>
          <a:noFill/>
          <a:ln/>
        </p:spPr>
        <p:txBody>
          <a:bodyPr wrap="square" lIns="0" tIns="0" rIns="0" bIns="0" rtlCol="0" anchor="ctr"/>
          <a:lstStyle/>
          <a:p>
            <a:pPr algn="ctr" indent="0" marL="0">
              <a:lnSpc>
                <a:spcPts val="4400"/>
              </a:lnSpc>
              <a:buNone/>
            </a:pPr>
            <a:r>
              <a:rPr lang="en-US" sz="2600" b="1" dirty="0">
                <a:solidFill>
                  <a:srgbClr val="FFFFFF"/>
                </a:solidFill>
                <a:latin typeface="Apple SD Gothic Neo" pitchFamily="34" charset="0"/>
                <a:ea typeface="Apple SD Gothic Neo" pitchFamily="34" charset="-122"/>
                <a:cs typeface="Apple SD Gothic Neo" pitchFamily="34" charset="-120"/>
              </a:rPr>
              <a:t>“패스포트는 제품의 수명을 지원하고, 보존하고,</a:t>
            </a:r>
            <a:endParaRPr lang="en-US" sz="2600" dirty="0"/>
          </a:p>
          <a:p>
            <a:pPr algn="ctr" indent="0" marL="0">
              <a:lnSpc>
                <a:spcPts val="4400"/>
              </a:lnSpc>
              <a:buNone/>
            </a:pPr>
            <a:r>
              <a:rPr lang="en-US" sz="2600" b="1" dirty="0">
                <a:solidFill>
                  <a:srgbClr val="FFFFFF"/>
                </a:solidFill>
                <a:latin typeface="Apple SD Gothic Neo" pitchFamily="34" charset="0"/>
                <a:ea typeface="Apple SD Gothic Neo" pitchFamily="34" charset="-122"/>
                <a:cs typeface="Apple SD Gothic Neo" pitchFamily="34" charset="-120"/>
              </a:rPr>
              <a:t>연장하기 위한 향후 서비스와 경험으로의</a:t>
            </a:r>
            <a:endParaRPr lang="en-US" sz="2600" dirty="0"/>
          </a:p>
          <a:p>
            <a:pPr algn="ctr" indent="0" marL="0">
              <a:lnSpc>
                <a:spcPts val="4400"/>
              </a:lnSpc>
              <a:buNone/>
            </a:pPr>
            <a:r>
              <a:rPr lang="en-US" sz="2600" b="1" dirty="0">
                <a:solidFill>
                  <a:srgbClr val="FFFFFF"/>
                </a:solidFill>
                <a:latin typeface="Apple SD Gothic Neo" pitchFamily="34" charset="0"/>
                <a:ea typeface="Apple SD Gothic Neo" pitchFamily="34" charset="-122"/>
                <a:cs typeface="Apple SD Gothic Neo" pitchFamily="34" charset="-120"/>
              </a:rPr>
              <a:t>접근을 연다.”</a:t>
            </a:r>
            <a:endParaRPr lang="en-US" sz="2600" dirty="0"/>
          </a:p>
        </p:txBody>
      </p:sp>
      <p:sp>
        <p:nvSpPr>
          <p:cNvPr id="7" name="Text 4"/>
          <p:cNvSpPr/>
          <p:nvPr/>
        </p:nvSpPr>
        <p:spPr>
          <a:xfrm>
            <a:off x="914400" y="4352544"/>
            <a:ext cx="10332720" cy="310896"/>
          </a:xfrm>
          <a:prstGeom prst="rect">
            <a:avLst/>
          </a:prstGeom>
          <a:noFill/>
          <a:ln/>
        </p:spPr>
        <p:txBody>
          <a:bodyPr wrap="square" lIns="0" tIns="0" rIns="0" bIns="0" rtlCol="0" anchor="ctr"/>
          <a:lstStyle/>
          <a:p>
            <a:pPr algn="ctr" indent="0" marL="0">
              <a:buNone/>
            </a:pPr>
            <a:r>
              <a:rPr lang="en-US" sz="1300" dirty="0">
                <a:solidFill>
                  <a:srgbClr val="6E6459"/>
                </a:solidFill>
                <a:latin typeface="Apple SD Gothic Neo" pitchFamily="34" charset="0"/>
                <a:ea typeface="Apple SD Gothic Neo" pitchFamily="34" charset="-122"/>
                <a:cs typeface="Apple SD Gothic Neo" pitchFamily="34" charset="-120"/>
              </a:rPr>
              <a:t>MCM 공식 Digital Product Passport 페이지</a:t>
            </a:r>
            <a:endParaRPr lang="en-US" sz="1300" dirty="0"/>
          </a:p>
        </p:txBody>
      </p:sp>
      <p:sp>
        <p:nvSpPr>
          <p:cNvPr id="8" name="Shape 5"/>
          <p:cNvSpPr/>
          <p:nvPr/>
        </p:nvSpPr>
        <p:spPr>
          <a:xfrm>
            <a:off x="4023360" y="4974336"/>
            <a:ext cx="4114800" cy="0"/>
          </a:xfrm>
          <a:prstGeom prst="line">
            <a:avLst/>
          </a:prstGeom>
          <a:noFill/>
          <a:ln w="9525">
            <a:solidFill>
              <a:srgbClr val="3A3025"/>
            </a:solidFill>
            <a:prstDash val="solid"/>
          </a:ln>
        </p:spPr>
      </p:sp>
      <p:sp>
        <p:nvSpPr>
          <p:cNvPr id="9" name="Text 6"/>
          <p:cNvSpPr/>
          <p:nvPr/>
        </p:nvSpPr>
        <p:spPr>
          <a:xfrm>
            <a:off x="914400" y="4626864"/>
            <a:ext cx="10332720" cy="310896"/>
          </a:xfrm>
          <a:prstGeom prst="rect">
            <a:avLst/>
          </a:prstGeom>
          <a:noFill/>
          <a:ln/>
        </p:spPr>
        <p:txBody>
          <a:bodyPr wrap="square" lIns="0" tIns="0" rIns="0" bIns="0" rtlCol="0" anchor="ctr"/>
          <a:lstStyle/>
          <a:p>
            <a:pPr algn="ct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EU ESPR 여권 항목은 이미 화면에 채워져 있습니다</a:t>
            </a:r>
            <a:endParaRPr lang="en-US" sz="1400" dirty="0"/>
          </a:p>
        </p:txBody>
      </p:sp>
      <p:sp>
        <p:nvSpPr>
          <p:cNvPr id="10" name="Text 7"/>
          <p:cNvSpPr/>
          <p:nvPr/>
        </p:nvSpPr>
        <p:spPr>
          <a:xfrm>
            <a:off x="914400" y="5212080"/>
            <a:ext cx="10332720" cy="402336"/>
          </a:xfrm>
          <a:prstGeom prst="rect">
            <a:avLst/>
          </a:prstGeom>
          <a:noFill/>
          <a:ln/>
        </p:spPr>
        <p:txBody>
          <a:bodyPr wrap="square" lIns="0" tIns="0" rIns="0" bIns="0" rtlCol="0" anchor="ctr"/>
          <a:lstStyle/>
          <a:p>
            <a:pPr algn="ct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저희 제품이 이 문장의 다음 장입니다</a:t>
            </a:r>
            <a:endParaRPr lang="en-US" sz="2400" dirty="0"/>
          </a:p>
        </p:txBody>
      </p:sp>
      <p:sp>
        <p:nvSpPr>
          <p:cNvPr id="11" name="Text 8"/>
          <p:cNvSpPr/>
          <p:nvPr/>
        </p:nvSpPr>
        <p:spPr>
          <a:xfrm>
            <a:off x="731520" y="6144768"/>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EU ESPR 섬유 위임법 2027년 2분기 예상 · 시행 2028~29년 전망 (2026.08 기준)</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BUSINESS MODEL</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5360"/>
              </a:lnSpc>
              <a:buNone/>
            </a:pPr>
            <a:r>
              <a:rPr lang="en-US" sz="4000" b="1" dirty="0">
                <a:solidFill>
                  <a:srgbClr val="FFFFFF"/>
                </a:solidFill>
                <a:latin typeface="Apple SD Gothic Neo" pitchFamily="34" charset="0"/>
                <a:ea typeface="Apple SD Gothic Neo" pitchFamily="34" charset="-122"/>
                <a:cs typeface="Apple SD Gothic Neo" pitchFamily="34" charset="-120"/>
              </a:rPr>
              <a:t>수선이 매출이 됩니다</a:t>
            </a:r>
            <a:endParaRPr lang="en-US" sz="40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914400" y="2395728"/>
            <a:ext cx="10332720"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사용자는 무료입니다. 브랜드가 냅니다.</a:t>
            </a:r>
            <a:endParaRPr lang="en-US" sz="1700" dirty="0"/>
          </a:p>
        </p:txBody>
      </p:sp>
      <p:sp>
        <p:nvSpPr>
          <p:cNvPr id="7" name="Text 4"/>
          <p:cNvSpPr/>
          <p:nvPr/>
        </p:nvSpPr>
        <p:spPr>
          <a:xfrm>
            <a:off x="1371600" y="3200400"/>
            <a:ext cx="3657600" cy="329184"/>
          </a:xfrm>
          <a:prstGeom prst="rect">
            <a:avLst/>
          </a:prstGeom>
          <a:noFill/>
          <a:ln/>
        </p:spPr>
        <p:txBody>
          <a:bodyPr wrap="square" lIns="0" tIns="0" rIns="0" bIns="0" rtlCol="0" anchor="ctr"/>
          <a:lstStyle/>
          <a:p>
            <a:pP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SaaS 구독</a:t>
            </a:r>
            <a:endParaRPr lang="en-US" sz="1800" dirty="0"/>
          </a:p>
        </p:txBody>
      </p:sp>
      <p:sp>
        <p:nvSpPr>
          <p:cNvPr id="8" name="Text 5"/>
          <p:cNvSpPr/>
          <p:nvPr/>
        </p:nvSpPr>
        <p:spPr>
          <a:xfrm>
            <a:off x="5303520" y="3236976"/>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활성 제품 · 사용자 수 기준 월 이용료 + 인사이트 리포트</a:t>
            </a:r>
            <a:endParaRPr lang="en-US" sz="1350" dirty="0"/>
          </a:p>
        </p:txBody>
      </p:sp>
      <p:sp>
        <p:nvSpPr>
          <p:cNvPr id="9" name="Shape 6"/>
          <p:cNvSpPr/>
          <p:nvPr/>
        </p:nvSpPr>
        <p:spPr>
          <a:xfrm>
            <a:off x="1280160" y="3803904"/>
            <a:ext cx="9601200" cy="0"/>
          </a:xfrm>
          <a:prstGeom prst="line">
            <a:avLst/>
          </a:prstGeom>
          <a:noFill/>
          <a:ln w="9525">
            <a:solidFill>
              <a:srgbClr val="3A3025"/>
            </a:solidFill>
            <a:prstDash val="solid"/>
          </a:ln>
        </p:spPr>
      </p:sp>
      <p:sp>
        <p:nvSpPr>
          <p:cNvPr id="10" name="Text 7"/>
          <p:cNvSpPr/>
          <p:nvPr/>
        </p:nvSpPr>
        <p:spPr>
          <a:xfrm>
            <a:off x="1371600" y="3986784"/>
            <a:ext cx="3657600" cy="329184"/>
          </a:xfrm>
          <a:prstGeom prst="rect">
            <a:avLst/>
          </a:prstGeom>
          <a:noFill/>
          <a:ln/>
        </p:spPr>
        <p:txBody>
          <a:bodyPr wrap="square" lIns="0" tIns="0" rIns="0" bIns="0" rtlCol="0" anchor="ctr"/>
          <a:lstStyle/>
          <a:p>
            <a:pP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구축비</a:t>
            </a:r>
            <a:endParaRPr lang="en-US" sz="1800" dirty="0"/>
          </a:p>
        </p:txBody>
      </p:sp>
      <p:sp>
        <p:nvSpPr>
          <p:cNvPr id="11" name="Text 8"/>
          <p:cNvSpPr/>
          <p:nvPr/>
        </p:nvSpPr>
        <p:spPr>
          <a:xfrm>
            <a:off x="5303520" y="4023360"/>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전용 UI/UX · 제품 DB · 관리자 시스템</a:t>
            </a:r>
            <a:endParaRPr lang="en-US" sz="1350" dirty="0"/>
          </a:p>
        </p:txBody>
      </p:sp>
      <p:sp>
        <p:nvSpPr>
          <p:cNvPr id="12" name="Shape 9"/>
          <p:cNvSpPr/>
          <p:nvPr/>
        </p:nvSpPr>
        <p:spPr>
          <a:xfrm>
            <a:off x="1280160" y="4590288"/>
            <a:ext cx="9601200" cy="0"/>
          </a:xfrm>
          <a:prstGeom prst="line">
            <a:avLst/>
          </a:prstGeom>
          <a:noFill/>
          <a:ln w="9525">
            <a:solidFill>
              <a:srgbClr val="3A3025"/>
            </a:solidFill>
            <a:prstDash val="solid"/>
          </a:ln>
        </p:spPr>
      </p:sp>
      <p:sp>
        <p:nvSpPr>
          <p:cNvPr id="13" name="Text 10"/>
          <p:cNvSpPr/>
          <p:nvPr/>
        </p:nvSpPr>
        <p:spPr>
          <a:xfrm>
            <a:off x="1371600" y="4773168"/>
            <a:ext cx="3657600" cy="329184"/>
          </a:xfrm>
          <a:prstGeom prst="rect">
            <a:avLst/>
          </a:prstGeom>
          <a:noFill/>
          <a:ln/>
        </p:spPr>
        <p:txBody>
          <a:bodyPr wrap="square" lIns="0" tIns="0" rIns="0" bIns="0" rtlCol="0" anchor="ctr"/>
          <a:lstStyle/>
          <a:p>
            <a:pPr indent="0" marL="0">
              <a:buNone/>
            </a:pPr>
            <a:r>
              <a:rPr lang="en-US" sz="1800" b="1" dirty="0">
                <a:solidFill>
                  <a:srgbClr val="C4915F"/>
                </a:solidFill>
                <a:latin typeface="Apple SD Gothic Neo" pitchFamily="34" charset="0"/>
                <a:ea typeface="Apple SD Gothic Neo" pitchFamily="34" charset="-122"/>
                <a:cs typeface="Apple SD Gothic Neo" pitchFamily="34" charset="-120"/>
              </a:rPr>
              <a:t>Care · Repair 중개</a:t>
            </a:r>
            <a:endParaRPr lang="en-US" sz="1800" dirty="0"/>
          </a:p>
        </p:txBody>
      </p:sp>
      <p:sp>
        <p:nvSpPr>
          <p:cNvPr id="14" name="Text 11"/>
          <p:cNvSpPr/>
          <p:nvPr/>
        </p:nvSpPr>
        <p:spPr>
          <a:xfrm>
            <a:off x="5303520" y="4809744"/>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세척 · 보강 · 부품 교체 예약 연결 수수료</a:t>
            </a:r>
            <a:endParaRPr lang="en-US" sz="1350" dirty="0"/>
          </a:p>
        </p:txBody>
      </p:sp>
      <p:sp>
        <p:nvSpPr>
          <p:cNvPr id="15" name="Shape 12"/>
          <p:cNvSpPr/>
          <p:nvPr/>
        </p:nvSpPr>
        <p:spPr>
          <a:xfrm>
            <a:off x="1280160" y="5376672"/>
            <a:ext cx="9601200" cy="0"/>
          </a:xfrm>
          <a:prstGeom prst="line">
            <a:avLst/>
          </a:prstGeom>
          <a:noFill/>
          <a:ln w="9525">
            <a:solidFill>
              <a:srgbClr val="3A3025"/>
            </a:solidFill>
            <a:prstDash val="solid"/>
          </a:ln>
        </p:spPr>
      </p:sp>
      <p:sp>
        <p:nvSpPr>
          <p:cNvPr id="16" name="Text 13"/>
          <p:cNvSpPr/>
          <p:nvPr/>
        </p:nvSpPr>
        <p:spPr>
          <a:xfrm>
            <a:off x="1371600" y="5559552"/>
            <a:ext cx="3657600" cy="329184"/>
          </a:xfrm>
          <a:prstGeom prst="rect">
            <a:avLst/>
          </a:prstGeom>
          <a:noFill/>
          <a:ln/>
        </p:spPr>
        <p:txBody>
          <a:bodyPr wrap="square" lIns="0" tIns="0" rIns="0" bIns="0" rtlCol="0" anchor="ctr"/>
          <a:lstStyle/>
          <a:p>
            <a:pPr indent="0" marL="0">
              <a:buNone/>
            </a:pPr>
            <a:r>
              <a:rPr lang="en-US" sz="1800" b="1" dirty="0">
                <a:solidFill>
                  <a:srgbClr val="6E6459"/>
                </a:solidFill>
                <a:latin typeface="Apple SD Gothic Neo" pitchFamily="34" charset="0"/>
                <a:ea typeface="Apple SD Gothic Neo" pitchFamily="34" charset="-122"/>
                <a:cs typeface="Apple SD Gothic Neo" pitchFamily="34" charset="-120"/>
              </a:rPr>
              <a:t>리셀 · 소유권 이전</a:t>
            </a:r>
            <a:endParaRPr lang="en-US" sz="1800" dirty="0"/>
          </a:p>
        </p:txBody>
      </p:sp>
      <p:sp>
        <p:nvSpPr>
          <p:cNvPr id="17" name="Text 14"/>
          <p:cNvSpPr/>
          <p:nvPr/>
        </p:nvSpPr>
        <p:spPr>
          <a:xfrm>
            <a:off x="5303520" y="5596128"/>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로드맵</a:t>
            </a:r>
            <a:endParaRPr lang="en-US" sz="1350" dirty="0"/>
          </a:p>
        </p:txBody>
      </p:sp>
      <p:sp>
        <p:nvSpPr>
          <p:cNvPr id="18" name="Text 15"/>
          <p:cNvSpPr/>
          <p:nvPr/>
        </p:nvSpPr>
        <p:spPr>
          <a:xfrm>
            <a:off x="914400" y="6144768"/>
            <a:ext cx="10332720" cy="365760"/>
          </a:xfrm>
          <a:prstGeom prst="rect">
            <a:avLst/>
          </a:prstGeom>
          <a:noFill/>
          <a:ln/>
        </p:spPr>
        <p:txBody>
          <a:bodyPr wrap="square" lIns="0" tIns="0" rIns="0" bIns="0" rtlCol="0" anchor="ctr"/>
          <a:lstStyle/>
          <a:p>
            <a:pPr algn="ctr" indent="0" marL="0">
              <a:buNone/>
            </a:pPr>
            <a:r>
              <a:rPr lang="en-US" sz="1600" dirty="0">
                <a:solidFill>
                  <a:srgbClr val="FFFFFF"/>
                </a:solidFill>
                <a:latin typeface="Apple SD Gothic Neo" pitchFamily="34" charset="0"/>
                <a:ea typeface="Apple SD Gothic Neo" pitchFamily="34" charset="-122"/>
                <a:cs typeface="Apple SD Gothic Neo" pitchFamily="34" charset="-120"/>
              </a:rPr>
              <a:t>고칠수록 브랜드와 오래 갑니다</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4624"/>
              </a:lnSpc>
              <a:buNone/>
            </a:pPr>
            <a:r>
              <a:rPr lang="en-US" sz="3400" b="1" dirty="0">
                <a:solidFill>
                  <a:srgbClr val="FFFFFF"/>
                </a:solidFill>
                <a:latin typeface="Apple SD Gothic Neo" pitchFamily="34" charset="0"/>
                <a:ea typeface="Apple SD Gothic Neo" pitchFamily="34" charset="-122"/>
                <a:cs typeface="Apple SD Gothic Neo" pitchFamily="34" charset="-120"/>
              </a:rPr>
              <a:t>인프라는 MCM에 있습니다.</a:t>
            </a:r>
            <a:endParaRPr lang="en-US" sz="3400" dirty="0"/>
          </a:p>
          <a:p>
            <a:pPr algn="ctr" indent="0" marL="0">
              <a:lnSpc>
                <a:spcPts val="4624"/>
              </a:lnSpc>
              <a:buNone/>
            </a:pPr>
            <a:r>
              <a:rPr lang="en-US" sz="3400" b="1" dirty="0">
                <a:solidFill>
                  <a:srgbClr val="C4915F"/>
                </a:solidFill>
                <a:latin typeface="Apple SD Gothic Neo" pitchFamily="34" charset="0"/>
                <a:ea typeface="Apple SD Gothic Neo" pitchFamily="34" charset="-122"/>
                <a:cs typeface="Apple SD Gothic Neo" pitchFamily="34" charset="-120"/>
              </a:rPr>
              <a:t>경험을 얹는 일이 저희 몫입니다.</a:t>
            </a:r>
            <a:endParaRPr lang="en-US" sz="34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5" name="Text 2"/>
          <p:cNvSpPr/>
          <p:nvPr/>
        </p:nvSpPr>
        <p:spPr>
          <a:xfrm>
            <a:off x="914400" y="5577840"/>
            <a:ext cx="10332720" cy="365760"/>
          </a:xfrm>
          <a:prstGeom prst="rect">
            <a:avLst/>
          </a:prstGeom>
          <a:noFill/>
          <a:ln/>
        </p:spPr>
        <p:txBody>
          <a:bodyPr wrap="square" lIns="0" tIns="0" rIns="0" bIns="0" rtlCol="0" anchor="ctr"/>
          <a:lstStyle/>
          <a:p>
            <a:pPr algn="ctr" indent="0" marL="0">
              <a:buNone/>
            </a:pPr>
            <a:r>
              <a:rPr lang="en-US" sz="1400" spc="400" kern="0" dirty="0">
                <a:solidFill>
                  <a:srgbClr val="6E6459"/>
                </a:solidFill>
                <a:latin typeface="Apple SD Gothic Neo" pitchFamily="34" charset="0"/>
                <a:ea typeface="Apple SD Gothic Neo" pitchFamily="34" charset="-122"/>
                <a:cs typeface="Apple SD Gothic Neo" pitchFamily="34" charset="-120"/>
              </a:rPr>
              <a:t>감사합니다</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2026-08-20T09:44:08Z</dcterms:created>
  <dcterms:modified xsi:type="dcterms:W3CDTF">2026-08-20T09:44:08Z</dcterms:modified>
</cp:coreProperties>
</file>