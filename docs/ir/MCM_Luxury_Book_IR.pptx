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럭셔리는 새것일 때 가장 비쌉니다. 그래서 사람들은 쓰기를 두려워합니다. 저희는 그 방향을 뒤집었습니다.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챌린지 중 3번을 메인으로 골랐습니다. 1번과 2번은 특정 순간을 좋게 만들지만 끊긴 경험은 여전히 끊겨 있습니다. 매장에서 산 박스의 QR을 찍는 순간이 2번이고, 그 뒤 AI가 기록을 만드는 게 1번입니다.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럭셔리 브랜드의 광고와 매장은 새것 상태를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 오는 날 안 들고 나가고, 긁힐까 봐 조심하고, 결국 옷장에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가격만 보면 MCM은 준명품입니다. 축을 하나 더 두면 자리가 달라집니다. 일상 사용 빈도입니다. 3대장은 가격이 높아 옷장에 머뭅니다. 매스 브랜드는 매일 쓰지만 애착이 없습니다. 이 구간이 매일 들 수 있으면서 애착이 생기는 유일한 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가격대가 그걸 허락합니다. 3대장은 못 하는 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쓰면 생기는 일입니다. 그리고 이건 이 구간에만 생기는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3대장은 안 쓰니까 안 상합니다. 매스 브랜드는 상하면 버립니다. MCM 구간만 매일 쓰고, 상하고, 버리기엔 아까운 물건입니다.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불편은 감성이 아니라 돈입니다. 같은 제품도 구성품과 이력이 있느냐에 따라 리셀 가격이 30에서 40퍼센트 갈립니다. 명품 플랫폼에 소비자가 요구한 개선점 1위가 정품 보증 시스템이었고, 감정에서 걸러진 가품이 50개 중 1개입니다. 그런데 그 증빙을 지금은 각자 종이로 보관합니다. 보증서를 잃어버리는 순간 값도 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수선은 있지만 원래대로 되돌려주는 것뿐입니다.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별도 앱 설치가 없습니다. 제품의 QR·NFC가 진입점입니다. 등록하면 구매 기록이 첫 줄로 자동 생성돼 빈 화면을 보여주지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타임라인 하나 위에 세 가지가 얹힙니다. 기록, 케어와 수선, 그리고 REMADE입니다. 이 뒤로는 왜 이렇게 만들었는지와 어떻게 동작하는지를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수선을 되돌리는 일로 보지 않습니다. 그 자리에 그립니다. 그러면 세상에 하나뿐인 물건이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신사임당이 얼룩 위에 포도를 그린 이야기가 있습니다. 일본에는 킨츠기가 있습니다. 그리고 1988년 할렘에서 같은 일이 일어났습니다.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B. &amp; Rakim, Salt-N-Pepa, LL Cool J가 그 옷을 입었습니다. 2020년에는 그 계보의 스타일리스트 Misa Hylton이 MCM 글로벌 크리에이티브 파트너가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큰 지출을 했을 때 두려운 건 통장이 아니라 평판입니다. 연령대 실측은 미확보이며 페르소나는 가설입니다.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기록이 값이 된다는 건 앞에서 봤습니다. 그런데 지금은 세 군데로 흩어져 있고, 모으라고 하면 아무도 하지 않습니다. 여기가 AI가 들어갈 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한 장, 상황 칩 세 번, 여덟 초. 문장은 AI가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서비스는 사용자에게 입력을 요구했습니다. 저희는 반대로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손상 부위에 어울리는 문양 시안 세 개를 만들고 실물은 MCM 장인이 만듭니다. AI가 손을 대체하지 않습니다. 진품성이 유지되고 세상에 하나뿐이라는 증명이 붙기 때문에 값이 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MCM은 이미 NFC와 Aura 블록체인 패스포트를 갖고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비세토스의 마름모는 바이에른 깃발에서 왔고 독일어로 흰-파란 하늘이라는 뜻입니다. 그래서 배경에서 바람에 흐릅니다.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스크롤을 멈추면 애니메이션도 멈춥니다. 수선은 제품 사진 위에서 부위를 직접 누릅니다.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자기 추억을 남기는 과정에서 자연스럽게 얻어집니다. 동의 없이도 개인 기능은 전부 동작합니다. 코드로 보여드릴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MCM은 이미 Aura에 있습니다. 인프라 경쟁에 뛰어들면 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제조 이력은 한 번 보면 다시 볼 이유가 없습니다. 저희는 소유자 중심이라 재방문이 생기고, 그 재방문이 데이터가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MCM은 이미 NFC와 Aura 패스포트를 운영 중입니다. Coach는 같은 접근으로 FY2025 북미 신규 120만 명을 얻었고 3분의 2가 Gen Z입니다. 그리고 EU 규제가 밀어줍니다. 2027년 의무화라고 말하지 말고 위임법 2027, 시행 2028에서 29로 나눠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리셀과 소유권 이전은 로드맵입니다.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1은 스토리북과 Care/Repair, REMADE, 기존 DPP 연동입니다. Phase 2는 Archive Style과 B2B 대시보드, Phase 3은 멀티 브랜드와 리셀 연계입니다.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868680" y="658368"/>
            <a:ext cx="5486400" cy="310896"/>
          </a:xfrm>
          <a:prstGeom prst="rect">
            <a:avLst/>
          </a:prstGeom>
          <a:noFill/>
          <a:ln/>
        </p:spPr>
        <p:txBody>
          <a:bodyPr wrap="square" lIns="0" tIns="0" rIns="0" bIns="0" rtlCol="0" anchor="ctr"/>
          <a:lstStyle/>
          <a:p>
            <a:pPr indent="0" marL="0">
              <a:buNone/>
            </a:pPr>
            <a:r>
              <a:rPr lang="en-US" sz="1250" b="1" spc="260" kern="0" dirty="0">
                <a:solidFill>
                  <a:srgbClr val="FFFFFF"/>
                </a:solidFill>
                <a:latin typeface="Apple SD Gothic Neo" pitchFamily="34" charset="0"/>
                <a:ea typeface="Apple SD Gothic Neo" pitchFamily="34" charset="-122"/>
                <a:cs typeface="Apple SD Gothic Neo" pitchFamily="34" charset="-120"/>
              </a:rPr>
              <a:t>MCM LUXURY BOOK</a:t>
            </a:r>
            <a:endParaRPr lang="en-US" sz="1250" dirty="0"/>
          </a:p>
        </p:txBody>
      </p:sp>
      <p:sp>
        <p:nvSpPr>
          <p:cNvPr id="4" name="Text 1"/>
          <p:cNvSpPr/>
          <p:nvPr/>
        </p:nvSpPr>
        <p:spPr>
          <a:xfrm>
            <a:off x="868680" y="2286000"/>
            <a:ext cx="10607040" cy="2011680"/>
          </a:xfrm>
          <a:prstGeom prst="rect">
            <a:avLst/>
          </a:prstGeom>
          <a:noFill/>
          <a:ln/>
        </p:spPr>
        <p:txBody>
          <a:bodyPr wrap="square" lIns="0" tIns="0" rIns="0" bIns="0" rtlCol="0" anchor="ctr"/>
          <a:lstStyle/>
          <a:p>
            <a:pPr indent="0" marL="0">
              <a:lnSpc>
                <a:spcPts val="7400"/>
              </a:lnSpc>
              <a:buNone/>
            </a:pPr>
            <a:r>
              <a:rPr lang="en-US" sz="5200" b="1" dirty="0">
                <a:solidFill>
                  <a:srgbClr val="FFFFFF"/>
                </a:solidFill>
                <a:latin typeface="Apple SD Gothic Neo" pitchFamily="34" charset="0"/>
                <a:ea typeface="Apple SD Gothic Neo" pitchFamily="34" charset="-122"/>
                <a:cs typeface="Apple SD Gothic Neo" pitchFamily="34" charset="-120"/>
              </a:rPr>
              <a:t>흠을 지우지 않습니다.</a:t>
            </a:r>
            <a:endParaRPr lang="en-US" sz="5200" dirty="0"/>
          </a:p>
          <a:p>
            <a:pPr indent="0" marL="0">
              <a:lnSpc>
                <a:spcPts val="7400"/>
              </a:lnSpc>
              <a:buNone/>
            </a:pPr>
            <a:r>
              <a:rPr lang="en-US" sz="5200" b="1" dirty="0">
                <a:solidFill>
                  <a:srgbClr val="C4915F"/>
                </a:solidFill>
                <a:latin typeface="Apple SD Gothic Neo" pitchFamily="34" charset="0"/>
                <a:ea typeface="Apple SD Gothic Neo" pitchFamily="34" charset="-122"/>
                <a:cs typeface="Apple SD Gothic Neo" pitchFamily="34" charset="-120"/>
              </a:rPr>
              <a:t>나의 것으로 만듭니다</a:t>
            </a:r>
            <a:endParaRPr lang="en-US" sz="5200" dirty="0"/>
          </a:p>
        </p:txBody>
      </p:sp>
      <p:sp>
        <p:nvSpPr>
          <p:cNvPr id="5" name="Text 2"/>
          <p:cNvSpPr/>
          <p:nvPr/>
        </p:nvSpPr>
        <p:spPr>
          <a:xfrm>
            <a:off x="896112" y="4937760"/>
            <a:ext cx="10058400" cy="310896"/>
          </a:xfrm>
          <a:prstGeom prst="rect">
            <a:avLst/>
          </a:prstGeom>
          <a:noFill/>
          <a:ln/>
        </p:spPr>
        <p:txBody>
          <a:bodyPr wrap="square" lIns="0" tIns="0" rIns="0" bIns="0" rtlCol="0" anchor="ctr"/>
          <a:lstStyle/>
          <a:p>
            <a:pPr indent="0" marL="0">
              <a:buNone/>
            </a:pPr>
            <a:r>
              <a:rPr lang="en-US" sz="1300" dirty="0">
                <a:solidFill>
                  <a:srgbClr val="6E6459"/>
                </a:solidFill>
                <a:latin typeface="Apple SD Gothic Neo" pitchFamily="34" charset="0"/>
                <a:ea typeface="Apple SD Gothic Neo" pitchFamily="34" charset="-122"/>
                <a:cs typeface="Apple SD Gothic Neo" pitchFamily="34" charset="-120"/>
              </a:rPr>
              <a:t>Challenge 03 · 360° 고객 경험        2026.08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WHICH CHALLENGE</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5360"/>
              </a:lnSpc>
              <a:buNone/>
            </a:pPr>
            <a:r>
              <a:rPr lang="en-US" sz="4000" b="1" dirty="0">
                <a:solidFill>
                  <a:srgbClr val="FFFFFF"/>
                </a:solidFill>
                <a:latin typeface="Apple SD Gothic Neo" pitchFamily="34" charset="0"/>
                <a:ea typeface="Apple SD Gothic Neo" pitchFamily="34" charset="-122"/>
                <a:cs typeface="Apple SD Gothic Neo" pitchFamily="34" charset="-120"/>
              </a:rPr>
              <a:t>저희는 03번을 골랐습니다</a:t>
            </a:r>
            <a:endParaRPr lang="en-US" sz="40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914400" y="3017520"/>
            <a:ext cx="10332720" cy="548640"/>
          </a:xfrm>
          <a:prstGeom prst="rect">
            <a:avLst/>
          </a:prstGeom>
          <a:noFill/>
          <a:ln/>
        </p:spPr>
        <p:txBody>
          <a:bodyPr wrap="square" lIns="0" tIns="0" rIns="0" bIns="0" rtlCol="0" anchor="ctr"/>
          <a:lstStyle/>
          <a:p>
            <a:pPr algn="ctr" indent="0" marL="0">
              <a:buNone/>
            </a:pPr>
            <a:r>
              <a:rPr lang="en-US" sz="3000" b="1" dirty="0">
                <a:solidFill>
                  <a:srgbClr val="C4915F"/>
                </a:solidFill>
                <a:latin typeface="Apple SD Gothic Neo" pitchFamily="34" charset="0"/>
                <a:ea typeface="Apple SD Gothic Neo" pitchFamily="34" charset="-122"/>
                <a:cs typeface="Apple SD Gothic Neo" pitchFamily="34" charset="-120"/>
              </a:rPr>
              <a:t>360° 고객 경험</a:t>
            </a:r>
            <a:endParaRPr lang="en-US" sz="3000" dirty="0"/>
          </a:p>
        </p:txBody>
      </p:sp>
      <p:sp>
        <p:nvSpPr>
          <p:cNvPr id="7" name="Text 4"/>
          <p:cNvSpPr/>
          <p:nvPr/>
        </p:nvSpPr>
        <p:spPr>
          <a:xfrm>
            <a:off x="914400" y="3657600"/>
            <a:ext cx="10332720" cy="365760"/>
          </a:xfrm>
          <a:prstGeom prst="rect">
            <a:avLst/>
          </a:prstGeom>
          <a:noFill/>
          <a:ln/>
        </p:spPr>
        <p:txBody>
          <a:bodyPr wrap="square" lIns="0" tIns="0" rIns="0" bIns="0" rtlCol="0" anchor="ctr"/>
          <a:lstStyle/>
          <a:p>
            <a:pPr algn="ctr" indent="0" marL="0">
              <a:buNone/>
            </a:pPr>
            <a:r>
              <a:rPr lang="en-US" sz="1600" dirty="0">
                <a:solidFill>
                  <a:srgbClr val="9A8F84"/>
                </a:solidFill>
                <a:latin typeface="Apple SD Gothic Neo" pitchFamily="34" charset="0"/>
                <a:ea typeface="Apple SD Gothic Neo" pitchFamily="34" charset="-122"/>
                <a:cs typeface="Apple SD Gothic Neo" pitchFamily="34" charset="-120"/>
              </a:rPr>
              <a:t>발견부터 구매 이후까지, 끊김 없이 로열티를 만드는 여정</a:t>
            </a:r>
            <a:endParaRPr lang="en-US" sz="1600" dirty="0"/>
          </a:p>
        </p:txBody>
      </p:sp>
      <p:sp>
        <p:nvSpPr>
          <p:cNvPr id="8" name="Shape 5"/>
          <p:cNvSpPr/>
          <p:nvPr/>
        </p:nvSpPr>
        <p:spPr>
          <a:xfrm>
            <a:off x="3291840" y="4517136"/>
            <a:ext cx="5577840" cy="0"/>
          </a:xfrm>
          <a:prstGeom prst="line">
            <a:avLst/>
          </a:prstGeom>
          <a:noFill/>
          <a:ln w="9525">
            <a:solidFill>
              <a:srgbClr val="3A3025"/>
            </a:solidFill>
            <a:prstDash val="solid"/>
          </a:ln>
        </p:spPr>
      </p:sp>
      <p:sp>
        <p:nvSpPr>
          <p:cNvPr id="9" name="Text 6"/>
          <p:cNvSpPr/>
          <p:nvPr/>
        </p:nvSpPr>
        <p:spPr>
          <a:xfrm>
            <a:off x="914400" y="4754880"/>
            <a:ext cx="10332720" cy="310896"/>
          </a:xfrm>
          <a:prstGeom prst="rect">
            <a:avLst/>
          </a:prstGeom>
          <a:noFill/>
          <a:ln/>
        </p:spPr>
        <p:txBody>
          <a:bodyPr wrap="square" lIns="0" tIns="0" rIns="0" bIns="0" rtlCol="0" anchor="ctr"/>
          <a:lstStyle/>
          <a:p>
            <a:pPr algn="ctr" indent="0" marL="0">
              <a:buNone/>
            </a:pPr>
            <a:r>
              <a:rPr lang="en-US" sz="1500" dirty="0">
                <a:solidFill>
                  <a:srgbClr val="FFFFFF"/>
                </a:solidFill>
                <a:latin typeface="Apple SD Gothic Neo" pitchFamily="34" charset="0"/>
                <a:ea typeface="Apple SD Gothic Neo" pitchFamily="34" charset="-122"/>
                <a:cs typeface="Apple SD Gothic Neo" pitchFamily="34" charset="-120"/>
              </a:rPr>
              <a:t>01 AI 기반 프로덕트        02 인터랙티브 리테일</a:t>
            </a:r>
            <a:endParaRPr lang="en-US" sz="1500" dirty="0"/>
          </a:p>
        </p:txBody>
      </p:sp>
      <p:sp>
        <p:nvSpPr>
          <p:cNvPr id="10" name="Text 7"/>
          <p:cNvSpPr/>
          <p:nvPr/>
        </p:nvSpPr>
        <p:spPr>
          <a:xfrm>
            <a:off x="914400" y="5157216"/>
            <a:ext cx="10332720" cy="310896"/>
          </a:xfrm>
          <a:prstGeom prst="rect">
            <a:avLst/>
          </a:prstGeom>
          <a:noFill/>
          <a:ln/>
        </p:spPr>
        <p:txBody>
          <a:bodyPr wrap="square" lIns="0" tIns="0" rIns="0" bIns="0" rtlCol="0" anchor="ctr"/>
          <a:lstStyle/>
          <a:p>
            <a:pPr algn="ctr" indent="0" marL="0">
              <a:buNone/>
            </a:pPr>
            <a:r>
              <a:rPr lang="en-US" sz="1300" dirty="0">
                <a:solidFill>
                  <a:srgbClr val="6E6459"/>
                </a:solidFill>
                <a:latin typeface="Apple SD Gothic Neo" pitchFamily="34" charset="0"/>
                <a:ea typeface="Apple SD Gothic Neo" pitchFamily="34" charset="-122"/>
                <a:cs typeface="Apple SD Gothic Neo" pitchFamily="34" charset="-120"/>
              </a:rPr>
              <a:t>03을 제대로 풀면 두 개가 그 안에 들어옵니다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1005840" y="2615184"/>
            <a:ext cx="4572000" cy="329184"/>
          </a:xfrm>
          <a:prstGeom prst="rect">
            <a:avLst/>
          </a:prstGeom>
          <a:noFill/>
          <a:ln/>
        </p:spPr>
        <p:txBody>
          <a:bodyPr wrap="square" lIns="0" tIns="0" rIns="0" bIns="0" rtlCol="0" anchor="ctr"/>
          <a:lstStyle/>
          <a:p>
            <a:pPr indent="0" marL="0">
              <a:buNone/>
            </a:pPr>
            <a:r>
              <a:rPr lang="en-US" sz="1400" b="1" spc="260" kern="0" dirty="0">
                <a:solidFill>
                  <a:srgbClr val="8B5A2B"/>
                </a:solidFill>
                <a:latin typeface="Apple SD Gothic Neo" pitchFamily="34" charset="0"/>
                <a:ea typeface="Apple SD Gothic Neo" pitchFamily="34" charset="-122"/>
                <a:cs typeface="Apple SD Gothic Neo" pitchFamily="34" charset="-120"/>
              </a:rPr>
              <a:t>Chapter 1</a:t>
            </a:r>
            <a:endParaRPr lang="en-US" sz="1400" dirty="0"/>
          </a:p>
        </p:txBody>
      </p:sp>
      <p:sp>
        <p:nvSpPr>
          <p:cNvPr id="3" name="Text 1"/>
          <p:cNvSpPr/>
          <p:nvPr/>
        </p:nvSpPr>
        <p:spPr>
          <a:xfrm>
            <a:off x="987552" y="3054096"/>
            <a:ext cx="10058400" cy="822960"/>
          </a:xfrm>
          <a:prstGeom prst="rect">
            <a:avLst/>
          </a:prstGeom>
          <a:noFill/>
          <a:ln/>
        </p:spPr>
        <p:txBody>
          <a:bodyPr wrap="square" lIns="0" tIns="0" rIns="0" bIns="0" rtlCol="0" anchor="ctr"/>
          <a:lstStyle/>
          <a:p>
            <a:pPr indent="0" marL="0">
              <a:buNone/>
            </a:pPr>
            <a:r>
              <a:rPr lang="en-US" sz="4000" b="1" dirty="0">
                <a:solidFill>
                  <a:srgbClr val="1A1613"/>
                </a:solidFill>
                <a:latin typeface="Apple SD Gothic Neo" pitchFamily="34" charset="0"/>
                <a:ea typeface="Apple SD Gothic Neo" pitchFamily="34" charset="-122"/>
                <a:cs typeface="Apple SD Gothic Neo" pitchFamily="34" charset="-120"/>
              </a:rPr>
              <a:t>MCM은 어디에 서 있나</a:t>
            </a:r>
            <a:endParaRPr lang="en-US" sz="4000" dirty="0"/>
          </a:p>
        </p:txBody>
      </p:sp>
      <p:sp>
        <p:nvSpPr>
          <p:cNvPr id="4" name="Text 2"/>
          <p:cNvSpPr/>
          <p:nvPr/>
        </p:nvSpPr>
        <p:spPr>
          <a:xfrm>
            <a:off x="1005840" y="4078224"/>
            <a:ext cx="9601200" cy="347472"/>
          </a:xfrm>
          <a:prstGeom prst="rect">
            <a:avLst/>
          </a:prstGeom>
          <a:noFill/>
          <a:ln/>
        </p:spPr>
        <p:txBody>
          <a:bodyPr wrap="square" lIns="0" tIns="0" rIns="0" bIns="0" rtlCol="0" anchor="ctr"/>
          <a:lstStyle/>
          <a:p>
            <a:pPr indent="0" marL="0">
              <a:buNone/>
            </a:pPr>
            <a:r>
              <a:rPr lang="en-US" sz="1500" dirty="0">
                <a:solidFill>
                  <a:srgbClr val="7A716A"/>
                </a:solidFill>
                <a:latin typeface="Apple SD Gothic Neo" pitchFamily="34" charset="0"/>
                <a:ea typeface="Apple SD Gothic Neo" pitchFamily="34" charset="-122"/>
                <a:cs typeface="Apple SD Gothic Neo" pitchFamily="34" charset="-120"/>
              </a:rPr>
              <a:t>가격이 아니라 사용 빈도로 보면 자리가 달라진다</a:t>
            </a:r>
            <a:endParaRPr lang="en-US" sz="1500" dirty="0"/>
          </a:p>
        </p:txBody>
      </p:sp>
      <p:sp>
        <p:nvSpPr>
          <p:cNvPr id="5" name="Text 3"/>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B3ABA3"/>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6528"/>
              </a:lnSpc>
              <a:buNone/>
            </a:pPr>
            <a:r>
              <a:rPr lang="en-US" sz="4800" b="1" dirty="0">
                <a:solidFill>
                  <a:srgbClr val="FFFFFF"/>
                </a:solidFill>
                <a:latin typeface="Apple SD Gothic Neo" pitchFamily="34" charset="0"/>
                <a:ea typeface="Apple SD Gothic Neo" pitchFamily="34" charset="-122"/>
                <a:cs typeface="Apple SD Gothic Neo" pitchFamily="34" charset="-120"/>
              </a:rPr>
              <a:t>럭셔리는 새것일 때 가장 비쌉니다</a:t>
            </a:r>
            <a:endParaRPr lang="en-US" sz="48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5440"/>
              </a:lnSpc>
              <a:buNone/>
            </a:pPr>
            <a:r>
              <a:rPr lang="en-US" sz="4000" b="1" dirty="0">
                <a:solidFill>
                  <a:srgbClr val="FFFFFF"/>
                </a:solidFill>
                <a:latin typeface="Apple SD Gothic Neo" pitchFamily="34" charset="0"/>
                <a:ea typeface="Apple SD Gothic Neo" pitchFamily="34" charset="-122"/>
                <a:cs typeface="Apple SD Gothic Neo" pitchFamily="34" charset="-120"/>
              </a:rPr>
              <a:t>그래서 사람들은</a:t>
            </a:r>
            <a:endParaRPr lang="en-US" sz="4000" dirty="0"/>
          </a:p>
          <a:p>
            <a:pPr algn="ctr" indent="0" marL="0">
              <a:lnSpc>
                <a:spcPts val="5440"/>
              </a:lnSpc>
              <a:buNone/>
            </a:pPr>
            <a:r>
              <a:rPr lang="en-US" sz="4000" b="1" dirty="0">
                <a:solidFill>
                  <a:srgbClr val="C4915F"/>
                </a:solidFill>
                <a:latin typeface="Apple SD Gothic Neo" pitchFamily="34" charset="0"/>
                <a:ea typeface="Apple SD Gothic Neo" pitchFamily="34" charset="-122"/>
                <a:cs typeface="Apple SD Gothic Neo" pitchFamily="34" charset="-120"/>
              </a:rPr>
              <a:t>쓰지 않습니다</a:t>
            </a:r>
            <a:endParaRPr lang="en-US" sz="40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POSITIONING</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556"/>
              </a:lnSpc>
              <a:buNone/>
            </a:pPr>
            <a:r>
              <a:rPr lang="en-US" sz="3400" b="1" dirty="0">
                <a:solidFill>
                  <a:srgbClr val="FFFFFF"/>
                </a:solidFill>
                <a:latin typeface="Apple SD Gothic Neo" pitchFamily="34" charset="0"/>
                <a:ea typeface="Apple SD Gothic Neo" pitchFamily="34" charset="-122"/>
                <a:cs typeface="Apple SD Gothic Neo" pitchFamily="34" charset="-120"/>
              </a:rPr>
              <a:t>가격이 아니라 사용 빈도로 보면</a:t>
            </a:r>
            <a:endParaRPr lang="en-US" sz="34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Shape 3"/>
          <p:cNvSpPr/>
          <p:nvPr/>
        </p:nvSpPr>
        <p:spPr>
          <a:xfrm>
            <a:off x="5846674" y="3032150"/>
            <a:ext cx="4882896" cy="2165299"/>
          </a:xfrm>
          <a:prstGeom prst="roundRect">
            <a:avLst>
              <a:gd name="adj" fmla="val 3378"/>
            </a:avLst>
          </a:prstGeom>
          <a:solidFill>
            <a:srgbClr val="8B5A2B">
              <a:alpha val="12000"/>
            </a:srgbClr>
          </a:solidFill>
          <a:ln w="12700">
            <a:solidFill>
              <a:srgbClr val="C4915F"/>
            </a:solidFill>
            <a:prstDash val="solid"/>
          </a:ln>
        </p:spPr>
      </p:sp>
      <p:sp>
        <p:nvSpPr>
          <p:cNvPr id="7" name="Text 4"/>
          <p:cNvSpPr/>
          <p:nvPr/>
        </p:nvSpPr>
        <p:spPr>
          <a:xfrm>
            <a:off x="5846674" y="2702966"/>
            <a:ext cx="4882896" cy="274320"/>
          </a:xfrm>
          <a:prstGeom prst="rect">
            <a:avLst/>
          </a:prstGeom>
          <a:noFill/>
          <a:ln/>
        </p:spPr>
        <p:txBody>
          <a:bodyPr wrap="square" lIns="0" tIns="0" rIns="0" bIns="0" rtlCol="0" anchor="ctr"/>
          <a:lstStyle/>
          <a:p>
            <a:pPr algn="ctr" indent="0" marL="0">
              <a:buNone/>
            </a:pPr>
            <a:r>
              <a:rPr lang="en-US" sz="1250" b="1" spc="140" kern="0" dirty="0">
                <a:solidFill>
                  <a:srgbClr val="C4915F"/>
                </a:solidFill>
                <a:latin typeface="Apple SD Gothic Neo" pitchFamily="34" charset="0"/>
                <a:ea typeface="Apple SD Gothic Neo" pitchFamily="34" charset="-122"/>
                <a:cs typeface="Apple SD Gothic Neo" pitchFamily="34" charset="-120"/>
              </a:rPr>
              <a:t>매일 쓰는 럭셔리</a:t>
            </a:r>
            <a:endParaRPr lang="en-US" sz="1250" dirty="0"/>
          </a:p>
        </p:txBody>
      </p:sp>
      <p:sp>
        <p:nvSpPr>
          <p:cNvPr id="8" name="Shape 5"/>
          <p:cNvSpPr/>
          <p:nvPr/>
        </p:nvSpPr>
        <p:spPr>
          <a:xfrm>
            <a:off x="2103120" y="5806440"/>
            <a:ext cx="8138160" cy="0"/>
          </a:xfrm>
          <a:prstGeom prst="line">
            <a:avLst/>
          </a:prstGeom>
          <a:noFill/>
          <a:ln w="12700">
            <a:solidFill>
              <a:srgbClr val="3A3025"/>
            </a:solidFill>
            <a:prstDash val="solid"/>
          </a:ln>
        </p:spPr>
      </p:sp>
      <p:sp>
        <p:nvSpPr>
          <p:cNvPr id="9" name="Shape 6"/>
          <p:cNvSpPr/>
          <p:nvPr/>
        </p:nvSpPr>
        <p:spPr>
          <a:xfrm>
            <a:off x="2103120" y="2423160"/>
            <a:ext cx="0" cy="3383280"/>
          </a:xfrm>
          <a:prstGeom prst="line">
            <a:avLst/>
          </a:prstGeom>
          <a:noFill/>
          <a:ln w="12700">
            <a:solidFill>
              <a:srgbClr val="3A3025"/>
            </a:solidFill>
            <a:prstDash val="solid"/>
          </a:ln>
        </p:spPr>
      </p:sp>
      <p:sp>
        <p:nvSpPr>
          <p:cNvPr id="10" name="Text 7"/>
          <p:cNvSpPr/>
          <p:nvPr/>
        </p:nvSpPr>
        <p:spPr>
          <a:xfrm>
            <a:off x="2048256" y="2075688"/>
            <a:ext cx="1280160" cy="274320"/>
          </a:xfrm>
          <a:prstGeom prst="rect">
            <a:avLst/>
          </a:prstGeom>
          <a:noFill/>
          <a:ln/>
        </p:spPr>
        <p:txBody>
          <a:bodyPr wrap="square" lIns="0" tIns="0" rIns="0" bIns="0" rtlCol="0" anchor="ctr"/>
          <a:lstStyle/>
          <a:p>
            <a:pPr indent="0" marL="0">
              <a:buNone/>
            </a:pPr>
            <a:r>
              <a:rPr lang="en-US" sz="1200" dirty="0">
                <a:solidFill>
                  <a:srgbClr val="6E6459"/>
                </a:solidFill>
                <a:latin typeface="Apple SD Gothic Neo" pitchFamily="34" charset="0"/>
                <a:ea typeface="Apple SD Gothic Neo" pitchFamily="34" charset="-122"/>
                <a:cs typeface="Apple SD Gothic Neo" pitchFamily="34" charset="-120"/>
              </a:rPr>
              <a:t>↑ 가격</a:t>
            </a:r>
            <a:endParaRPr lang="en-US" sz="1200" dirty="0"/>
          </a:p>
        </p:txBody>
      </p:sp>
      <p:sp>
        <p:nvSpPr>
          <p:cNvPr id="11" name="Text 8"/>
          <p:cNvSpPr/>
          <p:nvPr/>
        </p:nvSpPr>
        <p:spPr>
          <a:xfrm>
            <a:off x="2103120" y="5916168"/>
            <a:ext cx="8138160" cy="274320"/>
          </a:xfrm>
          <a:prstGeom prst="rect">
            <a:avLst/>
          </a:prstGeom>
          <a:noFill/>
          <a:ln/>
        </p:spPr>
        <p:txBody>
          <a:bodyPr wrap="square" lIns="0" tIns="0" rIns="0" bIns="0" rtlCol="0" anchor="ctr"/>
          <a:lstStyle/>
          <a:p>
            <a:pPr algn="ctr" indent="0" marL="0">
              <a:buNone/>
            </a:pPr>
            <a:r>
              <a:rPr lang="en-US" sz="1200" dirty="0">
                <a:solidFill>
                  <a:srgbClr val="6E6459"/>
                </a:solidFill>
                <a:latin typeface="Apple SD Gothic Neo" pitchFamily="34" charset="0"/>
                <a:ea typeface="Apple SD Gothic Neo" pitchFamily="34" charset="-122"/>
                <a:cs typeface="Apple SD Gothic Neo" pitchFamily="34" charset="-120"/>
              </a:rPr>
              <a:t>일상 사용 빈도  →</a:t>
            </a:r>
            <a:endParaRPr lang="en-US" sz="1200" dirty="0"/>
          </a:p>
        </p:txBody>
      </p:sp>
      <p:sp>
        <p:nvSpPr>
          <p:cNvPr id="12" name="Shape 9"/>
          <p:cNvSpPr/>
          <p:nvPr/>
        </p:nvSpPr>
        <p:spPr>
          <a:xfrm>
            <a:off x="3011119" y="2828239"/>
            <a:ext cx="137160" cy="137160"/>
          </a:xfrm>
          <a:prstGeom prst="ellipse">
            <a:avLst/>
          </a:prstGeom>
          <a:solidFill>
            <a:srgbClr val="9A8F84"/>
          </a:solidFill>
          <a:ln/>
        </p:spPr>
      </p:sp>
      <p:sp>
        <p:nvSpPr>
          <p:cNvPr id="13" name="Text 10"/>
          <p:cNvSpPr/>
          <p:nvPr/>
        </p:nvSpPr>
        <p:spPr>
          <a:xfrm>
            <a:off x="3262579" y="2723083"/>
            <a:ext cx="2926080" cy="347472"/>
          </a:xfrm>
          <a:prstGeom prst="rect">
            <a:avLst/>
          </a:prstGeom>
          <a:noFill/>
          <a:ln/>
        </p:spPr>
        <p:txBody>
          <a:bodyPr wrap="square" lIns="0" tIns="0" rIns="0" bIns="0" rtlCol="0" anchor="ctr"/>
          <a:lstStyle/>
          <a:p>
            <a:pPr algn="l" indent="0" marL="0">
              <a:buNone/>
            </a:pPr>
            <a:r>
              <a:rPr lang="en-US" sz="1450" dirty="0">
                <a:solidFill>
                  <a:srgbClr val="9A8F84"/>
                </a:solidFill>
                <a:latin typeface="Apple SD Gothic Neo" pitchFamily="34" charset="0"/>
                <a:ea typeface="Apple SD Gothic Neo" pitchFamily="34" charset="-122"/>
                <a:cs typeface="Apple SD Gothic Neo" pitchFamily="34" charset="-120"/>
              </a:rPr>
              <a:t>에르메스 · 샤넬 · 루이비통</a:t>
            </a:r>
            <a:endParaRPr lang="en-US" sz="1450" dirty="0"/>
          </a:p>
        </p:txBody>
      </p:sp>
      <p:sp>
        <p:nvSpPr>
          <p:cNvPr id="14" name="Shape 11"/>
          <p:cNvSpPr/>
          <p:nvPr/>
        </p:nvSpPr>
        <p:spPr>
          <a:xfrm>
            <a:off x="6917436" y="4316882"/>
            <a:ext cx="137160" cy="137160"/>
          </a:xfrm>
          <a:prstGeom prst="ellipse">
            <a:avLst/>
          </a:prstGeom>
          <a:solidFill>
            <a:srgbClr val="9A8F84"/>
          </a:solidFill>
          <a:ln/>
        </p:spPr>
      </p:sp>
      <p:sp>
        <p:nvSpPr>
          <p:cNvPr id="15" name="Text 12"/>
          <p:cNvSpPr/>
          <p:nvPr/>
        </p:nvSpPr>
        <p:spPr>
          <a:xfrm>
            <a:off x="7168896" y="4211726"/>
            <a:ext cx="2926080" cy="347472"/>
          </a:xfrm>
          <a:prstGeom prst="rect">
            <a:avLst/>
          </a:prstGeom>
          <a:noFill/>
          <a:ln/>
        </p:spPr>
        <p:txBody>
          <a:bodyPr wrap="square" lIns="0" tIns="0" rIns="0" bIns="0" rtlCol="0" anchor="ctr"/>
          <a:lstStyle/>
          <a:p>
            <a:pPr algn="l" indent="0" marL="0">
              <a:buNone/>
            </a:pPr>
            <a:r>
              <a:rPr lang="en-US" sz="1450" dirty="0">
                <a:solidFill>
                  <a:srgbClr val="9A8F84"/>
                </a:solidFill>
                <a:latin typeface="Apple SD Gothic Neo" pitchFamily="34" charset="0"/>
                <a:ea typeface="Apple SD Gothic Neo" pitchFamily="34" charset="-122"/>
                <a:cs typeface="Apple SD Gothic Neo" pitchFamily="34" charset="-120"/>
              </a:rPr>
              <a:t>Coach · Michael Kors</a:t>
            </a:r>
            <a:endParaRPr lang="en-US" sz="1450" dirty="0"/>
          </a:p>
        </p:txBody>
      </p:sp>
      <p:sp>
        <p:nvSpPr>
          <p:cNvPr id="16" name="Shape 13"/>
          <p:cNvSpPr/>
          <p:nvPr/>
        </p:nvSpPr>
        <p:spPr>
          <a:xfrm>
            <a:off x="8707831" y="4925873"/>
            <a:ext cx="137160" cy="137160"/>
          </a:xfrm>
          <a:prstGeom prst="ellipse">
            <a:avLst/>
          </a:prstGeom>
          <a:solidFill>
            <a:srgbClr val="9A8F84"/>
          </a:solidFill>
          <a:ln/>
        </p:spPr>
      </p:sp>
      <p:sp>
        <p:nvSpPr>
          <p:cNvPr id="17" name="Text 14"/>
          <p:cNvSpPr/>
          <p:nvPr/>
        </p:nvSpPr>
        <p:spPr>
          <a:xfrm>
            <a:off x="8959291" y="4820717"/>
            <a:ext cx="2926080" cy="347472"/>
          </a:xfrm>
          <a:prstGeom prst="rect">
            <a:avLst/>
          </a:prstGeom>
          <a:noFill/>
          <a:ln/>
        </p:spPr>
        <p:txBody>
          <a:bodyPr wrap="square" lIns="0" tIns="0" rIns="0" bIns="0" rtlCol="0" anchor="ctr"/>
          <a:lstStyle/>
          <a:p>
            <a:pPr algn="l" indent="0" marL="0">
              <a:buNone/>
            </a:pPr>
            <a:r>
              <a:rPr lang="en-US" sz="1450" dirty="0">
                <a:solidFill>
                  <a:srgbClr val="9A8F84"/>
                </a:solidFill>
                <a:latin typeface="Apple SD Gothic Neo" pitchFamily="34" charset="0"/>
                <a:ea typeface="Apple SD Gothic Neo" pitchFamily="34" charset="-122"/>
                <a:cs typeface="Apple SD Gothic Neo" pitchFamily="34" charset="-120"/>
              </a:rPr>
              <a:t>Longchamp</a:t>
            </a:r>
            <a:endParaRPr lang="en-US" sz="1450" dirty="0"/>
          </a:p>
        </p:txBody>
      </p:sp>
      <p:sp>
        <p:nvSpPr>
          <p:cNvPr id="18" name="Shape 15"/>
          <p:cNvSpPr/>
          <p:nvPr/>
        </p:nvSpPr>
        <p:spPr>
          <a:xfrm>
            <a:off x="8006486" y="3522269"/>
            <a:ext cx="237744" cy="237744"/>
          </a:xfrm>
          <a:prstGeom prst="ellipse">
            <a:avLst/>
          </a:prstGeom>
          <a:solidFill>
            <a:srgbClr val="C4915F"/>
          </a:solidFill>
          <a:ln/>
        </p:spPr>
      </p:sp>
      <p:sp>
        <p:nvSpPr>
          <p:cNvPr id="19" name="Text 16"/>
          <p:cNvSpPr/>
          <p:nvPr/>
        </p:nvSpPr>
        <p:spPr>
          <a:xfrm>
            <a:off x="8308238" y="3467405"/>
            <a:ext cx="2926080" cy="347472"/>
          </a:xfrm>
          <a:prstGeom prst="rect">
            <a:avLst/>
          </a:prstGeom>
          <a:noFill/>
          <a:ln/>
        </p:spPr>
        <p:txBody>
          <a:bodyPr wrap="square" lIns="0" tIns="0" rIns="0" bIns="0" rtlCol="0" anchor="ctr"/>
          <a:lstStyle/>
          <a:p>
            <a:pPr algn="l" indent="0" marL="0">
              <a:buNone/>
            </a:pPr>
            <a:r>
              <a:rPr lang="en-US" sz="2300" b="1" dirty="0">
                <a:solidFill>
                  <a:srgbClr val="FFFFFF"/>
                </a:solidFill>
                <a:latin typeface="Apple SD Gothic Neo" pitchFamily="34" charset="0"/>
                <a:ea typeface="Apple SD Gothic Neo" pitchFamily="34" charset="-122"/>
                <a:cs typeface="Apple SD Gothic Neo" pitchFamily="34" charset="-120"/>
              </a:rPr>
              <a:t>MCM</a:t>
            </a:r>
            <a:endParaRPr lang="en-US" sz="2300" dirty="0"/>
          </a:p>
        </p:txBody>
      </p:sp>
      <p:sp>
        <p:nvSpPr>
          <p:cNvPr id="20" name="Shape 17"/>
          <p:cNvSpPr/>
          <p:nvPr/>
        </p:nvSpPr>
        <p:spPr>
          <a:xfrm>
            <a:off x="9521647" y="5501030"/>
            <a:ext cx="137160" cy="137160"/>
          </a:xfrm>
          <a:prstGeom prst="ellipse">
            <a:avLst/>
          </a:prstGeom>
          <a:solidFill>
            <a:srgbClr val="9A8F84"/>
          </a:solidFill>
          <a:ln/>
        </p:spPr>
      </p:sp>
      <p:sp>
        <p:nvSpPr>
          <p:cNvPr id="21" name="Text 18"/>
          <p:cNvSpPr/>
          <p:nvPr/>
        </p:nvSpPr>
        <p:spPr>
          <a:xfrm>
            <a:off x="6481267" y="5395874"/>
            <a:ext cx="2926080" cy="347472"/>
          </a:xfrm>
          <a:prstGeom prst="rect">
            <a:avLst/>
          </a:prstGeom>
          <a:noFill/>
          <a:ln/>
        </p:spPr>
        <p:txBody>
          <a:bodyPr wrap="square" lIns="0" tIns="0" rIns="0" bIns="0" rtlCol="0" anchor="ctr"/>
          <a:lstStyle/>
          <a:p>
            <a:pPr algn="r" indent="0" marL="0">
              <a:buNone/>
            </a:pPr>
            <a:r>
              <a:rPr lang="en-US" sz="1450" dirty="0">
                <a:solidFill>
                  <a:srgbClr val="9A8F84"/>
                </a:solidFill>
                <a:latin typeface="Apple SD Gothic Neo" pitchFamily="34" charset="0"/>
                <a:ea typeface="Apple SD Gothic Neo" pitchFamily="34" charset="-122"/>
                <a:cs typeface="Apple SD Gothic Neo" pitchFamily="34" charset="-120"/>
              </a:rPr>
              <a:t>매스 브랜드</a:t>
            </a:r>
            <a:endParaRPr lang="en-US" sz="1450" dirty="0"/>
          </a:p>
        </p:txBody>
      </p:sp>
      <p:sp>
        <p:nvSpPr>
          <p:cNvPr id="22" name="Text 19"/>
          <p:cNvSpPr/>
          <p:nvPr/>
        </p:nvSpPr>
        <p:spPr>
          <a:xfrm>
            <a:off x="731520" y="6437376"/>
            <a:ext cx="10698480" cy="310896"/>
          </a:xfrm>
          <a:prstGeom prst="rect">
            <a:avLst/>
          </a:prstGeom>
          <a:noFill/>
          <a:ln/>
        </p:spPr>
        <p:txBody>
          <a:bodyPr wrap="square" lIns="0" tIns="0" rIns="0" bIns="0" rtlCol="0" anchor="ctr"/>
          <a:lstStyle/>
          <a:p>
            <a:pPr algn="ctr" indent="0" marL="0">
              <a:buNone/>
            </a:pPr>
            <a:r>
              <a:rPr lang="en-US" sz="1100" dirty="0">
                <a:solidFill>
                  <a:srgbClr val="6E6459"/>
                </a:solidFill>
                <a:latin typeface="Apple SD Gothic Neo" pitchFamily="34" charset="0"/>
                <a:ea typeface="Apple SD Gothic Neo" pitchFamily="34" charset="-122"/>
                <a:cs typeface="Apple SD Gothic Neo" pitchFamily="34" charset="-120"/>
              </a:rPr>
              <a:t>Coach는 접근 가능 럭셔리 1위 · Longchamp $100–250 · Michael Kors $150–800 (2026)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6528"/>
              </a:lnSpc>
              <a:buNone/>
            </a:pPr>
            <a:r>
              <a:rPr lang="en-US" sz="4800" b="1" dirty="0">
                <a:solidFill>
                  <a:srgbClr val="FFFFFF"/>
                </a:solidFill>
                <a:latin typeface="Apple SD Gothic Neo" pitchFamily="34" charset="0"/>
                <a:ea typeface="Apple SD Gothic Neo" pitchFamily="34" charset="-122"/>
                <a:cs typeface="Apple SD Gothic Neo" pitchFamily="34" charset="-120"/>
              </a:rPr>
              <a:t>MCM은 매일 쓸 수 있습니다</a:t>
            </a:r>
            <a:endParaRPr lang="en-US" sz="4800" dirty="0"/>
          </a:p>
        </p:txBody>
      </p:sp>
      <p:sp>
        <p:nvSpPr>
          <p:cNvPr id="4" name="Text 1"/>
          <p:cNvSpPr/>
          <p:nvPr/>
        </p:nvSpPr>
        <p:spPr>
          <a:xfrm>
            <a:off x="1463040" y="4846320"/>
            <a:ext cx="9235440" cy="365760"/>
          </a:xfrm>
          <a:prstGeom prst="rect">
            <a:avLst/>
          </a:prstGeom>
          <a:noFill/>
          <a:ln/>
        </p:spPr>
        <p:txBody>
          <a:bodyPr wrap="square" lIns="0" tIns="0" rIns="0" bIns="0" rtlCol="0" anchor="ctr"/>
          <a:lstStyle/>
          <a:p>
            <a:pPr algn="ctr" indent="0" marL="0">
              <a:buNone/>
            </a:pPr>
            <a:r>
              <a:rPr lang="en-US" sz="1500" dirty="0">
                <a:solidFill>
                  <a:srgbClr val="9A8F84"/>
                </a:solidFill>
                <a:latin typeface="Apple SD Gothic Neo" pitchFamily="34" charset="0"/>
                <a:ea typeface="Apple SD Gothic Neo" pitchFamily="34" charset="-122"/>
                <a:cs typeface="Apple SD Gothic Neo" pitchFamily="34" charset="-120"/>
              </a:rPr>
              <a:t>그것이 이 브랜드가 가진 가장 큰 자산입니다</a:t>
            </a:r>
            <a:endParaRPr lang="en-US" sz="15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5440"/>
              </a:lnSpc>
              <a:buNone/>
            </a:pPr>
            <a:r>
              <a:rPr lang="en-US" sz="4000" b="1" dirty="0">
                <a:solidFill>
                  <a:srgbClr val="FFFFFF"/>
                </a:solidFill>
                <a:latin typeface="Apple SD Gothic Neo" pitchFamily="34" charset="0"/>
                <a:ea typeface="Apple SD Gothic Neo" pitchFamily="34" charset="-122"/>
                <a:cs typeface="Apple SD Gothic Neo" pitchFamily="34" charset="-120"/>
              </a:rPr>
              <a:t>매일 쓰면,</a:t>
            </a:r>
            <a:endParaRPr lang="en-US" sz="4000" dirty="0"/>
          </a:p>
          <a:p>
            <a:pPr algn="ctr" indent="0" marL="0">
              <a:lnSpc>
                <a:spcPts val="5440"/>
              </a:lnSpc>
              <a:buNone/>
            </a:pPr>
            <a:r>
              <a:rPr lang="en-US" sz="4000" b="1" dirty="0">
                <a:solidFill>
                  <a:srgbClr val="C4915F"/>
                </a:solidFill>
                <a:latin typeface="Apple SD Gothic Neo" pitchFamily="34" charset="0"/>
                <a:ea typeface="Apple SD Gothic Neo" pitchFamily="34" charset="-122"/>
                <a:cs typeface="Apple SD Gothic Neo" pitchFamily="34" charset="-120"/>
              </a:rPr>
              <a:t>상합니다</a:t>
            </a:r>
            <a:endParaRPr lang="en-US" sz="40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THE PARADOX</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556"/>
              </a:lnSpc>
              <a:buNone/>
            </a:pPr>
            <a:r>
              <a:rPr lang="en-US" sz="3400" b="1" dirty="0">
                <a:solidFill>
                  <a:srgbClr val="FFFFFF"/>
                </a:solidFill>
                <a:latin typeface="Apple SD Gothic Neo" pitchFamily="34" charset="0"/>
                <a:ea typeface="Apple SD Gothic Neo" pitchFamily="34" charset="-122"/>
                <a:cs typeface="Apple SD Gothic Neo" pitchFamily="34" charset="-120"/>
              </a:rPr>
              <a:t>상함을 다루는 방식이 다릅니다</a:t>
            </a:r>
            <a:endParaRPr lang="en-US" sz="34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408176" y="3127248"/>
            <a:ext cx="2682240" cy="292608"/>
          </a:xfrm>
          <a:prstGeom prst="rect">
            <a:avLst/>
          </a:prstGeom>
          <a:noFill/>
          <a:ln/>
        </p:spPr>
        <p:txBody>
          <a:bodyPr wrap="square" lIns="0" tIns="0" rIns="0" bIns="0" rtlCol="0" anchor="ctr"/>
          <a:lstStyle/>
          <a:p>
            <a:pPr indent="0" marL="0">
              <a:buNone/>
            </a:pPr>
            <a:r>
              <a:rPr lang="en-US" sz="1200" spc="140" kern="0" dirty="0">
                <a:solidFill>
                  <a:srgbClr val="6E6459"/>
                </a:solidFill>
                <a:latin typeface="Apple SD Gothic Neo" pitchFamily="34" charset="0"/>
                <a:ea typeface="Apple SD Gothic Neo" pitchFamily="34" charset="-122"/>
                <a:cs typeface="Apple SD Gothic Neo" pitchFamily="34" charset="-120"/>
              </a:rPr>
              <a:t>3대장</a:t>
            </a:r>
            <a:endParaRPr lang="en-US" sz="1200" dirty="0"/>
          </a:p>
        </p:txBody>
      </p:sp>
      <p:sp>
        <p:nvSpPr>
          <p:cNvPr id="7" name="Text 4"/>
          <p:cNvSpPr/>
          <p:nvPr/>
        </p:nvSpPr>
        <p:spPr>
          <a:xfrm>
            <a:off x="1408176" y="3529584"/>
            <a:ext cx="277368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안 씁니다</a:t>
            </a:r>
            <a:endParaRPr lang="en-US" sz="2400" dirty="0"/>
          </a:p>
        </p:txBody>
      </p:sp>
      <p:sp>
        <p:nvSpPr>
          <p:cNvPr id="8" name="Text 5"/>
          <p:cNvSpPr/>
          <p:nvPr/>
        </p:nvSpPr>
        <p:spPr>
          <a:xfrm>
            <a:off x="140817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그래서 안 상합니다.</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대신 함께한 시간도 없습니다.</a:t>
            </a:r>
            <a:endParaRPr lang="en-US" sz="1400" dirty="0"/>
          </a:p>
        </p:txBody>
      </p:sp>
      <p:sp>
        <p:nvSpPr>
          <p:cNvPr id="9" name="Shape 6"/>
          <p:cNvSpPr/>
          <p:nvPr/>
        </p:nvSpPr>
        <p:spPr>
          <a:xfrm>
            <a:off x="4419600" y="3035808"/>
            <a:ext cx="0" cy="1920240"/>
          </a:xfrm>
          <a:prstGeom prst="line">
            <a:avLst/>
          </a:prstGeom>
          <a:noFill/>
          <a:ln w="9525">
            <a:solidFill>
              <a:srgbClr val="3A3025"/>
            </a:solidFill>
            <a:prstDash val="solid"/>
          </a:ln>
        </p:spPr>
      </p:sp>
      <p:sp>
        <p:nvSpPr>
          <p:cNvPr id="10" name="Text 7"/>
          <p:cNvSpPr/>
          <p:nvPr/>
        </p:nvSpPr>
        <p:spPr>
          <a:xfrm>
            <a:off x="4730496" y="3127248"/>
            <a:ext cx="2682240" cy="292608"/>
          </a:xfrm>
          <a:prstGeom prst="rect">
            <a:avLst/>
          </a:prstGeom>
          <a:noFill/>
          <a:ln/>
        </p:spPr>
        <p:txBody>
          <a:bodyPr wrap="square" lIns="0" tIns="0" rIns="0" bIns="0" rtlCol="0" anchor="ctr"/>
          <a:lstStyle/>
          <a:p>
            <a:pPr indent="0" marL="0">
              <a:buNone/>
            </a:pPr>
            <a:r>
              <a:rPr lang="en-US" sz="1200" spc="140" kern="0" dirty="0">
                <a:solidFill>
                  <a:srgbClr val="6E6459"/>
                </a:solidFill>
                <a:latin typeface="Apple SD Gothic Neo" pitchFamily="34" charset="0"/>
                <a:ea typeface="Apple SD Gothic Neo" pitchFamily="34" charset="-122"/>
                <a:cs typeface="Apple SD Gothic Neo" pitchFamily="34" charset="-120"/>
              </a:rPr>
              <a:t>매스 브랜드</a:t>
            </a:r>
            <a:endParaRPr lang="en-US" sz="1200" dirty="0"/>
          </a:p>
        </p:txBody>
      </p:sp>
      <p:sp>
        <p:nvSpPr>
          <p:cNvPr id="11" name="Text 8"/>
          <p:cNvSpPr/>
          <p:nvPr/>
        </p:nvSpPr>
        <p:spPr>
          <a:xfrm>
            <a:off x="4730496" y="3529584"/>
            <a:ext cx="277368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버립니다</a:t>
            </a:r>
            <a:endParaRPr lang="en-US" sz="2400" dirty="0"/>
          </a:p>
        </p:txBody>
      </p:sp>
      <p:sp>
        <p:nvSpPr>
          <p:cNvPr id="12" name="Text 9"/>
          <p:cNvSpPr/>
          <p:nvPr/>
        </p:nvSpPr>
        <p:spPr>
          <a:xfrm>
            <a:off x="473049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애착이 없어서</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고칠 이유가 없습니다.</a:t>
            </a:r>
            <a:endParaRPr lang="en-US" sz="1400" dirty="0"/>
          </a:p>
        </p:txBody>
      </p:sp>
      <p:sp>
        <p:nvSpPr>
          <p:cNvPr id="13" name="Shape 10"/>
          <p:cNvSpPr/>
          <p:nvPr/>
        </p:nvSpPr>
        <p:spPr>
          <a:xfrm>
            <a:off x="7741920" y="3035808"/>
            <a:ext cx="0" cy="1920240"/>
          </a:xfrm>
          <a:prstGeom prst="line">
            <a:avLst/>
          </a:prstGeom>
          <a:noFill/>
          <a:ln w="9525">
            <a:solidFill>
              <a:srgbClr val="3A3025"/>
            </a:solidFill>
            <a:prstDash val="solid"/>
          </a:ln>
        </p:spPr>
      </p:sp>
      <p:sp>
        <p:nvSpPr>
          <p:cNvPr id="14" name="Text 11"/>
          <p:cNvSpPr/>
          <p:nvPr/>
        </p:nvSpPr>
        <p:spPr>
          <a:xfrm>
            <a:off x="8052816" y="3127248"/>
            <a:ext cx="2682240" cy="292608"/>
          </a:xfrm>
          <a:prstGeom prst="rect">
            <a:avLst/>
          </a:prstGeom>
          <a:noFill/>
          <a:ln/>
        </p:spPr>
        <p:txBody>
          <a:bodyPr wrap="square" lIns="0" tIns="0" rIns="0" bIns="0" rtlCol="0" anchor="ctr"/>
          <a:lstStyle/>
          <a:p>
            <a:pPr indent="0" marL="0">
              <a:buNone/>
            </a:pPr>
            <a:r>
              <a:rPr lang="en-US" sz="1200" spc="140" kern="0" dirty="0">
                <a:solidFill>
                  <a:srgbClr val="C4915F"/>
                </a:solidFill>
                <a:latin typeface="Apple SD Gothic Neo" pitchFamily="34" charset="0"/>
                <a:ea typeface="Apple SD Gothic Neo" pitchFamily="34" charset="-122"/>
                <a:cs typeface="Apple SD Gothic Neo" pitchFamily="34" charset="-120"/>
              </a:rPr>
              <a:t>MCM</a:t>
            </a:r>
            <a:endParaRPr lang="en-US" sz="1200" dirty="0"/>
          </a:p>
        </p:txBody>
      </p:sp>
      <p:sp>
        <p:nvSpPr>
          <p:cNvPr id="15" name="Text 12"/>
          <p:cNvSpPr/>
          <p:nvPr/>
        </p:nvSpPr>
        <p:spPr>
          <a:xfrm>
            <a:off x="8052816" y="3529584"/>
            <a:ext cx="2773680" cy="457200"/>
          </a:xfrm>
          <a:prstGeom prst="rect">
            <a:avLst/>
          </a:prstGeom>
          <a:noFill/>
          <a:ln/>
        </p:spPr>
        <p:txBody>
          <a:bodyPr wrap="square" lIns="0" tIns="0" rIns="0" bIns="0" rtlCol="0" anchor="ctr"/>
          <a:lstStyle/>
          <a:p>
            <a:pPr indent="0" marL="0">
              <a:buNone/>
            </a:pPr>
            <a:r>
              <a:rPr lang="en-US" sz="2400" b="1" dirty="0">
                <a:solidFill>
                  <a:srgbClr val="C4915F"/>
                </a:solidFill>
                <a:latin typeface="Apple SD Gothic Neo" pitchFamily="34" charset="0"/>
                <a:ea typeface="Apple SD Gothic Neo" pitchFamily="34" charset="-122"/>
                <a:cs typeface="Apple SD Gothic Neo" pitchFamily="34" charset="-120"/>
              </a:rPr>
              <a:t>고칩니다</a:t>
            </a:r>
            <a:endParaRPr lang="en-US" sz="2400" dirty="0"/>
          </a:p>
        </p:txBody>
      </p:sp>
      <p:sp>
        <p:nvSpPr>
          <p:cNvPr id="16" name="Text 13"/>
          <p:cNvSpPr/>
          <p:nvPr/>
        </p:nvSpPr>
        <p:spPr>
          <a:xfrm>
            <a:off x="805281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버리기엔 아깝고,</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고쳐 쓸 만한 값입니다.</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WHAT ACTUALLY HURTS</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824"/>
              </a:lnSpc>
              <a:buNone/>
            </a:pPr>
            <a:r>
              <a:rPr lang="en-US" sz="3600" b="1" dirty="0">
                <a:solidFill>
                  <a:srgbClr val="FFFFFF"/>
                </a:solidFill>
                <a:latin typeface="Apple SD Gothic Neo" pitchFamily="34" charset="0"/>
                <a:ea typeface="Apple SD Gothic Neo" pitchFamily="34" charset="-122"/>
                <a:cs typeface="Apple SD Gothic Neo" pitchFamily="34" charset="-120"/>
              </a:rPr>
              <a:t>기록이 없으면, 값을 잃습니다</a:t>
            </a:r>
            <a:endParaRPr lang="en-US" sz="36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408176" y="2798064"/>
            <a:ext cx="2773680" cy="603504"/>
          </a:xfrm>
          <a:prstGeom prst="rect">
            <a:avLst/>
          </a:prstGeom>
          <a:noFill/>
          <a:ln/>
        </p:spPr>
        <p:txBody>
          <a:bodyPr wrap="square" lIns="0" tIns="0" rIns="0" bIns="0" rtlCol="0" anchor="ctr"/>
          <a:lstStyle/>
          <a:p>
            <a:pPr indent="0" marL="0">
              <a:buNone/>
            </a:pPr>
            <a:r>
              <a:rPr lang="en-US" sz="4000" b="1" dirty="0">
                <a:solidFill>
                  <a:srgbClr val="C4915F"/>
                </a:solidFill>
                <a:latin typeface="Apple SD Gothic Neo" pitchFamily="34" charset="0"/>
                <a:ea typeface="Apple SD Gothic Neo" pitchFamily="34" charset="-122"/>
                <a:cs typeface="Apple SD Gothic Neo" pitchFamily="34" charset="-120"/>
              </a:rPr>
              <a:t>30–40%</a:t>
            </a:r>
            <a:endParaRPr lang="en-US" sz="4000" dirty="0"/>
          </a:p>
        </p:txBody>
      </p:sp>
      <p:sp>
        <p:nvSpPr>
          <p:cNvPr id="7" name="Text 4"/>
          <p:cNvSpPr/>
          <p:nvPr/>
        </p:nvSpPr>
        <p:spPr>
          <a:xfrm>
            <a:off x="1408176" y="3584448"/>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같은 제품도 구성품과 이력 유무로</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리셀 가격이 갈린다</a:t>
            </a:r>
            <a:endParaRPr lang="en-US" sz="1400" dirty="0"/>
          </a:p>
        </p:txBody>
      </p:sp>
      <p:sp>
        <p:nvSpPr>
          <p:cNvPr id="8" name="Shape 5"/>
          <p:cNvSpPr/>
          <p:nvPr/>
        </p:nvSpPr>
        <p:spPr>
          <a:xfrm>
            <a:off x="4419600" y="2743200"/>
            <a:ext cx="0" cy="1645920"/>
          </a:xfrm>
          <a:prstGeom prst="line">
            <a:avLst/>
          </a:prstGeom>
          <a:noFill/>
          <a:ln w="9525">
            <a:solidFill>
              <a:srgbClr val="3A3025"/>
            </a:solidFill>
            <a:prstDash val="solid"/>
          </a:ln>
        </p:spPr>
      </p:sp>
      <p:sp>
        <p:nvSpPr>
          <p:cNvPr id="9" name="Text 6"/>
          <p:cNvSpPr/>
          <p:nvPr/>
        </p:nvSpPr>
        <p:spPr>
          <a:xfrm>
            <a:off x="4730496" y="2798064"/>
            <a:ext cx="2773680" cy="603504"/>
          </a:xfrm>
          <a:prstGeom prst="rect">
            <a:avLst/>
          </a:prstGeom>
          <a:noFill/>
          <a:ln/>
        </p:spPr>
        <p:txBody>
          <a:bodyPr wrap="square" lIns="0" tIns="0" rIns="0" bIns="0" rtlCol="0" anchor="ctr"/>
          <a:lstStyle/>
          <a:p>
            <a:pPr indent="0" marL="0">
              <a:buNone/>
            </a:pPr>
            <a:r>
              <a:rPr lang="en-US" sz="4000" b="1" dirty="0">
                <a:solidFill>
                  <a:srgbClr val="C4915F"/>
                </a:solidFill>
                <a:latin typeface="Apple SD Gothic Neo" pitchFamily="34" charset="0"/>
                <a:ea typeface="Apple SD Gothic Neo" pitchFamily="34" charset="-122"/>
                <a:cs typeface="Apple SD Gothic Neo" pitchFamily="34" charset="-120"/>
              </a:rPr>
              <a:t>1위</a:t>
            </a:r>
            <a:endParaRPr lang="en-US" sz="4000" dirty="0"/>
          </a:p>
        </p:txBody>
      </p:sp>
      <p:sp>
        <p:nvSpPr>
          <p:cNvPr id="10" name="Text 7"/>
          <p:cNvSpPr/>
          <p:nvPr/>
        </p:nvSpPr>
        <p:spPr>
          <a:xfrm>
            <a:off x="4730496" y="3584448"/>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명품 플랫폼에 소비자가 요구한 개선점</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 정품 보증 시스템 강화</a:t>
            </a:r>
            <a:endParaRPr lang="en-US" sz="1400" dirty="0"/>
          </a:p>
        </p:txBody>
      </p:sp>
      <p:sp>
        <p:nvSpPr>
          <p:cNvPr id="11" name="Shape 8"/>
          <p:cNvSpPr/>
          <p:nvPr/>
        </p:nvSpPr>
        <p:spPr>
          <a:xfrm>
            <a:off x="7741920" y="2743200"/>
            <a:ext cx="0" cy="1645920"/>
          </a:xfrm>
          <a:prstGeom prst="line">
            <a:avLst/>
          </a:prstGeom>
          <a:noFill/>
          <a:ln w="9525">
            <a:solidFill>
              <a:srgbClr val="3A3025"/>
            </a:solidFill>
            <a:prstDash val="solid"/>
          </a:ln>
        </p:spPr>
      </p:sp>
      <p:sp>
        <p:nvSpPr>
          <p:cNvPr id="12" name="Text 9"/>
          <p:cNvSpPr/>
          <p:nvPr/>
        </p:nvSpPr>
        <p:spPr>
          <a:xfrm>
            <a:off x="8052816" y="2798064"/>
            <a:ext cx="2773680" cy="603504"/>
          </a:xfrm>
          <a:prstGeom prst="rect">
            <a:avLst/>
          </a:prstGeom>
          <a:noFill/>
          <a:ln/>
        </p:spPr>
        <p:txBody>
          <a:bodyPr wrap="square" lIns="0" tIns="0" rIns="0" bIns="0" rtlCol="0" anchor="ctr"/>
          <a:lstStyle/>
          <a:p>
            <a:pPr indent="0" marL="0">
              <a:buNone/>
            </a:pPr>
            <a:r>
              <a:rPr lang="en-US" sz="4000" b="1" dirty="0">
                <a:solidFill>
                  <a:srgbClr val="C4915F"/>
                </a:solidFill>
                <a:latin typeface="Apple SD Gothic Neo" pitchFamily="34" charset="0"/>
                <a:ea typeface="Apple SD Gothic Neo" pitchFamily="34" charset="-122"/>
                <a:cs typeface="Apple SD Gothic Neo" pitchFamily="34" charset="-120"/>
              </a:rPr>
              <a:t>50개 중 1개</a:t>
            </a:r>
            <a:endParaRPr lang="en-US" sz="4000" dirty="0"/>
          </a:p>
        </p:txBody>
      </p:sp>
      <p:sp>
        <p:nvSpPr>
          <p:cNvPr id="13" name="Text 10"/>
          <p:cNvSpPr/>
          <p:nvPr/>
        </p:nvSpPr>
        <p:spPr>
          <a:xfrm>
            <a:off x="8052816" y="3584448"/>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감정에서 걸러진 가품 비율.</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40%는 백화점·아웃렛에서 산 것</a:t>
            </a:r>
            <a:endParaRPr lang="en-US" sz="1400" dirty="0"/>
          </a:p>
        </p:txBody>
      </p:sp>
      <p:sp>
        <p:nvSpPr>
          <p:cNvPr id="14" name="Text 11"/>
          <p:cNvSpPr/>
          <p:nvPr/>
        </p:nvSpPr>
        <p:spPr>
          <a:xfrm>
            <a:off x="914400" y="4882896"/>
            <a:ext cx="1033272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보증서 분실과 일련번호 불일치가 명품 거래 분쟁의 주된 원인입니다</a:t>
            </a:r>
            <a:endParaRPr lang="en-US" sz="1800" dirty="0"/>
          </a:p>
        </p:txBody>
      </p:sp>
      <p:sp>
        <p:nvSpPr>
          <p:cNvPr id="15" name="Text 12"/>
          <p:cNvSpPr/>
          <p:nvPr/>
        </p:nvSpPr>
        <p:spPr>
          <a:xfrm>
            <a:off x="731520" y="6400800"/>
            <a:ext cx="10698480" cy="310896"/>
          </a:xfrm>
          <a:prstGeom prst="rect">
            <a:avLst/>
          </a:prstGeom>
          <a:noFill/>
          <a:ln/>
        </p:spPr>
        <p:txBody>
          <a:bodyPr wrap="square" lIns="0" tIns="0" rIns="0" bIns="0" rtlCol="0" anchor="ctr"/>
          <a:lstStyle/>
          <a:p>
            <a:pPr algn="ctr" indent="0" marL="0">
              <a:buNone/>
            </a:pPr>
            <a:r>
              <a:rPr lang="en-US" sz="1100" dirty="0">
                <a:solidFill>
                  <a:srgbClr val="6E6459"/>
                </a:solidFill>
                <a:latin typeface="Apple SD Gothic Neo" pitchFamily="34" charset="0"/>
                <a:ea typeface="Apple SD Gothic Neo" pitchFamily="34" charset="-122"/>
                <a:cs typeface="Apple SD Gothic Neo" pitchFamily="34" charset="-120"/>
              </a:rPr>
              <a:t>트렌비 감정센터 · 명품 플랫폼 소비자 조사 · 한국소비자원 (2025)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5440"/>
              </a:lnSpc>
              <a:buNone/>
            </a:pPr>
            <a:r>
              <a:rPr lang="en-US" sz="4000" b="1" dirty="0">
                <a:solidFill>
                  <a:srgbClr val="FFFFFF"/>
                </a:solidFill>
                <a:latin typeface="Apple SD Gothic Neo" pitchFamily="34" charset="0"/>
                <a:ea typeface="Apple SD Gothic Neo" pitchFamily="34" charset="-122"/>
                <a:cs typeface="Apple SD Gothic Neo" pitchFamily="34" charset="-120"/>
              </a:rPr>
              <a:t>지금 이 문제를 푸는 브랜드는 없습니다</a:t>
            </a:r>
            <a:endParaRPr lang="en-US" sz="40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1005840" y="2615184"/>
            <a:ext cx="4572000" cy="329184"/>
          </a:xfrm>
          <a:prstGeom prst="rect">
            <a:avLst/>
          </a:prstGeom>
          <a:noFill/>
          <a:ln/>
        </p:spPr>
        <p:txBody>
          <a:bodyPr wrap="square" lIns="0" tIns="0" rIns="0" bIns="0" rtlCol="0" anchor="ctr"/>
          <a:lstStyle/>
          <a:p>
            <a:pPr indent="0" marL="0">
              <a:buNone/>
            </a:pPr>
            <a:r>
              <a:rPr lang="en-US" sz="1400" b="1" spc="260" kern="0" dirty="0">
                <a:solidFill>
                  <a:srgbClr val="8B5A2B"/>
                </a:solidFill>
                <a:latin typeface="Apple SD Gothic Neo" pitchFamily="34" charset="0"/>
                <a:ea typeface="Apple SD Gothic Neo" pitchFamily="34" charset="-122"/>
                <a:cs typeface="Apple SD Gothic Neo" pitchFamily="34" charset="-120"/>
              </a:rPr>
              <a:t>Chapter 2</a:t>
            </a:r>
            <a:endParaRPr lang="en-US" sz="1400" dirty="0"/>
          </a:p>
        </p:txBody>
      </p:sp>
      <p:sp>
        <p:nvSpPr>
          <p:cNvPr id="3" name="Text 1"/>
          <p:cNvSpPr/>
          <p:nvPr/>
        </p:nvSpPr>
        <p:spPr>
          <a:xfrm>
            <a:off x="987552" y="3054096"/>
            <a:ext cx="10058400" cy="822960"/>
          </a:xfrm>
          <a:prstGeom prst="rect">
            <a:avLst/>
          </a:prstGeom>
          <a:noFill/>
          <a:ln/>
        </p:spPr>
        <p:txBody>
          <a:bodyPr wrap="square" lIns="0" tIns="0" rIns="0" bIns="0" rtlCol="0" anchor="ctr"/>
          <a:lstStyle/>
          <a:p>
            <a:pPr indent="0" marL="0">
              <a:buNone/>
            </a:pPr>
            <a:r>
              <a:rPr lang="en-US" sz="4000" b="1" dirty="0">
                <a:solidFill>
                  <a:srgbClr val="1A1613"/>
                </a:solidFill>
                <a:latin typeface="Apple SD Gothic Neo" pitchFamily="34" charset="0"/>
                <a:ea typeface="Apple SD Gothic Neo" pitchFamily="34" charset="-122"/>
                <a:cs typeface="Apple SD Gothic Neo" pitchFamily="34" charset="-120"/>
              </a:rPr>
              <a:t>그래서 만들었습니다</a:t>
            </a:r>
            <a:endParaRPr lang="en-US" sz="4000" dirty="0"/>
          </a:p>
        </p:txBody>
      </p:sp>
      <p:sp>
        <p:nvSpPr>
          <p:cNvPr id="4" name="Text 2"/>
          <p:cNvSpPr/>
          <p:nvPr/>
        </p:nvSpPr>
        <p:spPr>
          <a:xfrm>
            <a:off x="1005840" y="4078224"/>
            <a:ext cx="9601200" cy="347472"/>
          </a:xfrm>
          <a:prstGeom prst="rect">
            <a:avLst/>
          </a:prstGeom>
          <a:noFill/>
          <a:ln/>
        </p:spPr>
        <p:txBody>
          <a:bodyPr wrap="square" lIns="0" tIns="0" rIns="0" bIns="0" rtlCol="0" anchor="ctr"/>
          <a:lstStyle/>
          <a:p>
            <a:pPr indent="0" marL="0">
              <a:buNone/>
            </a:pPr>
            <a:r>
              <a:rPr lang="en-US" sz="1500" dirty="0">
                <a:solidFill>
                  <a:srgbClr val="7A716A"/>
                </a:solidFill>
                <a:latin typeface="Apple SD Gothic Neo" pitchFamily="34" charset="0"/>
                <a:ea typeface="Apple SD Gothic Neo" pitchFamily="34" charset="-122"/>
                <a:cs typeface="Apple SD Gothic Neo" pitchFamily="34" charset="-120"/>
              </a:rPr>
              <a:t>하나의 타임라인, 그리고 흠을 다루는 방식</a:t>
            </a:r>
            <a:endParaRPr lang="en-US" sz="1500" dirty="0"/>
          </a:p>
        </p:txBody>
      </p:sp>
      <p:sp>
        <p:nvSpPr>
          <p:cNvPr id="5" name="Text 3"/>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B3ABA3"/>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SOLUTION</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5360"/>
              </a:lnSpc>
              <a:buNone/>
            </a:pPr>
            <a:r>
              <a:rPr lang="en-US" sz="4000" b="1" dirty="0">
                <a:solidFill>
                  <a:srgbClr val="FFFFFF"/>
                </a:solidFill>
                <a:latin typeface="Apple SD Gothic Neo" pitchFamily="34" charset="0"/>
                <a:ea typeface="Apple SD Gothic Neo" pitchFamily="34" charset="-122"/>
                <a:cs typeface="Apple SD Gothic Neo" pitchFamily="34" charset="-120"/>
              </a:rPr>
              <a:t>하나의 타임라인</a:t>
            </a:r>
            <a:endParaRPr lang="en-US" sz="40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Shape 3"/>
          <p:cNvSpPr/>
          <p:nvPr/>
        </p:nvSpPr>
        <p:spPr>
          <a:xfrm>
            <a:off x="1927860" y="3584448"/>
            <a:ext cx="8305800" cy="0"/>
          </a:xfrm>
          <a:prstGeom prst="line">
            <a:avLst/>
          </a:prstGeom>
          <a:noFill/>
          <a:ln w="12700">
            <a:solidFill>
              <a:srgbClr val="3A3025"/>
            </a:solidFill>
            <a:prstDash val="solid"/>
          </a:ln>
        </p:spPr>
      </p:sp>
      <p:sp>
        <p:nvSpPr>
          <p:cNvPr id="7" name="Shape 4"/>
          <p:cNvSpPr/>
          <p:nvPr/>
        </p:nvSpPr>
        <p:spPr>
          <a:xfrm>
            <a:off x="1868424" y="3525012"/>
            <a:ext cx="118872" cy="118872"/>
          </a:xfrm>
          <a:prstGeom prst="ellipse">
            <a:avLst/>
          </a:prstGeom>
          <a:solidFill>
            <a:srgbClr val="9A8F84"/>
          </a:solidFill>
          <a:ln/>
        </p:spPr>
      </p:sp>
      <p:sp>
        <p:nvSpPr>
          <p:cNvPr id="8" name="Text 5"/>
          <p:cNvSpPr/>
          <p:nvPr/>
        </p:nvSpPr>
        <p:spPr>
          <a:xfrm>
            <a:off x="1097280" y="3913632"/>
            <a:ext cx="1661160" cy="329184"/>
          </a:xfrm>
          <a:prstGeom prst="rect">
            <a:avLst/>
          </a:prstGeom>
          <a:noFill/>
          <a:ln/>
        </p:spPr>
        <p:txBody>
          <a:bodyPr wrap="square" lIns="0" tIns="0" rIns="0" bIns="0" rtlCol="0" anchor="ctr"/>
          <a:lstStyle/>
          <a:p>
            <a:pPr algn="ctr" indent="0" marL="0">
              <a:buNone/>
            </a:pPr>
            <a:r>
              <a:rPr lang="en-US" sz="1700" dirty="0">
                <a:solidFill>
                  <a:srgbClr val="9A8F84"/>
                </a:solidFill>
                <a:latin typeface="Apple SD Gothic Neo" pitchFamily="34" charset="0"/>
                <a:ea typeface="Apple SD Gothic Neo" pitchFamily="34" charset="-122"/>
                <a:cs typeface="Apple SD Gothic Neo" pitchFamily="34" charset="-120"/>
              </a:rPr>
              <a:t>발견</a:t>
            </a:r>
            <a:endParaRPr lang="en-US" sz="1700" dirty="0"/>
          </a:p>
        </p:txBody>
      </p:sp>
      <p:sp>
        <p:nvSpPr>
          <p:cNvPr id="9" name="Shape 6"/>
          <p:cNvSpPr/>
          <p:nvPr/>
        </p:nvSpPr>
        <p:spPr>
          <a:xfrm>
            <a:off x="3529584" y="3525012"/>
            <a:ext cx="118872" cy="118872"/>
          </a:xfrm>
          <a:prstGeom prst="ellipse">
            <a:avLst/>
          </a:prstGeom>
          <a:solidFill>
            <a:srgbClr val="9A8F84"/>
          </a:solidFill>
          <a:ln/>
        </p:spPr>
      </p:sp>
      <p:sp>
        <p:nvSpPr>
          <p:cNvPr id="10" name="Text 7"/>
          <p:cNvSpPr/>
          <p:nvPr/>
        </p:nvSpPr>
        <p:spPr>
          <a:xfrm>
            <a:off x="2758440" y="3913632"/>
            <a:ext cx="1661160" cy="329184"/>
          </a:xfrm>
          <a:prstGeom prst="rect">
            <a:avLst/>
          </a:prstGeom>
          <a:noFill/>
          <a:ln/>
        </p:spPr>
        <p:txBody>
          <a:bodyPr wrap="square" lIns="0" tIns="0" rIns="0" bIns="0" rtlCol="0" anchor="ctr"/>
          <a:lstStyle/>
          <a:p>
            <a:pPr algn="ctr" indent="0" marL="0">
              <a:buNone/>
            </a:pPr>
            <a:r>
              <a:rPr lang="en-US" sz="1700" dirty="0">
                <a:solidFill>
                  <a:srgbClr val="9A8F84"/>
                </a:solidFill>
                <a:latin typeface="Apple SD Gothic Neo" pitchFamily="34" charset="0"/>
                <a:ea typeface="Apple SD Gothic Neo" pitchFamily="34" charset="-122"/>
                <a:cs typeface="Apple SD Gothic Neo" pitchFamily="34" charset="-120"/>
              </a:rPr>
              <a:t>구매</a:t>
            </a:r>
            <a:endParaRPr lang="en-US" sz="1700" dirty="0"/>
          </a:p>
        </p:txBody>
      </p:sp>
      <p:sp>
        <p:nvSpPr>
          <p:cNvPr id="11" name="Shape 8"/>
          <p:cNvSpPr/>
          <p:nvPr/>
        </p:nvSpPr>
        <p:spPr>
          <a:xfrm>
            <a:off x="5190744" y="3525012"/>
            <a:ext cx="118872" cy="118872"/>
          </a:xfrm>
          <a:prstGeom prst="ellipse">
            <a:avLst/>
          </a:prstGeom>
          <a:solidFill>
            <a:srgbClr val="9A8F84"/>
          </a:solidFill>
          <a:ln/>
        </p:spPr>
      </p:sp>
      <p:sp>
        <p:nvSpPr>
          <p:cNvPr id="12" name="Text 9"/>
          <p:cNvSpPr/>
          <p:nvPr/>
        </p:nvSpPr>
        <p:spPr>
          <a:xfrm>
            <a:off x="4419600" y="3913632"/>
            <a:ext cx="1661160" cy="329184"/>
          </a:xfrm>
          <a:prstGeom prst="rect">
            <a:avLst/>
          </a:prstGeom>
          <a:noFill/>
          <a:ln/>
        </p:spPr>
        <p:txBody>
          <a:bodyPr wrap="square" lIns="0" tIns="0" rIns="0" bIns="0" rtlCol="0" anchor="ctr"/>
          <a:lstStyle/>
          <a:p>
            <a:pPr algn="ctr" indent="0" marL="0">
              <a:buNone/>
            </a:pPr>
            <a:r>
              <a:rPr lang="en-US" sz="1700" dirty="0">
                <a:solidFill>
                  <a:srgbClr val="9A8F84"/>
                </a:solidFill>
                <a:latin typeface="Apple SD Gothic Neo" pitchFamily="34" charset="0"/>
                <a:ea typeface="Apple SD Gothic Neo" pitchFamily="34" charset="-122"/>
                <a:cs typeface="Apple SD Gothic Neo" pitchFamily="34" charset="-120"/>
              </a:rPr>
              <a:t>사용</a:t>
            </a:r>
            <a:endParaRPr lang="en-US" sz="1700" dirty="0"/>
          </a:p>
        </p:txBody>
      </p:sp>
      <p:sp>
        <p:nvSpPr>
          <p:cNvPr id="13" name="Shape 10"/>
          <p:cNvSpPr/>
          <p:nvPr/>
        </p:nvSpPr>
        <p:spPr>
          <a:xfrm>
            <a:off x="6824472" y="3497580"/>
            <a:ext cx="173736" cy="173736"/>
          </a:xfrm>
          <a:prstGeom prst="ellipse">
            <a:avLst/>
          </a:prstGeom>
          <a:solidFill>
            <a:srgbClr val="C4915F"/>
          </a:solidFill>
          <a:ln/>
        </p:spPr>
      </p:sp>
      <p:sp>
        <p:nvSpPr>
          <p:cNvPr id="14" name="Text 11"/>
          <p:cNvSpPr/>
          <p:nvPr/>
        </p:nvSpPr>
        <p:spPr>
          <a:xfrm>
            <a:off x="6080760" y="3913632"/>
            <a:ext cx="166116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관리</a:t>
            </a:r>
            <a:endParaRPr lang="en-US" sz="1700" dirty="0"/>
          </a:p>
        </p:txBody>
      </p:sp>
      <p:sp>
        <p:nvSpPr>
          <p:cNvPr id="15" name="Shape 12"/>
          <p:cNvSpPr/>
          <p:nvPr/>
        </p:nvSpPr>
        <p:spPr>
          <a:xfrm>
            <a:off x="8485632" y="3497580"/>
            <a:ext cx="173736" cy="173736"/>
          </a:xfrm>
          <a:prstGeom prst="ellipse">
            <a:avLst/>
          </a:prstGeom>
          <a:solidFill>
            <a:srgbClr val="C4915F"/>
          </a:solidFill>
          <a:ln/>
        </p:spPr>
      </p:sp>
      <p:sp>
        <p:nvSpPr>
          <p:cNvPr id="16" name="Text 13"/>
          <p:cNvSpPr/>
          <p:nvPr/>
        </p:nvSpPr>
        <p:spPr>
          <a:xfrm>
            <a:off x="7741920" y="3913632"/>
            <a:ext cx="166116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수선</a:t>
            </a:r>
            <a:endParaRPr lang="en-US" sz="1700" dirty="0"/>
          </a:p>
        </p:txBody>
      </p:sp>
      <p:sp>
        <p:nvSpPr>
          <p:cNvPr id="17" name="Shape 14"/>
          <p:cNvSpPr/>
          <p:nvPr/>
        </p:nvSpPr>
        <p:spPr>
          <a:xfrm>
            <a:off x="10146792" y="3497580"/>
            <a:ext cx="173736" cy="173736"/>
          </a:xfrm>
          <a:prstGeom prst="ellipse">
            <a:avLst/>
          </a:prstGeom>
          <a:solidFill>
            <a:srgbClr val="C4915F"/>
          </a:solidFill>
          <a:ln/>
        </p:spPr>
      </p:sp>
      <p:sp>
        <p:nvSpPr>
          <p:cNvPr id="18" name="Text 15"/>
          <p:cNvSpPr/>
          <p:nvPr/>
        </p:nvSpPr>
        <p:spPr>
          <a:xfrm>
            <a:off x="9403080" y="3913632"/>
            <a:ext cx="166116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물려주기</a:t>
            </a:r>
            <a:endParaRPr lang="en-US" sz="1700" dirty="0"/>
          </a:p>
        </p:txBody>
      </p:sp>
      <p:sp>
        <p:nvSpPr>
          <p:cNvPr id="19" name="Text 16"/>
          <p:cNvSpPr/>
          <p:nvPr/>
        </p:nvSpPr>
        <p:spPr>
          <a:xfrm>
            <a:off x="914400" y="4773168"/>
            <a:ext cx="10332720"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내가 남긴 기록과 브랜드가 남긴 기록이 같은 줄에 흐릅니다</a:t>
            </a:r>
            <a:endParaRPr lang="en-US" sz="2200" dirty="0"/>
          </a:p>
        </p:txBody>
      </p:sp>
      <p:sp>
        <p:nvSpPr>
          <p:cNvPr id="20" name="Text 17"/>
          <p:cNvSpPr/>
          <p:nvPr/>
        </p:nvSpPr>
        <p:spPr>
          <a:xfrm>
            <a:off x="914400" y="5266944"/>
            <a:ext cx="10332720" cy="310896"/>
          </a:xfrm>
          <a:prstGeom prst="rect">
            <a:avLst/>
          </a:prstGeom>
          <a:noFill/>
          <a:ln/>
        </p:spPr>
        <p:txBody>
          <a:bodyPr wrap="square" lIns="0" tIns="0" rIns="0" bIns="0" rtlCol="0" anchor="ctr"/>
          <a:lstStyle/>
          <a:p>
            <a:pPr algn="ct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사진 앱은 수선 이력을 가질 수 없고, 브랜드 시스템은 내 추억을 가질 수 없습니다</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WHAT WE BUILT</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556"/>
              </a:lnSpc>
              <a:buNone/>
            </a:pPr>
            <a:r>
              <a:rPr lang="en-US" sz="3400" b="1" dirty="0">
                <a:solidFill>
                  <a:srgbClr val="FFFFFF"/>
                </a:solidFill>
                <a:latin typeface="Apple SD Gothic Neo" pitchFamily="34" charset="0"/>
                <a:ea typeface="Apple SD Gothic Neo" pitchFamily="34" charset="-122"/>
                <a:cs typeface="Apple SD Gothic Neo" pitchFamily="34" charset="-120"/>
              </a:rPr>
              <a:t>타임라인 위에 세 가지가 얹힙니다</a:t>
            </a:r>
            <a:endParaRPr lang="en-US" sz="34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408176" y="3127248"/>
            <a:ext cx="2682240" cy="292608"/>
          </a:xfrm>
          <a:prstGeom prst="rect">
            <a:avLst/>
          </a:prstGeom>
          <a:noFill/>
          <a:ln/>
        </p:spPr>
        <p:txBody>
          <a:bodyPr wrap="square" lIns="0" tIns="0" rIns="0" bIns="0" rtlCol="0" anchor="ctr"/>
          <a:lstStyle/>
          <a:p>
            <a:pPr indent="0" marL="0">
              <a:buNone/>
            </a:pPr>
            <a:r>
              <a:rPr lang="en-US" sz="1200" spc="140" kern="0" dirty="0">
                <a:solidFill>
                  <a:srgbClr val="6E6459"/>
                </a:solidFill>
                <a:latin typeface="Apple SD Gothic Neo" pitchFamily="34" charset="0"/>
                <a:ea typeface="Apple SD Gothic Neo" pitchFamily="34" charset="-122"/>
                <a:cs typeface="Apple SD Gothic Neo" pitchFamily="34" charset="-120"/>
              </a:rPr>
              <a:t>기록</a:t>
            </a:r>
            <a:endParaRPr lang="en-US" sz="1200" dirty="0"/>
          </a:p>
        </p:txBody>
      </p:sp>
      <p:sp>
        <p:nvSpPr>
          <p:cNvPr id="7" name="Text 4"/>
          <p:cNvSpPr/>
          <p:nvPr/>
        </p:nvSpPr>
        <p:spPr>
          <a:xfrm>
            <a:off x="1408176" y="3529584"/>
            <a:ext cx="277368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쌓인다</a:t>
            </a:r>
            <a:endParaRPr lang="en-US" sz="2400" dirty="0"/>
          </a:p>
        </p:txBody>
      </p:sp>
      <p:sp>
        <p:nvSpPr>
          <p:cNvPr id="8" name="Text 5"/>
          <p:cNvSpPr/>
          <p:nvPr/>
        </p:nvSpPr>
        <p:spPr>
          <a:xfrm>
            <a:off x="140817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사진 한 장을 올리면</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AI가 문장으로 남긴다.</a:t>
            </a:r>
            <a:endParaRPr lang="en-US" sz="1400" dirty="0"/>
          </a:p>
        </p:txBody>
      </p:sp>
      <p:sp>
        <p:nvSpPr>
          <p:cNvPr id="9" name="Shape 6"/>
          <p:cNvSpPr/>
          <p:nvPr/>
        </p:nvSpPr>
        <p:spPr>
          <a:xfrm>
            <a:off x="4419600" y="3035808"/>
            <a:ext cx="0" cy="1920240"/>
          </a:xfrm>
          <a:prstGeom prst="line">
            <a:avLst/>
          </a:prstGeom>
          <a:noFill/>
          <a:ln w="9525">
            <a:solidFill>
              <a:srgbClr val="3A3025"/>
            </a:solidFill>
            <a:prstDash val="solid"/>
          </a:ln>
        </p:spPr>
      </p:sp>
      <p:sp>
        <p:nvSpPr>
          <p:cNvPr id="10" name="Text 7"/>
          <p:cNvSpPr/>
          <p:nvPr/>
        </p:nvSpPr>
        <p:spPr>
          <a:xfrm>
            <a:off x="4730496" y="3127248"/>
            <a:ext cx="2682240" cy="292608"/>
          </a:xfrm>
          <a:prstGeom prst="rect">
            <a:avLst/>
          </a:prstGeom>
          <a:noFill/>
          <a:ln/>
        </p:spPr>
        <p:txBody>
          <a:bodyPr wrap="square" lIns="0" tIns="0" rIns="0" bIns="0" rtlCol="0" anchor="ctr"/>
          <a:lstStyle/>
          <a:p>
            <a:pPr indent="0" marL="0">
              <a:buNone/>
            </a:pPr>
            <a:r>
              <a:rPr lang="en-US" sz="1200" spc="140" kern="0" dirty="0">
                <a:solidFill>
                  <a:srgbClr val="6E6459"/>
                </a:solidFill>
                <a:latin typeface="Apple SD Gothic Neo" pitchFamily="34" charset="0"/>
                <a:ea typeface="Apple SD Gothic Neo" pitchFamily="34" charset="-122"/>
                <a:cs typeface="Apple SD Gothic Neo" pitchFamily="34" charset="-120"/>
              </a:rPr>
              <a:t>케어 · 수선</a:t>
            </a:r>
            <a:endParaRPr lang="en-US" sz="1200" dirty="0"/>
          </a:p>
        </p:txBody>
      </p:sp>
      <p:sp>
        <p:nvSpPr>
          <p:cNvPr id="11" name="Text 8"/>
          <p:cNvSpPr/>
          <p:nvPr/>
        </p:nvSpPr>
        <p:spPr>
          <a:xfrm>
            <a:off x="4730496" y="3529584"/>
            <a:ext cx="277368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이어진다</a:t>
            </a:r>
            <a:endParaRPr lang="en-US" sz="2400" dirty="0"/>
          </a:p>
        </p:txBody>
      </p:sp>
      <p:sp>
        <p:nvSpPr>
          <p:cNvPr id="12" name="Text 9"/>
          <p:cNvSpPr/>
          <p:nvPr/>
        </p:nvSpPr>
        <p:spPr>
          <a:xfrm>
            <a:off x="473049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제품 실사 위에서 부위를 눌러</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접수하고, 이력이 그대로 남는다.</a:t>
            </a:r>
            <a:endParaRPr lang="en-US" sz="1400" dirty="0"/>
          </a:p>
        </p:txBody>
      </p:sp>
      <p:sp>
        <p:nvSpPr>
          <p:cNvPr id="13" name="Shape 10"/>
          <p:cNvSpPr/>
          <p:nvPr/>
        </p:nvSpPr>
        <p:spPr>
          <a:xfrm>
            <a:off x="7741920" y="3035808"/>
            <a:ext cx="0" cy="1920240"/>
          </a:xfrm>
          <a:prstGeom prst="line">
            <a:avLst/>
          </a:prstGeom>
          <a:noFill/>
          <a:ln w="9525">
            <a:solidFill>
              <a:srgbClr val="3A3025"/>
            </a:solidFill>
            <a:prstDash val="solid"/>
          </a:ln>
        </p:spPr>
      </p:sp>
      <p:sp>
        <p:nvSpPr>
          <p:cNvPr id="14" name="Text 11"/>
          <p:cNvSpPr/>
          <p:nvPr/>
        </p:nvSpPr>
        <p:spPr>
          <a:xfrm>
            <a:off x="8052816" y="3127248"/>
            <a:ext cx="2682240" cy="292608"/>
          </a:xfrm>
          <a:prstGeom prst="rect">
            <a:avLst/>
          </a:prstGeom>
          <a:noFill/>
          <a:ln/>
        </p:spPr>
        <p:txBody>
          <a:bodyPr wrap="square" lIns="0" tIns="0" rIns="0" bIns="0" rtlCol="0" anchor="ctr"/>
          <a:lstStyle/>
          <a:p>
            <a:pPr indent="0" marL="0">
              <a:buNone/>
            </a:pPr>
            <a:r>
              <a:rPr lang="en-US" sz="1200" spc="140" kern="0" dirty="0">
                <a:solidFill>
                  <a:srgbClr val="C4915F"/>
                </a:solidFill>
                <a:latin typeface="Apple SD Gothic Neo" pitchFamily="34" charset="0"/>
                <a:ea typeface="Apple SD Gothic Neo" pitchFamily="34" charset="-122"/>
                <a:cs typeface="Apple SD Gothic Neo" pitchFamily="34" charset="-120"/>
              </a:rPr>
              <a:t>REMADE</a:t>
            </a:r>
            <a:endParaRPr lang="en-US" sz="1200" dirty="0"/>
          </a:p>
        </p:txBody>
      </p:sp>
      <p:sp>
        <p:nvSpPr>
          <p:cNvPr id="15" name="Text 12"/>
          <p:cNvSpPr/>
          <p:nvPr/>
        </p:nvSpPr>
        <p:spPr>
          <a:xfrm>
            <a:off x="8052816" y="3529584"/>
            <a:ext cx="2773680" cy="457200"/>
          </a:xfrm>
          <a:prstGeom prst="rect">
            <a:avLst/>
          </a:prstGeom>
          <a:noFill/>
          <a:ln/>
        </p:spPr>
        <p:txBody>
          <a:bodyPr wrap="square" lIns="0" tIns="0" rIns="0" bIns="0" rtlCol="0" anchor="ctr"/>
          <a:lstStyle/>
          <a:p>
            <a:pPr indent="0" marL="0">
              <a:buNone/>
            </a:pPr>
            <a:r>
              <a:rPr lang="en-US" sz="2400" b="1" dirty="0">
                <a:solidFill>
                  <a:srgbClr val="C4915F"/>
                </a:solidFill>
                <a:latin typeface="Apple SD Gothic Neo" pitchFamily="34" charset="0"/>
                <a:ea typeface="Apple SD Gothic Neo" pitchFamily="34" charset="-122"/>
                <a:cs typeface="Apple SD Gothic Neo" pitchFamily="34" charset="-120"/>
              </a:rPr>
              <a:t>값이 된다</a:t>
            </a:r>
            <a:endParaRPr lang="en-US" sz="2400" dirty="0"/>
          </a:p>
        </p:txBody>
      </p:sp>
      <p:sp>
        <p:nvSpPr>
          <p:cNvPr id="16" name="Text 13"/>
          <p:cNvSpPr/>
          <p:nvPr/>
        </p:nvSpPr>
        <p:spPr>
          <a:xfrm>
            <a:off x="805281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긁힌 자리를 나만의 무늬로.</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AI 시안, 장인 제작.</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5984"/>
              </a:lnSpc>
              <a:buNone/>
            </a:pPr>
            <a:r>
              <a:rPr lang="en-US" sz="4400" b="1" dirty="0">
                <a:solidFill>
                  <a:srgbClr val="FFFFFF"/>
                </a:solidFill>
                <a:latin typeface="Apple SD Gothic Neo" pitchFamily="34" charset="0"/>
                <a:ea typeface="Apple SD Gothic Neo" pitchFamily="34" charset="-122"/>
                <a:cs typeface="Apple SD Gothic Neo" pitchFamily="34" charset="-120"/>
              </a:rPr>
              <a:t>흠을 지우지 않습니다.</a:t>
            </a:r>
            <a:endParaRPr lang="en-US" sz="4400" dirty="0"/>
          </a:p>
          <a:p>
            <a:pPr algn="ctr" indent="0" marL="0">
              <a:lnSpc>
                <a:spcPts val="5984"/>
              </a:lnSpc>
              <a:buNone/>
            </a:pPr>
            <a:r>
              <a:rPr lang="en-US" sz="4400" b="1" dirty="0">
                <a:solidFill>
                  <a:srgbClr val="C4915F"/>
                </a:solidFill>
                <a:latin typeface="Apple SD Gothic Neo" pitchFamily="34" charset="0"/>
                <a:ea typeface="Apple SD Gothic Neo" pitchFamily="34" charset="-122"/>
                <a:cs typeface="Apple SD Gothic Neo" pitchFamily="34" charset="-120"/>
              </a:rPr>
              <a:t>그 자리에 그립니다.</a:t>
            </a:r>
            <a:endParaRPr lang="en-US" sz="44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THIS IS NOT NEW</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556"/>
              </a:lnSpc>
              <a:buNone/>
            </a:pPr>
            <a:r>
              <a:rPr lang="en-US" sz="3400" b="1" dirty="0">
                <a:solidFill>
                  <a:srgbClr val="FFFFFF"/>
                </a:solidFill>
                <a:latin typeface="Apple SD Gothic Neo" pitchFamily="34" charset="0"/>
                <a:ea typeface="Apple SD Gothic Neo" pitchFamily="34" charset="-122"/>
                <a:cs typeface="Apple SD Gothic Neo" pitchFamily="34" charset="-120"/>
              </a:rPr>
              <a:t>같은 생각이 이미 세 번 있었습니다</a:t>
            </a:r>
            <a:endParaRPr lang="en-US" sz="34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408176" y="3127248"/>
            <a:ext cx="2682240" cy="292608"/>
          </a:xfrm>
          <a:prstGeom prst="rect">
            <a:avLst/>
          </a:prstGeom>
          <a:noFill/>
          <a:ln/>
        </p:spPr>
        <p:txBody>
          <a:bodyPr wrap="square" lIns="0" tIns="0" rIns="0" bIns="0" rtlCol="0" anchor="ctr"/>
          <a:lstStyle/>
          <a:p>
            <a:pPr indent="0" marL="0">
              <a:buNone/>
            </a:pPr>
            <a:r>
              <a:rPr lang="en-US" sz="1200" spc="140" kern="0" dirty="0">
                <a:solidFill>
                  <a:srgbClr val="6E6459"/>
                </a:solidFill>
                <a:latin typeface="Apple SD Gothic Neo" pitchFamily="34" charset="0"/>
                <a:ea typeface="Apple SD Gothic Neo" pitchFamily="34" charset="-122"/>
                <a:cs typeface="Apple SD Gothic Neo" pitchFamily="34" charset="-120"/>
              </a:rPr>
              <a:t>조선</a:t>
            </a:r>
            <a:endParaRPr lang="en-US" sz="1200" dirty="0"/>
          </a:p>
        </p:txBody>
      </p:sp>
      <p:sp>
        <p:nvSpPr>
          <p:cNvPr id="7" name="Text 4"/>
          <p:cNvSpPr/>
          <p:nvPr/>
        </p:nvSpPr>
        <p:spPr>
          <a:xfrm>
            <a:off x="1408176" y="3529584"/>
            <a:ext cx="277368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신사임당의 포도</a:t>
            </a:r>
            <a:endParaRPr lang="en-US" sz="2400" dirty="0"/>
          </a:p>
        </p:txBody>
      </p:sp>
      <p:sp>
        <p:nvSpPr>
          <p:cNvPr id="8" name="Text 5"/>
          <p:cNvSpPr/>
          <p:nvPr/>
        </p:nvSpPr>
        <p:spPr>
          <a:xfrm>
            <a:off x="140817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치마 얼룩 위에 포도를 그렸다.</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버려질 옷이 오히려 팔렸다.</a:t>
            </a:r>
            <a:endParaRPr lang="en-US" sz="1400" dirty="0"/>
          </a:p>
        </p:txBody>
      </p:sp>
      <p:sp>
        <p:nvSpPr>
          <p:cNvPr id="9" name="Shape 6"/>
          <p:cNvSpPr/>
          <p:nvPr/>
        </p:nvSpPr>
        <p:spPr>
          <a:xfrm>
            <a:off x="4419600" y="3035808"/>
            <a:ext cx="0" cy="1920240"/>
          </a:xfrm>
          <a:prstGeom prst="line">
            <a:avLst/>
          </a:prstGeom>
          <a:noFill/>
          <a:ln w="9525">
            <a:solidFill>
              <a:srgbClr val="3A3025"/>
            </a:solidFill>
            <a:prstDash val="solid"/>
          </a:ln>
        </p:spPr>
      </p:sp>
      <p:sp>
        <p:nvSpPr>
          <p:cNvPr id="10" name="Text 7"/>
          <p:cNvSpPr/>
          <p:nvPr/>
        </p:nvSpPr>
        <p:spPr>
          <a:xfrm>
            <a:off x="4730496" y="3127248"/>
            <a:ext cx="2682240" cy="292608"/>
          </a:xfrm>
          <a:prstGeom prst="rect">
            <a:avLst/>
          </a:prstGeom>
          <a:noFill/>
          <a:ln/>
        </p:spPr>
        <p:txBody>
          <a:bodyPr wrap="square" lIns="0" tIns="0" rIns="0" bIns="0" rtlCol="0" anchor="ctr"/>
          <a:lstStyle/>
          <a:p>
            <a:pPr indent="0" marL="0">
              <a:buNone/>
            </a:pPr>
            <a:r>
              <a:rPr lang="en-US" sz="1200" spc="140" kern="0" dirty="0">
                <a:solidFill>
                  <a:srgbClr val="6E6459"/>
                </a:solidFill>
                <a:latin typeface="Apple SD Gothic Neo" pitchFamily="34" charset="0"/>
                <a:ea typeface="Apple SD Gothic Neo" pitchFamily="34" charset="-122"/>
                <a:cs typeface="Apple SD Gothic Neo" pitchFamily="34" charset="-120"/>
              </a:rPr>
              <a:t>일본</a:t>
            </a:r>
            <a:endParaRPr lang="en-US" sz="1200" dirty="0"/>
          </a:p>
        </p:txBody>
      </p:sp>
      <p:sp>
        <p:nvSpPr>
          <p:cNvPr id="11" name="Text 8"/>
          <p:cNvSpPr/>
          <p:nvPr/>
        </p:nvSpPr>
        <p:spPr>
          <a:xfrm>
            <a:off x="4730496" y="3529584"/>
            <a:ext cx="277368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킨츠기 金継ぎ</a:t>
            </a:r>
            <a:endParaRPr lang="en-US" sz="2400" dirty="0"/>
          </a:p>
        </p:txBody>
      </p:sp>
      <p:sp>
        <p:nvSpPr>
          <p:cNvPr id="12" name="Text 9"/>
          <p:cNvSpPr/>
          <p:nvPr/>
        </p:nvSpPr>
        <p:spPr>
          <a:xfrm>
            <a:off x="473049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깨진 자리를 금으로 잇는다.</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흉터를 감추지 않고 드러낸다.</a:t>
            </a:r>
            <a:endParaRPr lang="en-US" sz="1400" dirty="0"/>
          </a:p>
        </p:txBody>
      </p:sp>
      <p:sp>
        <p:nvSpPr>
          <p:cNvPr id="13" name="Shape 10"/>
          <p:cNvSpPr/>
          <p:nvPr/>
        </p:nvSpPr>
        <p:spPr>
          <a:xfrm>
            <a:off x="7741920" y="3035808"/>
            <a:ext cx="0" cy="1920240"/>
          </a:xfrm>
          <a:prstGeom prst="line">
            <a:avLst/>
          </a:prstGeom>
          <a:noFill/>
          <a:ln w="9525">
            <a:solidFill>
              <a:srgbClr val="3A3025"/>
            </a:solidFill>
            <a:prstDash val="solid"/>
          </a:ln>
        </p:spPr>
      </p:sp>
      <p:sp>
        <p:nvSpPr>
          <p:cNvPr id="14" name="Text 11"/>
          <p:cNvSpPr/>
          <p:nvPr/>
        </p:nvSpPr>
        <p:spPr>
          <a:xfrm>
            <a:off x="8052816" y="3127248"/>
            <a:ext cx="2682240" cy="292608"/>
          </a:xfrm>
          <a:prstGeom prst="rect">
            <a:avLst/>
          </a:prstGeom>
          <a:noFill/>
          <a:ln/>
        </p:spPr>
        <p:txBody>
          <a:bodyPr wrap="square" lIns="0" tIns="0" rIns="0" bIns="0" rtlCol="0" anchor="ctr"/>
          <a:lstStyle/>
          <a:p>
            <a:pPr indent="0" marL="0">
              <a:buNone/>
            </a:pPr>
            <a:r>
              <a:rPr lang="en-US" sz="1200" spc="140" kern="0" dirty="0">
                <a:solidFill>
                  <a:srgbClr val="C4915F"/>
                </a:solidFill>
                <a:latin typeface="Apple SD Gothic Neo" pitchFamily="34" charset="0"/>
                <a:ea typeface="Apple SD Gothic Neo" pitchFamily="34" charset="-122"/>
                <a:cs typeface="Apple SD Gothic Neo" pitchFamily="34" charset="-120"/>
              </a:rPr>
              <a:t>1988 · 할렘</a:t>
            </a:r>
            <a:endParaRPr lang="en-US" sz="1200" dirty="0"/>
          </a:p>
        </p:txBody>
      </p:sp>
      <p:sp>
        <p:nvSpPr>
          <p:cNvPr id="15" name="Text 12"/>
          <p:cNvSpPr/>
          <p:nvPr/>
        </p:nvSpPr>
        <p:spPr>
          <a:xfrm>
            <a:off x="8052816" y="3529584"/>
            <a:ext cx="2773680" cy="457200"/>
          </a:xfrm>
          <a:prstGeom prst="rect">
            <a:avLst/>
          </a:prstGeom>
          <a:noFill/>
          <a:ln/>
        </p:spPr>
        <p:txBody>
          <a:bodyPr wrap="square" lIns="0" tIns="0" rIns="0" bIns="0" rtlCol="0" anchor="ctr"/>
          <a:lstStyle/>
          <a:p>
            <a:pPr indent="0" marL="0">
              <a:buNone/>
            </a:pPr>
            <a:r>
              <a:rPr lang="en-US" sz="2400" b="1" dirty="0">
                <a:solidFill>
                  <a:srgbClr val="C4915F"/>
                </a:solidFill>
                <a:latin typeface="Apple SD Gothic Neo" pitchFamily="34" charset="0"/>
                <a:ea typeface="Apple SD Gothic Neo" pitchFamily="34" charset="-122"/>
                <a:cs typeface="Apple SD Gothic Neo" pitchFamily="34" charset="-120"/>
              </a:rPr>
              <a:t>Dapper Dan</a:t>
            </a:r>
            <a:endParaRPr lang="en-US" sz="2400" dirty="0"/>
          </a:p>
        </p:txBody>
      </p:sp>
      <p:sp>
        <p:nvSpPr>
          <p:cNvPr id="16" name="Text 13"/>
          <p:cNvSpPr/>
          <p:nvPr/>
        </p:nvSpPr>
        <p:spPr>
          <a:xfrm>
            <a:off x="805281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MCM 코냑 비세토스를 뜯어</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무대의상으로 다시 꿰맸다.</a:t>
            </a:r>
            <a:endParaRPr lang="en-US" sz="1400" dirty="0"/>
          </a:p>
        </p:txBody>
      </p:sp>
      <p:sp>
        <p:nvSpPr>
          <p:cNvPr id="17" name="Text 14"/>
          <p:cNvSpPr/>
          <p:nvPr/>
        </p:nvSpPr>
        <p:spPr>
          <a:xfrm>
            <a:off x="731520" y="6144768"/>
            <a:ext cx="10698480" cy="310896"/>
          </a:xfrm>
          <a:prstGeom prst="rect">
            <a:avLst/>
          </a:prstGeom>
          <a:noFill/>
          <a:ln/>
        </p:spPr>
        <p:txBody>
          <a:bodyPr wrap="square" lIns="0" tIns="0" rIns="0" bIns="0" rtlCol="0" anchor="ctr"/>
          <a:lstStyle/>
          <a:p>
            <a:pPr algn="ctr" indent="0" marL="0">
              <a:buNone/>
            </a:pPr>
            <a:r>
              <a:rPr lang="en-US" sz="1100" dirty="0">
                <a:solidFill>
                  <a:srgbClr val="6E6459"/>
                </a:solidFill>
                <a:latin typeface="Apple SD Gothic Neo" pitchFamily="34" charset="0"/>
                <a:ea typeface="Apple SD Gothic Neo" pitchFamily="34" charset="-122"/>
                <a:cs typeface="Apple SD Gothic Neo" pitchFamily="34" charset="-120"/>
              </a:rPr>
              <a:t>신사임당은 전해지는 일화 · Dapper Dan은 브랜드 기록 (Highsnobiety)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5168"/>
              </a:lnSpc>
              <a:buNone/>
            </a:pPr>
            <a:r>
              <a:rPr lang="en-US" sz="3800" b="1" dirty="0">
                <a:solidFill>
                  <a:srgbClr val="FFFFFF"/>
                </a:solidFill>
                <a:latin typeface="Apple SD Gothic Neo" pitchFamily="34" charset="0"/>
                <a:ea typeface="Apple SD Gothic Neo" pitchFamily="34" charset="-122"/>
                <a:cs typeface="Apple SD Gothic Neo" pitchFamily="34" charset="-120"/>
              </a:rPr>
              <a:t>앞의 둘은 비유입니다.</a:t>
            </a:r>
            <a:endParaRPr lang="en-US" sz="3800" dirty="0"/>
          </a:p>
          <a:p>
            <a:pPr algn="ctr" indent="0" marL="0">
              <a:lnSpc>
                <a:spcPts val="5168"/>
              </a:lnSpc>
              <a:buNone/>
            </a:pPr>
            <a:r>
              <a:rPr lang="en-US" sz="3800" b="1" dirty="0">
                <a:solidFill>
                  <a:srgbClr val="C4915F"/>
                </a:solidFill>
                <a:latin typeface="Apple SD Gothic Neo" pitchFamily="34" charset="0"/>
                <a:ea typeface="Apple SD Gothic Neo" pitchFamily="34" charset="-122"/>
                <a:cs typeface="Apple SD Gothic Neo" pitchFamily="34" charset="-120"/>
              </a:rPr>
              <a:t>셋째는 MCM 자신의 역사입니다.</a:t>
            </a:r>
            <a:endParaRPr lang="en-US" sz="3800" dirty="0"/>
          </a:p>
        </p:txBody>
      </p:sp>
      <p:sp>
        <p:nvSpPr>
          <p:cNvPr id="4" name="Text 1"/>
          <p:cNvSpPr/>
          <p:nvPr/>
        </p:nvSpPr>
        <p:spPr>
          <a:xfrm>
            <a:off x="1463040" y="4846320"/>
            <a:ext cx="9235440" cy="365760"/>
          </a:xfrm>
          <a:prstGeom prst="rect">
            <a:avLst/>
          </a:prstGeom>
          <a:noFill/>
          <a:ln/>
        </p:spPr>
        <p:txBody>
          <a:bodyPr wrap="square" lIns="0" tIns="0" rIns="0" bIns="0" rtlCol="0" anchor="ctr"/>
          <a:lstStyle/>
          <a:p>
            <a:pPr algn="ctr" indent="0" marL="0">
              <a:buNone/>
            </a:pPr>
            <a:r>
              <a:rPr lang="en-US" sz="1500" dirty="0">
                <a:solidFill>
                  <a:srgbClr val="9A8F84"/>
                </a:solidFill>
                <a:latin typeface="Apple SD Gothic Neo" pitchFamily="34" charset="0"/>
                <a:ea typeface="Apple SD Gothic Neo" pitchFamily="34" charset="-122"/>
                <a:cs typeface="Apple SD Gothic Neo" pitchFamily="34" charset="-120"/>
              </a:rPr>
              <a:t>Dapper Dan이 뜯어 만든 옷이 이 브랜드를 아이콘으로 만들었습니다</a:t>
            </a:r>
            <a:endParaRPr lang="en-US" sz="15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WHO WE BUILD FOR</a:t>
            </a:r>
            <a:endParaRPr lang="en-US" sz="1150" dirty="0"/>
          </a:p>
        </p:txBody>
      </p:sp>
      <p:sp>
        <p:nvSpPr>
          <p:cNvPr id="4" name="Text 1"/>
          <p:cNvSpPr/>
          <p:nvPr/>
        </p:nvSpPr>
        <p:spPr>
          <a:xfrm>
            <a:off x="914400" y="2212848"/>
            <a:ext cx="10332720" cy="1554480"/>
          </a:xfrm>
          <a:prstGeom prst="rect">
            <a:avLst/>
          </a:prstGeom>
          <a:noFill/>
          <a:ln/>
        </p:spPr>
        <p:txBody>
          <a:bodyPr wrap="square" lIns="0" tIns="0" rIns="0" bIns="0" rtlCol="0" anchor="ctr"/>
          <a:lstStyle/>
          <a:p>
            <a:pPr algn="ctr" indent="0" marL="0">
              <a:lnSpc>
                <a:spcPts val="5800"/>
              </a:lnSpc>
              <a:buNone/>
            </a:pPr>
            <a:r>
              <a:rPr lang="en-US" sz="4000" b="1" dirty="0">
                <a:solidFill>
                  <a:srgbClr val="FFFFFF"/>
                </a:solidFill>
                <a:latin typeface="Apple SD Gothic Neo" pitchFamily="34" charset="0"/>
                <a:ea typeface="Apple SD Gothic Neo" pitchFamily="34" charset="-122"/>
                <a:cs typeface="Apple SD Gothic Neo" pitchFamily="34" charset="-120"/>
              </a:rPr>
              <a:t>“무리해서 산 거 아니야.</a:t>
            </a:r>
            <a:endParaRPr lang="en-US" sz="4000" dirty="0"/>
          </a:p>
          <a:p>
            <a:pPr algn="ctr" indent="0" marL="0">
              <a:lnSpc>
                <a:spcPts val="5800"/>
              </a:lnSpc>
              <a:buNone/>
            </a:pPr>
            <a:r>
              <a:rPr lang="en-US" sz="4000" b="1" dirty="0">
                <a:solidFill>
                  <a:srgbClr val="FFFFFF"/>
                </a:solidFill>
                <a:latin typeface="Apple SD Gothic Neo" pitchFamily="34" charset="0"/>
                <a:ea typeface="Apple SD Gothic Neo" pitchFamily="34" charset="-122"/>
                <a:cs typeface="Apple SD Gothic Neo" pitchFamily="34" charset="-120"/>
              </a:rPr>
              <a:t>3년째 잘 쓰고 있어.”</a:t>
            </a:r>
            <a:endParaRPr lang="en-US" sz="4000" dirty="0"/>
          </a:p>
        </p:txBody>
      </p:sp>
      <p:sp>
        <p:nvSpPr>
          <p:cNvPr id="5" name="Text 2"/>
          <p:cNvSpPr/>
          <p:nvPr/>
        </p:nvSpPr>
        <p:spPr>
          <a:xfrm>
            <a:off x="914400" y="4059936"/>
            <a:ext cx="10332720" cy="329184"/>
          </a:xfrm>
          <a:prstGeom prst="rect">
            <a:avLst/>
          </a:prstGeom>
          <a:noFill/>
          <a:ln/>
        </p:spPr>
        <p:txBody>
          <a:bodyPr wrap="square" lIns="0" tIns="0" rIns="0" bIns="0" rtlCol="0" anchor="ctr"/>
          <a:lstStyle/>
          <a:p>
            <a:pPr algn="ctr" indent="0" marL="0">
              <a:buNone/>
            </a:pPr>
            <a:r>
              <a:rPr lang="en-US" sz="1500" dirty="0">
                <a:solidFill>
                  <a:srgbClr val="9A8F84"/>
                </a:solidFill>
                <a:latin typeface="Apple SD Gothic Neo" pitchFamily="34" charset="0"/>
                <a:ea typeface="Apple SD Gothic Neo" pitchFamily="34" charset="-122"/>
                <a:cs typeface="Apple SD Gothic Neo" pitchFamily="34" charset="-120"/>
              </a:rPr>
              <a:t>서지우 · 28 · 뷰티 브랜드 마케터 4년차</a:t>
            </a:r>
            <a:endParaRPr lang="en-US" sz="1500" dirty="0"/>
          </a:p>
        </p:txBody>
      </p:sp>
      <p:sp>
        <p:nvSpPr>
          <p:cNvPr id="6" name="Shape 3"/>
          <p:cNvSpPr/>
          <p:nvPr/>
        </p:nvSpPr>
        <p:spPr>
          <a:xfrm>
            <a:off x="4023360" y="4791456"/>
            <a:ext cx="4114800" cy="0"/>
          </a:xfrm>
          <a:prstGeom prst="line">
            <a:avLst/>
          </a:prstGeom>
          <a:noFill/>
          <a:ln w="9525">
            <a:solidFill>
              <a:srgbClr val="3A3025"/>
            </a:solidFill>
            <a:prstDash val="solid"/>
          </a:ln>
        </p:spPr>
      </p:sp>
      <p:sp>
        <p:nvSpPr>
          <p:cNvPr id="7" name="Text 4"/>
          <p:cNvSpPr/>
          <p:nvPr/>
        </p:nvSpPr>
        <p:spPr>
          <a:xfrm>
            <a:off x="914400" y="5047488"/>
            <a:ext cx="10332720" cy="365760"/>
          </a:xfrm>
          <a:prstGeom prst="rect">
            <a:avLst/>
          </a:prstGeom>
          <a:noFill/>
          <a:ln/>
        </p:spPr>
        <p:txBody>
          <a:bodyPr wrap="square" lIns="0" tIns="0" rIns="0" bIns="0" rtlCol="0" anchor="ctr"/>
          <a:lstStyle/>
          <a:p>
            <a:pPr algn="ctr" indent="0" marL="0">
              <a:buNone/>
            </a:pPr>
            <a:r>
              <a:rPr lang="en-US" sz="2000" b="1" dirty="0">
                <a:solidFill>
                  <a:srgbClr val="C4915F"/>
                </a:solidFill>
                <a:latin typeface="Apple SD Gothic Neo" pitchFamily="34" charset="0"/>
                <a:ea typeface="Apple SD Gothic Neo" pitchFamily="34" charset="-122"/>
                <a:cs typeface="Apple SD Gothic Neo" pitchFamily="34" charset="-120"/>
              </a:rPr>
              <a:t>과시하고 싶다. 그런데 과시로 보이면 안 된다.</a:t>
            </a:r>
            <a:endParaRPr lang="en-US" sz="2000" dirty="0"/>
          </a:p>
        </p:txBody>
      </p:sp>
      <p:sp>
        <p:nvSpPr>
          <p:cNvPr id="8" name="Text 5"/>
          <p:cNvSpPr/>
          <p:nvPr/>
        </p:nvSpPr>
        <p:spPr>
          <a:xfrm>
            <a:off x="914400" y="5541264"/>
            <a:ext cx="10332720" cy="310896"/>
          </a:xfrm>
          <a:prstGeom prst="rect">
            <a:avLst/>
          </a:prstGeom>
          <a:noFill/>
          <a:ln/>
        </p:spPr>
        <p:txBody>
          <a:bodyPr wrap="square" lIns="0" tIns="0" rIns="0" bIns="0" rtlCol="0" anchor="ctr"/>
          <a:lstStyle/>
          <a:p>
            <a:pPr algn="ct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흠이 서사가 되면, 흠이 있는 쪽이 더 당당해집니다</a:t>
            </a:r>
            <a:endParaRPr lang="en-US" sz="1400" dirty="0"/>
          </a:p>
        </p:txBody>
      </p:sp>
      <p:sp>
        <p:nvSpPr>
          <p:cNvPr id="9" name="Text 6"/>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1005840" y="2615184"/>
            <a:ext cx="4572000" cy="329184"/>
          </a:xfrm>
          <a:prstGeom prst="rect">
            <a:avLst/>
          </a:prstGeom>
          <a:noFill/>
          <a:ln/>
        </p:spPr>
        <p:txBody>
          <a:bodyPr wrap="square" lIns="0" tIns="0" rIns="0" bIns="0" rtlCol="0" anchor="ctr"/>
          <a:lstStyle/>
          <a:p>
            <a:pPr indent="0" marL="0">
              <a:buNone/>
            </a:pPr>
            <a:r>
              <a:rPr lang="en-US" sz="1400" b="1" spc="260" kern="0" dirty="0">
                <a:solidFill>
                  <a:srgbClr val="8B5A2B"/>
                </a:solidFill>
                <a:latin typeface="Apple SD Gothic Neo" pitchFamily="34" charset="0"/>
                <a:ea typeface="Apple SD Gothic Neo" pitchFamily="34" charset="-122"/>
                <a:cs typeface="Apple SD Gothic Neo" pitchFamily="34" charset="-120"/>
              </a:rPr>
              <a:t>Chapter 3</a:t>
            </a:r>
            <a:endParaRPr lang="en-US" sz="1400" dirty="0"/>
          </a:p>
        </p:txBody>
      </p:sp>
      <p:sp>
        <p:nvSpPr>
          <p:cNvPr id="3" name="Text 1"/>
          <p:cNvSpPr/>
          <p:nvPr/>
        </p:nvSpPr>
        <p:spPr>
          <a:xfrm>
            <a:off x="987552" y="3054096"/>
            <a:ext cx="10058400" cy="822960"/>
          </a:xfrm>
          <a:prstGeom prst="rect">
            <a:avLst/>
          </a:prstGeom>
          <a:noFill/>
          <a:ln/>
        </p:spPr>
        <p:txBody>
          <a:bodyPr wrap="square" lIns="0" tIns="0" rIns="0" bIns="0" rtlCol="0" anchor="ctr"/>
          <a:lstStyle/>
          <a:p>
            <a:pPr indent="0" marL="0">
              <a:buNone/>
            </a:pPr>
            <a:r>
              <a:rPr lang="en-US" sz="4000" b="1" dirty="0">
                <a:solidFill>
                  <a:srgbClr val="1A1613"/>
                </a:solidFill>
                <a:latin typeface="Apple SD Gothic Neo" pitchFamily="34" charset="0"/>
                <a:ea typeface="Apple SD Gothic Neo" pitchFamily="34" charset="-122"/>
                <a:cs typeface="Apple SD Gothic Neo" pitchFamily="34" charset="-120"/>
              </a:rPr>
              <a:t>어떻게 동작하나</a:t>
            </a:r>
            <a:endParaRPr lang="en-US" sz="4000" dirty="0"/>
          </a:p>
        </p:txBody>
      </p:sp>
      <p:sp>
        <p:nvSpPr>
          <p:cNvPr id="4" name="Text 2"/>
          <p:cNvSpPr/>
          <p:nvPr/>
        </p:nvSpPr>
        <p:spPr>
          <a:xfrm>
            <a:off x="1005840" y="4078224"/>
            <a:ext cx="9601200" cy="347472"/>
          </a:xfrm>
          <a:prstGeom prst="rect">
            <a:avLst/>
          </a:prstGeom>
          <a:noFill/>
          <a:ln/>
        </p:spPr>
        <p:txBody>
          <a:bodyPr wrap="square" lIns="0" tIns="0" rIns="0" bIns="0" rtlCol="0" anchor="ctr"/>
          <a:lstStyle/>
          <a:p>
            <a:pPr indent="0" marL="0">
              <a:buNone/>
            </a:pPr>
            <a:r>
              <a:rPr lang="en-US" sz="1500" dirty="0">
                <a:solidFill>
                  <a:srgbClr val="7A716A"/>
                </a:solidFill>
                <a:latin typeface="Apple SD Gothic Neo" pitchFamily="34" charset="0"/>
                <a:ea typeface="Apple SD Gothic Neo" pitchFamily="34" charset="-122"/>
                <a:cs typeface="Apple SD Gothic Neo" pitchFamily="34" charset="-120"/>
              </a:rPr>
              <a:t>AI가 마찰을 없애고, 흠을 무늬로 바꾼다</a:t>
            </a:r>
            <a:endParaRPr lang="en-US" sz="1500" dirty="0"/>
          </a:p>
        </p:txBody>
      </p:sp>
      <p:sp>
        <p:nvSpPr>
          <p:cNvPr id="5" name="Text 3"/>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B3ABA3"/>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THE FRICTION</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824"/>
              </a:lnSpc>
              <a:buNone/>
            </a:pPr>
            <a:r>
              <a:rPr lang="en-US" sz="3600" b="1" dirty="0">
                <a:solidFill>
                  <a:srgbClr val="FFFFFF"/>
                </a:solidFill>
                <a:latin typeface="Apple SD Gothic Neo" pitchFamily="34" charset="0"/>
                <a:ea typeface="Apple SD Gothic Neo" pitchFamily="34" charset="-122"/>
                <a:cs typeface="Apple SD Gothic Neo" pitchFamily="34" charset="-120"/>
              </a:rPr>
              <a:t>기록은 흩어지고, 사라집니다</a:t>
            </a:r>
            <a:endParaRPr lang="en-US" sz="36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408176" y="2926080"/>
            <a:ext cx="2773680" cy="420624"/>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사진</a:t>
            </a:r>
            <a:endParaRPr lang="en-US" sz="2400" dirty="0"/>
          </a:p>
        </p:txBody>
      </p:sp>
      <p:sp>
        <p:nvSpPr>
          <p:cNvPr id="7" name="Text 4"/>
          <p:cNvSpPr/>
          <p:nvPr/>
        </p:nvSpPr>
        <p:spPr>
          <a:xfrm>
            <a:off x="1408176" y="3493008"/>
            <a:ext cx="2663952" cy="365760"/>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SNS와 갤러리에</a:t>
            </a:r>
            <a:endParaRPr lang="en-US" sz="1400" dirty="0"/>
          </a:p>
        </p:txBody>
      </p:sp>
      <p:sp>
        <p:nvSpPr>
          <p:cNvPr id="8" name="Shape 5"/>
          <p:cNvSpPr/>
          <p:nvPr/>
        </p:nvSpPr>
        <p:spPr>
          <a:xfrm>
            <a:off x="4419600" y="2834640"/>
            <a:ext cx="0" cy="1097280"/>
          </a:xfrm>
          <a:prstGeom prst="line">
            <a:avLst/>
          </a:prstGeom>
          <a:noFill/>
          <a:ln w="9525">
            <a:solidFill>
              <a:srgbClr val="3A3025"/>
            </a:solidFill>
            <a:prstDash val="solid"/>
          </a:ln>
        </p:spPr>
      </p:sp>
      <p:sp>
        <p:nvSpPr>
          <p:cNvPr id="9" name="Text 6"/>
          <p:cNvSpPr/>
          <p:nvPr/>
        </p:nvSpPr>
        <p:spPr>
          <a:xfrm>
            <a:off x="4730496" y="2926080"/>
            <a:ext cx="2773680" cy="420624"/>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구매 · 보증</a:t>
            </a:r>
            <a:endParaRPr lang="en-US" sz="2400" dirty="0"/>
          </a:p>
        </p:txBody>
      </p:sp>
      <p:sp>
        <p:nvSpPr>
          <p:cNvPr id="10" name="Text 7"/>
          <p:cNvSpPr/>
          <p:nvPr/>
        </p:nvSpPr>
        <p:spPr>
          <a:xfrm>
            <a:off x="4730496" y="3493008"/>
            <a:ext cx="2663952" cy="365760"/>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종이 영수증과 카드에</a:t>
            </a:r>
            <a:endParaRPr lang="en-US" sz="1400" dirty="0"/>
          </a:p>
        </p:txBody>
      </p:sp>
      <p:sp>
        <p:nvSpPr>
          <p:cNvPr id="11" name="Shape 8"/>
          <p:cNvSpPr/>
          <p:nvPr/>
        </p:nvSpPr>
        <p:spPr>
          <a:xfrm>
            <a:off x="7741920" y="2834640"/>
            <a:ext cx="0" cy="1097280"/>
          </a:xfrm>
          <a:prstGeom prst="line">
            <a:avLst/>
          </a:prstGeom>
          <a:noFill/>
          <a:ln w="9525">
            <a:solidFill>
              <a:srgbClr val="3A3025"/>
            </a:solidFill>
            <a:prstDash val="solid"/>
          </a:ln>
        </p:spPr>
      </p:sp>
      <p:sp>
        <p:nvSpPr>
          <p:cNvPr id="12" name="Text 9"/>
          <p:cNvSpPr/>
          <p:nvPr/>
        </p:nvSpPr>
        <p:spPr>
          <a:xfrm>
            <a:off x="8052816" y="2926080"/>
            <a:ext cx="2773680" cy="420624"/>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수선 이력</a:t>
            </a:r>
            <a:endParaRPr lang="en-US" sz="2400" dirty="0"/>
          </a:p>
        </p:txBody>
      </p:sp>
      <p:sp>
        <p:nvSpPr>
          <p:cNvPr id="13" name="Text 10"/>
          <p:cNvSpPr/>
          <p:nvPr/>
        </p:nvSpPr>
        <p:spPr>
          <a:xfrm>
            <a:off x="8052816" y="3493008"/>
            <a:ext cx="2663952" cy="365760"/>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브랜드 내부에만</a:t>
            </a:r>
            <a:endParaRPr lang="en-US" sz="1400" dirty="0"/>
          </a:p>
        </p:txBody>
      </p:sp>
      <p:sp>
        <p:nvSpPr>
          <p:cNvPr id="14" name="Text 11"/>
          <p:cNvSpPr/>
          <p:nvPr/>
        </p:nvSpPr>
        <p:spPr>
          <a:xfrm>
            <a:off x="914400" y="4443984"/>
            <a:ext cx="10332720" cy="402336"/>
          </a:xfrm>
          <a:prstGeom prst="rect">
            <a:avLst/>
          </a:prstGeom>
          <a:noFill/>
          <a:ln/>
        </p:spPr>
        <p:txBody>
          <a:bodyPr wrap="square" lIns="0" tIns="0" rIns="0" bIns="0" rtlCol="0" anchor="ctr"/>
          <a:lstStyle/>
          <a:p>
            <a:pPr algn="ct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모으라고 하면 아무도 하지 않습니다</a:t>
            </a:r>
            <a:endParaRPr lang="en-US" sz="2400" dirty="0"/>
          </a:p>
        </p:txBody>
      </p:sp>
      <p:sp>
        <p:nvSpPr>
          <p:cNvPr id="15" name="Shape 12"/>
          <p:cNvSpPr/>
          <p:nvPr/>
        </p:nvSpPr>
        <p:spPr>
          <a:xfrm>
            <a:off x="4023360" y="5084064"/>
            <a:ext cx="4114800" cy="0"/>
          </a:xfrm>
          <a:prstGeom prst="line">
            <a:avLst/>
          </a:prstGeom>
          <a:noFill/>
          <a:ln w="9525">
            <a:solidFill>
              <a:srgbClr val="3A3025"/>
            </a:solidFill>
            <a:prstDash val="solid"/>
          </a:ln>
        </p:spPr>
      </p:sp>
      <p:sp>
        <p:nvSpPr>
          <p:cNvPr id="16" name="Text 13"/>
          <p:cNvSpPr/>
          <p:nvPr/>
        </p:nvSpPr>
        <p:spPr>
          <a:xfrm>
            <a:off x="914400" y="5321808"/>
            <a:ext cx="10332720" cy="329184"/>
          </a:xfrm>
          <a:prstGeom prst="rect">
            <a:avLst/>
          </a:prstGeom>
          <a:noFill/>
          <a:ln/>
        </p:spPr>
        <p:txBody>
          <a:bodyPr wrap="square" lIns="0" tIns="0" rIns="0" bIns="0" rtlCol="0" anchor="ctr"/>
          <a:lstStyle/>
          <a:p>
            <a:pPr algn="ct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사진 고르고, 날짜 쓰고, 장소 쓰고, 설명 쓰고 — 입력창을 더 주면 더 안 합니다</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5984"/>
              </a:lnSpc>
              <a:buNone/>
            </a:pPr>
            <a:r>
              <a:rPr lang="en-US" sz="4400" b="1" dirty="0">
                <a:solidFill>
                  <a:srgbClr val="FFFFFF"/>
                </a:solidFill>
                <a:latin typeface="Apple SD Gothic Neo" pitchFamily="34" charset="0"/>
                <a:ea typeface="Apple SD Gothic Neo" pitchFamily="34" charset="-122"/>
                <a:cs typeface="Apple SD Gothic Neo" pitchFamily="34" charset="-120"/>
              </a:rPr>
              <a:t>AI는 쓰게 하지 않습니다.</a:t>
            </a:r>
            <a:endParaRPr lang="en-US" sz="4400" dirty="0"/>
          </a:p>
          <a:p>
            <a:pPr algn="ctr" indent="0" marL="0">
              <a:lnSpc>
                <a:spcPts val="5984"/>
              </a:lnSpc>
              <a:buNone/>
            </a:pPr>
            <a:r>
              <a:rPr lang="en-US" sz="4400" b="1" dirty="0">
                <a:solidFill>
                  <a:srgbClr val="C4915F"/>
                </a:solidFill>
                <a:latin typeface="Apple SD Gothic Neo" pitchFamily="34" charset="0"/>
                <a:ea typeface="Apple SD Gothic Neo" pitchFamily="34" charset="-122"/>
                <a:cs typeface="Apple SD Gothic Neo" pitchFamily="34" charset="-120"/>
              </a:rPr>
              <a:t>대신 써줍니다.</a:t>
            </a:r>
            <a:endParaRPr lang="en-US" sz="44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HOW WE USE AI</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556"/>
              </a:lnSpc>
              <a:buNone/>
            </a:pPr>
            <a:r>
              <a:rPr lang="en-US" sz="3400" b="1" dirty="0">
                <a:solidFill>
                  <a:srgbClr val="FFFFFF"/>
                </a:solidFill>
                <a:latin typeface="Apple SD Gothic Neo" pitchFamily="34" charset="0"/>
                <a:ea typeface="Apple SD Gothic Neo" pitchFamily="34" charset="-122"/>
                <a:cs typeface="Apple SD Gothic Neo" pitchFamily="34" charset="-120"/>
              </a:rPr>
              <a:t>사용자는 사진 한 장만 올립니다</a:t>
            </a:r>
            <a:endParaRPr lang="en-US" sz="34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408176" y="3127248"/>
            <a:ext cx="2682240" cy="292608"/>
          </a:xfrm>
          <a:prstGeom prst="rect">
            <a:avLst/>
          </a:prstGeom>
          <a:noFill/>
          <a:ln/>
        </p:spPr>
        <p:txBody>
          <a:bodyPr wrap="square" lIns="0" tIns="0" rIns="0" bIns="0" rtlCol="0" anchor="ctr"/>
          <a:lstStyle/>
          <a:p>
            <a:pPr indent="0" marL="0">
              <a:buNone/>
            </a:pPr>
            <a:r>
              <a:rPr lang="en-US" sz="1200" spc="140" kern="0" dirty="0">
                <a:solidFill>
                  <a:srgbClr val="6E6459"/>
                </a:solidFill>
                <a:latin typeface="Apple SD Gothic Neo" pitchFamily="34" charset="0"/>
                <a:ea typeface="Apple SD Gothic Neo" pitchFamily="34" charset="-122"/>
                <a:cs typeface="Apple SD Gothic Neo" pitchFamily="34" charset="-120"/>
              </a:rPr>
              <a:t>기록</a:t>
            </a:r>
            <a:endParaRPr lang="en-US" sz="1200" dirty="0"/>
          </a:p>
        </p:txBody>
      </p:sp>
      <p:sp>
        <p:nvSpPr>
          <p:cNvPr id="7" name="Text 4"/>
          <p:cNvSpPr/>
          <p:nvPr/>
        </p:nvSpPr>
        <p:spPr>
          <a:xfrm>
            <a:off x="1408176" y="3529584"/>
            <a:ext cx="277368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문장을 쓴다</a:t>
            </a:r>
            <a:endParaRPr lang="en-US" sz="2400" dirty="0"/>
          </a:p>
        </p:txBody>
      </p:sp>
      <p:sp>
        <p:nvSpPr>
          <p:cNvPr id="8" name="Text 5"/>
          <p:cNvSpPr/>
          <p:nvPr/>
        </p:nvSpPr>
        <p:spPr>
          <a:xfrm>
            <a:off x="140817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장소·날짜·제품을 엮어</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한 편의 글로 만든다.</a:t>
            </a:r>
            <a:endParaRPr lang="en-US" sz="1400" dirty="0"/>
          </a:p>
        </p:txBody>
      </p:sp>
      <p:sp>
        <p:nvSpPr>
          <p:cNvPr id="9" name="Shape 6"/>
          <p:cNvSpPr/>
          <p:nvPr/>
        </p:nvSpPr>
        <p:spPr>
          <a:xfrm>
            <a:off x="4419600" y="3035808"/>
            <a:ext cx="0" cy="1920240"/>
          </a:xfrm>
          <a:prstGeom prst="line">
            <a:avLst/>
          </a:prstGeom>
          <a:noFill/>
          <a:ln w="9525">
            <a:solidFill>
              <a:srgbClr val="3A3025"/>
            </a:solidFill>
            <a:prstDash val="solid"/>
          </a:ln>
        </p:spPr>
      </p:sp>
      <p:sp>
        <p:nvSpPr>
          <p:cNvPr id="10" name="Text 7"/>
          <p:cNvSpPr/>
          <p:nvPr/>
        </p:nvSpPr>
        <p:spPr>
          <a:xfrm>
            <a:off x="4730496" y="3127248"/>
            <a:ext cx="2682240" cy="292608"/>
          </a:xfrm>
          <a:prstGeom prst="rect">
            <a:avLst/>
          </a:prstGeom>
          <a:noFill/>
          <a:ln/>
        </p:spPr>
        <p:txBody>
          <a:bodyPr wrap="square" lIns="0" tIns="0" rIns="0" bIns="0" rtlCol="0" anchor="ctr"/>
          <a:lstStyle/>
          <a:p>
            <a:pPr indent="0" marL="0">
              <a:buNone/>
            </a:pPr>
            <a:r>
              <a:rPr lang="en-US" sz="1200" spc="140" kern="0" dirty="0">
                <a:solidFill>
                  <a:srgbClr val="6E6459"/>
                </a:solidFill>
                <a:latin typeface="Apple SD Gothic Neo" pitchFamily="34" charset="0"/>
                <a:ea typeface="Apple SD Gothic Neo" pitchFamily="34" charset="-122"/>
                <a:cs typeface="Apple SD Gothic Neo" pitchFamily="34" charset="-120"/>
              </a:rPr>
              <a:t>축적</a:t>
            </a:r>
            <a:endParaRPr lang="en-US" sz="1200" dirty="0"/>
          </a:p>
        </p:txBody>
      </p:sp>
      <p:sp>
        <p:nvSpPr>
          <p:cNvPr id="11" name="Text 8"/>
          <p:cNvSpPr/>
          <p:nvPr/>
        </p:nvSpPr>
        <p:spPr>
          <a:xfrm>
            <a:off x="4730496" y="3529584"/>
            <a:ext cx="2773680" cy="457200"/>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이야기로 묶는다</a:t>
            </a:r>
            <a:endParaRPr lang="en-US" sz="2400" dirty="0"/>
          </a:p>
        </p:txBody>
      </p:sp>
      <p:sp>
        <p:nvSpPr>
          <p:cNvPr id="12" name="Text 9"/>
          <p:cNvSpPr/>
          <p:nvPr/>
        </p:nvSpPr>
        <p:spPr>
          <a:xfrm>
            <a:off x="473049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흩어진 기록을</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하나의 Recap으로.</a:t>
            </a:r>
            <a:endParaRPr lang="en-US" sz="1400" dirty="0"/>
          </a:p>
        </p:txBody>
      </p:sp>
      <p:sp>
        <p:nvSpPr>
          <p:cNvPr id="13" name="Shape 10"/>
          <p:cNvSpPr/>
          <p:nvPr/>
        </p:nvSpPr>
        <p:spPr>
          <a:xfrm>
            <a:off x="7741920" y="3035808"/>
            <a:ext cx="0" cy="1920240"/>
          </a:xfrm>
          <a:prstGeom prst="line">
            <a:avLst/>
          </a:prstGeom>
          <a:noFill/>
          <a:ln w="9525">
            <a:solidFill>
              <a:srgbClr val="3A3025"/>
            </a:solidFill>
            <a:prstDash val="solid"/>
          </a:ln>
        </p:spPr>
      </p:sp>
      <p:sp>
        <p:nvSpPr>
          <p:cNvPr id="14" name="Text 11"/>
          <p:cNvSpPr/>
          <p:nvPr/>
        </p:nvSpPr>
        <p:spPr>
          <a:xfrm>
            <a:off x="8052816" y="3127248"/>
            <a:ext cx="2682240" cy="292608"/>
          </a:xfrm>
          <a:prstGeom prst="rect">
            <a:avLst/>
          </a:prstGeom>
          <a:noFill/>
          <a:ln/>
        </p:spPr>
        <p:txBody>
          <a:bodyPr wrap="square" lIns="0" tIns="0" rIns="0" bIns="0" rtlCol="0" anchor="ctr"/>
          <a:lstStyle/>
          <a:p>
            <a:pPr indent="0" marL="0">
              <a:buNone/>
            </a:pPr>
            <a:r>
              <a:rPr lang="en-US" sz="1200" spc="140" kern="0" dirty="0">
                <a:solidFill>
                  <a:srgbClr val="C4915F"/>
                </a:solidFill>
                <a:latin typeface="Apple SD Gothic Neo" pitchFamily="34" charset="0"/>
                <a:ea typeface="Apple SD Gothic Neo" pitchFamily="34" charset="-122"/>
                <a:cs typeface="Apple SD Gothic Neo" pitchFamily="34" charset="-120"/>
              </a:rPr>
              <a:t>수선</a:t>
            </a:r>
            <a:endParaRPr lang="en-US" sz="1200" dirty="0"/>
          </a:p>
        </p:txBody>
      </p:sp>
      <p:sp>
        <p:nvSpPr>
          <p:cNvPr id="15" name="Text 12"/>
          <p:cNvSpPr/>
          <p:nvPr/>
        </p:nvSpPr>
        <p:spPr>
          <a:xfrm>
            <a:off x="8052816" y="3529584"/>
            <a:ext cx="2773680" cy="457200"/>
          </a:xfrm>
          <a:prstGeom prst="rect">
            <a:avLst/>
          </a:prstGeom>
          <a:noFill/>
          <a:ln/>
        </p:spPr>
        <p:txBody>
          <a:bodyPr wrap="square" lIns="0" tIns="0" rIns="0" bIns="0" rtlCol="0" anchor="ctr"/>
          <a:lstStyle/>
          <a:p>
            <a:pPr indent="0" marL="0">
              <a:buNone/>
            </a:pPr>
            <a:r>
              <a:rPr lang="en-US" sz="2400" b="1" dirty="0">
                <a:solidFill>
                  <a:srgbClr val="C4915F"/>
                </a:solidFill>
                <a:latin typeface="Apple SD Gothic Neo" pitchFamily="34" charset="0"/>
                <a:ea typeface="Apple SD Gothic Neo" pitchFamily="34" charset="-122"/>
                <a:cs typeface="Apple SD Gothic Neo" pitchFamily="34" charset="-120"/>
              </a:rPr>
              <a:t>그 자리에 그린다</a:t>
            </a:r>
            <a:endParaRPr lang="en-US" sz="2400" dirty="0"/>
          </a:p>
        </p:txBody>
      </p:sp>
      <p:sp>
        <p:nvSpPr>
          <p:cNvPr id="16" name="Text 13"/>
          <p:cNvSpPr/>
          <p:nvPr/>
        </p:nvSpPr>
        <p:spPr>
          <a:xfrm>
            <a:off x="8052816" y="4151376"/>
            <a:ext cx="2663952" cy="822960"/>
          </a:xfrm>
          <a:prstGeom prst="rect">
            <a:avLst/>
          </a:prstGeom>
          <a:noFill/>
          <a:ln/>
        </p:spPr>
        <p:txBody>
          <a:bodyPr wrap="square" lIns="0" tIns="0" rIns="0" bIns="0" rtlCol="0" anchor="ctr"/>
          <a:lstStyle/>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손상 부위에 어울리는</a:t>
            </a:r>
            <a:endParaRPr lang="en-US" sz="1400" dirty="0"/>
          </a:p>
          <a:p>
            <a:pP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리폼 시안 3안.</a:t>
            </a:r>
            <a:endParaRPr lang="en-US" sz="1400" dirty="0"/>
          </a:p>
        </p:txBody>
      </p:sp>
      <p:sp>
        <p:nvSpPr>
          <p:cNvPr id="17" name="Text 14"/>
          <p:cNvSpPr/>
          <p:nvPr/>
        </p:nvSpPr>
        <p:spPr>
          <a:xfrm>
            <a:off x="731520" y="6144768"/>
            <a:ext cx="10698480" cy="310896"/>
          </a:xfrm>
          <a:prstGeom prst="rect">
            <a:avLst/>
          </a:prstGeom>
          <a:noFill/>
          <a:ln/>
        </p:spPr>
        <p:txBody>
          <a:bodyPr wrap="square" lIns="0" tIns="0" rIns="0" bIns="0" rtlCol="0" anchor="ctr"/>
          <a:lstStyle/>
          <a:p>
            <a:pPr algn="ctr" indent="0" marL="0">
              <a:buNone/>
            </a:pPr>
            <a:r>
              <a:rPr lang="en-US" sz="1100" dirty="0">
                <a:solidFill>
                  <a:srgbClr val="6E6459"/>
                </a:solidFill>
                <a:latin typeface="Apple SD Gothic Neo" pitchFamily="34" charset="0"/>
                <a:ea typeface="Apple SD Gothic Neo" pitchFamily="34" charset="-122"/>
                <a:cs typeface="Apple SD Gothic Neo" pitchFamily="34" charset="-120"/>
              </a:rPr>
              <a:t>제품 상태 판정에는 AI를 쓰지 않습니다. 그건 기록 기반 계산입니다.</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REMADE</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556"/>
              </a:lnSpc>
              <a:buNone/>
            </a:pPr>
            <a:r>
              <a:rPr lang="en-US" sz="3400" b="1" dirty="0">
                <a:solidFill>
                  <a:srgbClr val="FFFFFF"/>
                </a:solidFill>
                <a:latin typeface="Apple SD Gothic Neo" pitchFamily="34" charset="0"/>
                <a:ea typeface="Apple SD Gothic Neo" pitchFamily="34" charset="-122"/>
                <a:cs typeface="Apple SD Gothic Neo" pitchFamily="34" charset="-120"/>
              </a:rPr>
              <a:t>긁힌 자리가 나만의 무늬가 됩니다</a:t>
            </a:r>
            <a:endParaRPr lang="en-US" sz="34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426464" y="3108960"/>
            <a:ext cx="914400" cy="310896"/>
          </a:xfrm>
          <a:prstGeom prst="rect">
            <a:avLst/>
          </a:prstGeom>
          <a:noFill/>
          <a:ln/>
        </p:spPr>
        <p:txBody>
          <a:bodyPr wrap="square" lIns="0" tIns="0" rIns="0" bIns="0" rtlCol="0" anchor="ctr"/>
          <a:lstStyle/>
          <a:p>
            <a:pPr indent="0" marL="0">
              <a:buNone/>
            </a:pPr>
            <a:r>
              <a:rPr lang="en-US" sz="1300" b="1" dirty="0">
                <a:solidFill>
                  <a:srgbClr val="C4915F"/>
                </a:solidFill>
                <a:latin typeface="Apple SD Gothic Neo" pitchFamily="34" charset="0"/>
                <a:ea typeface="Apple SD Gothic Neo" pitchFamily="34" charset="-122"/>
                <a:cs typeface="Apple SD Gothic Neo" pitchFamily="34" charset="-120"/>
              </a:rPr>
              <a:t>01</a:t>
            </a:r>
            <a:endParaRPr lang="en-US" sz="1300" dirty="0"/>
          </a:p>
        </p:txBody>
      </p:sp>
      <p:sp>
        <p:nvSpPr>
          <p:cNvPr id="7" name="Text 4"/>
          <p:cNvSpPr/>
          <p:nvPr/>
        </p:nvSpPr>
        <p:spPr>
          <a:xfrm>
            <a:off x="1426464" y="3493008"/>
            <a:ext cx="1851660" cy="402336"/>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긁혔다</a:t>
            </a:r>
            <a:endParaRPr lang="en-US" sz="2200" dirty="0"/>
          </a:p>
        </p:txBody>
      </p:sp>
      <p:sp>
        <p:nvSpPr>
          <p:cNvPr id="8" name="Shape 5"/>
          <p:cNvSpPr/>
          <p:nvPr/>
        </p:nvSpPr>
        <p:spPr>
          <a:xfrm>
            <a:off x="3589020" y="3072384"/>
            <a:ext cx="0" cy="1005840"/>
          </a:xfrm>
          <a:prstGeom prst="line">
            <a:avLst/>
          </a:prstGeom>
          <a:noFill/>
          <a:ln w="9525">
            <a:solidFill>
              <a:srgbClr val="3A3025"/>
            </a:solidFill>
            <a:prstDash val="solid"/>
          </a:ln>
        </p:spPr>
      </p:sp>
      <p:sp>
        <p:nvSpPr>
          <p:cNvPr id="9" name="Text 6"/>
          <p:cNvSpPr/>
          <p:nvPr/>
        </p:nvSpPr>
        <p:spPr>
          <a:xfrm>
            <a:off x="3918204" y="3108960"/>
            <a:ext cx="914400" cy="310896"/>
          </a:xfrm>
          <a:prstGeom prst="rect">
            <a:avLst/>
          </a:prstGeom>
          <a:noFill/>
          <a:ln/>
        </p:spPr>
        <p:txBody>
          <a:bodyPr wrap="square" lIns="0" tIns="0" rIns="0" bIns="0" rtlCol="0" anchor="ctr"/>
          <a:lstStyle/>
          <a:p>
            <a:pPr indent="0" marL="0">
              <a:buNone/>
            </a:pPr>
            <a:r>
              <a:rPr lang="en-US" sz="1300" b="1" dirty="0">
                <a:solidFill>
                  <a:srgbClr val="C4915F"/>
                </a:solidFill>
                <a:latin typeface="Apple SD Gothic Neo" pitchFamily="34" charset="0"/>
                <a:ea typeface="Apple SD Gothic Neo" pitchFamily="34" charset="-122"/>
                <a:cs typeface="Apple SD Gothic Neo" pitchFamily="34" charset="-120"/>
              </a:rPr>
              <a:t>02</a:t>
            </a:r>
            <a:endParaRPr lang="en-US" sz="1300" dirty="0"/>
          </a:p>
        </p:txBody>
      </p:sp>
      <p:sp>
        <p:nvSpPr>
          <p:cNvPr id="10" name="Text 7"/>
          <p:cNvSpPr/>
          <p:nvPr/>
        </p:nvSpPr>
        <p:spPr>
          <a:xfrm>
            <a:off x="3918204" y="3493008"/>
            <a:ext cx="1851660" cy="402336"/>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AI가 그린다</a:t>
            </a:r>
            <a:endParaRPr lang="en-US" sz="2200" dirty="0"/>
          </a:p>
        </p:txBody>
      </p:sp>
      <p:sp>
        <p:nvSpPr>
          <p:cNvPr id="11" name="Shape 8"/>
          <p:cNvSpPr/>
          <p:nvPr/>
        </p:nvSpPr>
        <p:spPr>
          <a:xfrm>
            <a:off x="6080760" y="3072384"/>
            <a:ext cx="0" cy="1005840"/>
          </a:xfrm>
          <a:prstGeom prst="line">
            <a:avLst/>
          </a:prstGeom>
          <a:noFill/>
          <a:ln w="9525">
            <a:solidFill>
              <a:srgbClr val="3A3025"/>
            </a:solidFill>
            <a:prstDash val="solid"/>
          </a:ln>
        </p:spPr>
      </p:sp>
      <p:sp>
        <p:nvSpPr>
          <p:cNvPr id="12" name="Text 9"/>
          <p:cNvSpPr/>
          <p:nvPr/>
        </p:nvSpPr>
        <p:spPr>
          <a:xfrm>
            <a:off x="6409944" y="3108960"/>
            <a:ext cx="914400" cy="310896"/>
          </a:xfrm>
          <a:prstGeom prst="rect">
            <a:avLst/>
          </a:prstGeom>
          <a:noFill/>
          <a:ln/>
        </p:spPr>
        <p:txBody>
          <a:bodyPr wrap="square" lIns="0" tIns="0" rIns="0" bIns="0" rtlCol="0" anchor="ctr"/>
          <a:lstStyle/>
          <a:p>
            <a:pPr indent="0" marL="0">
              <a:buNone/>
            </a:pPr>
            <a:r>
              <a:rPr lang="en-US" sz="1300" b="1" dirty="0">
                <a:solidFill>
                  <a:srgbClr val="C4915F"/>
                </a:solidFill>
                <a:latin typeface="Apple SD Gothic Neo" pitchFamily="34" charset="0"/>
                <a:ea typeface="Apple SD Gothic Neo" pitchFamily="34" charset="-122"/>
                <a:cs typeface="Apple SD Gothic Neo" pitchFamily="34" charset="-120"/>
              </a:rPr>
              <a:t>03</a:t>
            </a:r>
            <a:endParaRPr lang="en-US" sz="1300" dirty="0"/>
          </a:p>
        </p:txBody>
      </p:sp>
      <p:sp>
        <p:nvSpPr>
          <p:cNvPr id="13" name="Text 10"/>
          <p:cNvSpPr/>
          <p:nvPr/>
        </p:nvSpPr>
        <p:spPr>
          <a:xfrm>
            <a:off x="6409944" y="3493008"/>
            <a:ext cx="1851660" cy="402336"/>
          </a:xfrm>
          <a:prstGeom prst="rect">
            <a:avLst/>
          </a:prstGeom>
          <a:noFill/>
          <a:ln/>
        </p:spPr>
        <p:txBody>
          <a:bodyPr wrap="square" lIns="0" tIns="0" rIns="0" bIns="0" rtlCol="0" anchor="ctr"/>
          <a:lstStyle/>
          <a:p>
            <a:pPr indent="0" marL="0">
              <a:buNone/>
            </a:pPr>
            <a:r>
              <a:rPr lang="en-US" sz="2200" b="1" dirty="0">
                <a:solidFill>
                  <a:srgbClr val="C4915F"/>
                </a:solidFill>
                <a:latin typeface="Apple SD Gothic Neo" pitchFamily="34" charset="0"/>
                <a:ea typeface="Apple SD Gothic Neo" pitchFamily="34" charset="-122"/>
                <a:cs typeface="Apple SD Gothic Neo" pitchFamily="34" charset="-120"/>
              </a:rPr>
              <a:t>장인이 만든다</a:t>
            </a:r>
            <a:endParaRPr lang="en-US" sz="2200" dirty="0"/>
          </a:p>
        </p:txBody>
      </p:sp>
      <p:sp>
        <p:nvSpPr>
          <p:cNvPr id="14" name="Shape 11"/>
          <p:cNvSpPr/>
          <p:nvPr/>
        </p:nvSpPr>
        <p:spPr>
          <a:xfrm>
            <a:off x="8572500" y="3072384"/>
            <a:ext cx="0" cy="1005840"/>
          </a:xfrm>
          <a:prstGeom prst="line">
            <a:avLst/>
          </a:prstGeom>
          <a:noFill/>
          <a:ln w="9525">
            <a:solidFill>
              <a:srgbClr val="3A3025"/>
            </a:solidFill>
            <a:prstDash val="solid"/>
          </a:ln>
        </p:spPr>
      </p:sp>
      <p:sp>
        <p:nvSpPr>
          <p:cNvPr id="15" name="Text 12"/>
          <p:cNvSpPr/>
          <p:nvPr/>
        </p:nvSpPr>
        <p:spPr>
          <a:xfrm>
            <a:off x="8901684" y="3108960"/>
            <a:ext cx="914400" cy="310896"/>
          </a:xfrm>
          <a:prstGeom prst="rect">
            <a:avLst/>
          </a:prstGeom>
          <a:noFill/>
          <a:ln/>
        </p:spPr>
        <p:txBody>
          <a:bodyPr wrap="square" lIns="0" tIns="0" rIns="0" bIns="0" rtlCol="0" anchor="ctr"/>
          <a:lstStyle/>
          <a:p>
            <a:pPr indent="0" marL="0">
              <a:buNone/>
            </a:pPr>
            <a:r>
              <a:rPr lang="en-US" sz="1300" b="1" dirty="0">
                <a:solidFill>
                  <a:srgbClr val="C4915F"/>
                </a:solidFill>
                <a:latin typeface="Apple SD Gothic Neo" pitchFamily="34" charset="0"/>
                <a:ea typeface="Apple SD Gothic Neo" pitchFamily="34" charset="-122"/>
                <a:cs typeface="Apple SD Gothic Neo" pitchFamily="34" charset="-120"/>
              </a:rPr>
              <a:t>04</a:t>
            </a:r>
            <a:endParaRPr lang="en-US" sz="1300" dirty="0"/>
          </a:p>
        </p:txBody>
      </p:sp>
      <p:sp>
        <p:nvSpPr>
          <p:cNvPr id="16" name="Text 13"/>
          <p:cNvSpPr/>
          <p:nvPr/>
        </p:nvSpPr>
        <p:spPr>
          <a:xfrm>
            <a:off x="8901684" y="3493008"/>
            <a:ext cx="1851660" cy="402336"/>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기록된다</a:t>
            </a:r>
            <a:endParaRPr lang="en-US" sz="2200" dirty="0"/>
          </a:p>
        </p:txBody>
      </p:sp>
      <p:sp>
        <p:nvSpPr>
          <p:cNvPr id="17" name="Text 14"/>
          <p:cNvSpPr/>
          <p:nvPr/>
        </p:nvSpPr>
        <p:spPr>
          <a:xfrm>
            <a:off x="914400" y="4645152"/>
            <a:ext cx="1033272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AI는 시안까지입니다. 실물은 MCM 장인이 만듭니다.</a:t>
            </a:r>
            <a:endParaRPr lang="en-US" sz="2000" dirty="0"/>
          </a:p>
        </p:txBody>
      </p:sp>
      <p:sp>
        <p:nvSpPr>
          <p:cNvPr id="18" name="Shape 15"/>
          <p:cNvSpPr/>
          <p:nvPr/>
        </p:nvSpPr>
        <p:spPr>
          <a:xfrm>
            <a:off x="4023360" y="5266944"/>
            <a:ext cx="4114800" cy="0"/>
          </a:xfrm>
          <a:prstGeom prst="line">
            <a:avLst/>
          </a:prstGeom>
          <a:noFill/>
          <a:ln w="9525">
            <a:solidFill>
              <a:srgbClr val="3A3025"/>
            </a:solidFill>
            <a:prstDash val="solid"/>
          </a:ln>
        </p:spPr>
      </p:sp>
      <p:sp>
        <p:nvSpPr>
          <p:cNvPr id="19" name="Text 16"/>
          <p:cNvSpPr/>
          <p:nvPr/>
        </p:nvSpPr>
        <p:spPr>
          <a:xfrm>
            <a:off x="914400" y="5504688"/>
            <a:ext cx="10332720" cy="731520"/>
          </a:xfrm>
          <a:prstGeom prst="rect">
            <a:avLst/>
          </a:prstGeom>
          <a:noFill/>
          <a:ln/>
        </p:spPr>
        <p:txBody>
          <a:bodyPr wrap="square" lIns="0" tIns="0" rIns="0" bIns="0" rtlCol="0" anchor="ctr"/>
          <a:lstStyle/>
          <a:p>
            <a:pPr algn="ct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리폼하면 보통 리셀가가 떨어집니다.</a:t>
            </a:r>
            <a:endParaRPr lang="en-US" sz="1400" dirty="0"/>
          </a:p>
          <a:p>
            <a:pPr algn="ctr" indent="0" marL="0">
              <a:lnSpc>
                <a:spcPts val="2300"/>
              </a:lnSpc>
              <a:buNone/>
            </a:pPr>
            <a:r>
              <a:rPr lang="en-US" sz="1400" dirty="0">
                <a:solidFill>
                  <a:srgbClr val="9A8F84"/>
                </a:solidFill>
                <a:latin typeface="Apple SD Gothic Neo" pitchFamily="34" charset="0"/>
                <a:ea typeface="Apple SD Gothic Neo" pitchFamily="34" charset="-122"/>
                <a:cs typeface="Apple SD Gothic Neo" pitchFamily="34" charset="-120"/>
              </a:rPr>
              <a:t>브랜드 공식 리폼 + DPP 기록이면 오히려 오릅니다.</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5440"/>
              </a:lnSpc>
              <a:buNone/>
            </a:pPr>
            <a:r>
              <a:rPr lang="en-US" sz="4000" b="1" dirty="0">
                <a:solidFill>
                  <a:srgbClr val="FFFFFF"/>
                </a:solidFill>
                <a:latin typeface="Apple SD Gothic Neo" pitchFamily="34" charset="0"/>
                <a:ea typeface="Apple SD Gothic Neo" pitchFamily="34" charset="-122"/>
                <a:cs typeface="Apple SD Gothic Neo" pitchFamily="34" charset="-120"/>
              </a:rPr>
              <a:t>새로 만들지 않았습니다.</a:t>
            </a:r>
            <a:endParaRPr lang="en-US" sz="4000" dirty="0"/>
          </a:p>
          <a:p>
            <a:pPr algn="ctr" indent="0" marL="0">
              <a:lnSpc>
                <a:spcPts val="5440"/>
              </a:lnSpc>
              <a:buNone/>
            </a:pPr>
            <a:r>
              <a:rPr lang="en-US" sz="4000" b="1" dirty="0">
                <a:solidFill>
                  <a:srgbClr val="C4915F"/>
                </a:solidFill>
                <a:latin typeface="Apple SD Gothic Neo" pitchFamily="34" charset="0"/>
                <a:ea typeface="Apple SD Gothic Neo" pitchFamily="34" charset="-122"/>
                <a:cs typeface="Apple SD Gothic Neo" pitchFamily="34" charset="-120"/>
              </a:rPr>
              <a:t>이미 있는 것을 썼습니다.</a:t>
            </a:r>
            <a:endParaRPr lang="en-US" sz="40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BRAND ASSETS</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288"/>
              </a:lnSpc>
              <a:buNone/>
            </a:pPr>
            <a:r>
              <a:rPr lang="en-US" sz="3200" b="1" dirty="0">
                <a:solidFill>
                  <a:srgbClr val="FFFFFF"/>
                </a:solidFill>
                <a:latin typeface="Apple SD Gothic Neo" pitchFamily="34" charset="0"/>
                <a:ea typeface="Apple SD Gothic Neo" pitchFamily="34" charset="-122"/>
                <a:cs typeface="Apple SD Gothic Neo" pitchFamily="34" charset="-120"/>
              </a:rPr>
              <a:t>브랜드 자산을 장식으로 쓰지 않았습니다</a:t>
            </a:r>
            <a:endParaRPr lang="en-US" sz="32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188720" y="2926080"/>
            <a:ext cx="3108960" cy="347472"/>
          </a:xfrm>
          <a:prstGeom prst="rect">
            <a:avLst/>
          </a:prstGeom>
          <a:noFill/>
          <a:ln/>
        </p:spPr>
        <p:txBody>
          <a:bodyPr wrap="square" lIns="0" tIns="0" rIns="0" bIns="0" rtlCol="0" anchor="ctr"/>
          <a:lstStyle/>
          <a:p>
            <a:pP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비세토스 마름모</a:t>
            </a:r>
            <a:endParaRPr lang="en-US" sz="1800" dirty="0"/>
          </a:p>
        </p:txBody>
      </p:sp>
      <p:sp>
        <p:nvSpPr>
          <p:cNvPr id="7" name="Text 4"/>
          <p:cNvSpPr/>
          <p:nvPr/>
        </p:nvSpPr>
        <p:spPr>
          <a:xfrm>
            <a:off x="4572000" y="2962656"/>
            <a:ext cx="3657600" cy="310896"/>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바이에른 깃발 = 흰-파란 하늘</a:t>
            </a:r>
            <a:endParaRPr lang="en-US" sz="1400" dirty="0"/>
          </a:p>
        </p:txBody>
      </p:sp>
      <p:sp>
        <p:nvSpPr>
          <p:cNvPr id="8" name="Text 5"/>
          <p:cNvSpPr/>
          <p:nvPr/>
        </p:nvSpPr>
        <p:spPr>
          <a:xfrm>
            <a:off x="8503920" y="2944368"/>
            <a:ext cx="2468880" cy="329184"/>
          </a:xfrm>
          <a:prstGeom prst="rect">
            <a:avLst/>
          </a:prstGeom>
          <a:noFill/>
          <a:ln/>
        </p:spPr>
        <p:txBody>
          <a:bodyPr wrap="square" lIns="0" tIns="0" rIns="0" bIns="0" rtlCol="0" anchor="ctr"/>
          <a:lstStyle/>
          <a:p>
            <a:pPr algn="r" indent="0" marL="0">
              <a:buNone/>
            </a:pPr>
            <a:r>
              <a:rPr lang="en-US" sz="1500" dirty="0">
                <a:solidFill>
                  <a:srgbClr val="FFFFFF"/>
                </a:solidFill>
                <a:latin typeface="Apple SD Gothic Neo" pitchFamily="34" charset="0"/>
                <a:ea typeface="Apple SD Gothic Neo" pitchFamily="34" charset="-122"/>
                <a:cs typeface="Apple SD Gothic Neo" pitchFamily="34" charset="-120"/>
              </a:rPr>
              <a:t>배경에서 바람에 흐른다</a:t>
            </a:r>
            <a:endParaRPr lang="en-US" sz="1500" dirty="0"/>
          </a:p>
        </p:txBody>
      </p:sp>
      <p:sp>
        <p:nvSpPr>
          <p:cNvPr id="9" name="Shape 6"/>
          <p:cNvSpPr/>
          <p:nvPr/>
        </p:nvSpPr>
        <p:spPr>
          <a:xfrm>
            <a:off x="1097280" y="3547872"/>
            <a:ext cx="9966960" cy="0"/>
          </a:xfrm>
          <a:prstGeom prst="line">
            <a:avLst/>
          </a:prstGeom>
          <a:noFill/>
          <a:ln w="9525">
            <a:solidFill>
              <a:srgbClr val="3A3025"/>
            </a:solidFill>
            <a:prstDash val="solid"/>
          </a:ln>
        </p:spPr>
      </p:sp>
      <p:sp>
        <p:nvSpPr>
          <p:cNvPr id="10" name="Text 7"/>
          <p:cNvSpPr/>
          <p:nvPr/>
        </p:nvSpPr>
        <p:spPr>
          <a:xfrm>
            <a:off x="1188720" y="3749040"/>
            <a:ext cx="3108960" cy="347472"/>
          </a:xfrm>
          <a:prstGeom prst="rect">
            <a:avLst/>
          </a:prstGeom>
          <a:noFill/>
          <a:ln/>
        </p:spPr>
        <p:txBody>
          <a:bodyPr wrap="square" lIns="0" tIns="0" rIns="0" bIns="0" rtlCol="0" anchor="ctr"/>
          <a:lstStyle/>
          <a:p>
            <a:pP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로렐</a:t>
            </a:r>
            <a:endParaRPr lang="en-US" sz="1800" dirty="0"/>
          </a:p>
        </p:txBody>
      </p:sp>
      <p:sp>
        <p:nvSpPr>
          <p:cNvPr id="11" name="Text 8"/>
          <p:cNvSpPr/>
          <p:nvPr/>
        </p:nvSpPr>
        <p:spPr>
          <a:xfrm>
            <a:off x="4572000" y="3785616"/>
            <a:ext cx="3657600" cy="310896"/>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승리 · 명예의 상징</a:t>
            </a:r>
            <a:endParaRPr lang="en-US" sz="1400" dirty="0"/>
          </a:p>
        </p:txBody>
      </p:sp>
      <p:sp>
        <p:nvSpPr>
          <p:cNvPr id="12" name="Text 9"/>
          <p:cNvSpPr/>
          <p:nvPr/>
        </p:nvSpPr>
        <p:spPr>
          <a:xfrm>
            <a:off x="8503920" y="3767328"/>
            <a:ext cx="2468880" cy="329184"/>
          </a:xfrm>
          <a:prstGeom prst="rect">
            <a:avLst/>
          </a:prstGeom>
          <a:noFill/>
          <a:ln/>
        </p:spPr>
        <p:txBody>
          <a:bodyPr wrap="square" lIns="0" tIns="0" rIns="0" bIns="0" rtlCol="0" anchor="ctr"/>
          <a:lstStyle/>
          <a:p>
            <a:pPr algn="r" indent="0" marL="0">
              <a:buNone/>
            </a:pPr>
            <a:r>
              <a:rPr lang="en-US" sz="1500" dirty="0">
                <a:solidFill>
                  <a:srgbClr val="FFFFFF"/>
                </a:solidFill>
                <a:latin typeface="Apple SD Gothic Neo" pitchFamily="34" charset="0"/>
                <a:ea typeface="Apple SD Gothic Neo" pitchFamily="34" charset="-122"/>
                <a:cs typeface="Apple SD Gothic Neo" pitchFamily="34" charset="-120"/>
              </a:rPr>
              <a:t>정품 인증 배지</a:t>
            </a:r>
            <a:endParaRPr lang="en-US" sz="1500" dirty="0"/>
          </a:p>
        </p:txBody>
      </p:sp>
      <p:sp>
        <p:nvSpPr>
          <p:cNvPr id="13" name="Shape 10"/>
          <p:cNvSpPr/>
          <p:nvPr/>
        </p:nvSpPr>
        <p:spPr>
          <a:xfrm>
            <a:off x="1097280" y="4370832"/>
            <a:ext cx="9966960" cy="0"/>
          </a:xfrm>
          <a:prstGeom prst="line">
            <a:avLst/>
          </a:prstGeom>
          <a:noFill/>
          <a:ln w="9525">
            <a:solidFill>
              <a:srgbClr val="3A3025"/>
            </a:solidFill>
            <a:prstDash val="solid"/>
          </a:ln>
        </p:spPr>
      </p:sp>
      <p:sp>
        <p:nvSpPr>
          <p:cNvPr id="14" name="Text 11"/>
          <p:cNvSpPr/>
          <p:nvPr/>
        </p:nvSpPr>
        <p:spPr>
          <a:xfrm>
            <a:off x="1188720" y="4572000"/>
            <a:ext cx="3108960" cy="347472"/>
          </a:xfrm>
          <a:prstGeom prst="rect">
            <a:avLst/>
          </a:prstGeom>
          <a:noFill/>
          <a:ln/>
        </p:spPr>
        <p:txBody>
          <a:bodyPr wrap="square" lIns="0" tIns="0" rIns="0" bIns="0" rtlCol="0" anchor="ctr"/>
          <a:lstStyle/>
          <a:p>
            <a:pPr indent="0" marL="0">
              <a:buNone/>
            </a:pPr>
            <a:r>
              <a:rPr lang="en-US" sz="1800" b="1" dirty="0">
                <a:solidFill>
                  <a:srgbClr val="C4915F"/>
                </a:solidFill>
                <a:latin typeface="Apple SD Gothic Neo" pitchFamily="34" charset="0"/>
                <a:ea typeface="Apple SD Gothic Neo" pitchFamily="34" charset="-122"/>
                <a:cs typeface="Apple SD Gothic Neo" pitchFamily="34" charset="-120"/>
              </a:rPr>
              <a:t>1988 Dapper Dan</a:t>
            </a:r>
            <a:endParaRPr lang="en-US" sz="1800" dirty="0"/>
          </a:p>
        </p:txBody>
      </p:sp>
      <p:sp>
        <p:nvSpPr>
          <p:cNvPr id="15" name="Text 12"/>
          <p:cNvSpPr/>
          <p:nvPr/>
        </p:nvSpPr>
        <p:spPr>
          <a:xfrm>
            <a:off x="4572000" y="4608576"/>
            <a:ext cx="3657600" cy="310896"/>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해체하고 다시 꿰맨 역사</a:t>
            </a:r>
            <a:endParaRPr lang="en-US" sz="1400" dirty="0"/>
          </a:p>
        </p:txBody>
      </p:sp>
      <p:sp>
        <p:nvSpPr>
          <p:cNvPr id="16" name="Text 13"/>
          <p:cNvSpPr/>
          <p:nvPr/>
        </p:nvSpPr>
        <p:spPr>
          <a:xfrm>
            <a:off x="8503920" y="4590288"/>
            <a:ext cx="2468880" cy="329184"/>
          </a:xfrm>
          <a:prstGeom prst="rect">
            <a:avLst/>
          </a:prstGeom>
          <a:noFill/>
          <a:ln/>
        </p:spPr>
        <p:txBody>
          <a:bodyPr wrap="square" lIns="0" tIns="0" rIns="0" bIns="0" rtlCol="0" anchor="ctr"/>
          <a:lstStyle/>
          <a:p>
            <a:pPr algn="r" indent="0" marL="0">
              <a:buNone/>
            </a:pPr>
            <a:r>
              <a:rPr lang="en-US" sz="1500" dirty="0">
                <a:solidFill>
                  <a:srgbClr val="FFFFFF"/>
                </a:solidFill>
                <a:latin typeface="Apple SD Gothic Neo" pitchFamily="34" charset="0"/>
                <a:ea typeface="Apple SD Gothic Neo" pitchFamily="34" charset="-122"/>
                <a:cs typeface="Apple SD Gothic Neo" pitchFamily="34" charset="-120"/>
              </a:rPr>
              <a:t>REMADE</a:t>
            </a:r>
            <a:endParaRPr lang="en-US" sz="1500" dirty="0"/>
          </a:p>
        </p:txBody>
      </p:sp>
      <p:sp>
        <p:nvSpPr>
          <p:cNvPr id="17" name="Shape 14"/>
          <p:cNvSpPr/>
          <p:nvPr/>
        </p:nvSpPr>
        <p:spPr>
          <a:xfrm>
            <a:off x="1097280" y="5193792"/>
            <a:ext cx="9966960" cy="0"/>
          </a:xfrm>
          <a:prstGeom prst="line">
            <a:avLst/>
          </a:prstGeom>
          <a:noFill/>
          <a:ln w="9525">
            <a:solidFill>
              <a:srgbClr val="3A3025"/>
            </a:solidFill>
            <a:prstDash val="solid"/>
          </a:ln>
        </p:spPr>
      </p:sp>
      <p:sp>
        <p:nvSpPr>
          <p:cNvPr id="18" name="Text 15"/>
          <p:cNvSpPr/>
          <p:nvPr/>
        </p:nvSpPr>
        <p:spPr>
          <a:xfrm>
            <a:off x="1188720" y="5394960"/>
            <a:ext cx="3108960" cy="347472"/>
          </a:xfrm>
          <a:prstGeom prst="rect">
            <a:avLst/>
          </a:prstGeom>
          <a:noFill/>
          <a:ln/>
        </p:spPr>
        <p:txBody>
          <a:bodyPr wrap="square" lIns="0" tIns="0" rIns="0" bIns="0" rtlCol="0" anchor="ctr"/>
          <a:lstStyle/>
          <a:p>
            <a:pPr indent="0" marL="0">
              <a:buNone/>
            </a:pPr>
            <a:r>
              <a:rPr lang="en-US" sz="1800" b="1" dirty="0">
                <a:solidFill>
                  <a:srgbClr val="C4915F"/>
                </a:solidFill>
                <a:latin typeface="Apple SD Gothic Neo" pitchFamily="34" charset="0"/>
                <a:ea typeface="Apple SD Gothic Neo" pitchFamily="34" charset="-122"/>
                <a:cs typeface="Apple SD Gothic Neo" pitchFamily="34" charset="-120"/>
              </a:rPr>
              <a:t>NFC + Aura DPP</a:t>
            </a:r>
            <a:endParaRPr lang="en-US" sz="1800" dirty="0"/>
          </a:p>
        </p:txBody>
      </p:sp>
      <p:sp>
        <p:nvSpPr>
          <p:cNvPr id="19" name="Text 16"/>
          <p:cNvSpPr/>
          <p:nvPr/>
        </p:nvSpPr>
        <p:spPr>
          <a:xfrm>
            <a:off x="4572000" y="5431536"/>
            <a:ext cx="3657600" cy="310896"/>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이미 운영 중</a:t>
            </a:r>
            <a:endParaRPr lang="en-US" sz="1400" dirty="0"/>
          </a:p>
        </p:txBody>
      </p:sp>
      <p:sp>
        <p:nvSpPr>
          <p:cNvPr id="20" name="Text 17"/>
          <p:cNvSpPr/>
          <p:nvPr/>
        </p:nvSpPr>
        <p:spPr>
          <a:xfrm>
            <a:off x="8503920" y="5413248"/>
            <a:ext cx="2468880" cy="329184"/>
          </a:xfrm>
          <a:prstGeom prst="rect">
            <a:avLst/>
          </a:prstGeom>
          <a:noFill/>
          <a:ln/>
        </p:spPr>
        <p:txBody>
          <a:bodyPr wrap="square" lIns="0" tIns="0" rIns="0" bIns="0" rtlCol="0" anchor="ctr"/>
          <a:lstStyle/>
          <a:p>
            <a:pPr algn="r" indent="0" marL="0">
              <a:buNone/>
            </a:pPr>
            <a:r>
              <a:rPr lang="en-US" sz="1500" dirty="0">
                <a:solidFill>
                  <a:srgbClr val="FFFFFF"/>
                </a:solidFill>
                <a:latin typeface="Apple SD Gothic Neo" pitchFamily="34" charset="0"/>
                <a:ea typeface="Apple SD Gothic Neo" pitchFamily="34" charset="-122"/>
                <a:cs typeface="Apple SD Gothic Neo" pitchFamily="34" charset="-120"/>
              </a:rPr>
              <a:t>그 위에 얹는다</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DEMO</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824"/>
              </a:lnSpc>
              <a:buNone/>
            </a:pPr>
            <a:r>
              <a:rPr lang="en-US" sz="3600" b="1" dirty="0">
                <a:solidFill>
                  <a:srgbClr val="FFFFFF"/>
                </a:solidFill>
                <a:latin typeface="Apple SD Gothic Neo" pitchFamily="34" charset="0"/>
                <a:ea typeface="Apple SD Gothic Neo" pitchFamily="34" charset="-122"/>
                <a:cs typeface="Apple SD Gothic Neo" pitchFamily="34" charset="-120"/>
              </a:rPr>
              <a:t>매장에서 산 박스가 시작점입니다</a:t>
            </a:r>
            <a:endParaRPr lang="en-US" sz="36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426464" y="3383280"/>
            <a:ext cx="1851660" cy="420624"/>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스캔</a:t>
            </a:r>
            <a:endParaRPr lang="en-US" sz="2400" dirty="0"/>
          </a:p>
        </p:txBody>
      </p:sp>
      <p:sp>
        <p:nvSpPr>
          <p:cNvPr id="7" name="Text 4"/>
          <p:cNvSpPr/>
          <p:nvPr/>
        </p:nvSpPr>
        <p:spPr>
          <a:xfrm>
            <a:off x="1426464" y="3950208"/>
            <a:ext cx="1851660" cy="329184"/>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박스를 열면</a:t>
            </a:r>
            <a:endParaRPr lang="en-US" sz="1400" dirty="0"/>
          </a:p>
        </p:txBody>
      </p:sp>
      <p:sp>
        <p:nvSpPr>
          <p:cNvPr id="8" name="Shape 5"/>
          <p:cNvSpPr/>
          <p:nvPr/>
        </p:nvSpPr>
        <p:spPr>
          <a:xfrm>
            <a:off x="3589020" y="3291840"/>
            <a:ext cx="0" cy="1188720"/>
          </a:xfrm>
          <a:prstGeom prst="line">
            <a:avLst/>
          </a:prstGeom>
          <a:noFill/>
          <a:ln w="9525">
            <a:solidFill>
              <a:srgbClr val="3A3025"/>
            </a:solidFill>
            <a:prstDash val="solid"/>
          </a:ln>
        </p:spPr>
      </p:sp>
      <p:sp>
        <p:nvSpPr>
          <p:cNvPr id="9" name="Text 6"/>
          <p:cNvSpPr/>
          <p:nvPr/>
        </p:nvSpPr>
        <p:spPr>
          <a:xfrm>
            <a:off x="3918204" y="3383280"/>
            <a:ext cx="1851660" cy="420624"/>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등록</a:t>
            </a:r>
            <a:endParaRPr lang="en-US" sz="2400" dirty="0"/>
          </a:p>
        </p:txBody>
      </p:sp>
      <p:sp>
        <p:nvSpPr>
          <p:cNvPr id="10" name="Text 7"/>
          <p:cNvSpPr/>
          <p:nvPr/>
        </p:nvSpPr>
        <p:spPr>
          <a:xfrm>
            <a:off x="3918204" y="3950208"/>
            <a:ext cx="1851660" cy="329184"/>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첫 줄이 찍히고</a:t>
            </a:r>
            <a:endParaRPr lang="en-US" sz="1400" dirty="0"/>
          </a:p>
        </p:txBody>
      </p:sp>
      <p:sp>
        <p:nvSpPr>
          <p:cNvPr id="11" name="Shape 8"/>
          <p:cNvSpPr/>
          <p:nvPr/>
        </p:nvSpPr>
        <p:spPr>
          <a:xfrm>
            <a:off x="6080760" y="3291840"/>
            <a:ext cx="0" cy="1188720"/>
          </a:xfrm>
          <a:prstGeom prst="line">
            <a:avLst/>
          </a:prstGeom>
          <a:noFill/>
          <a:ln w="9525">
            <a:solidFill>
              <a:srgbClr val="3A3025"/>
            </a:solidFill>
            <a:prstDash val="solid"/>
          </a:ln>
        </p:spPr>
      </p:sp>
      <p:sp>
        <p:nvSpPr>
          <p:cNvPr id="12" name="Text 9"/>
          <p:cNvSpPr/>
          <p:nvPr/>
        </p:nvSpPr>
        <p:spPr>
          <a:xfrm>
            <a:off x="6409944" y="3383280"/>
            <a:ext cx="1851660" cy="420624"/>
          </a:xfrm>
          <a:prstGeom prst="rect">
            <a:avLst/>
          </a:prstGeom>
          <a:noFill/>
          <a:ln/>
        </p:spPr>
        <p:txBody>
          <a:bodyPr wrap="square" lIns="0" tIns="0" rIns="0" bIns="0" rtlCol="0" anchor="ctr"/>
          <a:lstStyle/>
          <a:p>
            <a:pP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기록</a:t>
            </a:r>
            <a:endParaRPr lang="en-US" sz="2400" dirty="0"/>
          </a:p>
        </p:txBody>
      </p:sp>
      <p:sp>
        <p:nvSpPr>
          <p:cNvPr id="13" name="Text 10"/>
          <p:cNvSpPr/>
          <p:nvPr/>
        </p:nvSpPr>
        <p:spPr>
          <a:xfrm>
            <a:off x="6409944" y="3950208"/>
            <a:ext cx="1851660" cy="329184"/>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AI가 쓰고</a:t>
            </a:r>
            <a:endParaRPr lang="en-US" sz="1400" dirty="0"/>
          </a:p>
        </p:txBody>
      </p:sp>
      <p:sp>
        <p:nvSpPr>
          <p:cNvPr id="14" name="Shape 11"/>
          <p:cNvSpPr/>
          <p:nvPr/>
        </p:nvSpPr>
        <p:spPr>
          <a:xfrm>
            <a:off x="8572500" y="3291840"/>
            <a:ext cx="0" cy="1188720"/>
          </a:xfrm>
          <a:prstGeom prst="line">
            <a:avLst/>
          </a:prstGeom>
          <a:noFill/>
          <a:ln w="9525">
            <a:solidFill>
              <a:srgbClr val="3A3025"/>
            </a:solidFill>
            <a:prstDash val="solid"/>
          </a:ln>
        </p:spPr>
      </p:sp>
      <p:sp>
        <p:nvSpPr>
          <p:cNvPr id="15" name="Text 12"/>
          <p:cNvSpPr/>
          <p:nvPr/>
        </p:nvSpPr>
        <p:spPr>
          <a:xfrm>
            <a:off x="8901684" y="3383280"/>
            <a:ext cx="1851660" cy="420624"/>
          </a:xfrm>
          <a:prstGeom prst="rect">
            <a:avLst/>
          </a:prstGeom>
          <a:noFill/>
          <a:ln/>
        </p:spPr>
        <p:txBody>
          <a:bodyPr wrap="square" lIns="0" tIns="0" rIns="0" bIns="0" rtlCol="0" anchor="ctr"/>
          <a:lstStyle/>
          <a:p>
            <a:pPr indent="0" marL="0">
              <a:buNone/>
            </a:pPr>
            <a:r>
              <a:rPr lang="en-US" sz="2400" b="1" dirty="0">
                <a:solidFill>
                  <a:srgbClr val="C4915F"/>
                </a:solidFill>
                <a:latin typeface="Apple SD Gothic Neo" pitchFamily="34" charset="0"/>
                <a:ea typeface="Apple SD Gothic Neo" pitchFamily="34" charset="-122"/>
                <a:cs typeface="Apple SD Gothic Neo" pitchFamily="34" charset="-120"/>
              </a:rPr>
              <a:t>REMADE</a:t>
            </a:r>
            <a:endParaRPr lang="en-US" sz="2400" dirty="0"/>
          </a:p>
        </p:txBody>
      </p:sp>
      <p:sp>
        <p:nvSpPr>
          <p:cNvPr id="16" name="Text 13"/>
          <p:cNvSpPr/>
          <p:nvPr/>
        </p:nvSpPr>
        <p:spPr>
          <a:xfrm>
            <a:off x="8901684" y="3950208"/>
            <a:ext cx="1851660" cy="329184"/>
          </a:xfrm>
          <a:prstGeom prst="rect">
            <a:avLst/>
          </a:prstGeom>
          <a:noFill/>
          <a:ln/>
        </p:spPr>
        <p:txBody>
          <a:bodyPr wrap="square" lIns="0" tIns="0" rIns="0" bIns="0" rtlCol="0" anchor="ctr"/>
          <a:lstStyle/>
          <a:p>
            <a:pPr indent="0" marL="0">
              <a:buNone/>
            </a:pPr>
            <a:r>
              <a:rPr lang="en-US" sz="1400" dirty="0">
                <a:solidFill>
                  <a:srgbClr val="9A8F84"/>
                </a:solidFill>
                <a:latin typeface="Apple SD Gothic Neo" pitchFamily="34" charset="0"/>
                <a:ea typeface="Apple SD Gothic Neo" pitchFamily="34" charset="-122"/>
                <a:cs typeface="Apple SD Gothic Neo" pitchFamily="34" charset="-120"/>
              </a:rPr>
              <a:t>그 자리에 그린다</a:t>
            </a:r>
            <a:endParaRPr lang="en-US" sz="1400" dirty="0"/>
          </a:p>
        </p:txBody>
      </p:sp>
      <p:sp>
        <p:nvSpPr>
          <p:cNvPr id="17" name="Text 14"/>
          <p:cNvSpPr/>
          <p:nvPr/>
        </p:nvSpPr>
        <p:spPr>
          <a:xfrm>
            <a:off x="914400" y="5029200"/>
            <a:ext cx="10332720" cy="365760"/>
          </a:xfrm>
          <a:prstGeom prst="rect">
            <a:avLst/>
          </a:prstGeom>
          <a:noFill/>
          <a:ln/>
        </p:spPr>
        <p:txBody>
          <a:bodyPr wrap="square" lIns="0" tIns="0" rIns="0" bIns="0" rtlCol="0" anchor="ctr"/>
          <a:lstStyle/>
          <a:p>
            <a:pPr algn="ctr" indent="0" marL="0">
              <a:buNone/>
            </a:pPr>
            <a:r>
              <a:rPr lang="en-US" sz="1800" dirty="0">
                <a:solidFill>
                  <a:srgbClr val="FFFFFF"/>
                </a:solidFill>
                <a:latin typeface="Apple SD Gothic Neo" pitchFamily="34" charset="0"/>
                <a:ea typeface="Apple SD Gothic Neo" pitchFamily="34" charset="-122"/>
                <a:cs typeface="Apple SD Gothic Neo" pitchFamily="34" charset="-120"/>
              </a:rPr>
              <a:t>박스를 여는 속도는 사용자가 정합니다</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1005840" y="2615184"/>
            <a:ext cx="4572000" cy="329184"/>
          </a:xfrm>
          <a:prstGeom prst="rect">
            <a:avLst/>
          </a:prstGeom>
          <a:noFill/>
          <a:ln/>
        </p:spPr>
        <p:txBody>
          <a:bodyPr wrap="square" lIns="0" tIns="0" rIns="0" bIns="0" rtlCol="0" anchor="ctr"/>
          <a:lstStyle/>
          <a:p>
            <a:pPr indent="0" marL="0">
              <a:buNone/>
            </a:pPr>
            <a:r>
              <a:rPr lang="en-US" sz="1400" b="1" spc="260" kern="0" dirty="0">
                <a:solidFill>
                  <a:srgbClr val="8B5A2B"/>
                </a:solidFill>
                <a:latin typeface="Apple SD Gothic Neo" pitchFamily="34" charset="0"/>
                <a:ea typeface="Apple SD Gothic Neo" pitchFamily="34" charset="-122"/>
                <a:cs typeface="Apple SD Gothic Neo" pitchFamily="34" charset="-120"/>
              </a:rPr>
              <a:t>Chapter 4</a:t>
            </a:r>
            <a:endParaRPr lang="en-US" sz="1400" dirty="0"/>
          </a:p>
        </p:txBody>
      </p:sp>
      <p:sp>
        <p:nvSpPr>
          <p:cNvPr id="3" name="Text 1"/>
          <p:cNvSpPr/>
          <p:nvPr/>
        </p:nvSpPr>
        <p:spPr>
          <a:xfrm>
            <a:off x="987552" y="3054096"/>
            <a:ext cx="10058400" cy="822960"/>
          </a:xfrm>
          <a:prstGeom prst="rect">
            <a:avLst/>
          </a:prstGeom>
          <a:noFill/>
          <a:ln/>
        </p:spPr>
        <p:txBody>
          <a:bodyPr wrap="square" lIns="0" tIns="0" rIns="0" bIns="0" rtlCol="0" anchor="ctr"/>
          <a:lstStyle/>
          <a:p>
            <a:pPr indent="0" marL="0">
              <a:buNone/>
            </a:pPr>
            <a:r>
              <a:rPr lang="en-US" sz="4000" b="1" dirty="0">
                <a:solidFill>
                  <a:srgbClr val="1A1613"/>
                </a:solidFill>
                <a:latin typeface="Apple SD Gothic Neo" pitchFamily="34" charset="0"/>
                <a:ea typeface="Apple SD Gothic Neo" pitchFamily="34" charset="-122"/>
                <a:cs typeface="Apple SD Gothic Neo" pitchFamily="34" charset="-120"/>
              </a:rPr>
              <a:t>왜 지금, 무엇으로 버는가</a:t>
            </a:r>
            <a:endParaRPr lang="en-US" sz="4000" dirty="0"/>
          </a:p>
        </p:txBody>
      </p:sp>
      <p:sp>
        <p:nvSpPr>
          <p:cNvPr id="4" name="Text 2"/>
          <p:cNvSpPr/>
          <p:nvPr/>
        </p:nvSpPr>
        <p:spPr>
          <a:xfrm>
            <a:off x="1005840" y="4078224"/>
            <a:ext cx="9601200" cy="347472"/>
          </a:xfrm>
          <a:prstGeom prst="rect">
            <a:avLst/>
          </a:prstGeom>
          <a:noFill/>
          <a:ln/>
        </p:spPr>
        <p:txBody>
          <a:bodyPr wrap="square" lIns="0" tIns="0" rIns="0" bIns="0" rtlCol="0" anchor="ctr"/>
          <a:lstStyle/>
          <a:p>
            <a:pPr indent="0" marL="0">
              <a:buNone/>
            </a:pPr>
            <a:r>
              <a:rPr lang="en-US" sz="1500" dirty="0">
                <a:solidFill>
                  <a:srgbClr val="7A716A"/>
                </a:solidFill>
                <a:latin typeface="Apple SD Gothic Neo" pitchFamily="34" charset="0"/>
                <a:ea typeface="Apple SD Gothic Neo" pitchFamily="34" charset="-122"/>
                <a:cs typeface="Apple SD Gothic Neo" pitchFamily="34" charset="-120"/>
              </a:rPr>
              <a:t>데이터 · 경쟁 · 타이밍</a:t>
            </a:r>
            <a:endParaRPr lang="en-US" sz="1500" dirty="0"/>
          </a:p>
        </p:txBody>
      </p:sp>
      <p:sp>
        <p:nvSpPr>
          <p:cNvPr id="5" name="Text 3"/>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B3ABA3"/>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DATA ASSET</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824"/>
              </a:lnSpc>
              <a:buNone/>
            </a:pPr>
            <a:r>
              <a:rPr lang="en-US" sz="3600" b="1" dirty="0">
                <a:solidFill>
                  <a:srgbClr val="FFFFFF"/>
                </a:solidFill>
                <a:latin typeface="Apple SD Gothic Neo" pitchFamily="34" charset="0"/>
                <a:ea typeface="Apple SD Gothic Neo" pitchFamily="34" charset="-122"/>
                <a:cs typeface="Apple SD Gothic Neo" pitchFamily="34" charset="-120"/>
              </a:rPr>
              <a:t>브랜드가 몰랐던 것이 보입니다</a:t>
            </a:r>
            <a:endParaRPr lang="en-US" sz="36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914400" y="2432304"/>
            <a:ext cx="10332720" cy="822960"/>
          </a:xfrm>
          <a:prstGeom prst="rect">
            <a:avLst/>
          </a:prstGeom>
          <a:noFill/>
          <a:ln/>
        </p:spPr>
        <p:txBody>
          <a:bodyPr wrap="square" lIns="0" tIns="0" rIns="0" bIns="0" rtlCol="0" anchor="ctr"/>
          <a:lstStyle/>
          <a:p>
            <a:pPr algn="ctr" indent="0" marL="0">
              <a:lnSpc>
                <a:spcPts val="2800"/>
              </a:lnSpc>
              <a:buNone/>
            </a:pPr>
            <a:r>
              <a:rPr lang="en-US" sz="1700" dirty="0">
                <a:solidFill>
                  <a:srgbClr val="9A8F84"/>
                </a:solidFill>
                <a:latin typeface="Apple SD Gothic Neo" pitchFamily="34" charset="0"/>
                <a:ea typeface="Apple SD Gothic Neo" pitchFamily="34" charset="-122"/>
                <a:cs typeface="Apple SD Gothic Neo" pitchFamily="34" charset="-120"/>
              </a:rPr>
              <a:t>브랜드는 무엇이 팔렸는지는 압니다.</a:t>
            </a:r>
            <a:endParaRPr lang="en-US" sz="1700" dirty="0"/>
          </a:p>
          <a:p>
            <a:pPr algn="ctr" indent="0" marL="0">
              <a:lnSpc>
                <a:spcPts val="2800"/>
              </a:lnSpc>
              <a:buNone/>
            </a:pPr>
            <a:r>
              <a:rPr lang="en-US" sz="1700" dirty="0">
                <a:solidFill>
                  <a:srgbClr val="9A8F84"/>
                </a:solidFill>
                <a:latin typeface="Apple SD Gothic Neo" pitchFamily="34" charset="0"/>
                <a:ea typeface="Apple SD Gothic Neo" pitchFamily="34" charset="-122"/>
                <a:cs typeface="Apple SD Gothic Neo" pitchFamily="34" charset="-120"/>
              </a:rPr>
              <a:t>언제, 어떤 상황에 쓰이는지는 모릅니다.</a:t>
            </a:r>
            <a:endParaRPr lang="en-US" sz="1700" dirty="0"/>
          </a:p>
        </p:txBody>
      </p:sp>
      <p:sp>
        <p:nvSpPr>
          <p:cNvPr id="7" name="Text 4"/>
          <p:cNvSpPr/>
          <p:nvPr/>
        </p:nvSpPr>
        <p:spPr>
          <a:xfrm>
            <a:off x="1097280" y="3950208"/>
            <a:ext cx="3322320" cy="402336"/>
          </a:xfrm>
          <a:prstGeom prst="rect">
            <a:avLst/>
          </a:prstGeom>
          <a:noFill/>
          <a:ln/>
        </p:spPr>
        <p:txBody>
          <a:bodyPr wrap="square" lIns="0" tIns="0" rIns="0" bIns="0" rtlCol="0" anchor="ctr"/>
          <a:lstStyle/>
          <a:p>
            <a:pPr algn="ct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상황 분포</a:t>
            </a:r>
            <a:endParaRPr lang="en-US" sz="2400" dirty="0"/>
          </a:p>
        </p:txBody>
      </p:sp>
      <p:sp>
        <p:nvSpPr>
          <p:cNvPr id="8" name="Shape 5"/>
          <p:cNvSpPr/>
          <p:nvPr/>
        </p:nvSpPr>
        <p:spPr>
          <a:xfrm>
            <a:off x="4419600" y="3785616"/>
            <a:ext cx="0" cy="731520"/>
          </a:xfrm>
          <a:prstGeom prst="line">
            <a:avLst/>
          </a:prstGeom>
          <a:noFill/>
          <a:ln w="9525">
            <a:solidFill>
              <a:srgbClr val="3A3025"/>
            </a:solidFill>
            <a:prstDash val="solid"/>
          </a:ln>
        </p:spPr>
      </p:sp>
      <p:sp>
        <p:nvSpPr>
          <p:cNvPr id="9" name="Text 6"/>
          <p:cNvSpPr/>
          <p:nvPr/>
        </p:nvSpPr>
        <p:spPr>
          <a:xfrm>
            <a:off x="4419600" y="3950208"/>
            <a:ext cx="3322320" cy="402336"/>
          </a:xfrm>
          <a:prstGeom prst="rect">
            <a:avLst/>
          </a:prstGeom>
          <a:noFill/>
          <a:ln/>
        </p:spPr>
        <p:txBody>
          <a:bodyPr wrap="square" lIns="0" tIns="0" rIns="0" bIns="0" rtlCol="0" anchor="ctr"/>
          <a:lstStyle/>
          <a:p>
            <a:pPr algn="ctr" indent="0" marL="0">
              <a:buNone/>
            </a:pPr>
            <a:r>
              <a:rPr lang="en-US" sz="2400" b="1" dirty="0">
                <a:solidFill>
                  <a:srgbClr val="C4915F"/>
                </a:solidFill>
                <a:latin typeface="Apple SD Gothic Neo" pitchFamily="34" charset="0"/>
                <a:ea typeface="Apple SD Gothic Neo" pitchFamily="34" charset="-122"/>
                <a:cs typeface="Apple SD Gothic Neo" pitchFamily="34" charset="-120"/>
              </a:rPr>
              <a:t>수선 부위</a:t>
            </a:r>
            <a:endParaRPr lang="en-US" sz="2400" dirty="0"/>
          </a:p>
        </p:txBody>
      </p:sp>
      <p:sp>
        <p:nvSpPr>
          <p:cNvPr id="10" name="Shape 7"/>
          <p:cNvSpPr/>
          <p:nvPr/>
        </p:nvSpPr>
        <p:spPr>
          <a:xfrm>
            <a:off x="7741920" y="3785616"/>
            <a:ext cx="0" cy="731520"/>
          </a:xfrm>
          <a:prstGeom prst="line">
            <a:avLst/>
          </a:prstGeom>
          <a:noFill/>
          <a:ln w="9525">
            <a:solidFill>
              <a:srgbClr val="3A3025"/>
            </a:solidFill>
            <a:prstDash val="solid"/>
          </a:ln>
        </p:spPr>
      </p:sp>
      <p:sp>
        <p:nvSpPr>
          <p:cNvPr id="11" name="Text 8"/>
          <p:cNvSpPr/>
          <p:nvPr/>
        </p:nvSpPr>
        <p:spPr>
          <a:xfrm>
            <a:off x="7741920" y="3950208"/>
            <a:ext cx="3322320" cy="402336"/>
          </a:xfrm>
          <a:prstGeom prst="rect">
            <a:avLst/>
          </a:prstGeom>
          <a:noFill/>
          <a:ln/>
        </p:spPr>
        <p:txBody>
          <a:bodyPr wrap="square" lIns="0" tIns="0" rIns="0" bIns="0" rtlCol="0" anchor="ctr"/>
          <a:lstStyle/>
          <a:p>
            <a:pPr algn="ctr" indent="0" marL="0">
              <a:buNone/>
            </a:pPr>
            <a:r>
              <a:rPr lang="en-US" sz="2400" b="1" dirty="0">
                <a:solidFill>
                  <a:srgbClr val="FFFFFF"/>
                </a:solidFill>
                <a:latin typeface="Apple SD Gothic Neo" pitchFamily="34" charset="0"/>
                <a:ea typeface="Apple SD Gothic Neo" pitchFamily="34" charset="-122"/>
                <a:cs typeface="Apple SD Gothic Neo" pitchFamily="34" charset="-120"/>
              </a:rPr>
              <a:t>도시별 사용</a:t>
            </a:r>
            <a:endParaRPr lang="en-US" sz="2400" dirty="0"/>
          </a:p>
        </p:txBody>
      </p:sp>
      <p:sp>
        <p:nvSpPr>
          <p:cNvPr id="12" name="Text 9"/>
          <p:cNvSpPr/>
          <p:nvPr/>
        </p:nvSpPr>
        <p:spPr>
          <a:xfrm>
            <a:off x="914400" y="4773168"/>
            <a:ext cx="10332720" cy="329184"/>
          </a:xfrm>
          <a:prstGeom prst="rect">
            <a:avLst/>
          </a:prstGeom>
          <a:noFill/>
          <a:ln/>
        </p:spPr>
        <p:txBody>
          <a:bodyPr wrap="square" lIns="0" tIns="0" rIns="0" bIns="0" rtlCol="0" anchor="ctr"/>
          <a:lstStyle/>
          <a:p>
            <a:pPr algn="ctr" indent="0" marL="0">
              <a:buNone/>
            </a:pPr>
            <a:r>
              <a:rPr lang="en-US" sz="1500" dirty="0">
                <a:solidFill>
                  <a:srgbClr val="9A8F84"/>
                </a:solidFill>
                <a:latin typeface="Apple SD Gothic Neo" pitchFamily="34" charset="0"/>
                <a:ea typeface="Apple SD Gothic Neo" pitchFamily="34" charset="-122"/>
                <a:cs typeface="Apple SD Gothic Neo" pitchFamily="34" charset="-120"/>
              </a:rPr>
              <a:t>어느 부위가 자주 상하는가 → 다음 제품 설계로</a:t>
            </a:r>
            <a:endParaRPr lang="en-US" sz="1500" dirty="0"/>
          </a:p>
        </p:txBody>
      </p:sp>
      <p:sp>
        <p:nvSpPr>
          <p:cNvPr id="13" name="Shape 10"/>
          <p:cNvSpPr/>
          <p:nvPr/>
        </p:nvSpPr>
        <p:spPr>
          <a:xfrm>
            <a:off x="4023360" y="5376672"/>
            <a:ext cx="4114800" cy="0"/>
          </a:xfrm>
          <a:prstGeom prst="line">
            <a:avLst/>
          </a:prstGeom>
          <a:noFill/>
          <a:ln w="9525">
            <a:solidFill>
              <a:srgbClr val="3A3025"/>
            </a:solidFill>
            <a:prstDash val="solid"/>
          </a:ln>
        </p:spPr>
      </p:sp>
      <p:sp>
        <p:nvSpPr>
          <p:cNvPr id="14" name="Text 11"/>
          <p:cNvSpPr/>
          <p:nvPr/>
        </p:nvSpPr>
        <p:spPr>
          <a:xfrm>
            <a:off x="914400" y="5614416"/>
            <a:ext cx="10332720" cy="329184"/>
          </a:xfrm>
          <a:prstGeom prst="rect">
            <a:avLst/>
          </a:prstGeom>
          <a:noFill/>
          <a:ln/>
        </p:spPr>
        <p:txBody>
          <a:bodyPr wrap="square" lIns="0" tIns="0" rIns="0" bIns="0" rtlCol="0" anchor="ctr"/>
          <a:lstStyle/>
          <a:p>
            <a:pPr algn="ctr" indent="0" marL="0">
              <a:buNone/>
            </a:pPr>
            <a:r>
              <a:rPr lang="en-US" sz="1400" dirty="0">
                <a:solidFill>
                  <a:srgbClr val="FFFFFF"/>
                </a:solidFill>
                <a:latin typeface="Apple SD Gothic Neo" pitchFamily="34" charset="0"/>
                <a:ea typeface="Apple SD Gothic Neo" pitchFamily="34" charset="-122"/>
                <a:cs typeface="Apple SD Gothic Neo" pitchFamily="34" charset="-120"/>
              </a:rPr>
              <a:t>집계는 동의한 사용자만 · 5건 미만 그룹 제외</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4896"/>
              </a:lnSpc>
              <a:buNone/>
            </a:pPr>
            <a:r>
              <a:rPr lang="en-US" sz="3600" b="1" dirty="0">
                <a:solidFill>
                  <a:srgbClr val="FFFFFF"/>
                </a:solidFill>
                <a:latin typeface="Apple SD Gothic Neo" pitchFamily="34" charset="0"/>
                <a:ea typeface="Apple SD Gothic Neo" pitchFamily="34" charset="-122"/>
                <a:cs typeface="Apple SD Gothic Neo" pitchFamily="34" charset="-120"/>
              </a:rPr>
              <a:t>우리는 DPP를 만들지 않습니다.</a:t>
            </a:r>
            <a:endParaRPr lang="en-US" sz="3600" dirty="0"/>
          </a:p>
          <a:p>
            <a:pPr algn="ctr" indent="0" marL="0">
              <a:lnSpc>
                <a:spcPts val="4896"/>
              </a:lnSpc>
              <a:buNone/>
            </a:pPr>
            <a:r>
              <a:rPr lang="en-US" sz="3600" b="1" dirty="0">
                <a:solidFill>
                  <a:srgbClr val="C4915F"/>
                </a:solidFill>
                <a:latin typeface="Apple SD Gothic Neo" pitchFamily="34" charset="0"/>
                <a:ea typeface="Apple SD Gothic Neo" pitchFamily="34" charset="-122"/>
                <a:cs typeface="Apple SD Gothic Neo" pitchFamily="34" charset="-120"/>
              </a:rPr>
              <a:t>DPP 위에서 사는 사람을 만듭니다.</a:t>
            </a:r>
            <a:endParaRPr lang="en-US" sz="36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COMPETITIVE POSITION</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824"/>
              </a:lnSpc>
              <a:buNone/>
            </a:pPr>
            <a:r>
              <a:rPr lang="en-US" sz="3600" b="1" dirty="0">
                <a:solidFill>
                  <a:srgbClr val="FFFFFF"/>
                </a:solidFill>
                <a:latin typeface="Apple SD Gothic Neo" pitchFamily="34" charset="0"/>
                <a:ea typeface="Apple SD Gothic Neo" pitchFamily="34" charset="-122"/>
                <a:cs typeface="Apple SD Gothic Neo" pitchFamily="34" charset="-120"/>
              </a:rPr>
              <a:t>기존 DPP가 못 하는 것 하나</a:t>
            </a:r>
            <a:endParaRPr lang="en-US" sz="36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914400" y="2395728"/>
            <a:ext cx="10332720" cy="457200"/>
          </a:xfrm>
          <a:prstGeom prst="rect">
            <a:avLst/>
          </a:prstGeom>
          <a:noFill/>
          <a:ln/>
        </p:spPr>
        <p:txBody>
          <a:bodyPr wrap="square" lIns="0" tIns="0" rIns="0" bIns="0" rtlCol="0" anchor="ctr"/>
          <a:lstStyle/>
          <a:p>
            <a:pPr algn="ctr" indent="0" marL="0">
              <a:buNone/>
            </a:pPr>
            <a:r>
              <a:rPr lang="en-US" sz="2800" b="1" dirty="0">
                <a:solidFill>
                  <a:srgbClr val="C4915F"/>
                </a:solidFill>
                <a:latin typeface="Apple SD Gothic Neo" pitchFamily="34" charset="0"/>
                <a:ea typeface="Apple SD Gothic Neo" pitchFamily="34" charset="-122"/>
                <a:cs typeface="Apple SD Gothic Neo" pitchFamily="34" charset="-120"/>
              </a:rPr>
              <a:t>소비자가 두 번째로 앱을 여는 것</a:t>
            </a:r>
            <a:endParaRPr lang="en-US" sz="2800" dirty="0"/>
          </a:p>
        </p:txBody>
      </p:sp>
      <p:sp>
        <p:nvSpPr>
          <p:cNvPr id="7" name="Text 4"/>
          <p:cNvSpPr/>
          <p:nvPr/>
        </p:nvSpPr>
        <p:spPr>
          <a:xfrm>
            <a:off x="1371600" y="3493008"/>
            <a:ext cx="3291840" cy="329184"/>
          </a:xfrm>
          <a:prstGeom prst="rect">
            <a:avLst/>
          </a:prstGeom>
          <a:noFill/>
          <a:ln/>
        </p:spPr>
        <p:txBody>
          <a:bodyPr wrap="square" lIns="0" tIns="0" rIns="0" bIns="0" rtlCol="0" anchor="ctr"/>
          <a:lstStyle/>
          <a:p>
            <a:pP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Aura Consortium</a:t>
            </a:r>
            <a:endParaRPr lang="en-US" sz="1700" dirty="0"/>
          </a:p>
        </p:txBody>
      </p:sp>
      <p:sp>
        <p:nvSpPr>
          <p:cNvPr id="8" name="Text 5"/>
          <p:cNvSpPr/>
          <p:nvPr/>
        </p:nvSpPr>
        <p:spPr>
          <a:xfrm>
            <a:off x="4846320" y="3520440"/>
            <a:ext cx="4572000" cy="292608"/>
          </a:xfrm>
          <a:prstGeom prst="rect">
            <a:avLst/>
          </a:prstGeom>
          <a:noFill/>
          <a:ln/>
        </p:spPr>
        <p:txBody>
          <a:bodyPr wrap="square" lIns="0" tIns="0" rIns="0" bIns="0" rtlCol="0" anchor="ctr"/>
          <a:lstStyle/>
          <a:p>
            <a:pPr indent="0" marL="0">
              <a:buNone/>
            </a:pPr>
            <a:r>
              <a:rPr lang="en-US" sz="1350" dirty="0">
                <a:solidFill>
                  <a:srgbClr val="9A8F84"/>
                </a:solidFill>
                <a:latin typeface="Apple SD Gothic Neo" pitchFamily="34" charset="0"/>
                <a:ea typeface="Apple SD Gothic Neo" pitchFamily="34" charset="-122"/>
                <a:cs typeface="Apple SD Gothic Neo" pitchFamily="34" charset="-120"/>
              </a:rPr>
              <a:t>LVMH 주도 · MCM이 이미 소속</a:t>
            </a:r>
            <a:endParaRPr lang="en-US" sz="1350" dirty="0"/>
          </a:p>
        </p:txBody>
      </p:sp>
      <p:sp>
        <p:nvSpPr>
          <p:cNvPr id="9" name="Text 6"/>
          <p:cNvSpPr/>
          <p:nvPr/>
        </p:nvSpPr>
        <p:spPr>
          <a:xfrm>
            <a:off x="9509760" y="3520440"/>
            <a:ext cx="1280160" cy="292608"/>
          </a:xfrm>
          <a:prstGeom prst="rect">
            <a:avLst/>
          </a:prstGeom>
          <a:noFill/>
          <a:ln/>
        </p:spPr>
        <p:txBody>
          <a:bodyPr wrap="square" lIns="0" tIns="0" rIns="0" bIns="0" rtlCol="0" anchor="ctr"/>
          <a:lstStyle/>
          <a:p>
            <a:pPr algn="r" indent="0" marL="0">
              <a:buNone/>
            </a:pPr>
            <a:r>
              <a:rPr lang="en-US" sz="1300" dirty="0">
                <a:solidFill>
                  <a:srgbClr val="6E6459"/>
                </a:solidFill>
                <a:latin typeface="Apple SD Gothic Neo" pitchFamily="34" charset="0"/>
                <a:ea typeface="Apple SD Gothic Neo" pitchFamily="34" charset="-122"/>
                <a:cs typeface="Apple SD Gothic Neo" pitchFamily="34" charset="-120"/>
              </a:rPr>
              <a:t>인프라</a:t>
            </a:r>
            <a:endParaRPr lang="en-US" sz="1300" dirty="0"/>
          </a:p>
        </p:txBody>
      </p:sp>
      <p:sp>
        <p:nvSpPr>
          <p:cNvPr id="10" name="Shape 7"/>
          <p:cNvSpPr/>
          <p:nvPr/>
        </p:nvSpPr>
        <p:spPr>
          <a:xfrm>
            <a:off x="1280160" y="4078224"/>
            <a:ext cx="9601200" cy="0"/>
          </a:xfrm>
          <a:prstGeom prst="line">
            <a:avLst/>
          </a:prstGeom>
          <a:noFill/>
          <a:ln w="9525">
            <a:solidFill>
              <a:srgbClr val="3A3025"/>
            </a:solidFill>
            <a:prstDash val="solid"/>
          </a:ln>
        </p:spPr>
      </p:sp>
      <p:sp>
        <p:nvSpPr>
          <p:cNvPr id="11" name="Text 8"/>
          <p:cNvSpPr/>
          <p:nvPr/>
        </p:nvSpPr>
        <p:spPr>
          <a:xfrm>
            <a:off x="1371600" y="4261104"/>
            <a:ext cx="3291840" cy="329184"/>
          </a:xfrm>
          <a:prstGeom prst="rect">
            <a:avLst/>
          </a:prstGeom>
          <a:noFill/>
          <a:ln/>
        </p:spPr>
        <p:txBody>
          <a:bodyPr wrap="square" lIns="0" tIns="0" rIns="0" bIns="0" rtlCol="0" anchor="ctr"/>
          <a:lstStyle/>
          <a:p>
            <a:pP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Arianee</a:t>
            </a:r>
            <a:endParaRPr lang="en-US" sz="1700" dirty="0"/>
          </a:p>
        </p:txBody>
      </p:sp>
      <p:sp>
        <p:nvSpPr>
          <p:cNvPr id="12" name="Text 9"/>
          <p:cNvSpPr/>
          <p:nvPr/>
        </p:nvSpPr>
        <p:spPr>
          <a:xfrm>
            <a:off x="4846320" y="4288536"/>
            <a:ext cx="4572000" cy="292608"/>
          </a:xfrm>
          <a:prstGeom prst="rect">
            <a:avLst/>
          </a:prstGeom>
          <a:noFill/>
          <a:ln/>
        </p:spPr>
        <p:txBody>
          <a:bodyPr wrap="square" lIns="0" tIns="0" rIns="0" bIns="0" rtlCol="0" anchor="ctr"/>
          <a:lstStyle/>
          <a:p>
            <a:pPr indent="0" marL="0">
              <a:buNone/>
            </a:pPr>
            <a:r>
              <a:rPr lang="en-US" sz="1350" dirty="0">
                <a:solidFill>
                  <a:srgbClr val="9A8F84"/>
                </a:solidFill>
                <a:latin typeface="Apple SD Gothic Neo" pitchFamily="34" charset="0"/>
                <a:ea typeface="Apple SD Gothic Neo" pitchFamily="34" charset="-122"/>
                <a:cs typeface="Apple SD Gothic Neo" pitchFamily="34" charset="-120"/>
              </a:rPr>
              <a:t>패스포트 340만+ · 브랜드 50+</a:t>
            </a:r>
            <a:endParaRPr lang="en-US" sz="1350" dirty="0"/>
          </a:p>
        </p:txBody>
      </p:sp>
      <p:sp>
        <p:nvSpPr>
          <p:cNvPr id="13" name="Text 10"/>
          <p:cNvSpPr/>
          <p:nvPr/>
        </p:nvSpPr>
        <p:spPr>
          <a:xfrm>
            <a:off x="9509760" y="4288536"/>
            <a:ext cx="1280160" cy="292608"/>
          </a:xfrm>
          <a:prstGeom prst="rect">
            <a:avLst/>
          </a:prstGeom>
          <a:noFill/>
          <a:ln/>
        </p:spPr>
        <p:txBody>
          <a:bodyPr wrap="square" lIns="0" tIns="0" rIns="0" bIns="0" rtlCol="0" anchor="ctr"/>
          <a:lstStyle/>
          <a:p>
            <a:pPr algn="r" indent="0" marL="0">
              <a:buNone/>
            </a:pPr>
            <a:r>
              <a:rPr lang="en-US" sz="1300" dirty="0">
                <a:solidFill>
                  <a:srgbClr val="6E6459"/>
                </a:solidFill>
                <a:latin typeface="Apple SD Gothic Neo" pitchFamily="34" charset="0"/>
                <a:ea typeface="Apple SD Gothic Neo" pitchFamily="34" charset="-122"/>
                <a:cs typeface="Apple SD Gothic Neo" pitchFamily="34" charset="-120"/>
              </a:rPr>
              <a:t>인프라</a:t>
            </a:r>
            <a:endParaRPr lang="en-US" sz="1300" dirty="0"/>
          </a:p>
        </p:txBody>
      </p:sp>
      <p:sp>
        <p:nvSpPr>
          <p:cNvPr id="14" name="Shape 11"/>
          <p:cNvSpPr/>
          <p:nvPr/>
        </p:nvSpPr>
        <p:spPr>
          <a:xfrm>
            <a:off x="1280160" y="4846320"/>
            <a:ext cx="9601200" cy="0"/>
          </a:xfrm>
          <a:prstGeom prst="line">
            <a:avLst/>
          </a:prstGeom>
          <a:noFill/>
          <a:ln w="9525">
            <a:solidFill>
              <a:srgbClr val="3A3025"/>
            </a:solidFill>
            <a:prstDash val="solid"/>
          </a:ln>
        </p:spPr>
      </p:sp>
      <p:sp>
        <p:nvSpPr>
          <p:cNvPr id="15" name="Text 12"/>
          <p:cNvSpPr/>
          <p:nvPr/>
        </p:nvSpPr>
        <p:spPr>
          <a:xfrm>
            <a:off x="1371600" y="5029200"/>
            <a:ext cx="3291840" cy="329184"/>
          </a:xfrm>
          <a:prstGeom prst="rect">
            <a:avLst/>
          </a:prstGeom>
          <a:noFill/>
          <a:ln/>
        </p:spPr>
        <p:txBody>
          <a:bodyPr wrap="square" lIns="0" tIns="0" rIns="0" bIns="0" rtlCol="0" anchor="ctr"/>
          <a:lstStyle/>
          <a:p>
            <a:pP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Coachtopia</a:t>
            </a:r>
            <a:endParaRPr lang="en-US" sz="1700" dirty="0"/>
          </a:p>
        </p:txBody>
      </p:sp>
      <p:sp>
        <p:nvSpPr>
          <p:cNvPr id="16" name="Text 13"/>
          <p:cNvSpPr/>
          <p:nvPr/>
        </p:nvSpPr>
        <p:spPr>
          <a:xfrm>
            <a:off x="4846320" y="5056632"/>
            <a:ext cx="4572000" cy="292608"/>
          </a:xfrm>
          <a:prstGeom prst="rect">
            <a:avLst/>
          </a:prstGeom>
          <a:noFill/>
          <a:ln/>
        </p:spPr>
        <p:txBody>
          <a:bodyPr wrap="square" lIns="0" tIns="0" rIns="0" bIns="0" rtlCol="0" anchor="ctr"/>
          <a:lstStyle/>
          <a:p>
            <a:pPr indent="0" marL="0">
              <a:buNone/>
            </a:pPr>
            <a:r>
              <a:rPr lang="en-US" sz="1350" dirty="0">
                <a:solidFill>
                  <a:srgbClr val="9A8F84"/>
                </a:solidFill>
                <a:latin typeface="Apple SD Gothic Neo" pitchFamily="34" charset="0"/>
                <a:ea typeface="Apple SD Gothic Neo" pitchFamily="34" charset="-122"/>
                <a:cs typeface="Apple SD Gothic Neo" pitchFamily="34" charset="-120"/>
              </a:rPr>
              <a:t>제품 중심 순환 · 자사 전용</a:t>
            </a:r>
            <a:endParaRPr lang="en-US" sz="1350" dirty="0"/>
          </a:p>
        </p:txBody>
      </p:sp>
      <p:sp>
        <p:nvSpPr>
          <p:cNvPr id="17" name="Text 14"/>
          <p:cNvSpPr/>
          <p:nvPr/>
        </p:nvSpPr>
        <p:spPr>
          <a:xfrm>
            <a:off x="9509760" y="5056632"/>
            <a:ext cx="1280160" cy="292608"/>
          </a:xfrm>
          <a:prstGeom prst="rect">
            <a:avLst/>
          </a:prstGeom>
          <a:noFill/>
          <a:ln/>
        </p:spPr>
        <p:txBody>
          <a:bodyPr wrap="square" lIns="0" tIns="0" rIns="0" bIns="0" rtlCol="0" anchor="ctr"/>
          <a:lstStyle/>
          <a:p>
            <a:pPr algn="r" indent="0" marL="0">
              <a:buNone/>
            </a:pPr>
            <a:r>
              <a:rPr lang="en-US" sz="1300" dirty="0">
                <a:solidFill>
                  <a:srgbClr val="6E6459"/>
                </a:solidFill>
                <a:latin typeface="Apple SD Gothic Neo" pitchFamily="34" charset="0"/>
                <a:ea typeface="Apple SD Gothic Neo" pitchFamily="34" charset="-122"/>
                <a:cs typeface="Apple SD Gothic Neo" pitchFamily="34" charset="-120"/>
              </a:rPr>
              <a:t>제품</a:t>
            </a:r>
            <a:endParaRPr lang="en-US" sz="1300" dirty="0"/>
          </a:p>
        </p:txBody>
      </p:sp>
      <p:sp>
        <p:nvSpPr>
          <p:cNvPr id="18" name="Shape 15"/>
          <p:cNvSpPr/>
          <p:nvPr/>
        </p:nvSpPr>
        <p:spPr>
          <a:xfrm>
            <a:off x="1280160" y="5614416"/>
            <a:ext cx="9601200" cy="0"/>
          </a:xfrm>
          <a:prstGeom prst="line">
            <a:avLst/>
          </a:prstGeom>
          <a:noFill/>
          <a:ln w="9525">
            <a:solidFill>
              <a:srgbClr val="3A3025"/>
            </a:solidFill>
            <a:prstDash val="solid"/>
          </a:ln>
        </p:spPr>
      </p:sp>
      <p:sp>
        <p:nvSpPr>
          <p:cNvPr id="19" name="Text 16"/>
          <p:cNvSpPr/>
          <p:nvPr/>
        </p:nvSpPr>
        <p:spPr>
          <a:xfrm>
            <a:off x="1371600" y="5797296"/>
            <a:ext cx="3291840" cy="329184"/>
          </a:xfrm>
          <a:prstGeom prst="rect">
            <a:avLst/>
          </a:prstGeom>
          <a:noFill/>
          <a:ln/>
        </p:spPr>
        <p:txBody>
          <a:bodyPr wrap="square" lIns="0" tIns="0" rIns="0" bIns="0" rtlCol="0" anchor="ctr"/>
          <a:lstStyle/>
          <a:p>
            <a:pPr indent="0" marL="0">
              <a:buNone/>
            </a:pPr>
            <a:r>
              <a:rPr lang="en-US" sz="1700" b="1" dirty="0">
                <a:solidFill>
                  <a:srgbClr val="C4915F"/>
                </a:solidFill>
                <a:latin typeface="Apple SD Gothic Neo" pitchFamily="34" charset="0"/>
                <a:ea typeface="Apple SD Gothic Neo" pitchFamily="34" charset="-122"/>
                <a:cs typeface="Apple SD Gothic Neo" pitchFamily="34" charset="-120"/>
              </a:rPr>
              <a:t>MCM Luxury Book</a:t>
            </a:r>
            <a:endParaRPr lang="en-US" sz="1700" dirty="0"/>
          </a:p>
        </p:txBody>
      </p:sp>
      <p:sp>
        <p:nvSpPr>
          <p:cNvPr id="20" name="Text 17"/>
          <p:cNvSpPr/>
          <p:nvPr/>
        </p:nvSpPr>
        <p:spPr>
          <a:xfrm>
            <a:off x="4846320" y="5824728"/>
            <a:ext cx="4572000" cy="292608"/>
          </a:xfrm>
          <a:prstGeom prst="rect">
            <a:avLst/>
          </a:prstGeom>
          <a:noFill/>
          <a:ln/>
        </p:spPr>
        <p:txBody>
          <a:bodyPr wrap="square" lIns="0" tIns="0" rIns="0" bIns="0" rtlCol="0" anchor="ctr"/>
          <a:lstStyle/>
          <a:p>
            <a:pPr indent="0" marL="0">
              <a:buNone/>
            </a:pPr>
            <a:r>
              <a:rPr lang="en-US" sz="1350" dirty="0">
                <a:solidFill>
                  <a:srgbClr val="9A8F84"/>
                </a:solidFill>
                <a:latin typeface="Apple SD Gothic Neo" pitchFamily="34" charset="0"/>
                <a:ea typeface="Apple SD Gothic Neo" pitchFamily="34" charset="-122"/>
                <a:cs typeface="Apple SD Gothic Neo" pitchFamily="34" charset="-120"/>
              </a:rPr>
              <a:t>DPP 위의 경험 · 행동 레이어</a:t>
            </a:r>
            <a:endParaRPr lang="en-US" sz="1350" dirty="0"/>
          </a:p>
        </p:txBody>
      </p:sp>
      <p:sp>
        <p:nvSpPr>
          <p:cNvPr id="21" name="Text 18"/>
          <p:cNvSpPr/>
          <p:nvPr/>
        </p:nvSpPr>
        <p:spPr>
          <a:xfrm>
            <a:off x="9509760" y="5824728"/>
            <a:ext cx="1280160" cy="292608"/>
          </a:xfrm>
          <a:prstGeom prst="rect">
            <a:avLst/>
          </a:prstGeom>
          <a:noFill/>
          <a:ln/>
        </p:spPr>
        <p:txBody>
          <a:bodyPr wrap="square" lIns="0" tIns="0" rIns="0" bIns="0" rtlCol="0" anchor="ctr"/>
          <a:lstStyle/>
          <a:p>
            <a:pPr algn="r" indent="0" marL="0">
              <a:buNone/>
            </a:pPr>
            <a:r>
              <a:rPr lang="en-US" sz="1300" dirty="0">
                <a:solidFill>
                  <a:srgbClr val="C4915F"/>
                </a:solidFill>
                <a:latin typeface="Apple SD Gothic Neo" pitchFamily="34" charset="0"/>
                <a:ea typeface="Apple SD Gothic Neo" pitchFamily="34" charset="-122"/>
                <a:cs typeface="Apple SD Gothic Neo" pitchFamily="34" charset="-120"/>
              </a:rPr>
              <a:t>경험</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WHY NOW</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4556"/>
              </a:lnSpc>
              <a:buNone/>
            </a:pPr>
            <a:r>
              <a:rPr lang="en-US" sz="3400" b="1" dirty="0">
                <a:solidFill>
                  <a:srgbClr val="FFFFFF"/>
                </a:solidFill>
                <a:latin typeface="Apple SD Gothic Neo" pitchFamily="34" charset="0"/>
                <a:ea typeface="Apple SD Gothic Neo" pitchFamily="34" charset="-122"/>
                <a:cs typeface="Apple SD Gothic Neo" pitchFamily="34" charset="-120"/>
              </a:rPr>
              <a:t>MCM이 직접 써놓은 문장입니다</a:t>
            </a:r>
            <a:endParaRPr lang="en-US" sz="34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1097280" y="2487168"/>
            <a:ext cx="9966960" cy="1737360"/>
          </a:xfrm>
          <a:prstGeom prst="rect">
            <a:avLst/>
          </a:prstGeom>
          <a:noFill/>
          <a:ln/>
        </p:spPr>
        <p:txBody>
          <a:bodyPr wrap="square" lIns="0" tIns="0" rIns="0" bIns="0" rtlCol="0" anchor="ctr"/>
          <a:lstStyle/>
          <a:p>
            <a:pPr algn="ctr" indent="0" marL="0">
              <a:lnSpc>
                <a:spcPts val="4400"/>
              </a:lnSpc>
              <a:buNone/>
            </a:pPr>
            <a:r>
              <a:rPr lang="en-US" sz="2600" b="1" dirty="0">
                <a:solidFill>
                  <a:srgbClr val="FFFFFF"/>
                </a:solidFill>
                <a:latin typeface="Apple SD Gothic Neo" pitchFamily="34" charset="0"/>
                <a:ea typeface="Apple SD Gothic Neo" pitchFamily="34" charset="-122"/>
                <a:cs typeface="Apple SD Gothic Neo" pitchFamily="34" charset="-120"/>
              </a:rPr>
              <a:t>“패스포트는 제품의 수명을 지원하고, 보존하고,</a:t>
            </a:r>
            <a:endParaRPr lang="en-US" sz="2600" dirty="0"/>
          </a:p>
          <a:p>
            <a:pPr algn="ctr" indent="0" marL="0">
              <a:lnSpc>
                <a:spcPts val="4400"/>
              </a:lnSpc>
              <a:buNone/>
            </a:pPr>
            <a:r>
              <a:rPr lang="en-US" sz="2600" b="1" dirty="0">
                <a:solidFill>
                  <a:srgbClr val="FFFFFF"/>
                </a:solidFill>
                <a:latin typeface="Apple SD Gothic Neo" pitchFamily="34" charset="0"/>
                <a:ea typeface="Apple SD Gothic Neo" pitchFamily="34" charset="-122"/>
                <a:cs typeface="Apple SD Gothic Neo" pitchFamily="34" charset="-120"/>
              </a:rPr>
              <a:t>연장하기 위한 향후 서비스와 경험으로의</a:t>
            </a:r>
            <a:endParaRPr lang="en-US" sz="2600" dirty="0"/>
          </a:p>
          <a:p>
            <a:pPr algn="ctr" indent="0" marL="0">
              <a:lnSpc>
                <a:spcPts val="4400"/>
              </a:lnSpc>
              <a:buNone/>
            </a:pPr>
            <a:r>
              <a:rPr lang="en-US" sz="2600" b="1" dirty="0">
                <a:solidFill>
                  <a:srgbClr val="FFFFFF"/>
                </a:solidFill>
                <a:latin typeface="Apple SD Gothic Neo" pitchFamily="34" charset="0"/>
                <a:ea typeface="Apple SD Gothic Neo" pitchFamily="34" charset="-122"/>
                <a:cs typeface="Apple SD Gothic Neo" pitchFamily="34" charset="-120"/>
              </a:rPr>
              <a:t>접근을 연다.”</a:t>
            </a:r>
            <a:endParaRPr lang="en-US" sz="2600" dirty="0"/>
          </a:p>
        </p:txBody>
      </p:sp>
      <p:sp>
        <p:nvSpPr>
          <p:cNvPr id="7" name="Text 4"/>
          <p:cNvSpPr/>
          <p:nvPr/>
        </p:nvSpPr>
        <p:spPr>
          <a:xfrm>
            <a:off x="914400" y="4352544"/>
            <a:ext cx="10332720" cy="310896"/>
          </a:xfrm>
          <a:prstGeom prst="rect">
            <a:avLst/>
          </a:prstGeom>
          <a:noFill/>
          <a:ln/>
        </p:spPr>
        <p:txBody>
          <a:bodyPr wrap="square" lIns="0" tIns="0" rIns="0" bIns="0" rtlCol="0" anchor="ctr"/>
          <a:lstStyle/>
          <a:p>
            <a:pPr algn="ctr" indent="0" marL="0">
              <a:buNone/>
            </a:pPr>
            <a:r>
              <a:rPr lang="en-US" sz="1300" dirty="0">
                <a:solidFill>
                  <a:srgbClr val="6E6459"/>
                </a:solidFill>
                <a:latin typeface="Apple SD Gothic Neo" pitchFamily="34" charset="0"/>
                <a:ea typeface="Apple SD Gothic Neo" pitchFamily="34" charset="-122"/>
                <a:cs typeface="Apple SD Gothic Neo" pitchFamily="34" charset="-120"/>
              </a:rPr>
              <a:t>MCM 공식 Digital Product Passport 페이지</a:t>
            </a:r>
            <a:endParaRPr lang="en-US" sz="1300" dirty="0"/>
          </a:p>
        </p:txBody>
      </p:sp>
      <p:sp>
        <p:nvSpPr>
          <p:cNvPr id="8" name="Shape 5"/>
          <p:cNvSpPr/>
          <p:nvPr/>
        </p:nvSpPr>
        <p:spPr>
          <a:xfrm>
            <a:off x="4023360" y="4974336"/>
            <a:ext cx="4114800" cy="0"/>
          </a:xfrm>
          <a:prstGeom prst="line">
            <a:avLst/>
          </a:prstGeom>
          <a:noFill/>
          <a:ln w="9525">
            <a:solidFill>
              <a:srgbClr val="3A3025"/>
            </a:solidFill>
            <a:prstDash val="solid"/>
          </a:ln>
        </p:spPr>
      </p:sp>
      <p:sp>
        <p:nvSpPr>
          <p:cNvPr id="9" name="Text 6"/>
          <p:cNvSpPr/>
          <p:nvPr/>
        </p:nvSpPr>
        <p:spPr>
          <a:xfrm>
            <a:off x="914400" y="5212080"/>
            <a:ext cx="10332720" cy="402336"/>
          </a:xfrm>
          <a:prstGeom prst="rect">
            <a:avLst/>
          </a:prstGeom>
          <a:noFill/>
          <a:ln/>
        </p:spPr>
        <p:txBody>
          <a:bodyPr wrap="square" lIns="0" tIns="0" rIns="0" bIns="0" rtlCol="0" anchor="ctr"/>
          <a:lstStyle/>
          <a:p>
            <a:pPr algn="ctr" indent="0" marL="0">
              <a:buNone/>
            </a:pPr>
            <a:r>
              <a:rPr lang="en-US" sz="2400" b="1" dirty="0">
                <a:solidFill>
                  <a:srgbClr val="C4915F"/>
                </a:solidFill>
                <a:latin typeface="Apple SD Gothic Neo" pitchFamily="34" charset="0"/>
                <a:ea typeface="Apple SD Gothic Neo" pitchFamily="34" charset="-122"/>
                <a:cs typeface="Apple SD Gothic Neo" pitchFamily="34" charset="-120"/>
              </a:rPr>
              <a:t>저희 제품이 이 문장의 다음 장입니다</a:t>
            </a:r>
            <a:endParaRPr lang="en-US" sz="2400" dirty="0"/>
          </a:p>
        </p:txBody>
      </p:sp>
      <p:sp>
        <p:nvSpPr>
          <p:cNvPr id="10" name="Text 7"/>
          <p:cNvSpPr/>
          <p:nvPr/>
        </p:nvSpPr>
        <p:spPr>
          <a:xfrm>
            <a:off x="731520" y="6144768"/>
            <a:ext cx="10698480" cy="310896"/>
          </a:xfrm>
          <a:prstGeom prst="rect">
            <a:avLst/>
          </a:prstGeom>
          <a:noFill/>
          <a:ln/>
        </p:spPr>
        <p:txBody>
          <a:bodyPr wrap="square" lIns="0" tIns="0" rIns="0" bIns="0" rtlCol="0" anchor="ctr"/>
          <a:lstStyle/>
          <a:p>
            <a:pPr algn="ctr" indent="0" marL="0">
              <a:buNone/>
            </a:pPr>
            <a:r>
              <a:rPr lang="en-US" sz="1100" dirty="0">
                <a:solidFill>
                  <a:srgbClr val="6E6459"/>
                </a:solidFill>
                <a:latin typeface="Apple SD Gothic Neo" pitchFamily="34" charset="0"/>
                <a:ea typeface="Apple SD Gothic Neo" pitchFamily="34" charset="-122"/>
                <a:cs typeface="Apple SD Gothic Neo" pitchFamily="34" charset="-120"/>
              </a:rPr>
              <a:t>EU ESPR 섬유 위임법 2027년 2분기 예상 · 시행 2028~29년 전망 (2026.08 기준)</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0" y="566928"/>
            <a:ext cx="12161520" cy="310896"/>
          </a:xfrm>
          <a:prstGeom prst="rect">
            <a:avLst/>
          </a:prstGeom>
          <a:noFill/>
          <a:ln/>
        </p:spPr>
        <p:txBody>
          <a:bodyPr wrap="square" rtlCol="0" anchor="ctr"/>
          <a:lstStyle/>
          <a:p>
            <a:pPr algn="ctr" indent="0" marL="0">
              <a:buNone/>
            </a:pPr>
            <a:r>
              <a:rPr lang="en-US" sz="1150" b="1" spc="340" kern="0" dirty="0">
                <a:solidFill>
                  <a:srgbClr val="C4915F"/>
                </a:solidFill>
                <a:latin typeface="Apple SD Gothic Neo" pitchFamily="34" charset="0"/>
                <a:ea typeface="Apple SD Gothic Neo" pitchFamily="34" charset="-122"/>
                <a:cs typeface="Apple SD Gothic Neo" pitchFamily="34" charset="-120"/>
              </a:rPr>
              <a:t>BUSINESS MODEL</a:t>
            </a:r>
            <a:endParaRPr lang="en-US" sz="1150" dirty="0"/>
          </a:p>
        </p:txBody>
      </p:sp>
      <p:sp>
        <p:nvSpPr>
          <p:cNvPr id="4" name="Text 1"/>
          <p:cNvSpPr/>
          <p:nvPr/>
        </p:nvSpPr>
        <p:spPr>
          <a:xfrm>
            <a:off x="731520" y="1042416"/>
            <a:ext cx="10698480" cy="822960"/>
          </a:xfrm>
          <a:prstGeom prst="rect">
            <a:avLst/>
          </a:prstGeom>
          <a:noFill/>
          <a:ln/>
        </p:spPr>
        <p:txBody>
          <a:bodyPr wrap="square" lIns="0" tIns="0" rIns="0" bIns="0" rtlCol="0" anchor="t"/>
          <a:lstStyle/>
          <a:p>
            <a:pPr algn="ctr" indent="0" marL="0">
              <a:lnSpc>
                <a:spcPts val="5360"/>
              </a:lnSpc>
              <a:buNone/>
            </a:pPr>
            <a:r>
              <a:rPr lang="en-US" sz="4000" b="1" dirty="0">
                <a:solidFill>
                  <a:srgbClr val="FFFFFF"/>
                </a:solidFill>
                <a:latin typeface="Apple SD Gothic Neo" pitchFamily="34" charset="0"/>
                <a:ea typeface="Apple SD Gothic Neo" pitchFamily="34" charset="-122"/>
                <a:cs typeface="Apple SD Gothic Neo" pitchFamily="34" charset="-120"/>
              </a:rPr>
              <a:t>수선이 매출이 됩니다</a:t>
            </a:r>
            <a:endParaRPr lang="en-US" sz="4000" dirty="0"/>
          </a:p>
        </p:txBody>
      </p:sp>
      <p:sp>
        <p:nvSpPr>
          <p:cNvPr id="5" name="Text 2"/>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6" name="Text 3"/>
          <p:cNvSpPr/>
          <p:nvPr/>
        </p:nvSpPr>
        <p:spPr>
          <a:xfrm>
            <a:off x="914400" y="2395728"/>
            <a:ext cx="10332720" cy="365760"/>
          </a:xfrm>
          <a:prstGeom prst="rect">
            <a:avLst/>
          </a:prstGeom>
          <a:noFill/>
          <a:ln/>
        </p:spPr>
        <p:txBody>
          <a:bodyPr wrap="square" lIns="0" tIns="0" rIns="0" bIns="0" rtlCol="0" anchor="ctr"/>
          <a:lstStyle/>
          <a:p>
            <a:pPr algn="ctr" indent="0" marL="0">
              <a:buNone/>
            </a:pPr>
            <a:r>
              <a:rPr lang="en-US" sz="1700" dirty="0">
                <a:solidFill>
                  <a:srgbClr val="9A8F84"/>
                </a:solidFill>
                <a:latin typeface="Apple SD Gothic Neo" pitchFamily="34" charset="0"/>
                <a:ea typeface="Apple SD Gothic Neo" pitchFamily="34" charset="-122"/>
                <a:cs typeface="Apple SD Gothic Neo" pitchFamily="34" charset="-120"/>
              </a:rPr>
              <a:t>사용자는 무료입니다. 브랜드가 냅니다.</a:t>
            </a:r>
            <a:endParaRPr lang="en-US" sz="1700" dirty="0"/>
          </a:p>
        </p:txBody>
      </p:sp>
      <p:sp>
        <p:nvSpPr>
          <p:cNvPr id="7" name="Text 4"/>
          <p:cNvSpPr/>
          <p:nvPr/>
        </p:nvSpPr>
        <p:spPr>
          <a:xfrm>
            <a:off x="1371600" y="3200400"/>
            <a:ext cx="3657600" cy="329184"/>
          </a:xfrm>
          <a:prstGeom prst="rect">
            <a:avLst/>
          </a:prstGeom>
          <a:noFill/>
          <a:ln/>
        </p:spPr>
        <p:txBody>
          <a:bodyPr wrap="square" lIns="0" tIns="0" rIns="0" bIns="0" rtlCol="0" anchor="ctr"/>
          <a:lstStyle/>
          <a:p>
            <a:pP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SaaS 구독</a:t>
            </a:r>
            <a:endParaRPr lang="en-US" sz="1800" dirty="0"/>
          </a:p>
        </p:txBody>
      </p:sp>
      <p:sp>
        <p:nvSpPr>
          <p:cNvPr id="8" name="Text 5"/>
          <p:cNvSpPr/>
          <p:nvPr/>
        </p:nvSpPr>
        <p:spPr>
          <a:xfrm>
            <a:off x="5303520" y="3236976"/>
            <a:ext cx="5486400" cy="292608"/>
          </a:xfrm>
          <a:prstGeom prst="rect">
            <a:avLst/>
          </a:prstGeom>
          <a:noFill/>
          <a:ln/>
        </p:spPr>
        <p:txBody>
          <a:bodyPr wrap="square" lIns="0" tIns="0" rIns="0" bIns="0" rtlCol="0" anchor="ctr"/>
          <a:lstStyle/>
          <a:p>
            <a:pPr indent="0" marL="0">
              <a:buNone/>
            </a:pPr>
            <a:r>
              <a:rPr lang="en-US" sz="1350" dirty="0">
                <a:solidFill>
                  <a:srgbClr val="9A8F84"/>
                </a:solidFill>
                <a:latin typeface="Apple SD Gothic Neo" pitchFamily="34" charset="0"/>
                <a:ea typeface="Apple SD Gothic Neo" pitchFamily="34" charset="-122"/>
                <a:cs typeface="Apple SD Gothic Neo" pitchFamily="34" charset="-120"/>
              </a:rPr>
              <a:t>활성 제품 · 사용자 수 기준 월 이용료 + 인사이트 리포트</a:t>
            </a:r>
            <a:endParaRPr lang="en-US" sz="1350" dirty="0"/>
          </a:p>
        </p:txBody>
      </p:sp>
      <p:sp>
        <p:nvSpPr>
          <p:cNvPr id="9" name="Shape 6"/>
          <p:cNvSpPr/>
          <p:nvPr/>
        </p:nvSpPr>
        <p:spPr>
          <a:xfrm>
            <a:off x="1280160" y="3803904"/>
            <a:ext cx="9601200" cy="0"/>
          </a:xfrm>
          <a:prstGeom prst="line">
            <a:avLst/>
          </a:prstGeom>
          <a:noFill/>
          <a:ln w="9525">
            <a:solidFill>
              <a:srgbClr val="3A3025"/>
            </a:solidFill>
            <a:prstDash val="solid"/>
          </a:ln>
        </p:spPr>
      </p:sp>
      <p:sp>
        <p:nvSpPr>
          <p:cNvPr id="10" name="Text 7"/>
          <p:cNvSpPr/>
          <p:nvPr/>
        </p:nvSpPr>
        <p:spPr>
          <a:xfrm>
            <a:off x="1371600" y="3986784"/>
            <a:ext cx="3657600" cy="329184"/>
          </a:xfrm>
          <a:prstGeom prst="rect">
            <a:avLst/>
          </a:prstGeom>
          <a:noFill/>
          <a:ln/>
        </p:spPr>
        <p:txBody>
          <a:bodyPr wrap="square" lIns="0" tIns="0" rIns="0" bIns="0" rtlCol="0" anchor="ctr"/>
          <a:lstStyle/>
          <a:p>
            <a:pP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구축비</a:t>
            </a:r>
            <a:endParaRPr lang="en-US" sz="1800" dirty="0"/>
          </a:p>
        </p:txBody>
      </p:sp>
      <p:sp>
        <p:nvSpPr>
          <p:cNvPr id="11" name="Text 8"/>
          <p:cNvSpPr/>
          <p:nvPr/>
        </p:nvSpPr>
        <p:spPr>
          <a:xfrm>
            <a:off x="5303520" y="4023360"/>
            <a:ext cx="5486400" cy="292608"/>
          </a:xfrm>
          <a:prstGeom prst="rect">
            <a:avLst/>
          </a:prstGeom>
          <a:noFill/>
          <a:ln/>
        </p:spPr>
        <p:txBody>
          <a:bodyPr wrap="square" lIns="0" tIns="0" rIns="0" bIns="0" rtlCol="0" anchor="ctr"/>
          <a:lstStyle/>
          <a:p>
            <a:pPr indent="0" marL="0">
              <a:buNone/>
            </a:pPr>
            <a:r>
              <a:rPr lang="en-US" sz="1350" dirty="0">
                <a:solidFill>
                  <a:srgbClr val="9A8F84"/>
                </a:solidFill>
                <a:latin typeface="Apple SD Gothic Neo" pitchFamily="34" charset="0"/>
                <a:ea typeface="Apple SD Gothic Neo" pitchFamily="34" charset="-122"/>
                <a:cs typeface="Apple SD Gothic Neo" pitchFamily="34" charset="-120"/>
              </a:rPr>
              <a:t>전용 UI/UX · 제품 DB · 관리자 시스템</a:t>
            </a:r>
            <a:endParaRPr lang="en-US" sz="1350" dirty="0"/>
          </a:p>
        </p:txBody>
      </p:sp>
      <p:sp>
        <p:nvSpPr>
          <p:cNvPr id="12" name="Shape 9"/>
          <p:cNvSpPr/>
          <p:nvPr/>
        </p:nvSpPr>
        <p:spPr>
          <a:xfrm>
            <a:off x="1280160" y="4590288"/>
            <a:ext cx="9601200" cy="0"/>
          </a:xfrm>
          <a:prstGeom prst="line">
            <a:avLst/>
          </a:prstGeom>
          <a:noFill/>
          <a:ln w="9525">
            <a:solidFill>
              <a:srgbClr val="3A3025"/>
            </a:solidFill>
            <a:prstDash val="solid"/>
          </a:ln>
        </p:spPr>
      </p:sp>
      <p:sp>
        <p:nvSpPr>
          <p:cNvPr id="13" name="Text 10"/>
          <p:cNvSpPr/>
          <p:nvPr/>
        </p:nvSpPr>
        <p:spPr>
          <a:xfrm>
            <a:off x="1371600" y="4773168"/>
            <a:ext cx="3657600" cy="329184"/>
          </a:xfrm>
          <a:prstGeom prst="rect">
            <a:avLst/>
          </a:prstGeom>
          <a:noFill/>
          <a:ln/>
        </p:spPr>
        <p:txBody>
          <a:bodyPr wrap="square" lIns="0" tIns="0" rIns="0" bIns="0" rtlCol="0" anchor="ctr"/>
          <a:lstStyle/>
          <a:p>
            <a:pPr indent="0" marL="0">
              <a:buNone/>
            </a:pPr>
            <a:r>
              <a:rPr lang="en-US" sz="1800" b="1" dirty="0">
                <a:solidFill>
                  <a:srgbClr val="C4915F"/>
                </a:solidFill>
                <a:latin typeface="Apple SD Gothic Neo" pitchFamily="34" charset="0"/>
                <a:ea typeface="Apple SD Gothic Neo" pitchFamily="34" charset="-122"/>
                <a:cs typeface="Apple SD Gothic Neo" pitchFamily="34" charset="-120"/>
              </a:rPr>
              <a:t>REMADE · Care 중개</a:t>
            </a:r>
            <a:endParaRPr lang="en-US" sz="1800" dirty="0"/>
          </a:p>
        </p:txBody>
      </p:sp>
      <p:sp>
        <p:nvSpPr>
          <p:cNvPr id="14" name="Text 11"/>
          <p:cNvSpPr/>
          <p:nvPr/>
        </p:nvSpPr>
        <p:spPr>
          <a:xfrm>
            <a:off x="5303520" y="4809744"/>
            <a:ext cx="5486400" cy="292608"/>
          </a:xfrm>
          <a:prstGeom prst="rect">
            <a:avLst/>
          </a:prstGeom>
          <a:noFill/>
          <a:ln/>
        </p:spPr>
        <p:txBody>
          <a:bodyPr wrap="square" lIns="0" tIns="0" rIns="0" bIns="0" rtlCol="0" anchor="ctr"/>
          <a:lstStyle/>
          <a:p>
            <a:pPr indent="0" marL="0">
              <a:buNone/>
            </a:pPr>
            <a:r>
              <a:rPr lang="en-US" sz="1350" dirty="0">
                <a:solidFill>
                  <a:srgbClr val="9A8F84"/>
                </a:solidFill>
                <a:latin typeface="Apple SD Gothic Neo" pitchFamily="34" charset="0"/>
                <a:ea typeface="Apple SD Gothic Neo" pitchFamily="34" charset="-122"/>
                <a:cs typeface="Apple SD Gothic Neo" pitchFamily="34" charset="-120"/>
              </a:rPr>
              <a:t>리폼 · 세척 · 수선 예약 연결 수수료</a:t>
            </a:r>
            <a:endParaRPr lang="en-US" sz="1350" dirty="0"/>
          </a:p>
        </p:txBody>
      </p:sp>
      <p:sp>
        <p:nvSpPr>
          <p:cNvPr id="15" name="Shape 12"/>
          <p:cNvSpPr/>
          <p:nvPr/>
        </p:nvSpPr>
        <p:spPr>
          <a:xfrm>
            <a:off x="1280160" y="5376672"/>
            <a:ext cx="9601200" cy="0"/>
          </a:xfrm>
          <a:prstGeom prst="line">
            <a:avLst/>
          </a:prstGeom>
          <a:noFill/>
          <a:ln w="9525">
            <a:solidFill>
              <a:srgbClr val="3A3025"/>
            </a:solidFill>
            <a:prstDash val="solid"/>
          </a:ln>
        </p:spPr>
      </p:sp>
      <p:sp>
        <p:nvSpPr>
          <p:cNvPr id="16" name="Text 13"/>
          <p:cNvSpPr/>
          <p:nvPr/>
        </p:nvSpPr>
        <p:spPr>
          <a:xfrm>
            <a:off x="1371600" y="5559552"/>
            <a:ext cx="3657600" cy="329184"/>
          </a:xfrm>
          <a:prstGeom prst="rect">
            <a:avLst/>
          </a:prstGeom>
          <a:noFill/>
          <a:ln/>
        </p:spPr>
        <p:txBody>
          <a:bodyPr wrap="square" lIns="0" tIns="0" rIns="0" bIns="0" rtlCol="0" anchor="ctr"/>
          <a:lstStyle/>
          <a:p>
            <a:pPr indent="0" marL="0">
              <a:buNone/>
            </a:pPr>
            <a:r>
              <a:rPr lang="en-US" sz="1800" b="1" dirty="0">
                <a:solidFill>
                  <a:srgbClr val="6E6459"/>
                </a:solidFill>
                <a:latin typeface="Apple SD Gothic Neo" pitchFamily="34" charset="0"/>
                <a:ea typeface="Apple SD Gothic Neo" pitchFamily="34" charset="-122"/>
                <a:cs typeface="Apple SD Gothic Neo" pitchFamily="34" charset="-120"/>
              </a:rPr>
              <a:t>리셀 · 소유권 이전</a:t>
            </a:r>
            <a:endParaRPr lang="en-US" sz="1800" dirty="0"/>
          </a:p>
        </p:txBody>
      </p:sp>
      <p:sp>
        <p:nvSpPr>
          <p:cNvPr id="17" name="Text 14"/>
          <p:cNvSpPr/>
          <p:nvPr/>
        </p:nvSpPr>
        <p:spPr>
          <a:xfrm>
            <a:off x="5303520" y="5596128"/>
            <a:ext cx="5486400" cy="292608"/>
          </a:xfrm>
          <a:prstGeom prst="rect">
            <a:avLst/>
          </a:prstGeom>
          <a:noFill/>
          <a:ln/>
        </p:spPr>
        <p:txBody>
          <a:bodyPr wrap="square" lIns="0" tIns="0" rIns="0" bIns="0" rtlCol="0" anchor="ctr"/>
          <a:lstStyle/>
          <a:p>
            <a:pPr indent="0" marL="0">
              <a:buNone/>
            </a:pPr>
            <a:r>
              <a:rPr lang="en-US" sz="1350" dirty="0">
                <a:solidFill>
                  <a:srgbClr val="9A8F84"/>
                </a:solidFill>
                <a:latin typeface="Apple SD Gothic Neo" pitchFamily="34" charset="0"/>
                <a:ea typeface="Apple SD Gothic Neo" pitchFamily="34" charset="-122"/>
                <a:cs typeface="Apple SD Gothic Neo" pitchFamily="34" charset="-120"/>
              </a:rPr>
              <a:t>로드맵</a:t>
            </a:r>
            <a:endParaRPr lang="en-US" sz="1350" dirty="0"/>
          </a:p>
        </p:txBody>
      </p:sp>
      <p:sp>
        <p:nvSpPr>
          <p:cNvPr id="18" name="Text 15"/>
          <p:cNvSpPr/>
          <p:nvPr/>
        </p:nvSpPr>
        <p:spPr>
          <a:xfrm>
            <a:off x="914400" y="6144768"/>
            <a:ext cx="1033272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ple SD Gothic Neo" pitchFamily="34" charset="0"/>
                <a:ea typeface="Apple SD Gothic Neo" pitchFamily="34" charset="-122"/>
                <a:cs typeface="Apple SD Gothic Neo" pitchFamily="34" charset="-120"/>
              </a:rPr>
              <a:t>수선이 비용 센터에서 로열티의 접점으로 바뀝니다</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100E"/>
        </a:solidFill>
      </p:bgPr>
    </p:bg>
    <p:spTree>
      <p:nvGrpSpPr>
        <p:cNvPr id="1" name=""/>
        <p:cNvGrpSpPr/>
        <p:nvPr/>
      </p:nvGrpSpPr>
      <p:grpSpPr>
        <a:xfrm>
          <a:off x="0" y="0"/>
          <a:ext cx="0" cy="0"/>
          <a:chOff x="0" y="0"/>
          <a:chExt cx="0" cy="0"/>
        </a:xfrm>
      </p:grpSpPr>
      <p:pic>
        <p:nvPicPr>
          <p:cNvPr id="2" name="Image 0" descr="/private/tmp/claude-501/-Users-home-Desktop-likeGonzi/55b29f25-80a9-40cb-9e3c-00904cc11cc6/scratchpad/bg-dark.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p:nvPr/>
        </p:nvSpPr>
        <p:spPr>
          <a:xfrm>
            <a:off x="914400" y="2286000"/>
            <a:ext cx="10332720" cy="2286000"/>
          </a:xfrm>
          <a:prstGeom prst="rect">
            <a:avLst/>
          </a:prstGeom>
          <a:noFill/>
          <a:ln/>
        </p:spPr>
        <p:txBody>
          <a:bodyPr wrap="square" lIns="0" tIns="0" rIns="0" bIns="0" rtlCol="0" anchor="ctr"/>
          <a:lstStyle/>
          <a:p>
            <a:pPr algn="ctr" indent="0" marL="0">
              <a:lnSpc>
                <a:spcPts val="4624"/>
              </a:lnSpc>
              <a:buNone/>
            </a:pPr>
            <a:r>
              <a:rPr lang="en-US" sz="3400" b="1" dirty="0">
                <a:solidFill>
                  <a:srgbClr val="FFFFFF"/>
                </a:solidFill>
                <a:latin typeface="Apple SD Gothic Neo" pitchFamily="34" charset="0"/>
                <a:ea typeface="Apple SD Gothic Neo" pitchFamily="34" charset="-122"/>
                <a:cs typeface="Apple SD Gothic Neo" pitchFamily="34" charset="-120"/>
              </a:rPr>
              <a:t>MCM은 이미 인프라를 갖고 있습니다.</a:t>
            </a:r>
            <a:endParaRPr lang="en-US" sz="3400" dirty="0"/>
          </a:p>
          <a:p>
            <a:pPr algn="ctr" indent="0" marL="0">
              <a:lnSpc>
                <a:spcPts val="4624"/>
              </a:lnSpc>
              <a:buNone/>
            </a:pPr>
            <a:r>
              <a:rPr lang="en-US" sz="3400" b="1" dirty="0">
                <a:solidFill>
                  <a:srgbClr val="C4915F"/>
                </a:solidFill>
                <a:latin typeface="Apple SD Gothic Neo" pitchFamily="34" charset="0"/>
                <a:ea typeface="Apple SD Gothic Neo" pitchFamily="34" charset="-122"/>
                <a:cs typeface="Apple SD Gothic Neo" pitchFamily="34" charset="-120"/>
              </a:rPr>
              <a:t>저희는 그 위에 경험을 얹습니다.</a:t>
            </a:r>
            <a:endParaRPr lang="en-US" sz="3400" dirty="0"/>
          </a:p>
        </p:txBody>
      </p:sp>
      <p:sp>
        <p:nvSpPr>
          <p:cNvPr id="4" name="Text 1"/>
          <p:cNvSpPr/>
          <p:nvPr/>
        </p:nvSpPr>
        <p:spPr>
          <a:xfrm>
            <a:off x="9052560" y="6355080"/>
            <a:ext cx="2651760" cy="274320"/>
          </a:xfrm>
          <a:prstGeom prst="rect">
            <a:avLst/>
          </a:prstGeom>
          <a:noFill/>
          <a:ln/>
        </p:spPr>
        <p:txBody>
          <a:bodyPr wrap="square" rtlCol="0" anchor="ctr"/>
          <a:lstStyle/>
          <a:p>
            <a:pPr algn="r" indent="0" marL="0">
              <a:buNone/>
            </a:pPr>
            <a:r>
              <a:rPr lang="en-US" sz="900" spc="140" kern="0" dirty="0">
                <a:solidFill>
                  <a:srgbClr val="4A423A"/>
                </a:solidFill>
                <a:latin typeface="Apple SD Gothic Neo" pitchFamily="34" charset="0"/>
                <a:ea typeface="Apple SD Gothic Neo" pitchFamily="34" charset="-122"/>
                <a:cs typeface="Apple SD Gothic Neo" pitchFamily="34" charset="-120"/>
              </a:rPr>
              <a:t>MCM LUXURY BOOK</a:t>
            </a:r>
            <a:endParaRPr lang="en-US" sz="900" dirty="0"/>
          </a:p>
        </p:txBody>
      </p:sp>
      <p:sp>
        <p:nvSpPr>
          <p:cNvPr id="5" name="Text 2"/>
          <p:cNvSpPr/>
          <p:nvPr/>
        </p:nvSpPr>
        <p:spPr>
          <a:xfrm>
            <a:off x="914400" y="5577840"/>
            <a:ext cx="10332720" cy="365760"/>
          </a:xfrm>
          <a:prstGeom prst="rect">
            <a:avLst/>
          </a:prstGeom>
          <a:noFill/>
          <a:ln/>
        </p:spPr>
        <p:txBody>
          <a:bodyPr wrap="square" lIns="0" tIns="0" rIns="0" bIns="0" rtlCol="0" anchor="ctr"/>
          <a:lstStyle/>
          <a:p>
            <a:pPr algn="ctr" indent="0" marL="0">
              <a:buNone/>
            </a:pPr>
            <a:r>
              <a:rPr lang="en-US" sz="1400" spc="400" kern="0" dirty="0">
                <a:solidFill>
                  <a:srgbClr val="6E6459"/>
                </a:solidFill>
                <a:latin typeface="Apple SD Gothic Neo" pitchFamily="34" charset="0"/>
                <a:ea typeface="Apple SD Gothic Neo" pitchFamily="34" charset="-122"/>
                <a:cs typeface="Apple SD Gothic Neo" pitchFamily="34" charset="-120"/>
              </a:rPr>
              <a:t>감사합니다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2026-08-20T08:02:46Z</dcterms:created>
  <dcterms:modified xsi:type="dcterms:W3CDTF">2026-08-20T08:02:46Z</dcterms:modified>
</cp:coreProperties>
</file>