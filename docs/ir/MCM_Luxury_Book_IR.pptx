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럭셔리는 새것일 때 가장 비쌉니다. 그래서 사람들은 쓰기를 두려워합니다. 저희는 그 방향을 뒤집었습니다.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챌린지 중 3번을 메인으로 골랐습니다. 1번과 2번은 특정 순간을 좋게 만들지만 끊긴 경험은 여전히 끊겨 있기 때문입니다. 그리고 3번을 제대로 풀면 1번과 2번이 그 안에 들어옵니다. 매장에서 산 박스의 QR을 찍는 순간이 2번이고, 그 뒤 AI가 기록을 만드는 게 1번입니다.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가격만 보면 MCM은 준명품입니다. 그런데 축을 하나 더 두면 자리가 달라집니다. 일상 사용 빈도입니다. 3대장은 가격이 높아 옷장에 머뭅니다. 매스 브랜드는 매일 쓰지만 애착이 없습니다. 이 구간이 매일 들 수 있으면서 애착이 생기는 유일한 자리이고, MCM은 그중 가장 위에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3대장은 안 쓰니까 안 상합니다. 매스 브랜드는 상하면 버립니다. MCM 구간만 매일 쓰고, 상하고, 그런데 버리기엔 아까운 물건입니다. 이 문제를 지금 풀어주는 브랜드가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수선을 원래대로 되돌리는 일로 보지 않습니다. 매일 쓰면 긁힙니다. 그 자리에 그립니다. 그러면 세상에 하나뿐인 물건이 됩니다. 흠이 곧 나의 역사가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신사임당이 얼룩 위에 포도를 그린 이야기가 있습니다. 일본에는 킨츠기가 있습니다. 그리고 1988년 할렘에서 같은 일이 일어났습니다. 셋째는 비유가 아니라 MCM 자신의 역사입니다. 2020년에는 그 계보의 스타일리스트 Misa Hylton이 글로벌 크리에이티브 파트너가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큰 지출을 했을 때 두려운 건 통장이 아니라 평판입니다. 흠이 서사가 되는 순간 관계가 뒤집힙니다. 연령대 실측은 미확보이며 페르소나는 가설입니다.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구매 이후를 채우려는 시도는 계속 있었습니다. 전부 사용자에게 입력을 요구했습니다. 아무도 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내 기록과 브랜드의 기록이 같은 줄에 있다는 점입니다. 사진 앱은 브랜드 기록을 못 갖고, 브랜드 시스템은 내 추억을 못 갖습니다.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서비스는 사용자에게 입력을 요구했습니다. 저희는 반대로 갑니다. 제품 상태 판정에는 AI를 쓰지 않습니다. 그건 규칙 기반 계산입니다.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손상 부위에 어울리는 문양 시안 세 개를 만들고 실물은 MCM 장인이 만듭니다. AI가 손을 대체하지 않습니다. 시안까지입니다. 그리고 브랜드 공식 리폼에 DPP 기록이 붙으면 리셀 가치가 오히려 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비세토스의 마름모는 바이에른 깃발에서 왔고 독일어로 흰-파란 하늘이라는 뜻입니다. 그래서 배경에서 바람에 흐릅니다. 그리고 MCM은 이미 NFC와 블록체인 패스포트를 갖고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등록하면 구매 기록이 자동으로 첫 줄에 찍힙니다. 그리고 이 화면입니다. 제품 사진 위에서 부위를 직접 누릅니다.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사용자가 자기 추억을 남기는 과정에서 자연스럽게 얻어집니다. 수선 데이터는 어느 부위가 자주 상하는지를 알려주고 이건 바로 다음 제품 설계에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MCM은 이미 Aura에 있습니다. 인프라 경쟁에 뛰어들면 집니다. 제조 이력은 한 번 보면 다시 볼 이유가 없습니다. 저희는 소유자 중심이라 재방문이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MCM 공식 패스포트 페이지에 이렇게 적혀 있습니다. 저희 제품이 이 문장의 다음 장입니다. 2027년 의무화라고 말하지 말고 위임법 2027, 시행 2028에서 29로 나눠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사용자는 무료입니다. 브랜드가 냅니다. 리셀과 소유권 이전은 로드맵입니다.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브랜드에서 깊게 검증하고 확장합니다.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400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868680" y="210312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흠을 지우지 않습니다.</a:t>
            </a:r>
            <a:endParaRPr lang="en-US" sz="4800" dirty="0"/>
          </a:p>
          <a:p>
            <a:pPr indent="0" marL="0">
              <a:lnSpc>
                <a:spcPts val="6800"/>
              </a:lnSpc>
              <a:buNone/>
            </a:pPr>
            <a:r>
              <a:rPr lang="en-US" sz="48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것으로 만듭니다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96112" y="43159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쓰는 럭셔리를 위한 기록과 리폼 플랫폼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896112" y="47731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 03 · 360° 고객 경험    |    2026.08 Hackathon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WHICH CHALLENGE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저희는 03번을 골랐습니다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139696"/>
            <a:ext cx="3291840" cy="3054096"/>
          </a:xfrm>
          <a:prstGeom prst="roundRect">
            <a:avLst>
              <a:gd name="adj" fmla="val 2695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2395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88036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부수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296265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기반 프로덕트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34198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경험 자체로 작동하는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소프트웨어 솔루션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1051560" y="4315968"/>
            <a:ext cx="2743200" cy="0"/>
          </a:xfrm>
          <a:prstGeom prst="line">
            <a:avLst/>
          </a:prstGeom>
          <a:noFill/>
          <a:ln w="9525">
            <a:solidFill>
              <a:srgbClr val="342B2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44439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REMADE · AI Storybook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89120" y="2139696"/>
            <a:ext cx="3291840" cy="3054096"/>
          </a:xfrm>
          <a:prstGeom prst="roundRect">
            <a:avLst>
              <a:gd name="adj" fmla="val 2695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2395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49224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부수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663440" y="296265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인터랙티브 리테일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663440" y="34198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온라인의 편리함과 오프라인의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감각을 잇는 매장 경험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663440" y="4315968"/>
            <a:ext cx="2743200" cy="0"/>
          </a:xfrm>
          <a:prstGeom prst="line">
            <a:avLst/>
          </a:prstGeom>
          <a:noFill/>
          <a:ln w="9525">
            <a:solidFill>
              <a:srgbClr val="342B2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44439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박스 QR·NFC → 언박싱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8001000" y="2139696"/>
            <a:ext cx="3291840" cy="3054096"/>
          </a:xfrm>
          <a:prstGeom prst="roundRect">
            <a:avLst>
              <a:gd name="adj" fmla="val 2695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75320" y="2395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101041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4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메인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275320" y="296265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360° 고객 경험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275320" y="341985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발견부터 구매 이후까지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끊김 없이 로열티를 만드는 여정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75320" y="4315968"/>
            <a:ext cx="2743200" cy="0"/>
          </a:xfrm>
          <a:prstGeom prst="line">
            <a:avLst/>
          </a:prstGeom>
          <a:noFill/>
          <a:ln w="9525">
            <a:solidFill>
              <a:srgbClr val="342B2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75320" y="44439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 → 사용 → 수선 → 이전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03을 제대로 풀면 01과 02가 그 안에 들어옵니다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42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60" kern="0" dirty="0">
                <a:solidFill>
                  <a:srgbClr val="8B5A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Chapter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87552" y="2980944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MCM은 어디에 서 있나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005840" y="396849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16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가격이 아니라 사용 빈도로 보면 자리가 달라진다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A79E9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8961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가격이 아니라 사용 빈도로 보면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005840" y="1755648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MCM의 자리가 달라집니다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318504" y="3200400"/>
            <a:ext cx="3182112" cy="1814170"/>
          </a:xfrm>
          <a:prstGeom prst="roundRect">
            <a:avLst>
              <a:gd name="adj" fmla="val 4032"/>
            </a:avLst>
          </a:prstGeom>
          <a:solidFill>
            <a:srgbClr val="8B5A2B">
              <a:alpha val="14000"/>
            </a:srgbClr>
          </a:solidFill>
          <a:ln w="12700">
            <a:solidFill>
              <a:srgbClr val="C491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18504" y="2889504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쓰는 럭셔리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794760" y="5541264"/>
            <a:ext cx="5486400" cy="0"/>
          </a:xfrm>
          <a:prstGeom prst="line">
            <a:avLst/>
          </a:prstGeom>
          <a:noFill/>
          <a:ln w="12700">
            <a:solidFill>
              <a:srgbClr val="342B2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794760" y="2615184"/>
            <a:ext cx="0" cy="2926080"/>
          </a:xfrm>
          <a:prstGeom prst="line">
            <a:avLst/>
          </a:prstGeom>
          <a:noFill/>
          <a:ln w="12700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94760" y="5687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사용 빈도  →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39896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↑ 가격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03420" y="2965399"/>
            <a:ext cx="118872" cy="118872"/>
          </a:xfrm>
          <a:prstGeom prst="ellipse">
            <a:avLst/>
          </a:prstGeom>
          <a:solidFill>
            <a:srgbClr val="9A8F84"/>
          </a:solidFill>
          <a:ln/>
        </p:spPr>
      </p:sp>
      <p:sp>
        <p:nvSpPr>
          <p:cNvPr id="13" name="Text 10"/>
          <p:cNvSpPr/>
          <p:nvPr/>
        </p:nvSpPr>
        <p:spPr>
          <a:xfrm>
            <a:off x="4709160" y="2878531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에르메스 · 샤넬 · 루이비통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136892" y="4252874"/>
            <a:ext cx="118872" cy="118872"/>
          </a:xfrm>
          <a:prstGeom prst="ellipse">
            <a:avLst/>
          </a:prstGeom>
          <a:solidFill>
            <a:srgbClr val="9A8F84"/>
          </a:solidFill>
          <a:ln/>
        </p:spPr>
      </p:sp>
      <p:sp>
        <p:nvSpPr>
          <p:cNvPr id="15" name="Text 12"/>
          <p:cNvSpPr/>
          <p:nvPr/>
        </p:nvSpPr>
        <p:spPr>
          <a:xfrm>
            <a:off x="7342632" y="416600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Coach · Michael Kors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24444" y="4721047"/>
            <a:ext cx="118872" cy="118872"/>
          </a:xfrm>
          <a:prstGeom prst="ellipse">
            <a:avLst/>
          </a:prstGeom>
          <a:solidFill>
            <a:srgbClr val="9A8F84"/>
          </a:solidFill>
          <a:ln/>
        </p:spPr>
      </p:sp>
      <p:sp>
        <p:nvSpPr>
          <p:cNvPr id="17" name="Text 14"/>
          <p:cNvSpPr/>
          <p:nvPr/>
        </p:nvSpPr>
        <p:spPr>
          <a:xfrm>
            <a:off x="8330184" y="4634179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Longchamp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72984" y="3635654"/>
            <a:ext cx="182880" cy="182880"/>
          </a:xfrm>
          <a:prstGeom prst="ellipse">
            <a:avLst/>
          </a:prstGeom>
          <a:solidFill>
            <a:srgbClr val="C4915F"/>
          </a:solidFill>
          <a:ln/>
        </p:spPr>
      </p:sp>
      <p:sp>
        <p:nvSpPr>
          <p:cNvPr id="19" name="Text 16"/>
          <p:cNvSpPr/>
          <p:nvPr/>
        </p:nvSpPr>
        <p:spPr>
          <a:xfrm>
            <a:off x="8110728" y="358079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673084" y="5247742"/>
            <a:ext cx="118872" cy="118872"/>
          </a:xfrm>
          <a:prstGeom prst="ellipse">
            <a:avLst/>
          </a:prstGeom>
          <a:solidFill>
            <a:srgbClr val="9A8F84"/>
          </a:solidFill>
          <a:ln/>
        </p:spPr>
      </p:sp>
      <p:sp>
        <p:nvSpPr>
          <p:cNvPr id="21" name="Text 18"/>
          <p:cNvSpPr/>
          <p:nvPr/>
        </p:nvSpPr>
        <p:spPr>
          <a:xfrm>
            <a:off x="8878824" y="516087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매스 브랜드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77240" y="2395728"/>
            <a:ext cx="2651760" cy="1389888"/>
          </a:xfrm>
          <a:prstGeom prst="roundRect">
            <a:avLst>
              <a:gd name="adj" fmla="val 5921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4128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아껴 쓰는 물건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024128" y="299923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가격이 높을수록 옷장에 머문다.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상하지 않지만 함께한 시간도 없다.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3968496"/>
            <a:ext cx="2651760" cy="1389888"/>
          </a:xfrm>
          <a:prstGeom prst="roundRect">
            <a:avLst>
              <a:gd name="adj" fmla="val 5921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4128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쓰는 물건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24128" y="457200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MCM은 매일 들 수 있는 가격대다.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상한다.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Coach는 접근 가능 럭셔리 1위 · Longchamp $100–250 · Michael Kors $150–800 (2026)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 PARADOX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쓰면, 상합니다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005840" y="1901952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그리고 이 구간에만 “상한 것을 어떻게 다룰 것인가”라는 문제가 생깁니다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88336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69848" y="2926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3대장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69848" y="33467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씁니다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69848" y="3877056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안 상합니다.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대신 함께한 시간도 없습니다.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89120" y="2688336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81728" y="2926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매스 브랜드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81728" y="33467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상하면 버립니다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681728" y="3877056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애착이 없어서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고칠 이유가 없습니다.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01000" y="2688336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926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93608" y="33467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쓰고, 상합니다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93608" y="3877056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고칠 만큼 아깝고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버리기엔 아깝습니다.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77240" y="532180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문제를 풀어주는 브랜드는 없습니다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42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60" kern="0" dirty="0">
                <a:solidFill>
                  <a:srgbClr val="8B5A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Chapter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87552" y="2980944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흠이 값이 된다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005840" y="396849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16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상함을 지우지 말고, 나의 것으로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A79E9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고쳐서 원래대로 돌리지 않습니다.</a:t>
            </a:r>
            <a:endParaRPr lang="en-US" sz="3000" dirty="0"/>
          </a:p>
          <a:p>
            <a:pPr algn="ctr" indent="0" marL="0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고쳐서 나만의 것으로 만듭니다.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쓴다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33272" y="3419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가격대가 허락한다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383280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65760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913632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긁힌다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913632" y="3419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쓰면 생기는 일이다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263640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53796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93992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자리에 그린다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793992" y="3419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시안 · 장인 제작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144000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41832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74352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것이 된다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674352" y="3419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세상에 하나뿐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77240" y="4626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흠이 곧 나의 역사가 됩니다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777240" y="52303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서비스가 파는 것은 수선이 아니라 “오래 쓸 이유”입니다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THIS IS NOT NEW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생각이 이미 세 번 있었습니다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139696"/>
            <a:ext cx="3291840" cy="2212848"/>
          </a:xfrm>
          <a:prstGeom prst="roundRect">
            <a:avLst>
              <a:gd name="adj" fmla="val 3719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69848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4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조선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069848" y="2724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신사임당의 포도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69848" y="3255264"/>
            <a:ext cx="2788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치마 얼룩 위에 포도를 그렸다.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버려질 옷이 오히려 팔렸다.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89120" y="2139696"/>
            <a:ext cx="3291840" cy="2212848"/>
          </a:xfrm>
          <a:prstGeom prst="roundRect">
            <a:avLst>
              <a:gd name="adj" fmla="val 3719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81728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4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일본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681728" y="2724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킨츠기 金継ぎ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681728" y="3255264"/>
            <a:ext cx="2788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깨진 자리를 금으로 잇는다.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흉터를 감추지 않고 드러낸다.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001000" y="2139696"/>
            <a:ext cx="3291840" cy="2212848"/>
          </a:xfrm>
          <a:prstGeom prst="roundRect">
            <a:avLst>
              <a:gd name="adj" fmla="val 3719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4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1988 · 할렘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293608" y="27249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Dapper Dan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93608" y="3255264"/>
            <a:ext cx="2788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코냑 비세토스를 뜯어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무대의상으로 다시 꿰맸다.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77240" y="4681728"/>
            <a:ext cx="10607040" cy="1042416"/>
          </a:xfrm>
          <a:prstGeom prst="roundRect">
            <a:avLst>
              <a:gd name="adj" fmla="val 7895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셋째는 비유가 아닙니다. MCM 자신의 역사입니다.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097280" y="52852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Dapper Dan이 뜯어 만든 옷을 Eric B. &amp; Rakim, Salt-N-Pepa, LL Cool J가 입었고, 그것이 이 브랜드를 아이콘으로 만들었습니다.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신사임당은 전해지는 일화 · Dapper Dan은 브랜드 기록 (Highsnobiety)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WHO WE BUILD FOR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“무리해서 산 거 아니야.</a:t>
            </a:r>
            <a:endParaRPr lang="en-US" sz="3000" dirty="0"/>
          </a:p>
          <a:p>
            <a:pPr algn="ctr" indent="0" marL="0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3년째 잘 쓰고 있어.”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962656"/>
            <a:ext cx="5120640" cy="2286000"/>
          </a:xfrm>
          <a:prstGeom prst="roundRect">
            <a:avLst>
              <a:gd name="adj" fmla="val 36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78992" y="323697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서지우 · 28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78992" y="37124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뷰티 브랜드 마케터 4년차 · 서울 1인 가구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자가 구매 명품이 MCM 백팩 · 주 4회 사용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078992" y="448056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과시하고 싶다.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그런데 과시로 보이면 안 된다.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63640" y="2962656"/>
            <a:ext cx="5120640" cy="658368"/>
          </a:xfrm>
          <a:prstGeom prst="roundRect">
            <a:avLst>
              <a:gd name="adj" fmla="val 125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65392" y="31455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3대장을 샀다면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05256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“무리했네”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263640" y="3767328"/>
            <a:ext cx="5120640" cy="658368"/>
          </a:xfrm>
          <a:prstGeom prst="roundRect">
            <a:avLst>
              <a:gd name="adj" fmla="val 12500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65392" y="39502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아무것도 안 산다면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05256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“포기했네”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63640" y="4572000"/>
            <a:ext cx="5120640" cy="658368"/>
          </a:xfrm>
          <a:prstGeom prst="roundRect">
            <a:avLst>
              <a:gd name="adj" fmla="val 12500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65392" y="4754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MCM을 샀다면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9052560" y="47183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“안목 있네”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263640" y="54864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흠이 서사가 되면, 흠이 있는 쪽이 더 당당해집니다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42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60" kern="0" dirty="0">
                <a:solidFill>
                  <a:srgbClr val="8B5A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Chapter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87552" y="2980944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005840" y="396849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16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하나의 타임라인, 그리고 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A79E9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 GAP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브랜드는 새것만 보여줍니다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005840" y="1901952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그리고 사용자는 기록을 남기지 않습니다. 두 문제가 같이 있습니다.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15184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06424" y="2852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4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쪽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06424" y="320040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 이후 접점이 세일 문자뿐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106424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사진은 SNS, 여행은 캘린더,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수선 이력은 브랜드 내부.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하나의 이야기를 아무도 못 본다.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615184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84264" y="2852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4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쪽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84264" y="320040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기록은 마찰이다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6684264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고르고, 날짜 쓰고, 장소 쓰고,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설명 쓰고 — 아무도 하지 않는다.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입력창을 더 주면 더 안 한다.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77240" y="5413248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여기가 AI가 들어갈 자리입니다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발견부터 다음 소유자까지, 하나의 타임라인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77240" y="2487168"/>
            <a:ext cx="1609344" cy="786384"/>
          </a:xfrm>
          <a:prstGeom prst="roundRect">
            <a:avLst>
              <a:gd name="adj" fmla="val 930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2724912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386584" y="2743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06040" y="2487168"/>
            <a:ext cx="1609344" cy="786384"/>
          </a:xfrm>
          <a:prstGeom prst="roundRect">
            <a:avLst>
              <a:gd name="adj" fmla="val 930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06040" y="2724912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215384" y="2743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434840" y="2487168"/>
            <a:ext cx="1609344" cy="786384"/>
          </a:xfrm>
          <a:prstGeom prst="roundRect">
            <a:avLst>
              <a:gd name="adj" fmla="val 930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34840" y="2724912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44184" y="2743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63640" y="2487168"/>
            <a:ext cx="1609344" cy="786384"/>
          </a:xfrm>
          <a:prstGeom prst="roundRect">
            <a:avLst>
              <a:gd name="adj" fmla="val 9302"/>
            </a:avLst>
          </a:prstGeom>
          <a:solidFill>
            <a:srgbClr val="1E1A16"/>
          </a:solidFill>
          <a:ln w="15875">
            <a:solidFill>
              <a:srgbClr val="C491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63640" y="2724912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872984" y="2743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92440" y="2487168"/>
            <a:ext cx="1609344" cy="786384"/>
          </a:xfrm>
          <a:prstGeom prst="roundRect">
            <a:avLst>
              <a:gd name="adj" fmla="val 9302"/>
            </a:avLst>
          </a:prstGeom>
          <a:solidFill>
            <a:srgbClr val="1E1A16"/>
          </a:solidFill>
          <a:ln w="15875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92440" y="2724912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수선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701784" y="2743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921240" y="2487168"/>
            <a:ext cx="1609344" cy="786384"/>
          </a:xfrm>
          <a:prstGeom prst="roundRect">
            <a:avLst>
              <a:gd name="adj" fmla="val 9302"/>
            </a:avLst>
          </a:prstGeom>
          <a:solidFill>
            <a:srgbClr val="1E1A16"/>
          </a:solidFill>
          <a:ln w="15875">
            <a:solidFill>
              <a:srgbClr val="C4915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921240" y="2724912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물려주기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77240" y="3529584"/>
            <a:ext cx="10607040" cy="0"/>
          </a:xfrm>
          <a:prstGeom prst="line">
            <a:avLst/>
          </a:prstGeom>
          <a:noFill/>
          <a:ln w="15875">
            <a:solidFill>
              <a:srgbClr val="C4915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363931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내가 남긴 기록과 브랜드가 남긴 기록이 같은 줄에 흐릅니다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4261104"/>
            <a:ext cx="3291840" cy="1389888"/>
          </a:xfrm>
          <a:prstGeom prst="roundRect">
            <a:avLst>
              <a:gd name="adj" fmla="val 5921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69848" y="449884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별도 앱 설치 없음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069848" y="490118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제품의 QR·NFC가 곧 진입점입니다.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389120" y="4261104"/>
            <a:ext cx="3291840" cy="1389888"/>
          </a:xfrm>
          <a:prstGeom prst="roundRect">
            <a:avLst>
              <a:gd name="adj" fmla="val 5921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81728" y="449884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기록이 함께 흐릅니다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4681728" y="490118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앱은 수선 이력을 가질 수 없습니다.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8001000" y="4261104"/>
            <a:ext cx="3291840" cy="1389888"/>
          </a:xfrm>
          <a:prstGeom prst="roundRect">
            <a:avLst>
              <a:gd name="adj" fmla="val 5921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93608" y="449884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보여주지 않습니다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8293608" y="4901184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 이벤트가 첫 줄로 자동 생성됩니다.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HOW WE USE AI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쓰게 하지 않습니다. 대신 써줍니다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2880360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사용자가 하는 일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943600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하는 일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77240" y="2487168"/>
            <a:ext cx="10607040" cy="676656"/>
          </a:xfrm>
          <a:prstGeom prst="roundRect">
            <a:avLst>
              <a:gd name="adj" fmla="val 1216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700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880360" y="2688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1장 + 상황 칩 탭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943600" y="267919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장소·날짜·제품을 엮어 문장으로 만든다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0424160" y="268833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3273552"/>
            <a:ext cx="10607040" cy="676656"/>
          </a:xfrm>
          <a:prstGeom prst="roundRect">
            <a:avLst>
              <a:gd name="adj" fmla="val 1216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7280" y="345643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축적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88036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아무것도 안 함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943600" y="34655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흩어진 기록을 하나의 Recap으로 묶는다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0424160" y="3474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구현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77240" y="4059936"/>
            <a:ext cx="10607040" cy="676656"/>
          </a:xfrm>
          <a:prstGeom prst="roundRect">
            <a:avLst>
              <a:gd name="adj" fmla="val 12162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424281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수선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2880360" y="4261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부위 탭 + 사진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943600" y="42519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손상 자리에 어울리는 리폼 시안 3안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0424160" y="426110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구현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77240" y="4846320"/>
            <a:ext cx="10607040" cy="676656"/>
          </a:xfrm>
          <a:prstGeom prst="roundRect">
            <a:avLst>
              <a:gd name="adj" fmla="val 1216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97280" y="50292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인사이트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2880360" y="5047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아무것도 안 함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943600" y="50383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누가, 어떤 상황에, 어떤 제품을 쓰는가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10424160" y="504748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구현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한 장, 칩 세 번, 여덟 초. 문장은 AI가 씁니다.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REMADE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흠을 지우지 않습니다.</a:t>
            </a:r>
            <a:endParaRPr lang="en-US" sz="3200" dirty="0"/>
          </a:p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자리에 그립니다.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77240" y="2743200"/>
            <a:ext cx="2606040" cy="1956816"/>
          </a:xfrm>
          <a:prstGeom prst="roundRect">
            <a:avLst>
              <a:gd name="adj" fmla="val 420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33272" y="29626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33272" y="33284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긁혔다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33272" y="3803904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실사 위에서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부위를 직접 탭한다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657600" y="2743200"/>
            <a:ext cx="2606040" cy="1956816"/>
          </a:xfrm>
          <a:prstGeom prst="roundRect">
            <a:avLst>
              <a:gd name="adj" fmla="val 420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913632" y="29626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913632" y="33284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그린다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913632" y="3803904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자리에 어울리는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문양 시안 3안 생성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37960" y="2743200"/>
            <a:ext cx="2606040" cy="1956816"/>
          </a:xfrm>
          <a:prstGeom prst="roundRect">
            <a:avLst>
              <a:gd name="adj" fmla="val 4206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93992" y="29626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793992" y="33284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장인이 만든다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793992" y="3803904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시안까지.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실물은 MCM 매장이 제작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418320" y="2743200"/>
            <a:ext cx="2606040" cy="1956816"/>
          </a:xfrm>
          <a:prstGeom prst="roundRect">
            <a:avLst>
              <a:gd name="adj" fmla="val 420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74352" y="29626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74352" y="33284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기록된다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674352" y="3803904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전후 사진이 타임라인에.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리폼 이력이 DPP에 남는다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77240" y="4956048"/>
            <a:ext cx="10607040" cy="932688"/>
          </a:xfrm>
          <a:prstGeom prst="roundRect">
            <a:avLst>
              <a:gd name="adj" fmla="val 8824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0" y="513892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리폼하면 보통 리셀가가 떨어집니다. 브랜드 공식 리폼 + DPP 기록이면 오히려 오릅니다.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097280" y="550468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진품성이 유지되고, 거기에 세상에 하나뿐이라는 증명이 붙기 때문입니다.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BRAND ASSETS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새로 만들지 않았습니다. 이미 있는 것을 썼습니다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777240" y="2212848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23865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비세토스 마름모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0" y="2395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바이에른 깃발 = 흰-파란 하늘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89520" y="23865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배경에서 바람에 흐르고, 로그에서 멈춰 쌓인다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77240" y="2962656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1363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로렐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114800" y="3145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승리 · 명예의 상징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89520" y="31363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정품 인증 배지 · 멤버십 등급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77240" y="3712464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886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1976 뮌헨 · 여행가방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114800" y="3895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창립 품목이 수트케이스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589520" y="38862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스토리북의 서사 근거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77240" y="4462272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46360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아카이브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114800" y="4645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1988 Dapper Dan의 해체 · 재조합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589520" y="4636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REMADE — 재해석의 전통을 잇는다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77240" y="5212080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0" y="53858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NFC + Aura DPP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4114800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운영 중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589520" y="5385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새로 만들지 않는다. 그 위에 얹는다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저희는 새 시스템을 제안하지 않습니다. 이미 산 것을 쓰게 만듭니다.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DEMO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매장에서 산 박스가 서비스의 시작점입니다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77240" y="23774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26151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051560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스캔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51560" y="35844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박스 QR·NFC를 찍으면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스크롤에 따라 박스가 열린다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51560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 02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0" y="23774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931920" y="26151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931920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등록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931920" y="35844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타임라인 첫 줄이 자동 생성.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보여주지 않는다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537960" y="23774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12280" y="26151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12280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812280" y="35844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1장 + 상황 칩 →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문장을 쓴다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12280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Challenge 01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418320" y="23774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92640" y="26151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692640" y="303580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REMADE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692640" y="35844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부위를 탭하면 그 자리에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리폼 시안이 그려진다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692640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박스를 여는 속도는 사용자가 정합니다. 스크롤을 멈추면 애니메이션도 멈춥니다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42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60" kern="0" dirty="0">
                <a:solidFill>
                  <a:srgbClr val="8B5A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Chapter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87552" y="2980944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지금, 무엇으로 버는가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005840" y="396849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16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· 경쟁 · 타이밍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A79E9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DATA ASSET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브랜드가 몰랐던 것이 보입니다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005840" y="1901952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브랜드는 무엇이 팔렸는지는 압니다. 언제, 어떤 상황에 쓰이는지는 모릅니다.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15184"/>
            <a:ext cx="3291840" cy="1773936"/>
          </a:xfrm>
          <a:prstGeom prst="roundRect">
            <a:avLst>
              <a:gd name="adj" fmla="val 4639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69848" y="2871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 분포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69848" y="334670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· 여행 · 전시 · 모임 · 데이트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615184"/>
            <a:ext cx="3291840" cy="1773936"/>
          </a:xfrm>
          <a:prstGeom prst="roundRect">
            <a:avLst>
              <a:gd name="adj" fmla="val 4639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81728" y="2871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수선 부위 히트맵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681728" y="334670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어느 부위가 자주 상하는가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다음 제품 설계로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01000" y="2615184"/>
            <a:ext cx="3291840" cy="1773936"/>
          </a:xfrm>
          <a:prstGeom prst="roundRect">
            <a:avLst>
              <a:gd name="adj" fmla="val 4639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871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도시별 사용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293608" y="334670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 · 도시 정규화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77240" y="4663440"/>
            <a:ext cx="10607040" cy="1060704"/>
          </a:xfrm>
          <a:prstGeom prst="roundRect">
            <a:avLst>
              <a:gd name="adj" fmla="val 7759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7280" y="488289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집계는 동의한 사용자만 · 5건 미만 그룹 제외 · 관리자만 조회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97280" y="5266944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동의 없이도 개인 기능은 전부 동작합니다. 코드로 보여드릴 수 있습니다.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COMPETITIVE POSITION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우리는 DPP를 만들지 않습니다.</a:t>
            </a:r>
            <a:endParaRPr lang="en-US" sz="3000" dirty="0"/>
          </a:p>
          <a:p>
            <a:pPr algn="ctr" indent="0" marL="0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DPP 위에서 사는 사람을 만듭니다.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889504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Aura Consortium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0" y="3072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LVMH 주도 · MCM이 이미 소속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784080" y="3072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인프라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3639312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8130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Arianee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0" y="3822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패스포트 340만+ · 브랜드 50+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784080" y="38221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인프라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4389120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4562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Coachtopia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7200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중심 순환 · 자사 전용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9784080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5138928"/>
            <a:ext cx="1060704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53126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53218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DPP 위의 경험 · 행동 레이어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9784080" y="53218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경험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DPP 사업자가 전부 못 하는 것 — 소비자가 두 번째로 앱을 여는 것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NOW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752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가지가 지금 겹칩니다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084832"/>
            <a:ext cx="3291840" cy="1865376"/>
          </a:xfrm>
          <a:prstGeom prst="roundRect">
            <a:avLst>
              <a:gd name="adj" fmla="val 441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69848" y="230428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69848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브랜드가 준비돼 있다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69848" y="3145536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MCM은 NFC + Aura 블록체인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패스포트를 이미 운영 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084832"/>
            <a:ext cx="3291840" cy="1865376"/>
          </a:xfrm>
          <a:prstGeom prst="roundRect">
            <a:avLst>
              <a:gd name="adj" fmla="val 441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81728" y="230428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681728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시장이 증명했다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81728" y="3145536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Coach는 같은 접근으로 FY2025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북미 신규 120만 명, 2/3가 Gen Z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001000" y="2084832"/>
            <a:ext cx="3291840" cy="1865376"/>
          </a:xfrm>
          <a:prstGeom prst="roundRect">
            <a:avLst>
              <a:gd name="adj" fmla="val 4412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30428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규제가 밀어준다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93608" y="3145536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EU ESPR 섬유 위임법 2027년 2분기,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시행 2028~29년 전망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77240" y="4206240"/>
            <a:ext cx="10607040" cy="1572768"/>
          </a:xfrm>
          <a:prstGeom prst="roundRect">
            <a:avLst>
              <a:gd name="adj" fmla="val 5233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43000" y="444398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“패스포트는 제품의 수명을 지원하고, 보존하고, 연장하기 위한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143000" y="482803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커뮤니티 내의 향후 서비스와 경험으로의 접근을 연다.”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43000" y="5285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공식 Digital Product Passport 페이지 — 저희 제품이 이 문장의 다음 장입니다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 일정은 2026년 8월 기준 · 위임법 2027, 시행 2028~29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흠이 값이 되면, 수선이 매출이 됩니다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005840" y="18836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사용자는 무료입니다. 브랜드가 냅니다.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578608"/>
            <a:ext cx="10607040" cy="566928"/>
          </a:xfrm>
          <a:prstGeom prst="roundRect">
            <a:avLst>
              <a:gd name="adj" fmla="val 1451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271576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SaaS 구독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297680" y="27340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77840" y="27249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활성 제품 · 사용자 수 기준 월 이용료 + 인사이트 리포트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" y="3255264"/>
            <a:ext cx="10607040" cy="566928"/>
          </a:xfrm>
          <a:prstGeom prst="roundRect">
            <a:avLst>
              <a:gd name="adj" fmla="val 1451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3924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구축비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297680" y="34107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7784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 UI/UX · 제품 DB · 관리자 시스템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" y="3931920"/>
            <a:ext cx="10607040" cy="566928"/>
          </a:xfrm>
          <a:prstGeom prst="roundRect">
            <a:avLst>
              <a:gd name="adj" fmla="val 14516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97280" y="4069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REMADE · Care 중개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297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파트너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577840" y="4078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리폼 · 세척 · 수선 예약 연결 수수료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77240" y="4608576"/>
            <a:ext cx="10607040" cy="566928"/>
          </a:xfrm>
          <a:prstGeom prst="roundRect">
            <a:avLst>
              <a:gd name="adj" fmla="val 1451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97280" y="4745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프리미엄 콘텐츠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297680" y="47640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5778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고화질 Recap · 기념일 콘텐츠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777240" y="5285232"/>
            <a:ext cx="10607040" cy="566928"/>
          </a:xfrm>
          <a:prstGeom prst="roundRect">
            <a:avLst>
              <a:gd name="adj" fmla="val 14516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97280" y="54223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리셀 · 소유권 이전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297680" y="54406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파트너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577840" y="54315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로드맵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77240" y="5998464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수선이 비용 센터에서 매출과 로열티의 접점으로 바뀝니다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9052560" y="63276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40" kern="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 LUXURY BOOK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30352"/>
            <a:ext cx="1216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2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ROADMAP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3268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24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브랜드에서 깊게 검증하고, 확장합니다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77240" y="2468880"/>
            <a:ext cx="3291840" cy="2048256"/>
          </a:xfrm>
          <a:prstGeom prst="roundRect">
            <a:avLst>
              <a:gd name="adj" fmla="val 4018"/>
            </a:avLst>
          </a:prstGeom>
          <a:solidFill>
            <a:srgbClr val="1E1A16"/>
          </a:solidFill>
          <a:ln w="19050">
            <a:solidFill>
              <a:srgbClr val="C4915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69848" y="27249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Phase 1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2971800" y="2779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69848" y="32918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스토리북 · Care/Repair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REMADE · 기존 DPP 연동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89120" y="2468880"/>
            <a:ext cx="3291840" cy="2048256"/>
          </a:xfrm>
          <a:prstGeom prst="roundRect">
            <a:avLst>
              <a:gd name="adj" fmla="val 4018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81728" y="27249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Phase 2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583680" y="2779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681728" y="32918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Archive Style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 데이터 집계 대시보드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001000" y="2468880"/>
            <a:ext cx="3291840" cy="2048256"/>
          </a:xfrm>
          <a:prstGeom prst="roundRect">
            <a:avLst>
              <a:gd name="adj" fmla="val 4018"/>
            </a:avLst>
          </a:prstGeom>
          <a:solidFill>
            <a:srgbClr val="1E1A16"/>
          </a:solidFill>
          <a:ln w="9525">
            <a:solidFill>
              <a:srgbClr val="342B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7249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Phase 3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0195560" y="2779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45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32918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멀티 브랜드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8F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리셀 · 소유권 이전 연계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77240" y="488289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MCM은 이미 인프라를 갖고 있습니다.</a:t>
            </a:r>
            <a:endParaRPr lang="en-US" sz="2400" dirty="0"/>
          </a:p>
          <a:p>
            <a:pPr algn="ctr"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저희는 그 위에 경험을 얹습니다.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777240" y="5943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491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2026-08-20T00:35:06Z</dcterms:created>
  <dcterms:modified xsi:type="dcterms:W3CDTF">2026-08-20T00:35:06Z</dcterms:modified>
</cp:coreProperties>
</file>