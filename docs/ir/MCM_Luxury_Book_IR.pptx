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럭셔리는 새것일 때 가장 비쌉니다. 그래서 사람들은 쓰기를 두려워합니다. 저희는 그 방향을 뒤집었습니다.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챌린지 중 3번을 메인으로 골랐습니다. 1번과 2번은 특정 순간을 좋게 만들지만 끊긴 경험은 여전히 끊겨 있습니다. 매장에서 산 박스의 QR을 찍는 순간이 2번이고, 그 뒤 AI가 기록을 만드는 게 1번입니다.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저희는 수선을 되돌리는 일로 보지 않습니다. 그 자리에 그립니다. 그러면 세상에 하나뿐인 물건이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구매 이후 접점은 세일 문자가 전부입니다. 사진은 SNS, 여행은 캘린더, 수선 이력은 브랜드 내부에 흩어집니다.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지금까지의 해법은 전부 입력창을 더 주는 것이었습니다. 더 안 합니다.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비세토스의 마름모는 바이에른 깃발에서 왔고 독일어로 흰-파란 하늘이라는 뜻입니다. 그래서 배경에서 바람에 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제조 이력은 한 번 보면 다시 볼 이유가 없습니다. 저희는 소유자 중심이라 재방문이 생기고, 그 재방문이 데이터가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86000"/>
            <a:ext cx="10607040" cy="2011680"/>
          </a:xfrm>
          <a:prstGeom prst="rect">
            <a:avLst/>
          </a:prstGeom>
          <a:noFill/>
          <a:ln/>
        </p:spPr>
        <p:txBody>
          <a:bodyPr wrap="square" lIns="0" tIns="0" rIns="0" bIns="0" rtlCol="0" anchor="ctr"/>
          <a:lstStyle/>
          <a:p>
            <a:pPr indent="0" marL="0">
              <a:lnSpc>
                <a:spcPts val="7400"/>
              </a:lnSpc>
              <a:buNone/>
            </a:pPr>
            <a:r>
              <a:rPr lang="en-US" sz="52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5200" dirty="0"/>
          </a:p>
          <a:p>
            <a:pPr indent="0" marL="0">
              <a:lnSpc>
                <a:spcPts val="7400"/>
              </a:lnSpc>
              <a:buNone/>
            </a:pPr>
            <a:r>
              <a:rPr lang="en-US" sz="5200" b="1" dirty="0">
                <a:solidFill>
                  <a:srgbClr val="C4915F"/>
                </a:solidFill>
                <a:latin typeface="Apple SD Gothic Neo" pitchFamily="34" charset="0"/>
                <a:ea typeface="Apple SD Gothic Neo" pitchFamily="34" charset="-122"/>
                <a:cs typeface="Apple SD Gothic Neo" pitchFamily="34" charset="-120"/>
              </a:rPr>
              <a:t>나의 것으로 만듭니다</a:t>
            </a:r>
            <a:endParaRPr lang="en-US" sz="5200" dirty="0"/>
          </a:p>
        </p:txBody>
      </p:sp>
      <p:sp>
        <p:nvSpPr>
          <p:cNvPr id="5" name="Text 2"/>
          <p:cNvSpPr/>
          <p:nvPr/>
        </p:nvSpPr>
        <p:spPr>
          <a:xfrm>
            <a:off x="896112" y="4937760"/>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WHICH CHALLENGE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저희는 03번을 골랐습니다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3017520"/>
            <a:ext cx="10332720" cy="548640"/>
          </a:xfrm>
          <a:prstGeom prst="rect">
            <a:avLst/>
          </a:prstGeom>
          <a:noFill/>
          <a:ln/>
        </p:spPr>
        <p:txBody>
          <a:bodyPr wrap="square" lIns="0" tIns="0" rIns="0" bIns="0" rtlCol="0" anchor="ctr"/>
          <a:lstStyle/>
          <a:p>
            <a:pPr algn="ctr" indent="0" marL="0">
              <a:buNone/>
            </a:pPr>
            <a:r>
              <a:rPr lang="en-US" sz="3000" b="1" dirty="0">
                <a:solidFill>
                  <a:srgbClr val="C4915F"/>
                </a:solidFill>
                <a:latin typeface="Apple SD Gothic Neo" pitchFamily="34" charset="0"/>
                <a:ea typeface="Apple SD Gothic Neo" pitchFamily="34" charset="-122"/>
                <a:cs typeface="Apple SD Gothic Neo" pitchFamily="34" charset="-120"/>
              </a:rPr>
              <a:t>360° 고객 경험</a:t>
            </a:r>
            <a:endParaRPr lang="en-US" sz="3000" dirty="0"/>
          </a:p>
        </p:txBody>
      </p:sp>
      <p:sp>
        <p:nvSpPr>
          <p:cNvPr id="7" name="Text 4"/>
          <p:cNvSpPr/>
          <p:nvPr/>
        </p:nvSpPr>
        <p:spPr>
          <a:xfrm>
            <a:off x="914400" y="3657600"/>
            <a:ext cx="10332720" cy="365760"/>
          </a:xfrm>
          <a:prstGeom prst="rect">
            <a:avLst/>
          </a:prstGeom>
          <a:noFill/>
          <a:ln/>
        </p:spPr>
        <p:txBody>
          <a:bodyPr wrap="square" lIns="0" tIns="0" rIns="0" bIns="0" rtlCol="0" anchor="ctr"/>
          <a:lstStyle/>
          <a:p>
            <a:pPr algn="ctr" indent="0" marL="0">
              <a:buNone/>
            </a:pPr>
            <a:r>
              <a:rPr lang="en-US" sz="1600" dirty="0">
                <a:solidFill>
                  <a:srgbClr val="9A8F84"/>
                </a:solidFill>
                <a:latin typeface="Apple SD Gothic Neo" pitchFamily="34" charset="0"/>
                <a:ea typeface="Apple SD Gothic Neo" pitchFamily="34" charset="-122"/>
                <a:cs typeface="Apple SD Gothic Neo" pitchFamily="34" charset="-120"/>
              </a:rPr>
              <a:t>발견부터 구매 이후까지, 끊김 없이 로열티를 만드는 여정</a:t>
            </a:r>
            <a:endParaRPr lang="en-US" sz="1600" dirty="0"/>
          </a:p>
        </p:txBody>
      </p:sp>
      <p:sp>
        <p:nvSpPr>
          <p:cNvPr id="8" name="Shape 5"/>
          <p:cNvSpPr/>
          <p:nvPr/>
        </p:nvSpPr>
        <p:spPr>
          <a:xfrm>
            <a:off x="3291840" y="4517136"/>
            <a:ext cx="5577840" cy="0"/>
          </a:xfrm>
          <a:prstGeom prst="line">
            <a:avLst/>
          </a:prstGeom>
          <a:noFill/>
          <a:ln w="9525">
            <a:solidFill>
              <a:srgbClr val="3A3025"/>
            </a:solidFill>
            <a:prstDash val="solid"/>
          </a:ln>
        </p:spPr>
      </p:sp>
      <p:sp>
        <p:nvSpPr>
          <p:cNvPr id="9" name="Text 6"/>
          <p:cNvSpPr/>
          <p:nvPr/>
        </p:nvSpPr>
        <p:spPr>
          <a:xfrm>
            <a:off x="914400" y="4754880"/>
            <a:ext cx="10332720" cy="310896"/>
          </a:xfrm>
          <a:prstGeom prst="rect">
            <a:avLst/>
          </a:prstGeom>
          <a:noFill/>
          <a:ln/>
        </p:spPr>
        <p:txBody>
          <a:bodyPr wrap="square" lIns="0" tIns="0" rIns="0" bIns="0" rtlCol="0" anchor="ctr"/>
          <a:lstStyle/>
          <a:p>
            <a:pPr algn="ct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01 AI 기반 프로덕트        02 인터랙티브 리테일</a:t>
            </a:r>
            <a:endParaRPr lang="en-US" sz="1500" dirty="0"/>
          </a:p>
        </p:txBody>
      </p:sp>
      <p:sp>
        <p:nvSpPr>
          <p:cNvPr id="10" name="Text 7"/>
          <p:cNvSpPr/>
          <p:nvPr/>
        </p:nvSpPr>
        <p:spPr>
          <a:xfrm>
            <a:off x="914400" y="5157216"/>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03을 제대로 풀면 두 개가 그 안에 들어옵니다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MCM은 어디에 서 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가격이 아니라 사용 빈도로 보면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가격이 아니라 사용 빈도로 보면</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쓰는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MCM은 매일 쓸 수 있습니다</a:t>
            </a:r>
            <a:endParaRPr lang="en-US" sz="4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그것이 이 브랜드가 가진 가장 큰 자산입니다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쓰면,</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상합니다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만큼 아깝고</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값이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지우지 말고, 나의 것으로</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그 자리에 그립니다.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앞의 둘은 비유입니다.</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셋째는 MCM 자신의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당당해집니다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무엇을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하나의 타임라인, 그리고 AI</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브랜드는 새것만 보여줍니다</a:t>
            </a:r>
            <a:endParaRPr lang="en-US" sz="4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5년 쓴 가방이 어떻게 생겼는지 보여주는 브랜드는 없습니다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그리고 기록은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마찰입니다</a:t>
            </a:r>
            <a:endParaRPr lang="en-US" sz="40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아무도 하지 않습니다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1927860" y="3584448"/>
            <a:ext cx="8305800" cy="0"/>
          </a:xfrm>
          <a:prstGeom prst="line">
            <a:avLst/>
          </a:prstGeom>
          <a:noFill/>
          <a:ln w="12700">
            <a:solidFill>
              <a:srgbClr val="3A3025"/>
            </a:solidFill>
            <a:prstDash val="solid"/>
          </a:ln>
        </p:spPr>
      </p:sp>
      <p:sp>
        <p:nvSpPr>
          <p:cNvPr id="7" name="Shape 4"/>
          <p:cNvSpPr/>
          <p:nvPr/>
        </p:nvSpPr>
        <p:spPr>
          <a:xfrm>
            <a:off x="1868424" y="3525012"/>
            <a:ext cx="118872" cy="118872"/>
          </a:xfrm>
          <a:prstGeom prst="ellipse">
            <a:avLst/>
          </a:prstGeom>
          <a:solidFill>
            <a:srgbClr val="9A8F84"/>
          </a:solidFill>
          <a:ln/>
        </p:spPr>
      </p:sp>
      <p:sp>
        <p:nvSpPr>
          <p:cNvPr id="8" name="Text 5"/>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9" name="Shape 6"/>
          <p:cNvSpPr/>
          <p:nvPr/>
        </p:nvSpPr>
        <p:spPr>
          <a:xfrm>
            <a:off x="3529584" y="3525012"/>
            <a:ext cx="118872" cy="118872"/>
          </a:xfrm>
          <a:prstGeom prst="ellipse">
            <a:avLst/>
          </a:prstGeom>
          <a:solidFill>
            <a:srgbClr val="9A8F84"/>
          </a:solidFill>
          <a:ln/>
        </p:spPr>
      </p:sp>
      <p:sp>
        <p:nvSpPr>
          <p:cNvPr id="10" name="Text 7"/>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1" name="Shape 8"/>
          <p:cNvSpPr/>
          <p:nvPr/>
        </p:nvSpPr>
        <p:spPr>
          <a:xfrm>
            <a:off x="5190744" y="3525012"/>
            <a:ext cx="118872" cy="118872"/>
          </a:xfrm>
          <a:prstGeom prst="ellipse">
            <a:avLst/>
          </a:prstGeom>
          <a:solidFill>
            <a:srgbClr val="9A8F84"/>
          </a:solidFill>
          <a:ln/>
        </p:spPr>
      </p:sp>
      <p:sp>
        <p:nvSpPr>
          <p:cNvPr id="12" name="Text 9"/>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3" name="Shape 10"/>
          <p:cNvSpPr/>
          <p:nvPr/>
        </p:nvSpPr>
        <p:spPr>
          <a:xfrm>
            <a:off x="6824472" y="3497580"/>
            <a:ext cx="173736" cy="173736"/>
          </a:xfrm>
          <a:prstGeom prst="ellipse">
            <a:avLst/>
          </a:prstGeom>
          <a:solidFill>
            <a:srgbClr val="C4915F"/>
          </a:solidFill>
          <a:ln/>
        </p:spPr>
      </p:sp>
      <p:sp>
        <p:nvSpPr>
          <p:cNvPr id="14" name="Text 11"/>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5" name="Shape 12"/>
          <p:cNvSpPr/>
          <p:nvPr/>
        </p:nvSpPr>
        <p:spPr>
          <a:xfrm>
            <a:off x="8485632" y="3497580"/>
            <a:ext cx="173736" cy="173736"/>
          </a:xfrm>
          <a:prstGeom prst="ellipse">
            <a:avLst/>
          </a:prstGeom>
          <a:solidFill>
            <a:srgbClr val="C4915F"/>
          </a:solidFill>
          <a:ln/>
        </p:spPr>
      </p:sp>
      <p:sp>
        <p:nvSpPr>
          <p:cNvPr id="16" name="Text 13"/>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7" name="Shape 14"/>
          <p:cNvSpPr/>
          <p:nvPr/>
        </p:nvSpPr>
        <p:spPr>
          <a:xfrm>
            <a:off x="10146792" y="3497580"/>
            <a:ext cx="173736" cy="173736"/>
          </a:xfrm>
          <a:prstGeom prst="ellipse">
            <a:avLst/>
          </a:prstGeom>
          <a:solidFill>
            <a:srgbClr val="C4915F"/>
          </a:solidFill>
          <a:ln/>
        </p:spPr>
      </p:sp>
      <p:sp>
        <p:nvSpPr>
          <p:cNvPr id="18" name="Text 15"/>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19" name="Text 16"/>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0" name="Text 17"/>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앱은 수선 이력을 가질 수 없고, 브랜드 시스템은 내 추억을 가질 수 없습니다</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AI는 쓰게 하지 않습니다.</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대신 써줍니다.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사용자는 사진 한 장만 올립니다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긁힌 자리가 나만의 무늬가 됩니다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sp>
        <p:nvSpPr>
          <p:cNvPr id="17" name="Text 14"/>
          <p:cNvSpPr/>
          <p:nvPr/>
        </p:nvSpPr>
        <p:spPr>
          <a:xfrm>
            <a:off x="914400" y="4645152"/>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AI는 시안까지입니다. 실물은 MCM 장인이 만듭니다.</a:t>
            </a:r>
            <a:endParaRPr lang="en-US" sz="2000" dirty="0"/>
          </a:p>
        </p:txBody>
      </p:sp>
      <p:sp>
        <p:nvSpPr>
          <p:cNvPr id="18" name="Shape 15"/>
          <p:cNvSpPr/>
          <p:nvPr/>
        </p:nvSpPr>
        <p:spPr>
          <a:xfrm>
            <a:off x="4023360" y="5266944"/>
            <a:ext cx="4114800" cy="0"/>
          </a:xfrm>
          <a:prstGeom prst="line">
            <a:avLst/>
          </a:prstGeom>
          <a:noFill/>
          <a:ln w="9525">
            <a:solidFill>
              <a:srgbClr val="3A3025"/>
            </a:solidFill>
            <a:prstDash val="solid"/>
          </a:ln>
        </p:spPr>
      </p:sp>
      <p:sp>
        <p:nvSpPr>
          <p:cNvPr id="19" name="Text 16"/>
          <p:cNvSpPr/>
          <p:nvPr/>
        </p:nvSpPr>
        <p:spPr>
          <a:xfrm>
            <a:off x="914400" y="5504688"/>
            <a:ext cx="10332720" cy="731520"/>
          </a:xfrm>
          <a:prstGeom prst="rect">
            <a:avLst/>
          </a:prstGeom>
          <a:noFill/>
          <a:ln/>
        </p:spPr>
        <p:txBody>
          <a:bodyPr wrap="square" lIns="0" tIns="0" rIns="0" bIns="0" rtlCol="0" anchor="ctr"/>
          <a:lstStyle/>
          <a:p>
            <a:pPr algn="ct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리폼하면 보통 리셀가가 떨어집니다.</a:t>
            </a:r>
            <a:endParaRPr lang="en-US" sz="1400" dirty="0"/>
          </a:p>
          <a:p>
            <a:pPr algn="ct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브랜드 공식 리폼 + DPP 기록이면 오히려 오릅니다.</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새로 만들지 않았습니다.</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이미 있는 것을 썼습니다.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BRAND ASSETS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브랜드 자산을 장식으로 쓰지 않았습니다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92608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비세토스 마름모</a:t>
            </a:r>
            <a:endParaRPr lang="en-US" sz="1800" dirty="0"/>
          </a:p>
        </p:txBody>
      </p:sp>
      <p:sp>
        <p:nvSpPr>
          <p:cNvPr id="7" name="Text 4"/>
          <p:cNvSpPr/>
          <p:nvPr/>
        </p:nvSpPr>
        <p:spPr>
          <a:xfrm>
            <a:off x="4572000" y="296265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바이에른 깃발 = 흰-파란 하늘</a:t>
            </a:r>
            <a:endParaRPr lang="en-US" sz="1400" dirty="0"/>
          </a:p>
        </p:txBody>
      </p:sp>
      <p:sp>
        <p:nvSpPr>
          <p:cNvPr id="8" name="Text 5"/>
          <p:cNvSpPr/>
          <p:nvPr/>
        </p:nvSpPr>
        <p:spPr>
          <a:xfrm>
            <a:off x="8503920" y="294436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배경에서 바람에 흐른다</a:t>
            </a:r>
            <a:endParaRPr lang="en-US" sz="1500" dirty="0"/>
          </a:p>
        </p:txBody>
      </p:sp>
      <p:sp>
        <p:nvSpPr>
          <p:cNvPr id="9" name="Shape 6"/>
          <p:cNvSpPr/>
          <p:nvPr/>
        </p:nvSpPr>
        <p:spPr>
          <a:xfrm>
            <a:off x="1097280" y="3547872"/>
            <a:ext cx="9966960" cy="0"/>
          </a:xfrm>
          <a:prstGeom prst="line">
            <a:avLst/>
          </a:prstGeom>
          <a:noFill/>
          <a:ln w="9525">
            <a:solidFill>
              <a:srgbClr val="3A3025"/>
            </a:solidFill>
            <a:prstDash val="solid"/>
          </a:ln>
        </p:spPr>
      </p:sp>
      <p:sp>
        <p:nvSpPr>
          <p:cNvPr id="10" name="Text 7"/>
          <p:cNvSpPr/>
          <p:nvPr/>
        </p:nvSpPr>
        <p:spPr>
          <a:xfrm>
            <a:off x="1188720" y="374904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로렐</a:t>
            </a:r>
            <a:endParaRPr lang="en-US" sz="1800" dirty="0"/>
          </a:p>
        </p:txBody>
      </p:sp>
      <p:sp>
        <p:nvSpPr>
          <p:cNvPr id="11" name="Text 8"/>
          <p:cNvSpPr/>
          <p:nvPr/>
        </p:nvSpPr>
        <p:spPr>
          <a:xfrm>
            <a:off x="4572000" y="378561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승리 · 명예의 상징</a:t>
            </a:r>
            <a:endParaRPr lang="en-US" sz="1400" dirty="0"/>
          </a:p>
        </p:txBody>
      </p:sp>
      <p:sp>
        <p:nvSpPr>
          <p:cNvPr id="12" name="Text 9"/>
          <p:cNvSpPr/>
          <p:nvPr/>
        </p:nvSpPr>
        <p:spPr>
          <a:xfrm>
            <a:off x="8503920" y="376732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정품 인증 배지</a:t>
            </a:r>
            <a:endParaRPr lang="en-US" sz="1500" dirty="0"/>
          </a:p>
        </p:txBody>
      </p:sp>
      <p:sp>
        <p:nvSpPr>
          <p:cNvPr id="13" name="Shape 10"/>
          <p:cNvSpPr/>
          <p:nvPr/>
        </p:nvSpPr>
        <p:spPr>
          <a:xfrm>
            <a:off x="1097280" y="4370832"/>
            <a:ext cx="9966960" cy="0"/>
          </a:xfrm>
          <a:prstGeom prst="line">
            <a:avLst/>
          </a:prstGeom>
          <a:noFill/>
          <a:ln w="9525">
            <a:solidFill>
              <a:srgbClr val="3A3025"/>
            </a:solidFill>
            <a:prstDash val="solid"/>
          </a:ln>
        </p:spPr>
      </p:sp>
      <p:sp>
        <p:nvSpPr>
          <p:cNvPr id="14" name="Text 11"/>
          <p:cNvSpPr/>
          <p:nvPr/>
        </p:nvSpPr>
        <p:spPr>
          <a:xfrm>
            <a:off x="1188720" y="457200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1988 Dapper Dan</a:t>
            </a:r>
            <a:endParaRPr lang="en-US" sz="1800" dirty="0"/>
          </a:p>
        </p:txBody>
      </p:sp>
      <p:sp>
        <p:nvSpPr>
          <p:cNvPr id="15" name="Text 12"/>
          <p:cNvSpPr/>
          <p:nvPr/>
        </p:nvSpPr>
        <p:spPr>
          <a:xfrm>
            <a:off x="4572000" y="460857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해체하고 다시 꿰맨 역사</a:t>
            </a:r>
            <a:endParaRPr lang="en-US" sz="1400" dirty="0"/>
          </a:p>
        </p:txBody>
      </p:sp>
      <p:sp>
        <p:nvSpPr>
          <p:cNvPr id="16" name="Text 13"/>
          <p:cNvSpPr/>
          <p:nvPr/>
        </p:nvSpPr>
        <p:spPr>
          <a:xfrm>
            <a:off x="8503920" y="459028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REMADE</a:t>
            </a:r>
            <a:endParaRPr lang="en-US" sz="1500" dirty="0"/>
          </a:p>
        </p:txBody>
      </p:sp>
      <p:sp>
        <p:nvSpPr>
          <p:cNvPr id="17" name="Shape 14"/>
          <p:cNvSpPr/>
          <p:nvPr/>
        </p:nvSpPr>
        <p:spPr>
          <a:xfrm>
            <a:off x="1097280" y="5193792"/>
            <a:ext cx="9966960" cy="0"/>
          </a:xfrm>
          <a:prstGeom prst="line">
            <a:avLst/>
          </a:prstGeom>
          <a:noFill/>
          <a:ln w="9525">
            <a:solidFill>
              <a:srgbClr val="3A3025"/>
            </a:solidFill>
            <a:prstDash val="solid"/>
          </a:ln>
        </p:spPr>
      </p:sp>
      <p:sp>
        <p:nvSpPr>
          <p:cNvPr id="18" name="Text 15"/>
          <p:cNvSpPr/>
          <p:nvPr/>
        </p:nvSpPr>
        <p:spPr>
          <a:xfrm>
            <a:off x="1188720" y="539496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NFC + Aura DPP</a:t>
            </a:r>
            <a:endParaRPr lang="en-US" sz="1800" dirty="0"/>
          </a:p>
        </p:txBody>
      </p:sp>
      <p:sp>
        <p:nvSpPr>
          <p:cNvPr id="19" name="Text 16"/>
          <p:cNvSpPr/>
          <p:nvPr/>
        </p:nvSpPr>
        <p:spPr>
          <a:xfrm>
            <a:off x="4572000" y="543153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이미 운영 중</a:t>
            </a:r>
            <a:endParaRPr lang="en-US" sz="1400" dirty="0"/>
          </a:p>
        </p:txBody>
      </p:sp>
      <p:sp>
        <p:nvSpPr>
          <p:cNvPr id="20" name="Text 17"/>
          <p:cNvSpPr/>
          <p:nvPr/>
        </p:nvSpPr>
        <p:spPr>
          <a:xfrm>
            <a:off x="8503920" y="541324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그 위에 얹는다</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박스를 여는 속도는 사용자가 정합니다</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집계는 동의한 사용자만 · 5건 미만 그룹 제외</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우리는 DPP를 만들지 않습니다.</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위에서 사는 사람을 만듭니다.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기존 DPP가 못 하는 것 하나</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457200"/>
          </a:xfrm>
          <a:prstGeom prst="rect">
            <a:avLst/>
          </a:prstGeom>
          <a:noFill/>
          <a:ln/>
        </p:spPr>
        <p:txBody>
          <a:bodyPr wrap="square" lIns="0" tIns="0" rIns="0" bIns="0" rtlCol="0" anchor="ctr"/>
          <a:lstStyle/>
          <a:p>
            <a:pPr algn="ctr" indent="0" marL="0">
              <a:buNone/>
            </a:pPr>
            <a:r>
              <a:rPr lang="en-US" sz="2800" b="1" dirty="0">
                <a:solidFill>
                  <a:srgbClr val="C4915F"/>
                </a:solidFill>
                <a:latin typeface="Apple SD Gothic Neo" pitchFamily="34" charset="0"/>
                <a:ea typeface="Apple SD Gothic Neo" pitchFamily="34" charset="-122"/>
                <a:cs typeface="Apple SD Gothic Neo" pitchFamily="34" charset="-120"/>
              </a:rPr>
              <a:t>소비자가 두 번째로 앱을 여는 것</a:t>
            </a:r>
            <a:endParaRPr lang="en-US" sz="2800" dirty="0"/>
          </a:p>
        </p:txBody>
      </p:sp>
      <p:sp>
        <p:nvSpPr>
          <p:cNvPr id="7" name="Text 4"/>
          <p:cNvSpPr/>
          <p:nvPr/>
        </p:nvSpPr>
        <p:spPr>
          <a:xfrm>
            <a:off x="1371600" y="3493008"/>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Aura Consortium</a:t>
            </a:r>
            <a:endParaRPr lang="en-US" sz="1700" dirty="0"/>
          </a:p>
        </p:txBody>
      </p:sp>
      <p:sp>
        <p:nvSpPr>
          <p:cNvPr id="8" name="Text 5"/>
          <p:cNvSpPr/>
          <p:nvPr/>
        </p:nvSpPr>
        <p:spPr>
          <a:xfrm>
            <a:off x="4846320" y="3520440"/>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LVMH 주도 · MCM이 이미 소속</a:t>
            </a:r>
            <a:endParaRPr lang="en-US" sz="1350" dirty="0"/>
          </a:p>
        </p:txBody>
      </p:sp>
      <p:sp>
        <p:nvSpPr>
          <p:cNvPr id="9" name="Text 6"/>
          <p:cNvSpPr/>
          <p:nvPr/>
        </p:nvSpPr>
        <p:spPr>
          <a:xfrm>
            <a:off x="9509760" y="3520440"/>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인프라</a:t>
            </a:r>
            <a:endParaRPr lang="en-US" sz="1300" dirty="0"/>
          </a:p>
        </p:txBody>
      </p:sp>
      <p:sp>
        <p:nvSpPr>
          <p:cNvPr id="10" name="Shape 7"/>
          <p:cNvSpPr/>
          <p:nvPr/>
        </p:nvSpPr>
        <p:spPr>
          <a:xfrm>
            <a:off x="1280160" y="4078224"/>
            <a:ext cx="9601200" cy="0"/>
          </a:xfrm>
          <a:prstGeom prst="line">
            <a:avLst/>
          </a:prstGeom>
          <a:noFill/>
          <a:ln w="9525">
            <a:solidFill>
              <a:srgbClr val="3A3025"/>
            </a:solidFill>
            <a:prstDash val="solid"/>
          </a:ln>
        </p:spPr>
      </p:sp>
      <p:sp>
        <p:nvSpPr>
          <p:cNvPr id="11" name="Text 8"/>
          <p:cNvSpPr/>
          <p:nvPr/>
        </p:nvSpPr>
        <p:spPr>
          <a:xfrm>
            <a:off x="1371600" y="4261104"/>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Arianee</a:t>
            </a:r>
            <a:endParaRPr lang="en-US" sz="1700" dirty="0"/>
          </a:p>
        </p:txBody>
      </p:sp>
      <p:sp>
        <p:nvSpPr>
          <p:cNvPr id="12" name="Text 9"/>
          <p:cNvSpPr/>
          <p:nvPr/>
        </p:nvSpPr>
        <p:spPr>
          <a:xfrm>
            <a:off x="4846320" y="4288536"/>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패스포트 340만+ · 브랜드 50+</a:t>
            </a:r>
            <a:endParaRPr lang="en-US" sz="1350" dirty="0"/>
          </a:p>
        </p:txBody>
      </p:sp>
      <p:sp>
        <p:nvSpPr>
          <p:cNvPr id="13" name="Text 10"/>
          <p:cNvSpPr/>
          <p:nvPr/>
        </p:nvSpPr>
        <p:spPr>
          <a:xfrm>
            <a:off x="9509760" y="4288536"/>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인프라</a:t>
            </a:r>
            <a:endParaRPr lang="en-US" sz="1300" dirty="0"/>
          </a:p>
        </p:txBody>
      </p:sp>
      <p:sp>
        <p:nvSpPr>
          <p:cNvPr id="14" name="Shape 11"/>
          <p:cNvSpPr/>
          <p:nvPr/>
        </p:nvSpPr>
        <p:spPr>
          <a:xfrm>
            <a:off x="1280160" y="4846320"/>
            <a:ext cx="9601200" cy="0"/>
          </a:xfrm>
          <a:prstGeom prst="line">
            <a:avLst/>
          </a:prstGeom>
          <a:noFill/>
          <a:ln w="9525">
            <a:solidFill>
              <a:srgbClr val="3A3025"/>
            </a:solidFill>
            <a:prstDash val="solid"/>
          </a:ln>
        </p:spPr>
      </p:sp>
      <p:sp>
        <p:nvSpPr>
          <p:cNvPr id="15" name="Text 12"/>
          <p:cNvSpPr/>
          <p:nvPr/>
        </p:nvSpPr>
        <p:spPr>
          <a:xfrm>
            <a:off x="1371600" y="5029200"/>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Coachtopia</a:t>
            </a:r>
            <a:endParaRPr lang="en-US" sz="1700" dirty="0"/>
          </a:p>
        </p:txBody>
      </p:sp>
      <p:sp>
        <p:nvSpPr>
          <p:cNvPr id="16" name="Text 13"/>
          <p:cNvSpPr/>
          <p:nvPr/>
        </p:nvSpPr>
        <p:spPr>
          <a:xfrm>
            <a:off x="4846320" y="5056632"/>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제품 중심 순환 · 자사 전용</a:t>
            </a:r>
            <a:endParaRPr lang="en-US" sz="1350" dirty="0"/>
          </a:p>
        </p:txBody>
      </p:sp>
      <p:sp>
        <p:nvSpPr>
          <p:cNvPr id="17" name="Text 14"/>
          <p:cNvSpPr/>
          <p:nvPr/>
        </p:nvSpPr>
        <p:spPr>
          <a:xfrm>
            <a:off x="9509760" y="5056632"/>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제품</a:t>
            </a:r>
            <a:endParaRPr lang="en-US" sz="1300" dirty="0"/>
          </a:p>
        </p:txBody>
      </p:sp>
      <p:sp>
        <p:nvSpPr>
          <p:cNvPr id="18" name="Shape 15"/>
          <p:cNvSpPr/>
          <p:nvPr/>
        </p:nvSpPr>
        <p:spPr>
          <a:xfrm>
            <a:off x="1280160" y="5614416"/>
            <a:ext cx="9601200" cy="0"/>
          </a:xfrm>
          <a:prstGeom prst="line">
            <a:avLst/>
          </a:prstGeom>
          <a:noFill/>
          <a:ln w="9525">
            <a:solidFill>
              <a:srgbClr val="3A3025"/>
            </a:solidFill>
            <a:prstDash val="solid"/>
          </a:ln>
        </p:spPr>
      </p:sp>
      <p:sp>
        <p:nvSpPr>
          <p:cNvPr id="19" name="Text 16"/>
          <p:cNvSpPr/>
          <p:nvPr/>
        </p:nvSpPr>
        <p:spPr>
          <a:xfrm>
            <a:off x="1371600" y="5797296"/>
            <a:ext cx="3291840" cy="329184"/>
          </a:xfrm>
          <a:prstGeom prst="rect">
            <a:avLst/>
          </a:prstGeom>
          <a:noFill/>
          <a:ln/>
        </p:spPr>
        <p:txBody>
          <a:bodyPr wrap="square" lIns="0" tIns="0" rIns="0" bIns="0" rtlCol="0" anchor="ctr"/>
          <a:lstStyle/>
          <a:p>
            <a:pPr indent="0" marL="0">
              <a:buNone/>
            </a:pPr>
            <a:r>
              <a:rPr lang="en-US" sz="1700" b="1" dirty="0">
                <a:solidFill>
                  <a:srgbClr val="C4915F"/>
                </a:solidFill>
                <a:latin typeface="Apple SD Gothic Neo" pitchFamily="34" charset="0"/>
                <a:ea typeface="Apple SD Gothic Neo" pitchFamily="34" charset="-122"/>
                <a:cs typeface="Apple SD Gothic Neo" pitchFamily="34" charset="-120"/>
              </a:rPr>
              <a:t>MCM Luxury Book</a:t>
            </a:r>
            <a:endParaRPr lang="en-US" sz="1700" dirty="0"/>
          </a:p>
        </p:txBody>
      </p:sp>
      <p:sp>
        <p:nvSpPr>
          <p:cNvPr id="20" name="Text 17"/>
          <p:cNvSpPr/>
          <p:nvPr/>
        </p:nvSpPr>
        <p:spPr>
          <a:xfrm>
            <a:off x="4846320" y="5824728"/>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DPP 위의 경험 · 행동 레이어</a:t>
            </a:r>
            <a:endParaRPr lang="en-US" sz="1350" dirty="0"/>
          </a:p>
        </p:txBody>
      </p:sp>
      <p:sp>
        <p:nvSpPr>
          <p:cNvPr id="21" name="Text 18"/>
          <p:cNvSpPr/>
          <p:nvPr/>
        </p:nvSpPr>
        <p:spPr>
          <a:xfrm>
            <a:off x="9509760" y="5824728"/>
            <a:ext cx="1280160" cy="292608"/>
          </a:xfrm>
          <a:prstGeom prst="rect">
            <a:avLst/>
          </a:prstGeom>
          <a:noFill/>
          <a:ln/>
        </p:spPr>
        <p:txBody>
          <a:bodyPr wrap="square" lIns="0" tIns="0" rIns="0" bIns="0" rtlCol="0" anchor="ctr"/>
          <a:lstStyle/>
          <a:p>
            <a:pPr algn="r" indent="0" marL="0">
              <a:buNone/>
            </a:pPr>
            <a:r>
              <a:rPr lang="en-US" sz="1300" dirty="0">
                <a:solidFill>
                  <a:srgbClr val="C4915F"/>
                </a:solidFill>
                <a:latin typeface="Apple SD Gothic Neo" pitchFamily="34" charset="0"/>
                <a:ea typeface="Apple SD Gothic Neo" pitchFamily="34" charset="-122"/>
                <a:cs typeface="Apple SD Gothic Neo" pitchFamily="34" charset="-120"/>
              </a:rPr>
              <a:t>경험</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0" name="Text 7"/>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REMADE · Care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리폼 · 세척 · 수선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수선이 비용 센터에서 로열티의 접점으로 바뀝니다</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MCM은 이미 인프라를 갖고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저희는 그 위에 경험을 얹습니다.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2026-08-20T00:43:43Z</dcterms:created>
  <dcterms:modified xsi:type="dcterms:W3CDTF">2026-08-20T00:43:43Z</dcterms:modified>
</cp:coreProperties>
</file>