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럭셔리는 새것일 때 가장 비쌉니다. 그래서 사람들은 쓰기를 두려워합니다. 저희는 그 방향을 뒤집었습니다.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타임라인 하나 위에 세 가지가 얹힙니다. 기록, 케어와 수선, 그리고 REMADE입니다. 이 뒤로는 왜 이렇게 만들었는지와 어떻게 동작하는지를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목업이 아니라 실제로 생성된 결과입니다. 손상 사진과 부위를 넣으면 AI가 그 자리에 어울리는 시안을 세 개 만듭니다. 사용자는 고르기만 하고 실물 제작은 MCM 매장이 합니다. 수선이 서비스가 아니라 상품이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럭셔리 브랜드의 광고와 매장은 새것 상태를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쓰면 생기는 일입니다. 그리고 이건 이 구간에만 생기는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불편은 감성이 아니라 돈입니다. 같은 제품도 구성품과 이력이 있느냐에 따라 리셀 가격이 30에서 40퍼센트 갈립니다. 명품 플랫폼에 소비자가 요구한 개선점 1위가 정품 보증 시스템이었고, 감정에서 걸러진 가품이 50개 중 1개입니다. 그런데 그 증빙을 지금은 각자 종이로 보관합니다. 보증서를 잃어버리는 순간 값도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있지만 원래대로 되돌려주는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기록이 값이 된다는 건 앞에서 봤습니다. 그런데 지금은 세 군데로 흩어져 있고, 모으라고 하면 아무도 하지 않습니다.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 한 장, 상황 칩 세 번, 여덟 초. 문장은 AI가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손상 부위에 어울리는 문양 시안 세 개를 만들고 실물은 MCM 장인이 만듭니다. AI가 손을 대체하지 않습니다. 진품성이 유지되고 세상에 하나뿐이라는 증명이 붙기 때문에 값이 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블록체인 패스포트를 갖고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비세토스의 마름모는 바이에른 깃발에서 왔고 독일어로 흰-파란 하늘이라는 뜻입니다. 그래서 배경에서 바람에 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스크롤을 멈추면 애니메이션도 멈춥니다. 수선은 제품 사진 위에서 부위를 직접 누릅니다.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Aura에 있습니다. 인프라 경쟁에 뛰어들면 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제조 이력은 한 번 보면 다시 볼 이유가 없습니다. 저희는 소유자 중심이라 재방문이 생기고, 그 재방문이 데이터가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86000"/>
            <a:ext cx="10607040" cy="2011680"/>
          </a:xfrm>
          <a:prstGeom prst="rect">
            <a:avLst/>
          </a:prstGeom>
          <a:noFill/>
          <a:ln/>
        </p:spPr>
        <p:txBody>
          <a:bodyPr wrap="square" lIns="0" tIns="0" rIns="0" bIns="0" rtlCol="0" anchor="ctr"/>
          <a:lstStyle/>
          <a:p>
            <a:pPr indent="0" marL="0">
              <a:lnSpc>
                <a:spcPts val="7400"/>
              </a:lnSpc>
              <a:buNone/>
            </a:pPr>
            <a:r>
              <a:rPr lang="en-US" sz="5200" b="1" dirty="0">
                <a:solidFill>
                  <a:srgbClr val="FFFFFF"/>
                </a:solidFill>
                <a:latin typeface="Apple SD Gothic Neo" pitchFamily="34" charset="0"/>
                <a:ea typeface="Apple SD Gothic Neo" pitchFamily="34" charset="-122"/>
                <a:cs typeface="Apple SD Gothic Neo" pitchFamily="34" charset="-120"/>
              </a:rPr>
              <a:t>흠을 지우지 않습니다.</a:t>
            </a:r>
            <a:endParaRPr lang="en-US" sz="5200" dirty="0"/>
          </a:p>
          <a:p>
            <a:pPr indent="0" marL="0">
              <a:lnSpc>
                <a:spcPts val="7400"/>
              </a:lnSpc>
              <a:buNone/>
            </a:pPr>
            <a:r>
              <a:rPr lang="en-US" sz="5200" b="1" dirty="0">
                <a:solidFill>
                  <a:srgbClr val="C4915F"/>
                </a:solidFill>
                <a:latin typeface="Apple SD Gothic Neo" pitchFamily="34" charset="0"/>
                <a:ea typeface="Apple SD Gothic Neo" pitchFamily="34" charset="-122"/>
                <a:cs typeface="Apple SD Gothic Neo" pitchFamily="34" charset="-120"/>
              </a:rPr>
              <a:t>나의 것으로 만듭니다</a:t>
            </a:r>
            <a:endParaRPr lang="en-US" sz="5200" dirty="0"/>
          </a:p>
        </p:txBody>
      </p:sp>
      <p:sp>
        <p:nvSpPr>
          <p:cNvPr id="5" name="Text 2"/>
          <p:cNvSpPr/>
          <p:nvPr/>
        </p:nvSpPr>
        <p:spPr>
          <a:xfrm>
            <a:off x="896112" y="4937760"/>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83664"/>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927860" y="3584448"/>
            <a:ext cx="8305800" cy="0"/>
          </a:xfrm>
          <a:prstGeom prst="line">
            <a:avLst/>
          </a:prstGeom>
          <a:noFill/>
          <a:ln w="12700">
            <a:solidFill>
              <a:srgbClr val="3A3025"/>
            </a:solidFill>
            <a:prstDash val="solid"/>
          </a:ln>
        </p:spPr>
      </p:sp>
      <p:sp>
        <p:nvSpPr>
          <p:cNvPr id="8" name="Shape 5"/>
          <p:cNvSpPr/>
          <p:nvPr/>
        </p:nvSpPr>
        <p:spPr>
          <a:xfrm>
            <a:off x="1868424" y="3525012"/>
            <a:ext cx="118872" cy="118872"/>
          </a:xfrm>
          <a:prstGeom prst="ellipse">
            <a:avLst/>
          </a:prstGeom>
          <a:solidFill>
            <a:srgbClr val="9A8F84"/>
          </a:solidFill>
          <a:ln/>
        </p:spPr>
      </p:sp>
      <p:sp>
        <p:nvSpPr>
          <p:cNvPr id="9" name="Text 6"/>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Shape 7"/>
          <p:cNvSpPr/>
          <p:nvPr/>
        </p:nvSpPr>
        <p:spPr>
          <a:xfrm>
            <a:off x="3529584" y="3525012"/>
            <a:ext cx="118872" cy="118872"/>
          </a:xfrm>
          <a:prstGeom prst="ellipse">
            <a:avLst/>
          </a:prstGeom>
          <a:solidFill>
            <a:srgbClr val="9A8F84"/>
          </a:solidFill>
          <a:ln/>
        </p:spPr>
      </p:sp>
      <p:sp>
        <p:nvSpPr>
          <p:cNvPr id="11" name="Text 8"/>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2" name="Shape 9"/>
          <p:cNvSpPr/>
          <p:nvPr/>
        </p:nvSpPr>
        <p:spPr>
          <a:xfrm>
            <a:off x="5190744" y="3525012"/>
            <a:ext cx="118872" cy="118872"/>
          </a:xfrm>
          <a:prstGeom prst="ellipse">
            <a:avLst/>
          </a:prstGeom>
          <a:solidFill>
            <a:srgbClr val="9A8F84"/>
          </a:solidFill>
          <a:ln/>
        </p:spPr>
      </p:sp>
      <p:sp>
        <p:nvSpPr>
          <p:cNvPr id="13" name="Text 10"/>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4" name="Shape 11"/>
          <p:cNvSpPr/>
          <p:nvPr/>
        </p:nvSpPr>
        <p:spPr>
          <a:xfrm>
            <a:off x="6824472" y="3497580"/>
            <a:ext cx="173736" cy="173736"/>
          </a:xfrm>
          <a:prstGeom prst="ellipse">
            <a:avLst/>
          </a:prstGeom>
          <a:solidFill>
            <a:srgbClr val="C4915F"/>
          </a:solidFill>
          <a:ln/>
        </p:spPr>
      </p:sp>
      <p:sp>
        <p:nvSpPr>
          <p:cNvPr id="15" name="Text 12"/>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6" name="Shape 13"/>
          <p:cNvSpPr/>
          <p:nvPr/>
        </p:nvSpPr>
        <p:spPr>
          <a:xfrm>
            <a:off x="8485632" y="3497580"/>
            <a:ext cx="173736" cy="173736"/>
          </a:xfrm>
          <a:prstGeom prst="ellipse">
            <a:avLst/>
          </a:prstGeom>
          <a:solidFill>
            <a:srgbClr val="C4915F"/>
          </a:solidFill>
          <a:ln/>
        </p:spPr>
      </p:sp>
      <p:sp>
        <p:nvSpPr>
          <p:cNvPr id="17" name="Text 14"/>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8" name="Shape 15"/>
          <p:cNvSpPr/>
          <p:nvPr/>
        </p:nvSpPr>
        <p:spPr>
          <a:xfrm>
            <a:off x="10146792" y="3497580"/>
            <a:ext cx="173736" cy="173736"/>
          </a:xfrm>
          <a:prstGeom prst="ellipse">
            <a:avLst/>
          </a:prstGeom>
          <a:solidFill>
            <a:srgbClr val="C4915F"/>
          </a:solidFill>
          <a:ln/>
        </p:spPr>
      </p:sp>
      <p:sp>
        <p:nvSpPr>
          <p:cNvPr id="19" name="Text 16"/>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20" name="Text 17"/>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1" name="Text 18"/>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 둘이 같이 있는 곳은 지금 없습니다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WE BUILT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타임라인 위에 세 가지가 얹힙니다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쌓인다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사진 한 장을 올리면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AI가 문장으로 남긴다.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케어 · 수선</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이어진다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제품 실사 위에서 부위를 눌러 접수하면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이력이 그대로 남는다.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REMADE</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값이 된다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긁힌 자리를 나만의 무늬로.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AI 시안, 장인 제작.</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긁힌 자리에 무늬를 새깁니다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pic>
        <p:nvPicPr>
          <p:cNvPr id="6" name="Image 1" descr="/private/tmp/claude-501/-Users-home-Desktop-likeGonzi/55b29f25-80a9-40cb-9e3c-00904cc11cc6/scratchpad/damage.jpg">    </p:cNvPr>
          <p:cNvPicPr>
            <a:picLocks noChangeAspect="1"/>
          </p:cNvPicPr>
          <p:nvPr/>
        </p:nvPicPr>
        <p:blipFill>
          <a:blip r:embed="rId2"/>
          <a:stretch>
            <a:fillRect/>
          </a:stretch>
        </p:blipFill>
        <p:spPr>
          <a:xfrm>
            <a:off x="877824" y="2212848"/>
            <a:ext cx="2395728" cy="2395728"/>
          </a:xfrm>
          <a:prstGeom prst="rect">
            <a:avLst/>
          </a:prstGeom>
        </p:spPr>
      </p:pic>
      <p:sp>
        <p:nvSpPr>
          <p:cNvPr id="7" name="Text 3"/>
          <p:cNvSpPr/>
          <p:nvPr/>
        </p:nvSpPr>
        <p:spPr>
          <a:xfrm>
            <a:off x="877824" y="4736592"/>
            <a:ext cx="2395728" cy="292608"/>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긁혔다</a:t>
            </a:r>
            <a:endParaRPr lang="en-US" sz="1300" dirty="0"/>
          </a:p>
        </p:txBody>
      </p:sp>
      <p:pic>
        <p:nvPicPr>
          <p:cNvPr id="8" name="Image 2" descr="/private/tmp/claude-501/-Users-home-Desktop-likeGonzi/55b29f25-80a9-40cb-9e3c-00904cc11cc6/scratchpad/remade-1.jpg">    </p:cNvPr>
          <p:cNvPicPr>
            <a:picLocks noChangeAspect="1"/>
          </p:cNvPicPr>
          <p:nvPr/>
        </p:nvPicPr>
        <p:blipFill>
          <a:blip r:embed="rId3"/>
          <a:stretch>
            <a:fillRect/>
          </a:stretch>
        </p:blipFill>
        <p:spPr>
          <a:xfrm>
            <a:off x="3547872" y="2212848"/>
            <a:ext cx="2395728" cy="2395728"/>
          </a:xfrm>
          <a:prstGeom prst="rect">
            <a:avLst/>
          </a:prstGeom>
        </p:spPr>
      </p:pic>
      <p:sp>
        <p:nvSpPr>
          <p:cNvPr id="9" name="Shape 4"/>
          <p:cNvSpPr/>
          <p:nvPr/>
        </p:nvSpPr>
        <p:spPr>
          <a:xfrm>
            <a:off x="3547872" y="2212848"/>
            <a:ext cx="2395728" cy="2395728"/>
          </a:xfrm>
          <a:prstGeom prst="rect">
            <a:avLst/>
          </a:prstGeom>
          <a:ln w="15875">
            <a:solidFill>
              <a:srgbClr val="C4915F"/>
            </a:solidFill>
            <a:prstDash val="solid"/>
          </a:ln>
        </p:spPr>
      </p:sp>
      <p:sp>
        <p:nvSpPr>
          <p:cNvPr id="10" name="Text 5"/>
          <p:cNvSpPr/>
          <p:nvPr/>
        </p:nvSpPr>
        <p:spPr>
          <a:xfrm>
            <a:off x="3547872"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A</a:t>
            </a:r>
            <a:endParaRPr lang="en-US" sz="1300" dirty="0"/>
          </a:p>
        </p:txBody>
      </p:sp>
      <p:pic>
        <p:nvPicPr>
          <p:cNvPr id="11" name="Image 3" descr="/private/tmp/claude-501/-Users-home-Desktop-likeGonzi/55b29f25-80a9-40cb-9e3c-00904cc11cc6/scratchpad/remade-2.jpg">    </p:cNvPr>
          <p:cNvPicPr>
            <a:picLocks noChangeAspect="1"/>
          </p:cNvPicPr>
          <p:nvPr/>
        </p:nvPicPr>
        <p:blipFill>
          <a:blip r:embed="rId4"/>
          <a:stretch>
            <a:fillRect/>
          </a:stretch>
        </p:blipFill>
        <p:spPr>
          <a:xfrm>
            <a:off x="6217920" y="2212848"/>
            <a:ext cx="2395728" cy="2395728"/>
          </a:xfrm>
          <a:prstGeom prst="rect">
            <a:avLst/>
          </a:prstGeom>
        </p:spPr>
      </p:pic>
      <p:sp>
        <p:nvSpPr>
          <p:cNvPr id="12" name="Shape 6"/>
          <p:cNvSpPr/>
          <p:nvPr/>
        </p:nvSpPr>
        <p:spPr>
          <a:xfrm>
            <a:off x="6217920" y="2212848"/>
            <a:ext cx="2395728" cy="2395728"/>
          </a:xfrm>
          <a:prstGeom prst="rect">
            <a:avLst/>
          </a:prstGeom>
          <a:ln w="15875">
            <a:solidFill>
              <a:srgbClr val="C4915F"/>
            </a:solidFill>
            <a:prstDash val="solid"/>
          </a:ln>
        </p:spPr>
      </p:sp>
      <p:sp>
        <p:nvSpPr>
          <p:cNvPr id="13" name="Text 7"/>
          <p:cNvSpPr/>
          <p:nvPr/>
        </p:nvSpPr>
        <p:spPr>
          <a:xfrm>
            <a:off x="6217920"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B</a:t>
            </a:r>
            <a:endParaRPr lang="en-US" sz="1300" dirty="0"/>
          </a:p>
        </p:txBody>
      </p:sp>
      <p:pic>
        <p:nvPicPr>
          <p:cNvPr id="14" name="Image 4" descr="/private/tmp/claude-501/-Users-home-Desktop-likeGonzi/55b29f25-80a9-40cb-9e3c-00904cc11cc6/scratchpad/remade-3.jpg">    </p:cNvPr>
          <p:cNvPicPr>
            <a:picLocks noChangeAspect="1"/>
          </p:cNvPicPr>
          <p:nvPr/>
        </p:nvPicPr>
        <p:blipFill>
          <a:blip r:embed="rId5"/>
          <a:stretch>
            <a:fillRect/>
          </a:stretch>
        </p:blipFill>
        <p:spPr>
          <a:xfrm>
            <a:off x="8887968" y="2212848"/>
            <a:ext cx="2395728" cy="2395728"/>
          </a:xfrm>
          <a:prstGeom prst="rect">
            <a:avLst/>
          </a:prstGeom>
        </p:spPr>
      </p:pic>
      <p:sp>
        <p:nvSpPr>
          <p:cNvPr id="15" name="Shape 8"/>
          <p:cNvSpPr/>
          <p:nvPr/>
        </p:nvSpPr>
        <p:spPr>
          <a:xfrm>
            <a:off x="8887968" y="2212848"/>
            <a:ext cx="2395728" cy="2395728"/>
          </a:xfrm>
          <a:prstGeom prst="rect">
            <a:avLst/>
          </a:prstGeom>
          <a:ln w="15875">
            <a:solidFill>
              <a:srgbClr val="C4915F"/>
            </a:solidFill>
            <a:prstDash val="solid"/>
          </a:ln>
        </p:spPr>
      </p:sp>
      <p:sp>
        <p:nvSpPr>
          <p:cNvPr id="16" name="Text 9"/>
          <p:cNvSpPr/>
          <p:nvPr/>
        </p:nvSpPr>
        <p:spPr>
          <a:xfrm>
            <a:off x="8887968"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C</a:t>
            </a:r>
            <a:endParaRPr lang="en-US" sz="1300" dirty="0"/>
          </a:p>
        </p:txBody>
      </p:sp>
      <p:sp>
        <p:nvSpPr>
          <p:cNvPr id="17" name="Text 10"/>
          <p:cNvSpPr/>
          <p:nvPr/>
        </p:nvSpPr>
        <p:spPr>
          <a:xfrm>
            <a:off x="914400" y="5541264"/>
            <a:ext cx="103327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실제 생성 결과입니다. 사용자는 셋 중 하나를 고르고, 제작은 MCM 매장이 합니다.</a:t>
            </a:r>
            <a:endParaRPr lang="en-US" sz="1600" dirty="0"/>
          </a:p>
        </p:txBody>
      </p:sp>
      <p:sp>
        <p:nvSpPr>
          <p:cNvPr id="18" name="Text 1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이걸 만들었나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사용 빈도라는 축을 하나 더 두면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그래서 사람들은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쓰지 않습니다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 빈도로 보면 자리가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드는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pic>
        <p:nvPicPr>
          <p:cNvPr id="3" name="Image 1" descr="/private/tmp/claude-501/-Users-home-Desktop-likeGonzi/55b29f25-80a9-40cb-9e3c-00904cc11cc6/scratchpad/product.png">    </p:cNvPr>
          <p:cNvPicPr>
            <a:picLocks noChangeAspect="1"/>
          </p:cNvPicPr>
          <p:nvPr/>
        </p:nvPicPr>
        <p:blipFill>
          <a:blip r:embed="rId2"/>
          <a:stretch>
            <a:fillRect/>
          </a:stretch>
        </p:blipFill>
        <p:spPr>
          <a:xfrm>
            <a:off x="822960" y="1371600"/>
            <a:ext cx="4114800" cy="4114800"/>
          </a:xfrm>
          <a:prstGeom prst="rect">
            <a:avLst/>
          </a:prstGeom>
        </p:spPr>
      </p:pic>
      <p:sp>
        <p:nvSpPr>
          <p:cNvPr id="4" name="Text 0"/>
          <p:cNvSpPr/>
          <p:nvPr/>
        </p:nvSpPr>
        <p:spPr>
          <a:xfrm>
            <a:off x="5577840" y="2103120"/>
            <a:ext cx="5760720" cy="1737360"/>
          </a:xfrm>
          <a:prstGeom prst="rect">
            <a:avLst/>
          </a:prstGeom>
          <a:noFill/>
          <a:ln/>
        </p:spPr>
        <p:txBody>
          <a:bodyPr wrap="square" lIns="0" tIns="0" rIns="0" bIns="0" rtlCol="0" anchor="ctr"/>
          <a:lstStyle/>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MCM은</a:t>
            </a:r>
            <a:endParaRPr lang="en-US" sz="4000" dirty="0"/>
          </a:p>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드는 가방입니다</a:t>
            </a:r>
            <a:endParaRPr lang="en-US" sz="4000" dirty="0"/>
          </a:p>
        </p:txBody>
      </p:sp>
      <p:sp>
        <p:nvSpPr>
          <p:cNvPr id="5" name="Text 1"/>
          <p:cNvSpPr/>
          <p:nvPr/>
        </p:nvSpPr>
        <p:spPr>
          <a:xfrm>
            <a:off x="5623560" y="4041648"/>
            <a:ext cx="5760720" cy="384048"/>
          </a:xfrm>
          <a:prstGeom prst="rect">
            <a:avLst/>
          </a:prstGeom>
          <a:noFill/>
          <a:ln/>
        </p:spPr>
        <p:txBody>
          <a:bodyPr wrap="square" lIns="0" tIns="0" rIns="0" bIns="0" rtlCol="0" anchor="ctr"/>
          <a:lstStyle/>
          <a:p>
            <a:pPr indent="0" marL="0">
              <a:buNone/>
            </a:pPr>
            <a:r>
              <a:rPr lang="en-US" sz="1800" dirty="0">
                <a:solidFill>
                  <a:srgbClr val="C4915F"/>
                </a:solidFill>
                <a:latin typeface="Apple SD Gothic Neo" pitchFamily="34" charset="0"/>
                <a:ea typeface="Apple SD Gothic Neo" pitchFamily="34" charset="-122"/>
                <a:cs typeface="Apple SD Gothic Neo" pitchFamily="34" charset="-120"/>
              </a:rPr>
              <a:t>그래서 언제든 고칠 수 있어야 합니다</a:t>
            </a:r>
            <a:endParaRPr lang="en-US" sz="1800" dirty="0"/>
          </a:p>
        </p:txBody>
      </p:sp>
      <p:sp>
        <p:nvSpPr>
          <p:cNvPr id="6"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매일 쓰면 상합니다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상함을 다루는 방식이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고쳐 쓸 값은 합니다.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ACTUALLY HURTS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기록이 없으면 값을 잃습니다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30–40%</a:t>
            </a:r>
            <a:endParaRPr lang="en-US" sz="4000" dirty="0"/>
          </a:p>
        </p:txBody>
      </p:sp>
      <p:sp>
        <p:nvSpPr>
          <p:cNvPr id="7" name="Text 4"/>
          <p:cNvSpPr/>
          <p:nvPr/>
        </p:nvSpPr>
        <p:spPr>
          <a:xfrm>
            <a:off x="140817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같은 제품도 구성품과 이력 유무로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리셀 가격이 갈린다</a:t>
            </a:r>
            <a:endParaRPr lang="en-US" sz="1400" dirty="0"/>
          </a:p>
        </p:txBody>
      </p:sp>
      <p:sp>
        <p:nvSpPr>
          <p:cNvPr id="8" name="Shape 5"/>
          <p:cNvSpPr/>
          <p:nvPr/>
        </p:nvSpPr>
        <p:spPr>
          <a:xfrm>
            <a:off x="4419600" y="2743200"/>
            <a:ext cx="0" cy="1645920"/>
          </a:xfrm>
          <a:prstGeom prst="line">
            <a:avLst/>
          </a:prstGeom>
          <a:noFill/>
          <a:ln w="9525">
            <a:solidFill>
              <a:srgbClr val="3A3025"/>
            </a:solidFill>
            <a:prstDash val="solid"/>
          </a:ln>
        </p:spPr>
      </p:sp>
      <p:sp>
        <p:nvSpPr>
          <p:cNvPr id="9" name="Text 6"/>
          <p:cNvSpPr/>
          <p:nvPr/>
        </p:nvSpPr>
        <p:spPr>
          <a:xfrm>
            <a:off x="473049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1위</a:t>
            </a:r>
            <a:endParaRPr lang="en-US" sz="4000" dirty="0"/>
          </a:p>
        </p:txBody>
      </p:sp>
      <p:sp>
        <p:nvSpPr>
          <p:cNvPr id="10" name="Text 7"/>
          <p:cNvSpPr/>
          <p:nvPr/>
        </p:nvSpPr>
        <p:spPr>
          <a:xfrm>
            <a:off x="473049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명품 플랫폼에 소비자가 요구한 개선점</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 정품 보증 시스템 강화</a:t>
            </a:r>
            <a:endParaRPr lang="en-US" sz="1400" dirty="0"/>
          </a:p>
        </p:txBody>
      </p:sp>
      <p:sp>
        <p:nvSpPr>
          <p:cNvPr id="11" name="Shape 8"/>
          <p:cNvSpPr/>
          <p:nvPr/>
        </p:nvSpPr>
        <p:spPr>
          <a:xfrm>
            <a:off x="7741920" y="2743200"/>
            <a:ext cx="0" cy="1645920"/>
          </a:xfrm>
          <a:prstGeom prst="line">
            <a:avLst/>
          </a:prstGeom>
          <a:noFill/>
          <a:ln w="9525">
            <a:solidFill>
              <a:srgbClr val="3A3025"/>
            </a:solidFill>
            <a:prstDash val="solid"/>
          </a:ln>
        </p:spPr>
      </p:sp>
      <p:sp>
        <p:nvSpPr>
          <p:cNvPr id="12" name="Text 9"/>
          <p:cNvSpPr/>
          <p:nvPr/>
        </p:nvSpPr>
        <p:spPr>
          <a:xfrm>
            <a:off x="805281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50개 중 1개</a:t>
            </a:r>
            <a:endParaRPr lang="en-US" sz="4000" dirty="0"/>
          </a:p>
        </p:txBody>
      </p:sp>
      <p:sp>
        <p:nvSpPr>
          <p:cNvPr id="13" name="Text 10"/>
          <p:cNvSpPr/>
          <p:nvPr/>
        </p:nvSpPr>
        <p:spPr>
          <a:xfrm>
            <a:off x="805281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감정에서 걸러진 가품 비율.</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40%는 백화점·아웃렛에서 산 것</a:t>
            </a:r>
            <a:endParaRPr lang="en-US" sz="1400" dirty="0"/>
          </a:p>
        </p:txBody>
      </p:sp>
      <p:sp>
        <p:nvSpPr>
          <p:cNvPr id="14" name="Text 11"/>
          <p:cNvSpPr/>
          <p:nvPr/>
        </p:nvSpPr>
        <p:spPr>
          <a:xfrm>
            <a:off x="914400" y="4882896"/>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보증서 분실과 일련번호 불일치가 명품 거래 분쟁의 주된 원인입니다</a:t>
            </a:r>
            <a:endParaRPr lang="en-US" sz="1800" dirty="0"/>
          </a:p>
        </p:txBody>
      </p:sp>
      <p:sp>
        <p:nvSpPr>
          <p:cNvPr id="15" name="Text 12"/>
          <p:cNvSpPr/>
          <p:nvPr/>
        </p:nvSpPr>
        <p:spPr>
          <a:xfrm>
            <a:off x="731520" y="6400800"/>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트렌비 감정센터 · 명품 플랫폼 소비자 조사 · 한국소비자원 (2025)</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지금 이 문제를 푸는 브랜드는 없습니다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흠이 역사가 된다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고칠수록 나만의 것이 되는 이유</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내 가방의 역사이자,</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MCM의 역사입니다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당당합니다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어떻게 동작하나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AI가 마찰을 없애고 흠을 무늬로 바꾼다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FRICTION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기록은 흩어졌다가 사라집니다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사진</a:t>
            </a:r>
            <a:endParaRPr lang="en-US" sz="2400" dirty="0"/>
          </a:p>
        </p:txBody>
      </p:sp>
      <p:sp>
        <p:nvSpPr>
          <p:cNvPr id="7" name="Text 4"/>
          <p:cNvSpPr/>
          <p:nvPr/>
        </p:nvSpPr>
        <p:spPr>
          <a:xfrm>
            <a:off x="140817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SNS와 갤러리에</a:t>
            </a:r>
            <a:endParaRPr lang="en-US" sz="1400" dirty="0"/>
          </a:p>
        </p:txBody>
      </p:sp>
      <p:sp>
        <p:nvSpPr>
          <p:cNvPr id="8" name="Shape 5"/>
          <p:cNvSpPr/>
          <p:nvPr/>
        </p:nvSpPr>
        <p:spPr>
          <a:xfrm>
            <a:off x="4419600" y="2834640"/>
            <a:ext cx="0" cy="1097280"/>
          </a:xfrm>
          <a:prstGeom prst="line">
            <a:avLst/>
          </a:prstGeom>
          <a:noFill/>
          <a:ln w="9525">
            <a:solidFill>
              <a:srgbClr val="3A3025"/>
            </a:solidFill>
            <a:prstDash val="solid"/>
          </a:ln>
        </p:spPr>
      </p:sp>
      <p:sp>
        <p:nvSpPr>
          <p:cNvPr id="9" name="Text 6"/>
          <p:cNvSpPr/>
          <p:nvPr/>
        </p:nvSpPr>
        <p:spPr>
          <a:xfrm>
            <a:off x="473049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구매 · 보증</a:t>
            </a:r>
            <a:endParaRPr lang="en-US" sz="2400" dirty="0"/>
          </a:p>
        </p:txBody>
      </p:sp>
      <p:sp>
        <p:nvSpPr>
          <p:cNvPr id="10" name="Text 7"/>
          <p:cNvSpPr/>
          <p:nvPr/>
        </p:nvSpPr>
        <p:spPr>
          <a:xfrm>
            <a:off x="473049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종이 영수증과 카드에</a:t>
            </a:r>
            <a:endParaRPr lang="en-US" sz="1400" dirty="0"/>
          </a:p>
        </p:txBody>
      </p:sp>
      <p:sp>
        <p:nvSpPr>
          <p:cNvPr id="11" name="Shape 8"/>
          <p:cNvSpPr/>
          <p:nvPr/>
        </p:nvSpPr>
        <p:spPr>
          <a:xfrm>
            <a:off x="7741920" y="2834640"/>
            <a:ext cx="0" cy="1097280"/>
          </a:xfrm>
          <a:prstGeom prst="line">
            <a:avLst/>
          </a:prstGeom>
          <a:noFill/>
          <a:ln w="9525">
            <a:solidFill>
              <a:srgbClr val="3A3025"/>
            </a:solidFill>
            <a:prstDash val="solid"/>
          </a:ln>
        </p:spPr>
      </p:sp>
      <p:sp>
        <p:nvSpPr>
          <p:cNvPr id="12" name="Text 9"/>
          <p:cNvSpPr/>
          <p:nvPr/>
        </p:nvSpPr>
        <p:spPr>
          <a:xfrm>
            <a:off x="805281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수선 이력</a:t>
            </a:r>
            <a:endParaRPr lang="en-US" sz="2400" dirty="0"/>
          </a:p>
        </p:txBody>
      </p:sp>
      <p:sp>
        <p:nvSpPr>
          <p:cNvPr id="13" name="Text 10"/>
          <p:cNvSpPr/>
          <p:nvPr/>
        </p:nvSpPr>
        <p:spPr>
          <a:xfrm>
            <a:off x="805281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브랜드 내부에만</a:t>
            </a:r>
            <a:endParaRPr lang="en-US" sz="1400" dirty="0"/>
          </a:p>
        </p:txBody>
      </p:sp>
      <p:sp>
        <p:nvSpPr>
          <p:cNvPr id="14" name="Text 11"/>
          <p:cNvSpPr/>
          <p:nvPr/>
        </p:nvSpPr>
        <p:spPr>
          <a:xfrm>
            <a:off x="914400" y="4443984"/>
            <a:ext cx="103327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모으라고 하면 아무도 하지 않습니다</a:t>
            </a:r>
            <a:endParaRPr lang="en-US" sz="2400" dirty="0"/>
          </a:p>
        </p:txBody>
      </p:sp>
      <p:sp>
        <p:nvSpPr>
          <p:cNvPr id="15" name="Shape 12"/>
          <p:cNvSpPr/>
          <p:nvPr/>
        </p:nvSpPr>
        <p:spPr>
          <a:xfrm>
            <a:off x="4023360" y="5084064"/>
            <a:ext cx="4114800" cy="0"/>
          </a:xfrm>
          <a:prstGeom prst="line">
            <a:avLst/>
          </a:prstGeom>
          <a:noFill/>
          <a:ln w="9525">
            <a:solidFill>
              <a:srgbClr val="3A3025"/>
            </a:solidFill>
            <a:prstDash val="solid"/>
          </a:ln>
        </p:spPr>
      </p:sp>
      <p:sp>
        <p:nvSpPr>
          <p:cNvPr id="16" name="Text 13"/>
          <p:cNvSpPr/>
          <p:nvPr/>
        </p:nvSpPr>
        <p:spPr>
          <a:xfrm>
            <a:off x="914400" y="5321808"/>
            <a:ext cx="10332720" cy="329184"/>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입력창을 더 주면 더 안 합니다</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사진을 올리면</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AI가 알아서 기록합니다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사용자가 하는 일은 사진 한 장뿐입니다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만드는 수선 상품입니다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01</a:t>
            </a:r>
            <a:endParaRPr lang="en-US" sz="1300" dirty="0"/>
          </a:p>
        </p:txBody>
      </p:sp>
      <p:sp>
        <p:nvSpPr>
          <p:cNvPr id="7" name="Text 4"/>
          <p:cNvSpPr/>
          <p:nvPr/>
        </p:nvSpPr>
        <p:spPr>
          <a:xfrm>
            <a:off x="142646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긁혔다</a:t>
            </a:r>
            <a:endParaRPr lang="en-US" sz="2200" dirty="0"/>
          </a:p>
        </p:txBody>
      </p:sp>
      <p:sp>
        <p:nvSpPr>
          <p:cNvPr id="8" name="Shape 5"/>
          <p:cNvSpPr/>
          <p:nvPr/>
        </p:nvSpPr>
        <p:spPr>
          <a:xfrm>
            <a:off x="3589020" y="3072384"/>
            <a:ext cx="0" cy="1005840"/>
          </a:xfrm>
          <a:prstGeom prst="line">
            <a:avLst/>
          </a:prstGeom>
          <a:noFill/>
          <a:ln w="9525">
            <a:solidFill>
              <a:srgbClr val="3A3025"/>
            </a:solidFill>
            <a:prstDash val="solid"/>
          </a:ln>
        </p:spPr>
      </p:sp>
      <p:sp>
        <p:nvSpPr>
          <p:cNvPr id="9" name="Text 6"/>
          <p:cNvSpPr/>
          <p:nvPr/>
        </p:nvSpPr>
        <p:spPr>
          <a:xfrm>
            <a:off x="391820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02</a:t>
            </a:r>
            <a:endParaRPr lang="en-US" sz="1300" dirty="0"/>
          </a:p>
        </p:txBody>
      </p:sp>
      <p:sp>
        <p:nvSpPr>
          <p:cNvPr id="10" name="Text 7"/>
          <p:cNvSpPr/>
          <p:nvPr/>
        </p:nvSpPr>
        <p:spPr>
          <a:xfrm>
            <a:off x="391820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AI가 그린다</a:t>
            </a:r>
            <a:endParaRPr lang="en-US" sz="2200" dirty="0"/>
          </a:p>
        </p:txBody>
      </p:sp>
      <p:sp>
        <p:nvSpPr>
          <p:cNvPr id="11" name="Shape 8"/>
          <p:cNvSpPr/>
          <p:nvPr/>
        </p:nvSpPr>
        <p:spPr>
          <a:xfrm>
            <a:off x="6080760" y="3072384"/>
            <a:ext cx="0" cy="1005840"/>
          </a:xfrm>
          <a:prstGeom prst="line">
            <a:avLst/>
          </a:prstGeom>
          <a:noFill/>
          <a:ln w="9525">
            <a:solidFill>
              <a:srgbClr val="3A3025"/>
            </a:solidFill>
            <a:prstDash val="solid"/>
          </a:ln>
        </p:spPr>
      </p:sp>
      <p:sp>
        <p:nvSpPr>
          <p:cNvPr id="12" name="Text 9"/>
          <p:cNvSpPr/>
          <p:nvPr/>
        </p:nvSpPr>
        <p:spPr>
          <a:xfrm>
            <a:off x="640994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03</a:t>
            </a:r>
            <a:endParaRPr lang="en-US" sz="1300" dirty="0"/>
          </a:p>
        </p:txBody>
      </p:sp>
      <p:sp>
        <p:nvSpPr>
          <p:cNvPr id="13" name="Text 10"/>
          <p:cNvSpPr/>
          <p:nvPr/>
        </p:nvSpPr>
        <p:spPr>
          <a:xfrm>
            <a:off x="6409944" y="3493008"/>
            <a:ext cx="1851660" cy="402336"/>
          </a:xfrm>
          <a:prstGeom prst="rect">
            <a:avLst/>
          </a:prstGeom>
          <a:noFill/>
          <a:ln/>
        </p:spPr>
        <p:txBody>
          <a:bodyPr wrap="square" lIns="0" tIns="0" rIns="0" bIns="0" rtlCol="0" anchor="ctr"/>
          <a:lstStyle/>
          <a:p>
            <a:pPr indent="0" marL="0">
              <a:buNone/>
            </a:pPr>
            <a:r>
              <a:rPr lang="en-US" sz="2200" b="1" dirty="0">
                <a:solidFill>
                  <a:srgbClr val="C4915F"/>
                </a:solidFill>
                <a:latin typeface="Apple SD Gothic Neo" pitchFamily="34" charset="0"/>
                <a:ea typeface="Apple SD Gothic Neo" pitchFamily="34" charset="-122"/>
                <a:cs typeface="Apple SD Gothic Neo" pitchFamily="34" charset="-120"/>
              </a:rPr>
              <a:t>장인이 만든다</a:t>
            </a:r>
            <a:endParaRPr lang="en-US" sz="2200" dirty="0"/>
          </a:p>
        </p:txBody>
      </p:sp>
      <p:sp>
        <p:nvSpPr>
          <p:cNvPr id="14" name="Shape 11"/>
          <p:cNvSpPr/>
          <p:nvPr/>
        </p:nvSpPr>
        <p:spPr>
          <a:xfrm>
            <a:off x="8572500" y="3072384"/>
            <a:ext cx="0" cy="1005840"/>
          </a:xfrm>
          <a:prstGeom prst="line">
            <a:avLst/>
          </a:prstGeom>
          <a:noFill/>
          <a:ln w="9525">
            <a:solidFill>
              <a:srgbClr val="3A3025"/>
            </a:solidFill>
            <a:prstDash val="solid"/>
          </a:ln>
        </p:spPr>
      </p:sp>
      <p:sp>
        <p:nvSpPr>
          <p:cNvPr id="15" name="Text 12"/>
          <p:cNvSpPr/>
          <p:nvPr/>
        </p:nvSpPr>
        <p:spPr>
          <a:xfrm>
            <a:off x="890168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04</a:t>
            </a:r>
            <a:endParaRPr lang="en-US" sz="1300" dirty="0"/>
          </a:p>
        </p:txBody>
      </p:sp>
      <p:sp>
        <p:nvSpPr>
          <p:cNvPr id="16" name="Text 13"/>
          <p:cNvSpPr/>
          <p:nvPr/>
        </p:nvSpPr>
        <p:spPr>
          <a:xfrm>
            <a:off x="890168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기록된다</a:t>
            </a:r>
            <a:endParaRPr lang="en-US" sz="2200" dirty="0"/>
          </a:p>
        </p:txBody>
      </p:sp>
      <p:pic>
        <p:nvPicPr>
          <p:cNvPr id="17" name="Image 1" descr="/private/tmp/claude-501/-Users-home-Desktop-likeGonzi/55b29f25-80a9-40cb-9e3c-00904cc11cc6/scratchpad/damage.jpg">    </p:cNvPr>
          <p:cNvPicPr>
            <a:picLocks noChangeAspect="1"/>
          </p:cNvPicPr>
          <p:nvPr/>
        </p:nvPicPr>
        <p:blipFill>
          <a:blip r:embed="rId2"/>
          <a:stretch>
            <a:fillRect/>
          </a:stretch>
        </p:blipFill>
        <p:spPr>
          <a:xfrm>
            <a:off x="1417320" y="4224528"/>
            <a:ext cx="1371600" cy="1371600"/>
          </a:xfrm>
          <a:prstGeom prst="rect">
            <a:avLst/>
          </a:prstGeom>
        </p:spPr>
      </p:pic>
      <p:sp>
        <p:nvSpPr>
          <p:cNvPr id="18" name="Text 14"/>
          <p:cNvSpPr/>
          <p:nvPr/>
        </p:nvSpPr>
        <p:spPr>
          <a:xfrm>
            <a:off x="2926080" y="4791456"/>
            <a:ext cx="365760" cy="274320"/>
          </a:xfrm>
          <a:prstGeom prst="rect">
            <a:avLst/>
          </a:prstGeom>
          <a:noFill/>
          <a:ln/>
        </p:spPr>
        <p:txBody>
          <a:bodyPr wrap="square" lIns="0" tIns="0" rIns="0" bIns="0" rtlCol="0" anchor="ctr"/>
          <a:lstStyle/>
          <a:p>
            <a:pPr algn="ctr" indent="0" marL="0">
              <a:buNone/>
            </a:pPr>
            <a:r>
              <a:rPr lang="en-US" sz="1500" dirty="0">
                <a:solidFill>
                  <a:srgbClr val="6E6459"/>
                </a:solidFill>
                <a:latin typeface="Apple SD Gothic Neo" pitchFamily="34" charset="0"/>
                <a:ea typeface="Apple SD Gothic Neo" pitchFamily="34" charset="-122"/>
                <a:cs typeface="Apple SD Gothic Neo" pitchFamily="34" charset="-120"/>
              </a:rPr>
              <a:t>→</a:t>
            </a:r>
            <a:endParaRPr lang="en-US" sz="1500" dirty="0"/>
          </a:p>
        </p:txBody>
      </p:sp>
      <p:pic>
        <p:nvPicPr>
          <p:cNvPr id="19" name="Image 2" descr="/private/tmp/claude-501/-Users-home-Desktop-likeGonzi/55b29f25-80a9-40cb-9e3c-00904cc11cc6/scratchpad/remade-1.jpg">    </p:cNvPr>
          <p:cNvPicPr>
            <a:picLocks noChangeAspect="1"/>
          </p:cNvPicPr>
          <p:nvPr/>
        </p:nvPicPr>
        <p:blipFill>
          <a:blip r:embed="rId3"/>
          <a:stretch>
            <a:fillRect/>
          </a:stretch>
        </p:blipFill>
        <p:spPr>
          <a:xfrm>
            <a:off x="3429000" y="4224528"/>
            <a:ext cx="1371600" cy="1371600"/>
          </a:xfrm>
          <a:prstGeom prst="rect">
            <a:avLst/>
          </a:prstGeom>
        </p:spPr>
      </p:pic>
      <p:pic>
        <p:nvPicPr>
          <p:cNvPr id="20" name="Image 3" descr="/private/tmp/claude-501/-Users-home-Desktop-likeGonzi/55b29f25-80a9-40cb-9e3c-00904cc11cc6/scratchpad/remade-2.jpg">    </p:cNvPr>
          <p:cNvPicPr>
            <a:picLocks noChangeAspect="1"/>
          </p:cNvPicPr>
          <p:nvPr/>
        </p:nvPicPr>
        <p:blipFill>
          <a:blip r:embed="rId4"/>
          <a:stretch>
            <a:fillRect/>
          </a:stretch>
        </p:blipFill>
        <p:spPr>
          <a:xfrm>
            <a:off x="4983480" y="4224528"/>
            <a:ext cx="1371600" cy="1371600"/>
          </a:xfrm>
          <a:prstGeom prst="rect">
            <a:avLst/>
          </a:prstGeom>
        </p:spPr>
      </p:pic>
      <p:pic>
        <p:nvPicPr>
          <p:cNvPr id="21" name="Image 4" descr="/private/tmp/claude-501/-Users-home-Desktop-likeGonzi/55b29f25-80a9-40cb-9e3c-00904cc11cc6/scratchpad/remade-3.jpg">    </p:cNvPr>
          <p:cNvPicPr>
            <a:picLocks noChangeAspect="1"/>
          </p:cNvPicPr>
          <p:nvPr/>
        </p:nvPicPr>
        <p:blipFill>
          <a:blip r:embed="rId5"/>
          <a:stretch>
            <a:fillRect/>
          </a:stretch>
        </p:blipFill>
        <p:spPr>
          <a:xfrm>
            <a:off x="6537960" y="4224528"/>
            <a:ext cx="1371600" cy="1371600"/>
          </a:xfrm>
          <a:prstGeom prst="rect">
            <a:avLst/>
          </a:prstGeom>
        </p:spPr>
      </p:pic>
      <p:sp>
        <p:nvSpPr>
          <p:cNvPr id="22" name="Text 15"/>
          <p:cNvSpPr/>
          <p:nvPr/>
        </p:nvSpPr>
        <p:spPr>
          <a:xfrm>
            <a:off x="8321040" y="4443984"/>
            <a:ext cx="2926080" cy="822960"/>
          </a:xfrm>
          <a:prstGeom prst="rect">
            <a:avLst/>
          </a:prstGeom>
          <a:noFill/>
          <a:ln/>
        </p:spPr>
        <p:txBody>
          <a:bodyPr wrap="square" lIns="0" tIns="0" rIns="0" bIns="0" rtlCol="0" anchor="ctr"/>
          <a:lstStyle/>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AI는 시안만 그립니다.</a:t>
            </a:r>
            <a:endParaRPr lang="en-US" sz="1600" dirty="0"/>
          </a:p>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만드는 건 MCM 매장입니다.</a:t>
            </a:r>
            <a:endParaRPr lang="en-US" sz="1600" dirty="0"/>
          </a:p>
        </p:txBody>
      </p:sp>
      <p:sp>
        <p:nvSpPr>
          <p:cNvPr id="23" name="Text 16"/>
          <p:cNvSpPr/>
          <p:nvPr/>
        </p:nvSpPr>
        <p:spPr>
          <a:xfrm>
            <a:off x="914400" y="5870448"/>
            <a:ext cx="10332720" cy="329184"/>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리폼하면 보통 리셀가가 떨어집니다. 브랜드 공식 리폼 + DPP 기록이면 오히려 오릅니다.</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MCM이 이미 가진 것을</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그대로 씁니다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BRAND ASSETS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288"/>
              </a:lnSpc>
              <a:buNone/>
            </a:pPr>
            <a:r>
              <a:rPr lang="en-US" sz="3200" b="1" dirty="0">
                <a:solidFill>
                  <a:srgbClr val="FFFFFF"/>
                </a:solidFill>
                <a:latin typeface="Apple SD Gothic Neo" pitchFamily="34" charset="0"/>
                <a:ea typeface="Apple SD Gothic Neo" pitchFamily="34" charset="-122"/>
                <a:cs typeface="Apple SD Gothic Neo" pitchFamily="34" charset="-120"/>
              </a:rPr>
              <a:t>브랜드 자산이 화면에서 일을 합니다</a:t>
            </a:r>
            <a:endParaRPr lang="en-US" sz="32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92608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비세토스 마름모</a:t>
            </a:r>
            <a:endParaRPr lang="en-US" sz="1800" dirty="0"/>
          </a:p>
        </p:txBody>
      </p:sp>
      <p:sp>
        <p:nvSpPr>
          <p:cNvPr id="7" name="Text 4"/>
          <p:cNvSpPr/>
          <p:nvPr/>
        </p:nvSpPr>
        <p:spPr>
          <a:xfrm>
            <a:off x="4572000" y="296265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바이에른 깃발 = 흰-파란 하늘</a:t>
            </a:r>
            <a:endParaRPr lang="en-US" sz="1400" dirty="0"/>
          </a:p>
        </p:txBody>
      </p:sp>
      <p:sp>
        <p:nvSpPr>
          <p:cNvPr id="8" name="Text 5"/>
          <p:cNvSpPr/>
          <p:nvPr/>
        </p:nvSpPr>
        <p:spPr>
          <a:xfrm>
            <a:off x="8503920" y="294436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배경에서 바람에 흐른다</a:t>
            </a:r>
            <a:endParaRPr lang="en-US" sz="1500" dirty="0"/>
          </a:p>
        </p:txBody>
      </p:sp>
      <p:sp>
        <p:nvSpPr>
          <p:cNvPr id="9" name="Shape 6"/>
          <p:cNvSpPr/>
          <p:nvPr/>
        </p:nvSpPr>
        <p:spPr>
          <a:xfrm>
            <a:off x="1097280" y="3547872"/>
            <a:ext cx="9966960" cy="0"/>
          </a:xfrm>
          <a:prstGeom prst="line">
            <a:avLst/>
          </a:prstGeom>
          <a:noFill/>
          <a:ln w="9525">
            <a:solidFill>
              <a:srgbClr val="3A3025"/>
            </a:solidFill>
            <a:prstDash val="solid"/>
          </a:ln>
        </p:spPr>
      </p:sp>
      <p:sp>
        <p:nvSpPr>
          <p:cNvPr id="10" name="Text 7"/>
          <p:cNvSpPr/>
          <p:nvPr/>
        </p:nvSpPr>
        <p:spPr>
          <a:xfrm>
            <a:off x="1188720" y="374904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로렐</a:t>
            </a:r>
            <a:endParaRPr lang="en-US" sz="1800" dirty="0"/>
          </a:p>
        </p:txBody>
      </p:sp>
      <p:sp>
        <p:nvSpPr>
          <p:cNvPr id="11" name="Text 8"/>
          <p:cNvSpPr/>
          <p:nvPr/>
        </p:nvSpPr>
        <p:spPr>
          <a:xfrm>
            <a:off x="4572000" y="378561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승리 · 명예의 상징</a:t>
            </a:r>
            <a:endParaRPr lang="en-US" sz="1400" dirty="0"/>
          </a:p>
        </p:txBody>
      </p:sp>
      <p:sp>
        <p:nvSpPr>
          <p:cNvPr id="12" name="Text 9"/>
          <p:cNvSpPr/>
          <p:nvPr/>
        </p:nvSpPr>
        <p:spPr>
          <a:xfrm>
            <a:off x="8503920" y="376732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정품 인증 배지</a:t>
            </a:r>
            <a:endParaRPr lang="en-US" sz="1500" dirty="0"/>
          </a:p>
        </p:txBody>
      </p:sp>
      <p:sp>
        <p:nvSpPr>
          <p:cNvPr id="13" name="Shape 10"/>
          <p:cNvSpPr/>
          <p:nvPr/>
        </p:nvSpPr>
        <p:spPr>
          <a:xfrm>
            <a:off x="1097280" y="4370832"/>
            <a:ext cx="9966960" cy="0"/>
          </a:xfrm>
          <a:prstGeom prst="line">
            <a:avLst/>
          </a:prstGeom>
          <a:noFill/>
          <a:ln w="9525">
            <a:solidFill>
              <a:srgbClr val="3A3025"/>
            </a:solidFill>
            <a:prstDash val="solid"/>
          </a:ln>
        </p:spPr>
      </p:sp>
      <p:sp>
        <p:nvSpPr>
          <p:cNvPr id="14" name="Text 11"/>
          <p:cNvSpPr/>
          <p:nvPr/>
        </p:nvSpPr>
        <p:spPr>
          <a:xfrm>
            <a:off x="1188720" y="457200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1988 Dapper Dan</a:t>
            </a:r>
            <a:endParaRPr lang="en-US" sz="1800" dirty="0"/>
          </a:p>
        </p:txBody>
      </p:sp>
      <p:sp>
        <p:nvSpPr>
          <p:cNvPr id="15" name="Text 12"/>
          <p:cNvSpPr/>
          <p:nvPr/>
        </p:nvSpPr>
        <p:spPr>
          <a:xfrm>
            <a:off x="4572000" y="460857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해체하고 다시 꿰맨 역사</a:t>
            </a:r>
            <a:endParaRPr lang="en-US" sz="1400" dirty="0"/>
          </a:p>
        </p:txBody>
      </p:sp>
      <p:sp>
        <p:nvSpPr>
          <p:cNvPr id="16" name="Text 13"/>
          <p:cNvSpPr/>
          <p:nvPr/>
        </p:nvSpPr>
        <p:spPr>
          <a:xfrm>
            <a:off x="8503920" y="459028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REMADE</a:t>
            </a:r>
            <a:endParaRPr lang="en-US" sz="1500" dirty="0"/>
          </a:p>
        </p:txBody>
      </p:sp>
      <p:sp>
        <p:nvSpPr>
          <p:cNvPr id="17" name="Shape 14"/>
          <p:cNvSpPr/>
          <p:nvPr/>
        </p:nvSpPr>
        <p:spPr>
          <a:xfrm>
            <a:off x="1097280" y="5193792"/>
            <a:ext cx="9966960" cy="0"/>
          </a:xfrm>
          <a:prstGeom prst="line">
            <a:avLst/>
          </a:prstGeom>
          <a:noFill/>
          <a:ln w="9525">
            <a:solidFill>
              <a:srgbClr val="3A3025"/>
            </a:solidFill>
            <a:prstDash val="solid"/>
          </a:ln>
        </p:spPr>
      </p:sp>
      <p:sp>
        <p:nvSpPr>
          <p:cNvPr id="18" name="Text 15"/>
          <p:cNvSpPr/>
          <p:nvPr/>
        </p:nvSpPr>
        <p:spPr>
          <a:xfrm>
            <a:off x="1188720" y="539496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NFC + Aura DPP</a:t>
            </a:r>
            <a:endParaRPr lang="en-US" sz="1800" dirty="0"/>
          </a:p>
        </p:txBody>
      </p:sp>
      <p:sp>
        <p:nvSpPr>
          <p:cNvPr id="19" name="Text 16"/>
          <p:cNvSpPr/>
          <p:nvPr/>
        </p:nvSpPr>
        <p:spPr>
          <a:xfrm>
            <a:off x="4572000" y="543153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이미 운영 중</a:t>
            </a:r>
            <a:endParaRPr lang="en-US" sz="1400" dirty="0"/>
          </a:p>
        </p:txBody>
      </p:sp>
      <p:sp>
        <p:nvSpPr>
          <p:cNvPr id="20" name="Text 17"/>
          <p:cNvSpPr/>
          <p:nvPr/>
        </p:nvSpPr>
        <p:spPr>
          <a:xfrm>
            <a:off x="8503920" y="541324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그 위에 얹는다</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DEMO</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스캔</a:t>
            </a:r>
            <a:endParaRPr lang="en-US" sz="2400" dirty="0"/>
          </a:p>
        </p:txBody>
      </p:sp>
      <p:sp>
        <p:nvSpPr>
          <p:cNvPr id="7" name="Text 4"/>
          <p:cNvSpPr/>
          <p:nvPr/>
        </p:nvSpPr>
        <p:spPr>
          <a:xfrm>
            <a:off x="142646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박스를 열면</a:t>
            </a:r>
            <a:endParaRPr lang="en-US" sz="1400" dirty="0"/>
          </a:p>
        </p:txBody>
      </p:sp>
      <p:sp>
        <p:nvSpPr>
          <p:cNvPr id="8" name="Shape 5"/>
          <p:cNvSpPr/>
          <p:nvPr/>
        </p:nvSpPr>
        <p:spPr>
          <a:xfrm>
            <a:off x="3589020" y="3291840"/>
            <a:ext cx="0" cy="1188720"/>
          </a:xfrm>
          <a:prstGeom prst="line">
            <a:avLst/>
          </a:prstGeom>
          <a:noFill/>
          <a:ln w="9525">
            <a:solidFill>
              <a:srgbClr val="3A3025"/>
            </a:solidFill>
            <a:prstDash val="solid"/>
          </a:ln>
        </p:spPr>
      </p:sp>
      <p:sp>
        <p:nvSpPr>
          <p:cNvPr id="9" name="Text 6"/>
          <p:cNvSpPr/>
          <p:nvPr/>
        </p:nvSpPr>
        <p:spPr>
          <a:xfrm>
            <a:off x="391820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등록</a:t>
            </a:r>
            <a:endParaRPr lang="en-US" sz="2400" dirty="0"/>
          </a:p>
        </p:txBody>
      </p:sp>
      <p:sp>
        <p:nvSpPr>
          <p:cNvPr id="10" name="Text 7"/>
          <p:cNvSpPr/>
          <p:nvPr/>
        </p:nvSpPr>
        <p:spPr>
          <a:xfrm>
            <a:off x="391820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첫 줄이 찍히고</a:t>
            </a:r>
            <a:endParaRPr lang="en-US" sz="1400" dirty="0"/>
          </a:p>
        </p:txBody>
      </p:sp>
      <p:sp>
        <p:nvSpPr>
          <p:cNvPr id="11" name="Shape 8"/>
          <p:cNvSpPr/>
          <p:nvPr/>
        </p:nvSpPr>
        <p:spPr>
          <a:xfrm>
            <a:off x="6080760" y="3291840"/>
            <a:ext cx="0" cy="1188720"/>
          </a:xfrm>
          <a:prstGeom prst="line">
            <a:avLst/>
          </a:prstGeom>
          <a:noFill/>
          <a:ln w="9525">
            <a:solidFill>
              <a:srgbClr val="3A3025"/>
            </a:solidFill>
            <a:prstDash val="solid"/>
          </a:ln>
        </p:spPr>
      </p:sp>
      <p:sp>
        <p:nvSpPr>
          <p:cNvPr id="12" name="Text 9"/>
          <p:cNvSpPr/>
          <p:nvPr/>
        </p:nvSpPr>
        <p:spPr>
          <a:xfrm>
            <a:off x="640994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기록</a:t>
            </a:r>
            <a:endParaRPr lang="en-US" sz="2400" dirty="0"/>
          </a:p>
        </p:txBody>
      </p:sp>
      <p:sp>
        <p:nvSpPr>
          <p:cNvPr id="13" name="Text 10"/>
          <p:cNvSpPr/>
          <p:nvPr/>
        </p:nvSpPr>
        <p:spPr>
          <a:xfrm>
            <a:off x="640994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AI가 쓰고</a:t>
            </a:r>
            <a:endParaRPr lang="en-US" sz="1400" dirty="0"/>
          </a:p>
        </p:txBody>
      </p:sp>
      <p:sp>
        <p:nvSpPr>
          <p:cNvPr id="14" name="Shape 11"/>
          <p:cNvSpPr/>
          <p:nvPr/>
        </p:nvSpPr>
        <p:spPr>
          <a:xfrm>
            <a:off x="8572500" y="3291840"/>
            <a:ext cx="0" cy="1188720"/>
          </a:xfrm>
          <a:prstGeom prst="line">
            <a:avLst/>
          </a:prstGeom>
          <a:noFill/>
          <a:ln w="9525">
            <a:solidFill>
              <a:srgbClr val="3A3025"/>
            </a:solidFill>
            <a:prstDash val="solid"/>
          </a:ln>
        </p:spPr>
      </p:sp>
      <p:sp>
        <p:nvSpPr>
          <p:cNvPr id="15" name="Text 12"/>
          <p:cNvSpPr/>
          <p:nvPr/>
        </p:nvSpPr>
        <p:spPr>
          <a:xfrm>
            <a:off x="8901684" y="3383280"/>
            <a:ext cx="1851660" cy="420624"/>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REMADE</a:t>
            </a:r>
            <a:endParaRPr lang="en-US" sz="2400" dirty="0"/>
          </a:p>
        </p:txBody>
      </p:sp>
      <p:sp>
        <p:nvSpPr>
          <p:cNvPr id="16" name="Text 13"/>
          <p:cNvSpPr/>
          <p:nvPr/>
        </p:nvSpPr>
        <p:spPr>
          <a:xfrm>
            <a:off x="890168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그 자리에 그린다</a:t>
            </a:r>
            <a:endParaRPr lang="en-US" sz="1400" dirty="0"/>
          </a:p>
        </p:txBody>
      </p:sp>
      <p:sp>
        <p:nvSpPr>
          <p:cNvPr id="17" name="Text 14"/>
          <p:cNvSpPr/>
          <p:nvPr/>
        </p:nvSpPr>
        <p:spPr>
          <a:xfrm>
            <a:off x="914400" y="5029200"/>
            <a:ext cx="1033272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박스를 여는 속도는 사용자가 정합니다</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동의한 사용자만 집계합니다 · 5건 미만 그룹은 뺍니다</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896"/>
              </a:lnSpc>
              <a:buNone/>
            </a:pPr>
            <a:r>
              <a:rPr lang="en-US" sz="3600" b="1" dirty="0">
                <a:solidFill>
                  <a:srgbClr val="FFFFFF"/>
                </a:solidFill>
                <a:latin typeface="Apple SD Gothic Neo" pitchFamily="34" charset="0"/>
                <a:ea typeface="Apple SD Gothic Neo" pitchFamily="34" charset="-122"/>
                <a:cs typeface="Apple SD Gothic Neo" pitchFamily="34" charset="-120"/>
              </a:rPr>
              <a:t>저희 자리는</a:t>
            </a:r>
            <a:endParaRPr lang="en-US" sz="3600" dirty="0"/>
          </a:p>
          <a:p>
            <a:pPr algn="ctr" indent="0" marL="0">
              <a:lnSpc>
                <a:spcPts val="4896"/>
              </a:lnSpc>
              <a:buNone/>
            </a:pPr>
            <a:r>
              <a:rPr lang="en-US" sz="3600" b="1" dirty="0">
                <a:solidFill>
                  <a:srgbClr val="C4915F"/>
                </a:solidFill>
                <a:latin typeface="Apple SD Gothic Neo" pitchFamily="34" charset="0"/>
                <a:ea typeface="Apple SD Gothic Neo" pitchFamily="34" charset="-122"/>
                <a:cs typeface="Apple SD Gothic Neo" pitchFamily="34" charset="-120"/>
              </a:rPr>
              <a:t>DPP 위층입니다</a:t>
            </a:r>
            <a:endParaRPr lang="en-US" sz="3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기존 DPP가 못 하는 것 하나</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457200"/>
          </a:xfrm>
          <a:prstGeom prst="rect">
            <a:avLst/>
          </a:prstGeom>
          <a:noFill/>
          <a:ln/>
        </p:spPr>
        <p:txBody>
          <a:bodyPr wrap="square" lIns="0" tIns="0" rIns="0" bIns="0" rtlCol="0" anchor="ctr"/>
          <a:lstStyle/>
          <a:p>
            <a:pPr algn="ctr" indent="0" marL="0">
              <a:buNone/>
            </a:pPr>
            <a:r>
              <a:rPr lang="en-US" sz="2800" b="1" dirty="0">
                <a:solidFill>
                  <a:srgbClr val="C4915F"/>
                </a:solidFill>
                <a:latin typeface="Apple SD Gothic Neo" pitchFamily="34" charset="0"/>
                <a:ea typeface="Apple SD Gothic Neo" pitchFamily="34" charset="-122"/>
                <a:cs typeface="Apple SD Gothic Neo" pitchFamily="34" charset="-120"/>
              </a:rPr>
              <a:t>소비자가 앱을 두 번째로 여는 일</a:t>
            </a:r>
            <a:endParaRPr lang="en-US" sz="2800" dirty="0"/>
          </a:p>
        </p:txBody>
      </p:sp>
      <p:sp>
        <p:nvSpPr>
          <p:cNvPr id="7" name="Text 4"/>
          <p:cNvSpPr/>
          <p:nvPr/>
        </p:nvSpPr>
        <p:spPr>
          <a:xfrm>
            <a:off x="1371600" y="3493008"/>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Aura Consortium</a:t>
            </a:r>
            <a:endParaRPr lang="en-US" sz="1700" dirty="0"/>
          </a:p>
        </p:txBody>
      </p:sp>
      <p:sp>
        <p:nvSpPr>
          <p:cNvPr id="8" name="Text 5"/>
          <p:cNvSpPr/>
          <p:nvPr/>
        </p:nvSpPr>
        <p:spPr>
          <a:xfrm>
            <a:off x="4846320" y="3520440"/>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LVMH 주도 · MCM이 이미 소속</a:t>
            </a:r>
            <a:endParaRPr lang="en-US" sz="1350" dirty="0"/>
          </a:p>
        </p:txBody>
      </p:sp>
      <p:sp>
        <p:nvSpPr>
          <p:cNvPr id="9" name="Text 6"/>
          <p:cNvSpPr/>
          <p:nvPr/>
        </p:nvSpPr>
        <p:spPr>
          <a:xfrm>
            <a:off x="9509760" y="3520440"/>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인프라</a:t>
            </a:r>
            <a:endParaRPr lang="en-US" sz="1300" dirty="0"/>
          </a:p>
        </p:txBody>
      </p:sp>
      <p:sp>
        <p:nvSpPr>
          <p:cNvPr id="10" name="Shape 7"/>
          <p:cNvSpPr/>
          <p:nvPr/>
        </p:nvSpPr>
        <p:spPr>
          <a:xfrm>
            <a:off x="1280160" y="4078224"/>
            <a:ext cx="9601200" cy="0"/>
          </a:xfrm>
          <a:prstGeom prst="line">
            <a:avLst/>
          </a:prstGeom>
          <a:noFill/>
          <a:ln w="9525">
            <a:solidFill>
              <a:srgbClr val="3A3025"/>
            </a:solidFill>
            <a:prstDash val="solid"/>
          </a:ln>
        </p:spPr>
      </p:sp>
      <p:sp>
        <p:nvSpPr>
          <p:cNvPr id="11" name="Text 8"/>
          <p:cNvSpPr/>
          <p:nvPr/>
        </p:nvSpPr>
        <p:spPr>
          <a:xfrm>
            <a:off x="1371600" y="4261104"/>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Arianee</a:t>
            </a:r>
            <a:endParaRPr lang="en-US" sz="1700" dirty="0"/>
          </a:p>
        </p:txBody>
      </p:sp>
      <p:sp>
        <p:nvSpPr>
          <p:cNvPr id="12" name="Text 9"/>
          <p:cNvSpPr/>
          <p:nvPr/>
        </p:nvSpPr>
        <p:spPr>
          <a:xfrm>
            <a:off x="4846320" y="4288536"/>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패스포트 340만+ · 브랜드 50+</a:t>
            </a:r>
            <a:endParaRPr lang="en-US" sz="1350" dirty="0"/>
          </a:p>
        </p:txBody>
      </p:sp>
      <p:sp>
        <p:nvSpPr>
          <p:cNvPr id="13" name="Text 10"/>
          <p:cNvSpPr/>
          <p:nvPr/>
        </p:nvSpPr>
        <p:spPr>
          <a:xfrm>
            <a:off x="9509760" y="4288536"/>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인프라</a:t>
            </a:r>
            <a:endParaRPr lang="en-US" sz="1300" dirty="0"/>
          </a:p>
        </p:txBody>
      </p:sp>
      <p:sp>
        <p:nvSpPr>
          <p:cNvPr id="14" name="Shape 11"/>
          <p:cNvSpPr/>
          <p:nvPr/>
        </p:nvSpPr>
        <p:spPr>
          <a:xfrm>
            <a:off x="1280160" y="4846320"/>
            <a:ext cx="9601200" cy="0"/>
          </a:xfrm>
          <a:prstGeom prst="line">
            <a:avLst/>
          </a:prstGeom>
          <a:noFill/>
          <a:ln w="9525">
            <a:solidFill>
              <a:srgbClr val="3A3025"/>
            </a:solidFill>
            <a:prstDash val="solid"/>
          </a:ln>
        </p:spPr>
      </p:sp>
      <p:sp>
        <p:nvSpPr>
          <p:cNvPr id="15" name="Text 12"/>
          <p:cNvSpPr/>
          <p:nvPr/>
        </p:nvSpPr>
        <p:spPr>
          <a:xfrm>
            <a:off x="1371600" y="5029200"/>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Coachtopia</a:t>
            </a:r>
            <a:endParaRPr lang="en-US" sz="1700" dirty="0"/>
          </a:p>
        </p:txBody>
      </p:sp>
      <p:sp>
        <p:nvSpPr>
          <p:cNvPr id="16" name="Text 13"/>
          <p:cNvSpPr/>
          <p:nvPr/>
        </p:nvSpPr>
        <p:spPr>
          <a:xfrm>
            <a:off x="4846320" y="5056632"/>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제품 중심 순환 · 자사 전용</a:t>
            </a:r>
            <a:endParaRPr lang="en-US" sz="1350" dirty="0"/>
          </a:p>
        </p:txBody>
      </p:sp>
      <p:sp>
        <p:nvSpPr>
          <p:cNvPr id="17" name="Text 14"/>
          <p:cNvSpPr/>
          <p:nvPr/>
        </p:nvSpPr>
        <p:spPr>
          <a:xfrm>
            <a:off x="9509760" y="5056632"/>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제품</a:t>
            </a:r>
            <a:endParaRPr lang="en-US" sz="1300" dirty="0"/>
          </a:p>
        </p:txBody>
      </p:sp>
      <p:sp>
        <p:nvSpPr>
          <p:cNvPr id="18" name="Shape 15"/>
          <p:cNvSpPr/>
          <p:nvPr/>
        </p:nvSpPr>
        <p:spPr>
          <a:xfrm>
            <a:off x="1280160" y="5614416"/>
            <a:ext cx="9601200" cy="0"/>
          </a:xfrm>
          <a:prstGeom prst="line">
            <a:avLst/>
          </a:prstGeom>
          <a:noFill/>
          <a:ln w="9525">
            <a:solidFill>
              <a:srgbClr val="3A3025"/>
            </a:solidFill>
            <a:prstDash val="solid"/>
          </a:ln>
        </p:spPr>
      </p:sp>
      <p:sp>
        <p:nvSpPr>
          <p:cNvPr id="19" name="Text 16"/>
          <p:cNvSpPr/>
          <p:nvPr/>
        </p:nvSpPr>
        <p:spPr>
          <a:xfrm>
            <a:off x="1371600" y="5797296"/>
            <a:ext cx="3291840" cy="329184"/>
          </a:xfrm>
          <a:prstGeom prst="rect">
            <a:avLst/>
          </a:prstGeom>
          <a:noFill/>
          <a:ln/>
        </p:spPr>
        <p:txBody>
          <a:bodyPr wrap="square" lIns="0" tIns="0" rIns="0" bIns="0" rtlCol="0" anchor="ctr"/>
          <a:lstStyle/>
          <a:p>
            <a:pPr indent="0" marL="0">
              <a:buNone/>
            </a:pPr>
            <a:r>
              <a:rPr lang="en-US" sz="1700" b="1" dirty="0">
                <a:solidFill>
                  <a:srgbClr val="C4915F"/>
                </a:solidFill>
                <a:latin typeface="Apple SD Gothic Neo" pitchFamily="34" charset="0"/>
                <a:ea typeface="Apple SD Gothic Neo" pitchFamily="34" charset="-122"/>
                <a:cs typeface="Apple SD Gothic Neo" pitchFamily="34" charset="-120"/>
              </a:rPr>
              <a:t>MCM Luxury Book</a:t>
            </a:r>
            <a:endParaRPr lang="en-US" sz="1700" dirty="0"/>
          </a:p>
        </p:txBody>
      </p:sp>
      <p:sp>
        <p:nvSpPr>
          <p:cNvPr id="20" name="Text 17"/>
          <p:cNvSpPr/>
          <p:nvPr/>
        </p:nvSpPr>
        <p:spPr>
          <a:xfrm>
            <a:off x="4846320" y="5824728"/>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DPP 위의 경험 · 행동 레이어</a:t>
            </a:r>
            <a:endParaRPr lang="en-US" sz="1350" dirty="0"/>
          </a:p>
        </p:txBody>
      </p:sp>
      <p:sp>
        <p:nvSpPr>
          <p:cNvPr id="21" name="Text 18"/>
          <p:cNvSpPr/>
          <p:nvPr/>
        </p:nvSpPr>
        <p:spPr>
          <a:xfrm>
            <a:off x="9509760" y="5824728"/>
            <a:ext cx="1280160" cy="292608"/>
          </a:xfrm>
          <a:prstGeom prst="rect">
            <a:avLst/>
          </a:prstGeom>
          <a:noFill/>
          <a:ln/>
        </p:spPr>
        <p:txBody>
          <a:bodyPr wrap="square" lIns="0" tIns="0" rIns="0" bIns="0" rtlCol="0" anchor="ctr"/>
          <a:lstStyle/>
          <a:p>
            <a:pPr algn="r" indent="0" marL="0">
              <a:buNone/>
            </a:pPr>
            <a:r>
              <a:rPr lang="en-US" sz="1300" dirty="0">
                <a:solidFill>
                  <a:srgbClr val="C4915F"/>
                </a:solidFill>
                <a:latin typeface="Apple SD Gothic Neo" pitchFamily="34" charset="0"/>
                <a:ea typeface="Apple SD Gothic Neo" pitchFamily="34" charset="-122"/>
                <a:cs typeface="Apple SD Gothic Neo" pitchFamily="34" charset="-120"/>
              </a:rPr>
              <a:t>경험</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0" name="Text 7"/>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REMADE · Care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리폼 · 세척 · 수선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고칠수록 브랜드와 오래 갑니다</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인프라는 MCM에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경험을 얹는 일이 저희 몫입니다.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2026-08-20T08:36:32Z</dcterms:created>
  <dcterms:modified xsi:type="dcterms:W3CDTF">2026-08-20T08:36:32Z</dcterms:modified>
</cp:coreProperties>
</file>