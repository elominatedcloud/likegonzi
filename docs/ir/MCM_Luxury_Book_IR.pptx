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심사에서 구현 수준을 오해하지 않도록 미리 밝힙니다. Story와 Recap, REMADE 시안은 실제로 API를 호출해 생성됩니다. Care Score와 견적은 규칙 계산이고 AI가 아닙니다. 결제는 데모라 실제 정산이 없습니다. 소유권 이전은 스키마까지만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비세토스의 마름모는 바이에른 깃발에서 왔고 독일어로 흰-파란 하늘이라는 뜻입니다. 그래서 배경에서 바람에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만드는 수선 상품입니다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pic>
        <p:nvPicPr>
          <p:cNvPr id="17" name="Image 1" descr="/private/tmp/claude-501/-Users-home-Desktop-likeGonzi/55b29f25-80a9-40cb-9e3c-00904cc11cc6/scratchpad/damage.jpg">    </p:cNvPr>
          <p:cNvPicPr>
            <a:picLocks noChangeAspect="1"/>
          </p:cNvPicPr>
          <p:nvPr/>
        </p:nvPicPr>
        <p:blipFill>
          <a:blip r:embed="rId2"/>
          <a:stretch>
            <a:fillRect/>
          </a:stretch>
        </p:blipFill>
        <p:spPr>
          <a:xfrm>
            <a:off x="1417320" y="4224528"/>
            <a:ext cx="1371600" cy="1371600"/>
          </a:xfrm>
          <a:prstGeom prst="rect">
            <a:avLst/>
          </a:prstGeom>
        </p:spPr>
      </p:pic>
      <p:sp>
        <p:nvSpPr>
          <p:cNvPr id="18" name="Text 14"/>
          <p:cNvSpPr/>
          <p:nvPr/>
        </p:nvSpPr>
        <p:spPr>
          <a:xfrm>
            <a:off x="2926080" y="4791456"/>
            <a:ext cx="365760" cy="274320"/>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pic>
        <p:nvPicPr>
          <p:cNvPr id="19" name="Image 2" descr="/private/tmp/claude-501/-Users-home-Desktop-likeGonzi/55b29f25-80a9-40cb-9e3c-00904cc11cc6/scratchpad/remade-1.jpg">    </p:cNvPr>
          <p:cNvPicPr>
            <a:picLocks noChangeAspect="1"/>
          </p:cNvPicPr>
          <p:nvPr/>
        </p:nvPicPr>
        <p:blipFill>
          <a:blip r:embed="rId3"/>
          <a:stretch>
            <a:fillRect/>
          </a:stretch>
        </p:blipFill>
        <p:spPr>
          <a:xfrm>
            <a:off x="3429000" y="4224528"/>
            <a:ext cx="1371600" cy="1371600"/>
          </a:xfrm>
          <a:prstGeom prst="rect">
            <a:avLst/>
          </a:prstGeom>
        </p:spPr>
      </p:pic>
      <p:pic>
        <p:nvPicPr>
          <p:cNvPr id="20" name="Image 3" descr="/private/tmp/claude-501/-Users-home-Desktop-likeGonzi/55b29f25-80a9-40cb-9e3c-00904cc11cc6/scratchpad/remade-2.jpg">    </p:cNvPr>
          <p:cNvPicPr>
            <a:picLocks noChangeAspect="1"/>
          </p:cNvPicPr>
          <p:nvPr/>
        </p:nvPicPr>
        <p:blipFill>
          <a:blip r:embed="rId4"/>
          <a:stretch>
            <a:fillRect/>
          </a:stretch>
        </p:blipFill>
        <p:spPr>
          <a:xfrm>
            <a:off x="4983480" y="4224528"/>
            <a:ext cx="1371600" cy="1371600"/>
          </a:xfrm>
          <a:prstGeom prst="rect">
            <a:avLst/>
          </a:prstGeom>
        </p:spPr>
      </p:pic>
      <p:pic>
        <p:nvPicPr>
          <p:cNvPr id="21" name="Image 4" descr="/private/tmp/claude-501/-Users-home-Desktop-likeGonzi/55b29f25-80a9-40cb-9e3c-00904cc11cc6/scratchpad/remade-3.jpg">    </p:cNvPr>
          <p:cNvPicPr>
            <a:picLocks noChangeAspect="1"/>
          </p:cNvPicPr>
          <p:nvPr/>
        </p:nvPicPr>
        <p:blipFill>
          <a:blip r:embed="rId5"/>
          <a:stretch>
            <a:fillRect/>
          </a:stretch>
        </p:blipFill>
        <p:spPr>
          <a:xfrm>
            <a:off x="6537960" y="4224528"/>
            <a:ext cx="1371600" cy="1371600"/>
          </a:xfrm>
          <a:prstGeom prst="rect">
            <a:avLst/>
          </a:prstGeom>
        </p:spPr>
      </p:pic>
      <p:sp>
        <p:nvSpPr>
          <p:cNvPr id="22" name="Text 15"/>
          <p:cNvSpPr/>
          <p:nvPr/>
        </p:nvSpPr>
        <p:spPr>
          <a:xfrm>
            <a:off x="8321040" y="4443984"/>
            <a:ext cx="2926080" cy="822960"/>
          </a:xfrm>
          <a:prstGeom prst="rect">
            <a:avLst/>
          </a:prstGeom>
          <a:noFill/>
          <a:ln/>
        </p:spPr>
        <p:txBody>
          <a:bodyPr wrap="square" lIns="0" tIns="0" rIns="0" bIns="0" rtlCol="0" anchor="ctr"/>
          <a:lstStyle/>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AI는 시안만 그립니다.</a:t>
            </a:r>
            <a:endParaRPr lang="en-US" sz="1600" dirty="0"/>
          </a:p>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만드는 건 MCM 매장입니다.</a:t>
            </a:r>
            <a:endParaRPr lang="en-US" sz="1600" dirty="0"/>
          </a:p>
        </p:txBody>
      </p:sp>
      <p:sp>
        <p:nvSpPr>
          <p:cNvPr id="23" name="Text 16"/>
          <p:cNvSpPr/>
          <p:nvPr/>
        </p:nvSpPr>
        <p:spPr>
          <a:xfrm>
            <a:off x="914400" y="5870448"/>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리폼하면 보통 리셀가가 떨어집니다. 브랜드 공식 리폼 + DPP 기록이면 오히려 오릅니다.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IS REAL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어디까지 만들었는지 밝힙니다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2860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AI Story · Recap 생성</a:t>
            </a:r>
            <a:endParaRPr lang="en-US" sz="1500" dirty="0"/>
          </a:p>
        </p:txBody>
      </p:sp>
      <p:sp>
        <p:nvSpPr>
          <p:cNvPr id="7" name="Text 4"/>
          <p:cNvSpPr/>
          <p:nvPr/>
        </p:nvSpPr>
        <p:spPr>
          <a:xfrm>
            <a:off x="5577840" y="23042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gpt-4o-mini</a:t>
            </a:r>
            <a:endParaRPr lang="en-US" sz="1250" dirty="0"/>
          </a:p>
        </p:txBody>
      </p:sp>
      <p:sp>
        <p:nvSpPr>
          <p:cNvPr id="8" name="Text 5"/>
          <p:cNvSpPr/>
          <p:nvPr/>
        </p:nvSpPr>
        <p:spPr>
          <a:xfrm>
            <a:off x="9966960" y="2295144"/>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9" name="Shape 6"/>
          <p:cNvSpPr/>
          <p:nvPr/>
        </p:nvSpPr>
        <p:spPr>
          <a:xfrm>
            <a:off x="1097280" y="2633472"/>
            <a:ext cx="9966960" cy="0"/>
          </a:xfrm>
          <a:prstGeom prst="line">
            <a:avLst/>
          </a:prstGeom>
          <a:noFill/>
          <a:ln w="9525">
            <a:solidFill>
              <a:srgbClr val="3A3025"/>
            </a:solidFill>
            <a:prstDash val="solid"/>
          </a:ln>
        </p:spPr>
      </p:sp>
      <p:sp>
        <p:nvSpPr>
          <p:cNvPr id="10" name="Text 7"/>
          <p:cNvSpPr/>
          <p:nvPr/>
        </p:nvSpPr>
        <p:spPr>
          <a:xfrm>
            <a:off x="1188720" y="27432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REMADE 시안 생성</a:t>
            </a:r>
            <a:endParaRPr lang="en-US" sz="1500" dirty="0"/>
          </a:p>
        </p:txBody>
      </p:sp>
      <p:sp>
        <p:nvSpPr>
          <p:cNvPr id="11" name="Text 8"/>
          <p:cNvSpPr/>
          <p:nvPr/>
        </p:nvSpPr>
        <p:spPr>
          <a:xfrm>
            <a:off x="5577840" y="27614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gpt-image-1-mini · 3안 15초</a:t>
            </a:r>
            <a:endParaRPr lang="en-US" sz="1250" dirty="0"/>
          </a:p>
        </p:txBody>
      </p:sp>
      <p:sp>
        <p:nvSpPr>
          <p:cNvPr id="12" name="Text 9"/>
          <p:cNvSpPr/>
          <p:nvPr/>
        </p:nvSpPr>
        <p:spPr>
          <a:xfrm>
            <a:off x="9966960" y="2752344"/>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3" name="Shape 10"/>
          <p:cNvSpPr/>
          <p:nvPr/>
        </p:nvSpPr>
        <p:spPr>
          <a:xfrm>
            <a:off x="1097280" y="3090672"/>
            <a:ext cx="9966960" cy="0"/>
          </a:xfrm>
          <a:prstGeom prst="line">
            <a:avLst/>
          </a:prstGeom>
          <a:noFill/>
          <a:ln w="9525">
            <a:solidFill>
              <a:srgbClr val="3A3025"/>
            </a:solidFill>
            <a:prstDash val="solid"/>
          </a:ln>
        </p:spPr>
      </p:sp>
      <p:sp>
        <p:nvSpPr>
          <p:cNvPr id="14" name="Text 11"/>
          <p:cNvSpPr/>
          <p:nvPr/>
        </p:nvSpPr>
        <p:spPr>
          <a:xfrm>
            <a:off x="1188720" y="32004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부위 선택 · 접수</a:t>
            </a:r>
            <a:endParaRPr lang="en-US" sz="1500" dirty="0"/>
          </a:p>
        </p:txBody>
      </p:sp>
      <p:sp>
        <p:nvSpPr>
          <p:cNvPr id="15" name="Text 12"/>
          <p:cNvSpPr/>
          <p:nvPr/>
        </p:nvSpPr>
        <p:spPr>
          <a:xfrm>
            <a:off x="5577840" y="32186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제품 실사 위 좌표</a:t>
            </a:r>
            <a:endParaRPr lang="en-US" sz="1250" dirty="0"/>
          </a:p>
        </p:txBody>
      </p:sp>
      <p:sp>
        <p:nvSpPr>
          <p:cNvPr id="16" name="Text 13"/>
          <p:cNvSpPr/>
          <p:nvPr/>
        </p:nvSpPr>
        <p:spPr>
          <a:xfrm>
            <a:off x="9966960" y="3209544"/>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7" name="Shape 14"/>
          <p:cNvSpPr/>
          <p:nvPr/>
        </p:nvSpPr>
        <p:spPr>
          <a:xfrm>
            <a:off x="1097280" y="3547872"/>
            <a:ext cx="9966960" cy="0"/>
          </a:xfrm>
          <a:prstGeom prst="line">
            <a:avLst/>
          </a:prstGeom>
          <a:noFill/>
          <a:ln w="9525">
            <a:solidFill>
              <a:srgbClr val="3A3025"/>
            </a:solidFill>
            <a:prstDash val="solid"/>
          </a:ln>
        </p:spPr>
      </p:sp>
      <p:sp>
        <p:nvSpPr>
          <p:cNvPr id="18" name="Text 15"/>
          <p:cNvSpPr/>
          <p:nvPr/>
        </p:nvSpPr>
        <p:spPr>
          <a:xfrm>
            <a:off x="1188720" y="36576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상황 데이터 집계</a:t>
            </a:r>
            <a:endParaRPr lang="en-US" sz="1500" dirty="0"/>
          </a:p>
        </p:txBody>
      </p:sp>
      <p:sp>
        <p:nvSpPr>
          <p:cNvPr id="19" name="Text 16"/>
          <p:cNvSpPr/>
          <p:nvPr/>
        </p:nvSpPr>
        <p:spPr>
          <a:xfrm>
            <a:off x="5577840" y="36758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동의 기반 · k-익명성</a:t>
            </a:r>
            <a:endParaRPr lang="en-US" sz="1250" dirty="0"/>
          </a:p>
        </p:txBody>
      </p:sp>
      <p:sp>
        <p:nvSpPr>
          <p:cNvPr id="20" name="Text 17"/>
          <p:cNvSpPr/>
          <p:nvPr/>
        </p:nvSpPr>
        <p:spPr>
          <a:xfrm>
            <a:off x="9966960" y="3666744"/>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1" name="Shape 18"/>
          <p:cNvSpPr/>
          <p:nvPr/>
        </p:nvSpPr>
        <p:spPr>
          <a:xfrm>
            <a:off x="1097280" y="4005072"/>
            <a:ext cx="9966960" cy="0"/>
          </a:xfrm>
          <a:prstGeom prst="line">
            <a:avLst/>
          </a:prstGeom>
          <a:noFill/>
          <a:ln w="9525">
            <a:solidFill>
              <a:srgbClr val="3A3025"/>
            </a:solidFill>
            <a:prstDash val="solid"/>
          </a:ln>
        </p:spPr>
      </p:sp>
      <p:sp>
        <p:nvSpPr>
          <p:cNvPr id="22" name="Text 19"/>
          <p:cNvSpPr/>
          <p:nvPr/>
        </p:nvSpPr>
        <p:spPr>
          <a:xfrm>
            <a:off x="1188720" y="41148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Care Score</a:t>
            </a:r>
            <a:endParaRPr lang="en-US" sz="1500" dirty="0"/>
          </a:p>
        </p:txBody>
      </p:sp>
      <p:sp>
        <p:nvSpPr>
          <p:cNvPr id="23" name="Text 20"/>
          <p:cNvSpPr/>
          <p:nvPr/>
        </p:nvSpPr>
        <p:spPr>
          <a:xfrm>
            <a:off x="5577840" y="41330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기록 기반 규칙 계산 · AI 아님</a:t>
            </a:r>
            <a:endParaRPr lang="en-US" sz="1250" dirty="0"/>
          </a:p>
        </p:txBody>
      </p:sp>
      <p:sp>
        <p:nvSpPr>
          <p:cNvPr id="24" name="Text 21"/>
          <p:cNvSpPr/>
          <p:nvPr/>
        </p:nvSpPr>
        <p:spPr>
          <a:xfrm>
            <a:off x="9966960" y="4123944"/>
            <a:ext cx="109728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5" name="Shape 22"/>
          <p:cNvSpPr/>
          <p:nvPr/>
        </p:nvSpPr>
        <p:spPr>
          <a:xfrm>
            <a:off x="1097280" y="4462272"/>
            <a:ext cx="9966960" cy="0"/>
          </a:xfrm>
          <a:prstGeom prst="line">
            <a:avLst/>
          </a:prstGeom>
          <a:noFill/>
          <a:ln w="9525">
            <a:solidFill>
              <a:srgbClr val="3A3025"/>
            </a:solidFill>
            <a:prstDash val="solid"/>
          </a:ln>
        </p:spPr>
      </p:sp>
      <p:sp>
        <p:nvSpPr>
          <p:cNvPr id="26" name="Text 23"/>
          <p:cNvSpPr/>
          <p:nvPr/>
        </p:nvSpPr>
        <p:spPr>
          <a:xfrm>
            <a:off x="1188720" y="45720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견적</a:t>
            </a:r>
            <a:endParaRPr lang="en-US" sz="1500" dirty="0"/>
          </a:p>
        </p:txBody>
      </p:sp>
      <p:sp>
        <p:nvSpPr>
          <p:cNvPr id="27" name="Text 24"/>
          <p:cNvSpPr/>
          <p:nvPr/>
        </p:nvSpPr>
        <p:spPr>
          <a:xfrm>
            <a:off x="5577840" y="45902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기준표 계산 · AI는 설명문만</a:t>
            </a:r>
            <a:endParaRPr lang="en-US" sz="1250" dirty="0"/>
          </a:p>
        </p:txBody>
      </p:sp>
      <p:sp>
        <p:nvSpPr>
          <p:cNvPr id="28" name="Text 25"/>
          <p:cNvSpPr/>
          <p:nvPr/>
        </p:nvSpPr>
        <p:spPr>
          <a:xfrm>
            <a:off x="9966960" y="4581144"/>
            <a:ext cx="109728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9" name="Shape 26"/>
          <p:cNvSpPr/>
          <p:nvPr/>
        </p:nvSpPr>
        <p:spPr>
          <a:xfrm>
            <a:off x="1097280" y="4919472"/>
            <a:ext cx="9966960" cy="0"/>
          </a:xfrm>
          <a:prstGeom prst="line">
            <a:avLst/>
          </a:prstGeom>
          <a:noFill/>
          <a:ln w="9525">
            <a:solidFill>
              <a:srgbClr val="3A3025"/>
            </a:solidFill>
            <a:prstDash val="solid"/>
          </a:ln>
        </p:spPr>
      </p:sp>
      <p:sp>
        <p:nvSpPr>
          <p:cNvPr id="30" name="Text 27"/>
          <p:cNvSpPr/>
          <p:nvPr/>
        </p:nvSpPr>
        <p:spPr>
          <a:xfrm>
            <a:off x="1188720" y="50292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결제</a:t>
            </a:r>
            <a:endParaRPr lang="en-US" sz="1500" dirty="0"/>
          </a:p>
        </p:txBody>
      </p:sp>
      <p:sp>
        <p:nvSpPr>
          <p:cNvPr id="31" name="Text 28"/>
          <p:cNvSpPr/>
          <p:nvPr/>
        </p:nvSpPr>
        <p:spPr>
          <a:xfrm>
            <a:off x="5577840" y="50474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데모 · 실제 정산 없음</a:t>
            </a:r>
            <a:endParaRPr lang="en-US" sz="1250" dirty="0"/>
          </a:p>
        </p:txBody>
      </p:sp>
      <p:sp>
        <p:nvSpPr>
          <p:cNvPr id="32" name="Text 29"/>
          <p:cNvSpPr/>
          <p:nvPr/>
        </p:nvSpPr>
        <p:spPr>
          <a:xfrm>
            <a:off x="9966960" y="5038344"/>
            <a:ext cx="109728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데모</a:t>
            </a:r>
            <a:endParaRPr lang="en-US" sz="1250" dirty="0"/>
          </a:p>
        </p:txBody>
      </p:sp>
      <p:sp>
        <p:nvSpPr>
          <p:cNvPr id="33" name="Shape 30"/>
          <p:cNvSpPr/>
          <p:nvPr/>
        </p:nvSpPr>
        <p:spPr>
          <a:xfrm>
            <a:off x="1097280" y="5376672"/>
            <a:ext cx="9966960" cy="0"/>
          </a:xfrm>
          <a:prstGeom prst="line">
            <a:avLst/>
          </a:prstGeom>
          <a:noFill/>
          <a:ln w="9525">
            <a:solidFill>
              <a:srgbClr val="3A3025"/>
            </a:solidFill>
            <a:prstDash val="solid"/>
          </a:ln>
        </p:spPr>
      </p:sp>
      <p:sp>
        <p:nvSpPr>
          <p:cNvPr id="34" name="Text 31"/>
          <p:cNvSpPr/>
          <p:nvPr/>
        </p:nvSpPr>
        <p:spPr>
          <a:xfrm>
            <a:off x="1188720" y="54864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캠페인 QR 발견</a:t>
            </a:r>
            <a:endParaRPr lang="en-US" sz="1500" dirty="0"/>
          </a:p>
        </p:txBody>
      </p:sp>
      <p:sp>
        <p:nvSpPr>
          <p:cNvPr id="35" name="Text 32"/>
          <p:cNvSpPr/>
          <p:nvPr/>
        </p:nvSpPr>
        <p:spPr>
          <a:xfrm>
            <a:off x="5577840" y="55046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API 분기만 · 화면 없음</a:t>
            </a:r>
            <a:endParaRPr lang="en-US" sz="1250" dirty="0"/>
          </a:p>
        </p:txBody>
      </p:sp>
      <p:sp>
        <p:nvSpPr>
          <p:cNvPr id="36" name="Text 33"/>
          <p:cNvSpPr/>
          <p:nvPr/>
        </p:nvSpPr>
        <p:spPr>
          <a:xfrm>
            <a:off x="9966960" y="5495544"/>
            <a:ext cx="1097280" cy="274320"/>
          </a:xfrm>
          <a:prstGeom prst="rect">
            <a:avLst/>
          </a:prstGeom>
          <a:noFill/>
          <a:ln/>
        </p:spPr>
        <p:txBody>
          <a:bodyPr wrap="square" lIns="0" tIns="0" rIns="0" bIns="0" rtlCol="0" anchor="ctr"/>
          <a:lstStyle/>
          <a:p>
            <a:pPr algn="r" indent="0" marL="0">
              <a:buNone/>
            </a:pPr>
            <a:r>
              <a:rPr lang="en-US" sz="1250" b="1" dirty="0">
                <a:solidFill>
                  <a:srgbClr val="6E6459"/>
                </a:solidFill>
                <a:latin typeface="Apple SD Gothic Neo" pitchFamily="34" charset="0"/>
                <a:ea typeface="Apple SD Gothic Neo" pitchFamily="34" charset="-122"/>
                <a:cs typeface="Apple SD Gothic Neo" pitchFamily="34" charset="-120"/>
              </a:rPr>
              <a:t>로드맵</a:t>
            </a:r>
            <a:endParaRPr lang="en-US" sz="1250" dirty="0"/>
          </a:p>
        </p:txBody>
      </p:sp>
      <p:sp>
        <p:nvSpPr>
          <p:cNvPr id="37" name="Shape 34"/>
          <p:cNvSpPr/>
          <p:nvPr/>
        </p:nvSpPr>
        <p:spPr>
          <a:xfrm>
            <a:off x="1097280" y="5833872"/>
            <a:ext cx="9966960" cy="0"/>
          </a:xfrm>
          <a:prstGeom prst="line">
            <a:avLst/>
          </a:prstGeom>
          <a:noFill/>
          <a:ln w="9525">
            <a:solidFill>
              <a:srgbClr val="3A3025"/>
            </a:solidFill>
            <a:prstDash val="solid"/>
          </a:ln>
        </p:spPr>
      </p:sp>
      <p:sp>
        <p:nvSpPr>
          <p:cNvPr id="38" name="Text 35"/>
          <p:cNvSpPr/>
          <p:nvPr/>
        </p:nvSpPr>
        <p:spPr>
          <a:xfrm>
            <a:off x="1188720" y="594360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소유권 이전</a:t>
            </a:r>
            <a:endParaRPr lang="en-US" sz="1500" dirty="0"/>
          </a:p>
        </p:txBody>
      </p:sp>
      <p:sp>
        <p:nvSpPr>
          <p:cNvPr id="39" name="Text 36"/>
          <p:cNvSpPr/>
          <p:nvPr/>
        </p:nvSpPr>
        <p:spPr>
          <a:xfrm>
            <a:off x="5577840" y="596188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스키마만 · 화면 없음</a:t>
            </a:r>
            <a:endParaRPr lang="en-US" sz="1250" dirty="0"/>
          </a:p>
        </p:txBody>
      </p:sp>
      <p:sp>
        <p:nvSpPr>
          <p:cNvPr id="40" name="Text 37"/>
          <p:cNvSpPr/>
          <p:nvPr/>
        </p:nvSpPr>
        <p:spPr>
          <a:xfrm>
            <a:off x="9966960" y="5952744"/>
            <a:ext cx="1097280" cy="274320"/>
          </a:xfrm>
          <a:prstGeom prst="rect">
            <a:avLst/>
          </a:prstGeom>
          <a:noFill/>
          <a:ln/>
        </p:spPr>
        <p:txBody>
          <a:bodyPr wrap="square" lIns="0" tIns="0" rIns="0" bIns="0" rtlCol="0" anchor="ctr"/>
          <a:lstStyle/>
          <a:p>
            <a:pPr algn="r" indent="0" marL="0">
              <a:buNone/>
            </a:pPr>
            <a:r>
              <a:rPr lang="en-US" sz="1250" b="1" dirty="0">
                <a:solidFill>
                  <a:srgbClr val="6E6459"/>
                </a:solidFill>
                <a:latin typeface="Apple SD Gothic Neo" pitchFamily="34" charset="0"/>
                <a:ea typeface="Apple SD Gothic Neo" pitchFamily="34" charset="-122"/>
                <a:cs typeface="Apple SD Gothic Neo" pitchFamily="34" charset="-120"/>
              </a:rPr>
              <a:t>로드맵</a:t>
            </a:r>
            <a:endParaRPr lang="en-US" sz="1250" dirty="0"/>
          </a:p>
        </p:txBody>
      </p:sp>
      <p:sp>
        <p:nvSpPr>
          <p:cNvPr id="41" name="Text 38"/>
          <p:cNvSpPr/>
          <p:nvPr/>
        </p:nvSpPr>
        <p:spPr>
          <a:xfrm>
            <a:off x="914400" y="6345936"/>
            <a:ext cx="10332720" cy="310896"/>
          </a:xfrm>
          <a:prstGeom prst="rect">
            <a:avLst/>
          </a:prstGeom>
          <a:noFill/>
          <a:ln/>
        </p:spPr>
        <p:txBody>
          <a:bodyPr wrap="square" lIns="0" tIns="0" rIns="0" bIns="0" rtlCol="0" anchor="ctr"/>
          <a:lstStyle/>
          <a:p>
            <a:pPr algn="ctr" indent="0" marL="0">
              <a:buNone/>
            </a:pPr>
            <a:r>
              <a:rPr lang="en-US" sz="1350" dirty="0">
                <a:solidFill>
                  <a:srgbClr val="C4915F"/>
                </a:solidFill>
                <a:latin typeface="Apple SD Gothic Neo" pitchFamily="34" charset="0"/>
                <a:ea typeface="Apple SD Gothic Neo" pitchFamily="34" charset="-122"/>
                <a:cs typeface="Apple SD Gothic Neo" pitchFamily="34" charset="-120"/>
              </a:rPr>
              <a:t>제품 상태를 AI가 판정하지 않습니다. 어디에 안 쓰는지도 적어둡니다.</a:t>
            </a:r>
            <a:endParaRPr lang="en-US" sz="1350" dirty="0"/>
          </a:p>
        </p:txBody>
      </p:sp>
      <p:sp>
        <p:nvSpPr>
          <p:cNvPr id="42" name="Text 39"/>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BRAND ASSETS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브랜드 자산이 화면에서 일을 합니다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92608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비세토스 마름모</a:t>
            </a:r>
            <a:endParaRPr lang="en-US" sz="1800" dirty="0"/>
          </a:p>
        </p:txBody>
      </p:sp>
      <p:sp>
        <p:nvSpPr>
          <p:cNvPr id="7" name="Text 4"/>
          <p:cNvSpPr/>
          <p:nvPr/>
        </p:nvSpPr>
        <p:spPr>
          <a:xfrm>
            <a:off x="4572000" y="296265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바이에른 깃발 = 흰-파란 하늘</a:t>
            </a:r>
            <a:endParaRPr lang="en-US" sz="1400" dirty="0"/>
          </a:p>
        </p:txBody>
      </p:sp>
      <p:sp>
        <p:nvSpPr>
          <p:cNvPr id="8" name="Text 5"/>
          <p:cNvSpPr/>
          <p:nvPr/>
        </p:nvSpPr>
        <p:spPr>
          <a:xfrm>
            <a:off x="8503920" y="294436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배경에서 바람에 흐른다</a:t>
            </a:r>
            <a:endParaRPr lang="en-US" sz="1500" dirty="0"/>
          </a:p>
        </p:txBody>
      </p:sp>
      <p:sp>
        <p:nvSpPr>
          <p:cNvPr id="9" name="Shape 6"/>
          <p:cNvSpPr/>
          <p:nvPr/>
        </p:nvSpPr>
        <p:spPr>
          <a:xfrm>
            <a:off x="1097280" y="3547872"/>
            <a:ext cx="9966960" cy="0"/>
          </a:xfrm>
          <a:prstGeom prst="line">
            <a:avLst/>
          </a:prstGeom>
          <a:noFill/>
          <a:ln w="9525">
            <a:solidFill>
              <a:srgbClr val="3A3025"/>
            </a:solidFill>
            <a:prstDash val="solid"/>
          </a:ln>
        </p:spPr>
      </p:sp>
      <p:sp>
        <p:nvSpPr>
          <p:cNvPr id="10" name="Text 7"/>
          <p:cNvSpPr/>
          <p:nvPr/>
        </p:nvSpPr>
        <p:spPr>
          <a:xfrm>
            <a:off x="1188720" y="374904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로렐</a:t>
            </a:r>
            <a:endParaRPr lang="en-US" sz="1800" dirty="0"/>
          </a:p>
        </p:txBody>
      </p:sp>
      <p:sp>
        <p:nvSpPr>
          <p:cNvPr id="11" name="Text 8"/>
          <p:cNvSpPr/>
          <p:nvPr/>
        </p:nvSpPr>
        <p:spPr>
          <a:xfrm>
            <a:off x="4572000" y="378561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승리 · 명예의 상징</a:t>
            </a:r>
            <a:endParaRPr lang="en-US" sz="1400" dirty="0"/>
          </a:p>
        </p:txBody>
      </p:sp>
      <p:sp>
        <p:nvSpPr>
          <p:cNvPr id="12" name="Text 9"/>
          <p:cNvSpPr/>
          <p:nvPr/>
        </p:nvSpPr>
        <p:spPr>
          <a:xfrm>
            <a:off x="8503920" y="376732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정품 인증 배지</a:t>
            </a:r>
            <a:endParaRPr lang="en-US" sz="1500" dirty="0"/>
          </a:p>
        </p:txBody>
      </p:sp>
      <p:sp>
        <p:nvSpPr>
          <p:cNvPr id="13" name="Shape 10"/>
          <p:cNvSpPr/>
          <p:nvPr/>
        </p:nvSpPr>
        <p:spPr>
          <a:xfrm>
            <a:off x="1097280" y="4370832"/>
            <a:ext cx="9966960" cy="0"/>
          </a:xfrm>
          <a:prstGeom prst="line">
            <a:avLst/>
          </a:prstGeom>
          <a:noFill/>
          <a:ln w="9525">
            <a:solidFill>
              <a:srgbClr val="3A3025"/>
            </a:solidFill>
            <a:prstDash val="solid"/>
          </a:ln>
        </p:spPr>
      </p:sp>
      <p:sp>
        <p:nvSpPr>
          <p:cNvPr id="14" name="Text 11"/>
          <p:cNvSpPr/>
          <p:nvPr/>
        </p:nvSpPr>
        <p:spPr>
          <a:xfrm>
            <a:off x="1188720" y="457200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1988 Dapper Dan</a:t>
            </a:r>
            <a:endParaRPr lang="en-US" sz="1800" dirty="0"/>
          </a:p>
        </p:txBody>
      </p:sp>
      <p:sp>
        <p:nvSpPr>
          <p:cNvPr id="15" name="Text 12"/>
          <p:cNvSpPr/>
          <p:nvPr/>
        </p:nvSpPr>
        <p:spPr>
          <a:xfrm>
            <a:off x="4572000" y="460857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해체하고 다시 꿰맨 역사</a:t>
            </a:r>
            <a:endParaRPr lang="en-US" sz="1400" dirty="0"/>
          </a:p>
        </p:txBody>
      </p:sp>
      <p:sp>
        <p:nvSpPr>
          <p:cNvPr id="16" name="Text 13"/>
          <p:cNvSpPr/>
          <p:nvPr/>
        </p:nvSpPr>
        <p:spPr>
          <a:xfrm>
            <a:off x="8503920" y="459028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REMADE</a:t>
            </a:r>
            <a:endParaRPr lang="en-US" sz="1500" dirty="0"/>
          </a:p>
        </p:txBody>
      </p:sp>
      <p:sp>
        <p:nvSpPr>
          <p:cNvPr id="17" name="Shape 14"/>
          <p:cNvSpPr/>
          <p:nvPr/>
        </p:nvSpPr>
        <p:spPr>
          <a:xfrm>
            <a:off x="1097280" y="5193792"/>
            <a:ext cx="9966960" cy="0"/>
          </a:xfrm>
          <a:prstGeom prst="line">
            <a:avLst/>
          </a:prstGeom>
          <a:noFill/>
          <a:ln w="9525">
            <a:solidFill>
              <a:srgbClr val="3A3025"/>
            </a:solidFill>
            <a:prstDash val="solid"/>
          </a:ln>
        </p:spPr>
      </p:sp>
      <p:sp>
        <p:nvSpPr>
          <p:cNvPr id="18" name="Text 15"/>
          <p:cNvSpPr/>
          <p:nvPr/>
        </p:nvSpPr>
        <p:spPr>
          <a:xfrm>
            <a:off x="1188720" y="539496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NFC + Aura DPP</a:t>
            </a:r>
            <a:endParaRPr lang="en-US" sz="1800" dirty="0"/>
          </a:p>
        </p:txBody>
      </p:sp>
      <p:sp>
        <p:nvSpPr>
          <p:cNvPr id="19" name="Text 16"/>
          <p:cNvSpPr/>
          <p:nvPr/>
        </p:nvSpPr>
        <p:spPr>
          <a:xfrm>
            <a:off x="4572000" y="543153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이미 운영 중</a:t>
            </a:r>
            <a:endParaRPr lang="en-US" sz="1400" dirty="0"/>
          </a:p>
        </p:txBody>
      </p:sp>
      <p:sp>
        <p:nvSpPr>
          <p:cNvPr id="20" name="Text 17"/>
          <p:cNvSpPr/>
          <p:nvPr/>
        </p:nvSpPr>
        <p:spPr>
          <a:xfrm>
            <a:off x="8503920" y="541324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그 위에 얹는다</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박스는 손으로 끌어서 엽니다. 속도는 사용자가 정합니다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020"/>
              </a:lnSpc>
              <a:buNone/>
            </a:pPr>
            <a:r>
              <a:rPr lang="en-US" sz="3000" b="1" dirty="0">
                <a:solidFill>
                  <a:srgbClr val="FFFFFF"/>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3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7" name="Text 4"/>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8" name="Text 5"/>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9" name="Text 6"/>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0" name="Text 7"/>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1" name="Text 8"/>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2" name="Text 9"/>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3" name="Text 10"/>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4" name="Text 11"/>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Shape 14"/>
          <p:cNvSpPr/>
          <p:nvPr/>
        </p:nvSpPr>
        <p:spPr>
          <a:xfrm>
            <a:off x="1097280" y="3621024"/>
            <a:ext cx="9966960" cy="0"/>
          </a:xfrm>
          <a:prstGeom prst="line">
            <a:avLst/>
          </a:prstGeom>
          <a:noFill/>
          <a:ln w="9525">
            <a:solidFill>
              <a:srgbClr val="3A3025"/>
            </a:solidFill>
            <a:prstDash val="solid"/>
          </a:ln>
        </p:spPr>
      </p:sp>
      <p:sp>
        <p:nvSpPr>
          <p:cNvPr id="18" name="Text 15"/>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19" name="Text 16"/>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0" name="Text 17"/>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1" name="Text 18"/>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2" name="Text 19"/>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3" name="Text 20"/>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4" name="Shape 21"/>
          <p:cNvSpPr/>
          <p:nvPr/>
        </p:nvSpPr>
        <p:spPr>
          <a:xfrm>
            <a:off x="1097280" y="4334256"/>
            <a:ext cx="9966960" cy="0"/>
          </a:xfrm>
          <a:prstGeom prst="line">
            <a:avLst/>
          </a:prstGeom>
          <a:noFill/>
          <a:ln w="9525">
            <a:solidFill>
              <a:srgbClr val="3A3025"/>
            </a:solidFill>
            <a:prstDash val="solid"/>
          </a:ln>
        </p:spPr>
      </p:sp>
      <p:sp>
        <p:nvSpPr>
          <p:cNvPr id="25" name="Text 22"/>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6" name="Text 23"/>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7" name="Text 24"/>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8" name="Text 25"/>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9" name="Text 26"/>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1" name="Shape 28"/>
          <p:cNvSpPr/>
          <p:nvPr/>
        </p:nvSpPr>
        <p:spPr>
          <a:xfrm>
            <a:off x="1097280" y="5047488"/>
            <a:ext cx="9966960" cy="0"/>
          </a:xfrm>
          <a:prstGeom prst="line">
            <a:avLst/>
          </a:prstGeom>
          <a:noFill/>
          <a:ln w="9525">
            <a:solidFill>
              <a:srgbClr val="3A3025"/>
            </a:solidFill>
            <a:prstDash val="solid"/>
          </a:ln>
        </p:spPr>
      </p:sp>
      <p:sp>
        <p:nvSpPr>
          <p:cNvPr id="32" name="Text 29"/>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3" name="Text 30"/>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4" name="Text 31"/>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39" name="Text 36"/>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0" name="Text 3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0" name="Text 7"/>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2026-08-20T09:26:18Z</dcterms:created>
  <dcterms:modified xsi:type="dcterms:W3CDTF">2026-08-20T09:26:18Z</dcterms:modified>
</cp:coreProperties>
</file>