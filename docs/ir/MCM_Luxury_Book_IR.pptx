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과제는 발견부터 구매 이후까지입니다. 길거리 캠페인 QR로 브랜드를 발견하고, 매장에서 사고, 박스의 QR이나 NFC로 개봉하고, 등록하면 그때부터 기록과 관리가 이어집니다. 마지막은 다음 소유자에게 공식 이력이 그대로 넘어가는 것입니다. 오프라인과 온라인을 QR과 NFC가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Story는 기록입니다. Care와 Repair는 제품 수명을 늘립니다. REMADE는 선택형 커스터마이징이고, 소유권 이전은 다음 사용자에게 공식 이력을 넘깁니다. 네 가지가 각각 떨어진 기능이 아니라 하나의 타임라인 위에 쌓이는 레이어입니다.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심사에서 구현 수준을 오해하지 않도록 미리 밝힙니다. Story와 Recap, REMADE 시안은 실제로 API를 호출해 생성됩니다. Care Score와 견적은 규칙 계산이고 AI가 아닙니다. 결제는 데모라 실제 정산이 없습니다. 소유권 이전은 스키마까지만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스캔해서 도착하는 자리가 제품 상세라, 새 화면을 만들지 않고 인증 정보를 여권으로 키웠습니다. EU ESPR이 요구하는 항목을 그대로 채웁니다. 다만 수치는 아직 저희 가정치라 화면에 시연용이라고 같이 띄웁니다. 뒷받침 못 하는 숫자를 사실처럼 보여주지 않습니다. MCM 실데이터를 받으면 표시가 자동으로 사라집니다. Aura 원장 기록만 브랜드 연동이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실제로 대체하는 건 인프라 회사가 아닙니다. 사진은 갤러리에, 수선은 브랜드 A/S 창구에 맡깁니다. DPP 플랫폼은 제조 이력만 담습니다. 하나씩은 이미 다 있습니다. 다섯을 한 줄에 놓은 곳이 없을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12848"/>
            <a:ext cx="10607040" cy="548640"/>
          </a:xfrm>
          <a:prstGeom prst="rect">
            <a:avLst/>
          </a:prstGeom>
          <a:noFill/>
          <a:ln/>
        </p:spPr>
        <p:txBody>
          <a:bodyPr wrap="square" lIns="0" tIns="0" rIns="0" bIns="0" rtlCol="0" anchor="ctr"/>
          <a:lstStyle/>
          <a:p>
            <a:pPr indent="0" marL="0">
              <a:buNone/>
            </a:pPr>
            <a:r>
              <a:rPr lang="en-US" sz="2600" dirty="0">
                <a:solidFill>
                  <a:srgbClr val="FFFFFF"/>
                </a:solidFill>
                <a:latin typeface="Apple SD Gothic Neo" pitchFamily="34" charset="0"/>
                <a:ea typeface="Apple SD Gothic Neo" pitchFamily="34" charset="-122"/>
                <a:cs typeface="Apple SD Gothic Neo" pitchFamily="34" charset="-120"/>
              </a:rPr>
              <a:t>MCM과 함께하는</a:t>
            </a:r>
            <a:endParaRPr lang="en-US" sz="2600" dirty="0"/>
          </a:p>
        </p:txBody>
      </p:sp>
      <p:sp>
        <p:nvSpPr>
          <p:cNvPr id="5" name="Text 2"/>
          <p:cNvSpPr/>
          <p:nvPr/>
        </p:nvSpPr>
        <p:spPr>
          <a:xfrm>
            <a:off x="822960" y="2761488"/>
            <a:ext cx="10607040" cy="1371600"/>
          </a:xfrm>
          <a:prstGeom prst="rect">
            <a:avLst/>
          </a:prstGeom>
          <a:noFill/>
          <a:ln/>
        </p:spPr>
        <p:txBody>
          <a:bodyPr wrap="square" lIns="0" tIns="0" rIns="0" bIns="0" rtlCol="0" anchor="ctr"/>
          <a:lstStyle/>
          <a:p>
            <a:pPr indent="0" marL="0">
              <a:buNone/>
            </a:pPr>
            <a:r>
              <a:rPr lang="en-US" sz="7600" b="1" spc="-100" kern="0" dirty="0">
                <a:solidFill>
                  <a:srgbClr val="FFFFFF"/>
                </a:solidFill>
                <a:latin typeface="Apple SD Gothic Neo" pitchFamily="34" charset="0"/>
                <a:ea typeface="Apple SD Gothic Neo" pitchFamily="34" charset="-122"/>
                <a:cs typeface="Apple SD Gothic Neo" pitchFamily="34" charset="-120"/>
              </a:rPr>
              <a:t>hi</a:t>
            </a:r>
            <a:pPr indent="0" marL="0">
              <a:buNone/>
            </a:pPr>
            <a:r>
              <a:rPr lang="en-US" sz="7600" b="1" spc="-100" kern="0" dirty="0">
                <a:solidFill>
                  <a:srgbClr val="C4915F"/>
                </a:solidFill>
                <a:latin typeface="Apple SD Gothic Neo" pitchFamily="34" charset="0"/>
                <a:ea typeface="Apple SD Gothic Neo" pitchFamily="34" charset="-122"/>
                <a:cs typeface="Apple SD Gothic Neo" pitchFamily="34" charset="-120"/>
              </a:rPr>
              <a:t>_story</a:t>
            </a:r>
            <a:endParaRPr lang="en-US" sz="7600" dirty="0"/>
          </a:p>
        </p:txBody>
      </p:sp>
      <p:sp>
        <p:nvSpPr>
          <p:cNvPr id="6" name="Text 3"/>
          <p:cNvSpPr/>
          <p:nvPr/>
        </p:nvSpPr>
        <p:spPr>
          <a:xfrm>
            <a:off x="896112" y="4443984"/>
            <a:ext cx="10058400" cy="384048"/>
          </a:xfrm>
          <a:prstGeom prst="rect">
            <a:avLst/>
          </a:prstGeom>
          <a:noFill/>
          <a:ln/>
        </p:spPr>
        <p:txBody>
          <a:bodyPr wrap="square" lIns="0" tIns="0" rIns="0" bIns="0" rtlCol="0" anchor="ctr"/>
          <a:lstStyle/>
          <a:p>
            <a:pP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흠을 지우지 않습니다. 나의 것으로 만듭니다</a:t>
            </a:r>
            <a:endParaRPr lang="en-US" sz="1700" dirty="0"/>
          </a:p>
        </p:txBody>
      </p:sp>
      <p:sp>
        <p:nvSpPr>
          <p:cNvPr id="7" name="Text 4"/>
          <p:cNvSpPr/>
          <p:nvPr/>
        </p:nvSpPr>
        <p:spPr>
          <a:xfrm>
            <a:off x="896112" y="4974336"/>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360° CUSTOMER JOURNEY</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발견부터 다음 소유자까지</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47088"/>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574074" y="3200400"/>
            <a:ext cx="9013371" cy="0"/>
          </a:xfrm>
          <a:prstGeom prst="line">
            <a:avLst/>
          </a:prstGeom>
          <a:noFill/>
          <a:ln w="12700">
            <a:solidFill>
              <a:srgbClr val="3A3025"/>
            </a:solidFill>
            <a:prstDash val="solid"/>
          </a:ln>
        </p:spPr>
      </p:sp>
      <p:sp>
        <p:nvSpPr>
          <p:cNvPr id="8" name="Shape 5"/>
          <p:cNvSpPr/>
          <p:nvPr/>
        </p:nvSpPr>
        <p:spPr>
          <a:xfrm>
            <a:off x="1514638" y="3140964"/>
            <a:ext cx="118872" cy="118872"/>
          </a:xfrm>
          <a:prstGeom prst="ellipse">
            <a:avLst/>
          </a:prstGeom>
          <a:solidFill>
            <a:srgbClr val="9A8F84"/>
          </a:solidFill>
          <a:ln/>
        </p:spPr>
      </p:sp>
      <p:sp>
        <p:nvSpPr>
          <p:cNvPr id="9" name="Text 6"/>
          <p:cNvSpPr/>
          <p:nvPr/>
        </p:nvSpPr>
        <p:spPr>
          <a:xfrm>
            <a:off x="822960"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Text 7"/>
          <p:cNvSpPr/>
          <p:nvPr/>
        </p:nvSpPr>
        <p:spPr>
          <a:xfrm>
            <a:off x="822960"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길거리 캠페인 QR</a:t>
            </a:r>
            <a:endParaRPr lang="en-US" sz="1150" dirty="0"/>
          </a:p>
        </p:txBody>
      </p:sp>
      <p:sp>
        <p:nvSpPr>
          <p:cNvPr id="11" name="Shape 8"/>
          <p:cNvSpPr/>
          <p:nvPr/>
        </p:nvSpPr>
        <p:spPr>
          <a:xfrm>
            <a:off x="3016867" y="3140964"/>
            <a:ext cx="118872" cy="118872"/>
          </a:xfrm>
          <a:prstGeom prst="ellipse">
            <a:avLst/>
          </a:prstGeom>
          <a:solidFill>
            <a:srgbClr val="9A8F84"/>
          </a:solidFill>
          <a:ln/>
        </p:spPr>
      </p:sp>
      <p:sp>
        <p:nvSpPr>
          <p:cNvPr id="12" name="Text 9"/>
          <p:cNvSpPr/>
          <p:nvPr/>
        </p:nvSpPr>
        <p:spPr>
          <a:xfrm>
            <a:off x="2325189"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3" name="Text 10"/>
          <p:cNvSpPr/>
          <p:nvPr/>
        </p:nvSpPr>
        <p:spPr>
          <a:xfrm>
            <a:off x="2325189"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MCM 매장</a:t>
            </a:r>
            <a:endParaRPr lang="en-US" sz="1150" dirty="0"/>
          </a:p>
        </p:txBody>
      </p:sp>
      <p:sp>
        <p:nvSpPr>
          <p:cNvPr id="14" name="Shape 11"/>
          <p:cNvSpPr/>
          <p:nvPr/>
        </p:nvSpPr>
        <p:spPr>
          <a:xfrm>
            <a:off x="4487091" y="3108960"/>
            <a:ext cx="182880" cy="182880"/>
          </a:xfrm>
          <a:prstGeom prst="ellipse">
            <a:avLst/>
          </a:prstGeom>
          <a:solidFill>
            <a:srgbClr val="C4915F"/>
          </a:solidFill>
          <a:ln/>
        </p:spPr>
      </p:sp>
      <p:sp>
        <p:nvSpPr>
          <p:cNvPr id="15" name="Text 12"/>
          <p:cNvSpPr/>
          <p:nvPr/>
        </p:nvSpPr>
        <p:spPr>
          <a:xfrm>
            <a:off x="3827417"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개봉</a:t>
            </a:r>
            <a:endParaRPr lang="en-US" sz="1700" dirty="0"/>
          </a:p>
        </p:txBody>
      </p:sp>
      <p:sp>
        <p:nvSpPr>
          <p:cNvPr id="16" name="Text 13"/>
          <p:cNvSpPr/>
          <p:nvPr/>
        </p:nvSpPr>
        <p:spPr>
          <a:xfrm>
            <a:off x="3827417"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박스 QR·NFC 스캔</a:t>
            </a:r>
            <a:endParaRPr lang="en-US" sz="1150" dirty="0"/>
          </a:p>
        </p:txBody>
      </p:sp>
      <p:sp>
        <p:nvSpPr>
          <p:cNvPr id="17" name="Shape 14"/>
          <p:cNvSpPr/>
          <p:nvPr/>
        </p:nvSpPr>
        <p:spPr>
          <a:xfrm>
            <a:off x="5989320" y="3108960"/>
            <a:ext cx="182880" cy="182880"/>
          </a:xfrm>
          <a:prstGeom prst="ellipse">
            <a:avLst/>
          </a:prstGeom>
          <a:solidFill>
            <a:srgbClr val="C4915F"/>
          </a:solidFill>
          <a:ln/>
        </p:spPr>
      </p:sp>
      <p:sp>
        <p:nvSpPr>
          <p:cNvPr id="18" name="Text 15"/>
          <p:cNvSpPr/>
          <p:nvPr/>
        </p:nvSpPr>
        <p:spPr>
          <a:xfrm>
            <a:off x="5329646"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등록</a:t>
            </a:r>
            <a:endParaRPr lang="en-US" sz="1700" dirty="0"/>
          </a:p>
        </p:txBody>
      </p:sp>
      <p:sp>
        <p:nvSpPr>
          <p:cNvPr id="19" name="Text 16"/>
          <p:cNvSpPr/>
          <p:nvPr/>
        </p:nvSpPr>
        <p:spPr>
          <a:xfrm>
            <a:off x="5329646"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제품이 내 것이 된다</a:t>
            </a:r>
            <a:endParaRPr lang="en-US" sz="1150" dirty="0"/>
          </a:p>
        </p:txBody>
      </p:sp>
      <p:sp>
        <p:nvSpPr>
          <p:cNvPr id="20" name="Shape 17"/>
          <p:cNvSpPr/>
          <p:nvPr/>
        </p:nvSpPr>
        <p:spPr>
          <a:xfrm>
            <a:off x="7491549" y="3108960"/>
            <a:ext cx="182880" cy="182880"/>
          </a:xfrm>
          <a:prstGeom prst="ellipse">
            <a:avLst/>
          </a:prstGeom>
          <a:solidFill>
            <a:srgbClr val="C4915F"/>
          </a:solidFill>
          <a:ln/>
        </p:spPr>
      </p:sp>
      <p:sp>
        <p:nvSpPr>
          <p:cNvPr id="21" name="Text 18"/>
          <p:cNvSpPr/>
          <p:nvPr/>
        </p:nvSpPr>
        <p:spPr>
          <a:xfrm>
            <a:off x="6831874"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기록</a:t>
            </a:r>
            <a:endParaRPr lang="en-US" sz="1700" dirty="0"/>
          </a:p>
        </p:txBody>
      </p:sp>
      <p:sp>
        <p:nvSpPr>
          <p:cNvPr id="22" name="Text 19"/>
          <p:cNvSpPr/>
          <p:nvPr/>
        </p:nvSpPr>
        <p:spPr>
          <a:xfrm>
            <a:off x="6831874"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Story · Care</a:t>
            </a:r>
            <a:endParaRPr lang="en-US" sz="1150" dirty="0"/>
          </a:p>
        </p:txBody>
      </p:sp>
      <p:sp>
        <p:nvSpPr>
          <p:cNvPr id="23" name="Shape 20"/>
          <p:cNvSpPr/>
          <p:nvPr/>
        </p:nvSpPr>
        <p:spPr>
          <a:xfrm>
            <a:off x="8993777" y="3108960"/>
            <a:ext cx="182880" cy="182880"/>
          </a:xfrm>
          <a:prstGeom prst="ellipse">
            <a:avLst/>
          </a:prstGeom>
          <a:solidFill>
            <a:srgbClr val="C4915F"/>
          </a:solidFill>
          <a:ln/>
        </p:spPr>
      </p:sp>
      <p:sp>
        <p:nvSpPr>
          <p:cNvPr id="24" name="Text 21"/>
          <p:cNvSpPr/>
          <p:nvPr/>
        </p:nvSpPr>
        <p:spPr>
          <a:xfrm>
            <a:off x="8334103"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25" name="Text 22"/>
          <p:cNvSpPr/>
          <p:nvPr/>
        </p:nvSpPr>
        <p:spPr>
          <a:xfrm>
            <a:off x="8334103"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복원 또는 REMADE</a:t>
            </a:r>
            <a:endParaRPr lang="en-US" sz="1150" dirty="0"/>
          </a:p>
        </p:txBody>
      </p:sp>
      <p:sp>
        <p:nvSpPr>
          <p:cNvPr id="26" name="Shape 23"/>
          <p:cNvSpPr/>
          <p:nvPr/>
        </p:nvSpPr>
        <p:spPr>
          <a:xfrm>
            <a:off x="10528010" y="3140964"/>
            <a:ext cx="118872" cy="118872"/>
          </a:xfrm>
          <a:prstGeom prst="ellipse">
            <a:avLst/>
          </a:prstGeom>
          <a:solidFill>
            <a:srgbClr val="9A8F84"/>
          </a:solidFill>
          <a:ln/>
        </p:spPr>
      </p:sp>
      <p:sp>
        <p:nvSpPr>
          <p:cNvPr id="27" name="Text 24"/>
          <p:cNvSpPr/>
          <p:nvPr/>
        </p:nvSpPr>
        <p:spPr>
          <a:xfrm>
            <a:off x="9836331"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이전</a:t>
            </a:r>
            <a:endParaRPr lang="en-US" sz="1700" dirty="0"/>
          </a:p>
        </p:txBody>
      </p:sp>
      <p:sp>
        <p:nvSpPr>
          <p:cNvPr id="28" name="Text 25"/>
          <p:cNvSpPr/>
          <p:nvPr/>
        </p:nvSpPr>
        <p:spPr>
          <a:xfrm>
            <a:off x="9836331"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다음 소유자에게</a:t>
            </a:r>
            <a:endParaRPr lang="en-US" sz="1150" dirty="0"/>
          </a:p>
        </p:txBody>
      </p:sp>
      <p:sp>
        <p:nvSpPr>
          <p:cNvPr id="29" name="Text 26"/>
          <p:cNvSpPr/>
          <p:nvPr/>
        </p:nvSpPr>
        <p:spPr>
          <a:xfrm>
            <a:off x="914400" y="4901184"/>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오프라인에서 발견하고 사서, 온라인에서 남기고 고치고 넘깁니다</a:t>
            </a:r>
            <a:endParaRPr lang="en-US" sz="2000" dirty="0"/>
          </a:p>
        </p:txBody>
      </p:sp>
      <p:sp>
        <p:nvSpPr>
          <p:cNvPr id="30" name="Text 27"/>
          <p:cNvSpPr/>
          <p:nvPr/>
        </p:nvSpPr>
        <p:spPr>
          <a:xfrm>
            <a:off x="914400" y="5394960"/>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QR·NFC가 그 사이를 잇습니다</a:t>
            </a:r>
            <a:endParaRPr lang="en-US" sz="1400" dirty="0"/>
          </a:p>
        </p:txBody>
      </p:sp>
      <p:sp>
        <p:nvSpPr>
          <p:cNvPr id="31" name="Text 2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네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STORY</a:t>
            </a:r>
            <a:endParaRPr lang="en-US" sz="1100" dirty="0"/>
          </a:p>
        </p:txBody>
      </p:sp>
      <p:sp>
        <p:nvSpPr>
          <p:cNvPr id="7" name="Text 4"/>
          <p:cNvSpPr/>
          <p:nvPr/>
        </p:nvSpPr>
        <p:spPr>
          <a:xfrm>
            <a:off x="10972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기록</a:t>
            </a:r>
            <a:endParaRPr lang="en-US" sz="2000" dirty="0"/>
          </a:p>
        </p:txBody>
      </p:sp>
      <p:sp>
        <p:nvSpPr>
          <p:cNvPr id="8" name="Text 5"/>
          <p:cNvSpPr/>
          <p:nvPr/>
        </p:nvSpPr>
        <p:spPr>
          <a:xfrm>
            <a:off x="10972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300" dirty="0"/>
          </a:p>
        </p:txBody>
      </p:sp>
      <p:sp>
        <p:nvSpPr>
          <p:cNvPr id="9" name="Text 6"/>
          <p:cNvSpPr/>
          <p:nvPr/>
        </p:nvSpPr>
        <p:spPr>
          <a:xfrm>
            <a:off x="10972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0" name="Shape 7"/>
          <p:cNvSpPr/>
          <p:nvPr/>
        </p:nvSpPr>
        <p:spPr>
          <a:xfrm>
            <a:off x="3451860" y="2377440"/>
            <a:ext cx="0" cy="2286000"/>
          </a:xfrm>
          <a:prstGeom prst="line">
            <a:avLst/>
          </a:prstGeom>
          <a:noFill/>
          <a:ln w="9525">
            <a:solidFill>
              <a:srgbClr val="3A3025"/>
            </a:solidFill>
            <a:prstDash val="solid"/>
          </a:ln>
        </p:spPr>
      </p:sp>
      <p:sp>
        <p:nvSpPr>
          <p:cNvPr id="11" name="Text 8"/>
          <p:cNvSpPr/>
          <p:nvPr/>
        </p:nvSpPr>
        <p:spPr>
          <a:xfrm>
            <a:off x="37261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CARE · REPAIR</a:t>
            </a:r>
            <a:endParaRPr lang="en-US" sz="1100" dirty="0"/>
          </a:p>
        </p:txBody>
      </p:sp>
      <p:sp>
        <p:nvSpPr>
          <p:cNvPr id="12" name="Text 9"/>
          <p:cNvSpPr/>
          <p:nvPr/>
        </p:nvSpPr>
        <p:spPr>
          <a:xfrm>
            <a:off x="37261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제품 수명 연장</a:t>
            </a:r>
            <a:endParaRPr lang="en-US" sz="2000" dirty="0"/>
          </a:p>
        </p:txBody>
      </p:sp>
      <p:sp>
        <p:nvSpPr>
          <p:cNvPr id="13" name="Text 10"/>
          <p:cNvSpPr/>
          <p:nvPr/>
        </p:nvSpPr>
        <p:spPr>
          <a:xfrm>
            <a:off x="37261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부위를 눌러 접수한다</a:t>
            </a:r>
            <a:endParaRPr lang="en-US" sz="1300" dirty="0"/>
          </a:p>
        </p:txBody>
      </p:sp>
      <p:sp>
        <p:nvSpPr>
          <p:cNvPr id="14" name="Text 11"/>
          <p:cNvSpPr/>
          <p:nvPr/>
        </p:nvSpPr>
        <p:spPr>
          <a:xfrm>
            <a:off x="37261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5" name="Shape 12"/>
          <p:cNvSpPr/>
          <p:nvPr/>
        </p:nvSpPr>
        <p:spPr>
          <a:xfrm>
            <a:off x="6080760" y="2377440"/>
            <a:ext cx="0" cy="2286000"/>
          </a:xfrm>
          <a:prstGeom prst="line">
            <a:avLst/>
          </a:prstGeom>
          <a:noFill/>
          <a:ln w="9525">
            <a:solidFill>
              <a:srgbClr val="3A3025"/>
            </a:solidFill>
            <a:prstDash val="solid"/>
          </a:ln>
        </p:spPr>
      </p:sp>
      <p:sp>
        <p:nvSpPr>
          <p:cNvPr id="16" name="Text 13"/>
          <p:cNvSpPr/>
          <p:nvPr/>
        </p:nvSpPr>
        <p:spPr>
          <a:xfrm>
            <a:off x="63550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REMADE</a:t>
            </a:r>
            <a:endParaRPr lang="en-US" sz="1100" dirty="0"/>
          </a:p>
        </p:txBody>
      </p:sp>
      <p:sp>
        <p:nvSpPr>
          <p:cNvPr id="17" name="Text 14"/>
          <p:cNvSpPr/>
          <p:nvPr/>
        </p:nvSpPr>
        <p:spPr>
          <a:xfrm>
            <a:off x="63550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선택형 커스터마이징</a:t>
            </a:r>
            <a:endParaRPr lang="en-US" sz="2000" dirty="0"/>
          </a:p>
        </p:txBody>
      </p:sp>
      <p:sp>
        <p:nvSpPr>
          <p:cNvPr id="18" name="Text 15"/>
          <p:cNvSpPr/>
          <p:nvPr/>
        </p:nvSpPr>
        <p:spPr>
          <a:xfrm>
            <a:off x="63550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흠 위에 무늬를 새긴다</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 MCM 제작</a:t>
            </a:r>
            <a:endParaRPr lang="en-US" sz="1300" dirty="0"/>
          </a:p>
        </p:txBody>
      </p:sp>
      <p:sp>
        <p:nvSpPr>
          <p:cNvPr id="19" name="Text 16"/>
          <p:cNvSpPr/>
          <p:nvPr/>
        </p:nvSpPr>
        <p:spPr>
          <a:xfrm>
            <a:off x="63550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20" name="Shape 17"/>
          <p:cNvSpPr/>
          <p:nvPr/>
        </p:nvSpPr>
        <p:spPr>
          <a:xfrm>
            <a:off x="8709660" y="2377440"/>
            <a:ext cx="0" cy="2286000"/>
          </a:xfrm>
          <a:prstGeom prst="line">
            <a:avLst/>
          </a:prstGeom>
          <a:noFill/>
          <a:ln w="9525">
            <a:solidFill>
              <a:srgbClr val="3A3025"/>
            </a:solidFill>
            <a:prstDash val="solid"/>
          </a:ln>
        </p:spPr>
      </p:sp>
      <p:sp>
        <p:nvSpPr>
          <p:cNvPr id="21" name="Text 18"/>
          <p:cNvSpPr/>
          <p:nvPr/>
        </p:nvSpPr>
        <p:spPr>
          <a:xfrm>
            <a:off x="89839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TRANSFER</a:t>
            </a:r>
            <a:endParaRPr lang="en-US" sz="1100" dirty="0"/>
          </a:p>
        </p:txBody>
      </p:sp>
      <p:sp>
        <p:nvSpPr>
          <p:cNvPr id="22" name="Text 19"/>
          <p:cNvSpPr/>
          <p:nvPr/>
        </p:nvSpPr>
        <p:spPr>
          <a:xfrm>
            <a:off x="89839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다음 소유자로</a:t>
            </a:r>
            <a:endParaRPr lang="en-US" sz="2000" dirty="0"/>
          </a:p>
        </p:txBody>
      </p:sp>
      <p:sp>
        <p:nvSpPr>
          <p:cNvPr id="23" name="Text 20"/>
          <p:cNvSpPr/>
          <p:nvPr/>
        </p:nvSpPr>
        <p:spPr>
          <a:xfrm>
            <a:off x="89839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공식 이력이 그대로</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넘어간다</a:t>
            </a:r>
            <a:endParaRPr lang="en-US" sz="1300" dirty="0"/>
          </a:p>
        </p:txBody>
      </p:sp>
      <p:sp>
        <p:nvSpPr>
          <p:cNvPr id="24" name="Text 21"/>
          <p:cNvSpPr/>
          <p:nvPr/>
        </p:nvSpPr>
        <p:spPr>
          <a:xfrm>
            <a:off x="8983980" y="4261104"/>
            <a:ext cx="2080260" cy="274320"/>
          </a:xfrm>
          <a:prstGeom prst="rect">
            <a:avLst/>
          </a:prstGeom>
          <a:noFill/>
          <a:ln/>
        </p:spPr>
        <p:txBody>
          <a:bodyPr wrap="square" lIns="0" tIns="0" rIns="0" bIns="0" rtlCol="0" anchor="ctr"/>
          <a:lstStyle/>
          <a:p>
            <a:pP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로드맵</a:t>
            </a:r>
            <a:endParaRPr lang="en-US" sz="1100" dirty="0"/>
          </a:p>
        </p:txBody>
      </p:sp>
      <p:sp>
        <p:nvSpPr>
          <p:cNvPr id="25" name="Text 22"/>
          <p:cNvSpPr/>
          <p:nvPr/>
        </p:nvSpPr>
        <p:spPr>
          <a:xfrm>
            <a:off x="914400" y="5029200"/>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네 가지가 각각의 앱이 아니라, 하나의 타임라인 위 레이어입니다</a:t>
            </a:r>
            <a:endParaRPr lang="en-US" sz="1800" dirty="0"/>
          </a:p>
        </p:txBody>
      </p:sp>
      <p:sp>
        <p:nvSpPr>
          <p:cNvPr id="26" name="Text 2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사진을 올리면</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알아서 기록합니다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사용자가 하는 일은 사진 한 장뿐입니다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만드는 수선 상품입니다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pic>
        <p:nvPicPr>
          <p:cNvPr id="17" name="Image 1" descr="/private/tmp/claude-501/-Users-home-Desktop-likeGonzi/55b29f25-80a9-40cb-9e3c-00904cc11cc6/scratchpad/damage.jpg">    </p:cNvPr>
          <p:cNvPicPr>
            <a:picLocks noChangeAspect="1"/>
          </p:cNvPicPr>
          <p:nvPr/>
        </p:nvPicPr>
        <p:blipFill>
          <a:blip r:embed="rId2"/>
          <a:stretch>
            <a:fillRect/>
          </a:stretch>
        </p:blipFill>
        <p:spPr>
          <a:xfrm>
            <a:off x="1417320" y="4224528"/>
            <a:ext cx="1371600" cy="1371600"/>
          </a:xfrm>
          <a:prstGeom prst="rect">
            <a:avLst/>
          </a:prstGeom>
        </p:spPr>
      </p:pic>
      <p:sp>
        <p:nvSpPr>
          <p:cNvPr id="18" name="Text 14"/>
          <p:cNvSpPr/>
          <p:nvPr/>
        </p:nvSpPr>
        <p:spPr>
          <a:xfrm>
            <a:off x="2926080" y="4791456"/>
            <a:ext cx="365760" cy="274320"/>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pic>
        <p:nvPicPr>
          <p:cNvPr id="19" name="Image 2" descr="/private/tmp/claude-501/-Users-home-Desktop-likeGonzi/55b29f25-80a9-40cb-9e3c-00904cc11cc6/scratchpad/remade-1.jpg">    </p:cNvPr>
          <p:cNvPicPr>
            <a:picLocks noChangeAspect="1"/>
          </p:cNvPicPr>
          <p:nvPr/>
        </p:nvPicPr>
        <p:blipFill>
          <a:blip r:embed="rId3"/>
          <a:stretch>
            <a:fillRect/>
          </a:stretch>
        </p:blipFill>
        <p:spPr>
          <a:xfrm>
            <a:off x="3429000" y="4224528"/>
            <a:ext cx="1371600" cy="1371600"/>
          </a:xfrm>
          <a:prstGeom prst="rect">
            <a:avLst/>
          </a:prstGeom>
        </p:spPr>
      </p:pic>
      <p:pic>
        <p:nvPicPr>
          <p:cNvPr id="20" name="Image 3" descr="/private/tmp/claude-501/-Users-home-Desktop-likeGonzi/55b29f25-80a9-40cb-9e3c-00904cc11cc6/scratchpad/remade-2.jpg">    </p:cNvPr>
          <p:cNvPicPr>
            <a:picLocks noChangeAspect="1"/>
          </p:cNvPicPr>
          <p:nvPr/>
        </p:nvPicPr>
        <p:blipFill>
          <a:blip r:embed="rId4"/>
          <a:stretch>
            <a:fillRect/>
          </a:stretch>
        </p:blipFill>
        <p:spPr>
          <a:xfrm>
            <a:off x="4983480" y="4224528"/>
            <a:ext cx="1371600" cy="1371600"/>
          </a:xfrm>
          <a:prstGeom prst="rect">
            <a:avLst/>
          </a:prstGeom>
        </p:spPr>
      </p:pic>
      <p:pic>
        <p:nvPicPr>
          <p:cNvPr id="21" name="Image 4" descr="/private/tmp/claude-501/-Users-home-Desktop-likeGonzi/55b29f25-80a9-40cb-9e3c-00904cc11cc6/scratchpad/remade-3.jpg">    </p:cNvPr>
          <p:cNvPicPr>
            <a:picLocks noChangeAspect="1"/>
          </p:cNvPicPr>
          <p:nvPr/>
        </p:nvPicPr>
        <p:blipFill>
          <a:blip r:embed="rId5"/>
          <a:stretch>
            <a:fillRect/>
          </a:stretch>
        </p:blipFill>
        <p:spPr>
          <a:xfrm>
            <a:off x="6537960" y="4224528"/>
            <a:ext cx="1371600" cy="1371600"/>
          </a:xfrm>
          <a:prstGeom prst="rect">
            <a:avLst/>
          </a:prstGeom>
        </p:spPr>
      </p:pic>
      <p:sp>
        <p:nvSpPr>
          <p:cNvPr id="22" name="Text 15"/>
          <p:cNvSpPr/>
          <p:nvPr/>
        </p:nvSpPr>
        <p:spPr>
          <a:xfrm>
            <a:off x="8321040" y="4443984"/>
            <a:ext cx="2926080" cy="822960"/>
          </a:xfrm>
          <a:prstGeom prst="rect">
            <a:avLst/>
          </a:prstGeom>
          <a:noFill/>
          <a:ln/>
        </p:spPr>
        <p:txBody>
          <a:bodyPr wrap="square" lIns="0" tIns="0" rIns="0" bIns="0" rtlCol="0" anchor="ctr"/>
          <a:lstStyle/>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AI는 시안만 그립니다.</a:t>
            </a:r>
            <a:endParaRPr lang="en-US" sz="1600" dirty="0"/>
          </a:p>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만드는 건 MCM 매장입니다.</a:t>
            </a:r>
            <a:endParaRPr lang="en-US" sz="1600" dirty="0"/>
          </a:p>
        </p:txBody>
      </p:sp>
      <p:sp>
        <p:nvSpPr>
          <p:cNvPr id="23" name="Text 16"/>
          <p:cNvSpPr/>
          <p:nvPr/>
        </p:nvSpPr>
        <p:spPr>
          <a:xfrm>
            <a:off x="914400" y="5870448"/>
            <a:ext cx="10332720" cy="329184"/>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리폼하면 보통 리셀가가 떨어집니다. 브랜드 공식 리폼 + DPP 기록이면 오히려 오릅니다.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IS REAL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어디까지 만들었는지 밝힙니다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2860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AI Story · Recap 생성</a:t>
            </a:r>
            <a:endParaRPr lang="en-US" sz="1500" dirty="0"/>
          </a:p>
        </p:txBody>
      </p:sp>
      <p:sp>
        <p:nvSpPr>
          <p:cNvPr id="7" name="Text 4"/>
          <p:cNvSpPr/>
          <p:nvPr/>
        </p:nvSpPr>
        <p:spPr>
          <a:xfrm>
            <a:off x="5212080" y="23042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gpt-4o-mini</a:t>
            </a:r>
            <a:endParaRPr lang="en-US" sz="1250" dirty="0"/>
          </a:p>
        </p:txBody>
      </p:sp>
      <p:sp>
        <p:nvSpPr>
          <p:cNvPr id="8" name="Text 5"/>
          <p:cNvSpPr/>
          <p:nvPr/>
        </p:nvSpPr>
        <p:spPr>
          <a:xfrm>
            <a:off x="9601200" y="22951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9" name="Shape 6"/>
          <p:cNvSpPr/>
          <p:nvPr/>
        </p:nvSpPr>
        <p:spPr>
          <a:xfrm>
            <a:off x="1097280" y="2633472"/>
            <a:ext cx="9966960" cy="0"/>
          </a:xfrm>
          <a:prstGeom prst="line">
            <a:avLst/>
          </a:prstGeom>
          <a:noFill/>
          <a:ln w="9525">
            <a:solidFill>
              <a:srgbClr val="3A3025"/>
            </a:solidFill>
            <a:prstDash val="solid"/>
          </a:ln>
        </p:spPr>
      </p:sp>
      <p:sp>
        <p:nvSpPr>
          <p:cNvPr id="10" name="Text 7"/>
          <p:cNvSpPr/>
          <p:nvPr/>
        </p:nvSpPr>
        <p:spPr>
          <a:xfrm>
            <a:off x="1188720" y="27432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REMADE 시안 생성</a:t>
            </a:r>
            <a:endParaRPr lang="en-US" sz="1500" dirty="0"/>
          </a:p>
        </p:txBody>
      </p:sp>
      <p:sp>
        <p:nvSpPr>
          <p:cNvPr id="11" name="Text 8"/>
          <p:cNvSpPr/>
          <p:nvPr/>
        </p:nvSpPr>
        <p:spPr>
          <a:xfrm>
            <a:off x="5212080" y="27614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gpt-image-1-mini · 3안 15초</a:t>
            </a:r>
            <a:endParaRPr lang="en-US" sz="1250" dirty="0"/>
          </a:p>
        </p:txBody>
      </p:sp>
      <p:sp>
        <p:nvSpPr>
          <p:cNvPr id="12" name="Text 9"/>
          <p:cNvSpPr/>
          <p:nvPr/>
        </p:nvSpPr>
        <p:spPr>
          <a:xfrm>
            <a:off x="9601200" y="27523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3" name="Shape 10"/>
          <p:cNvSpPr/>
          <p:nvPr/>
        </p:nvSpPr>
        <p:spPr>
          <a:xfrm>
            <a:off x="1097280" y="3090672"/>
            <a:ext cx="9966960" cy="0"/>
          </a:xfrm>
          <a:prstGeom prst="line">
            <a:avLst/>
          </a:prstGeom>
          <a:noFill/>
          <a:ln w="9525">
            <a:solidFill>
              <a:srgbClr val="3A3025"/>
            </a:solidFill>
            <a:prstDash val="solid"/>
          </a:ln>
        </p:spPr>
      </p:sp>
      <p:sp>
        <p:nvSpPr>
          <p:cNvPr id="14" name="Text 11"/>
          <p:cNvSpPr/>
          <p:nvPr/>
        </p:nvSpPr>
        <p:spPr>
          <a:xfrm>
            <a:off x="1188720" y="32004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GS1 Digital Link 태그</a:t>
            </a:r>
            <a:endParaRPr lang="en-US" sz="1500" dirty="0"/>
          </a:p>
        </p:txBody>
      </p:sp>
      <p:sp>
        <p:nvSpPr>
          <p:cNvPr id="15" name="Text 12"/>
          <p:cNvSpPr/>
          <p:nvPr/>
        </p:nvSpPr>
        <p:spPr>
          <a:xfrm>
            <a:off x="5212080" y="32186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/01/{gtin}/21/{serial} 표준 라우팅</a:t>
            </a:r>
            <a:endParaRPr lang="en-US" sz="1250" dirty="0"/>
          </a:p>
        </p:txBody>
      </p:sp>
      <p:sp>
        <p:nvSpPr>
          <p:cNvPr id="16" name="Text 13"/>
          <p:cNvSpPr/>
          <p:nvPr/>
        </p:nvSpPr>
        <p:spPr>
          <a:xfrm>
            <a:off x="9601200" y="32095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7" name="Shape 14"/>
          <p:cNvSpPr/>
          <p:nvPr/>
        </p:nvSpPr>
        <p:spPr>
          <a:xfrm>
            <a:off x="1097280" y="3547872"/>
            <a:ext cx="9966960" cy="0"/>
          </a:xfrm>
          <a:prstGeom prst="line">
            <a:avLst/>
          </a:prstGeom>
          <a:noFill/>
          <a:ln w="9525">
            <a:solidFill>
              <a:srgbClr val="3A3025"/>
            </a:solidFill>
            <a:prstDash val="solid"/>
          </a:ln>
        </p:spPr>
      </p:sp>
      <p:sp>
        <p:nvSpPr>
          <p:cNvPr id="18" name="Text 15"/>
          <p:cNvSpPr/>
          <p:nvPr/>
        </p:nvSpPr>
        <p:spPr>
          <a:xfrm>
            <a:off x="1188720" y="36576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EU ESPR 여권 항목</a:t>
            </a:r>
            <a:endParaRPr lang="en-US" sz="1500" dirty="0"/>
          </a:p>
        </p:txBody>
      </p:sp>
      <p:sp>
        <p:nvSpPr>
          <p:cNvPr id="19" name="Text 16"/>
          <p:cNvSpPr/>
          <p:nvPr/>
        </p:nvSpPr>
        <p:spPr>
          <a:xfrm>
            <a:off x="5212080" y="36758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소재 구성 · 재활용 함량 · 수리가능성 · 원산지</a:t>
            </a:r>
            <a:endParaRPr lang="en-US" sz="1250" dirty="0"/>
          </a:p>
        </p:txBody>
      </p:sp>
      <p:sp>
        <p:nvSpPr>
          <p:cNvPr id="20" name="Text 17"/>
          <p:cNvSpPr/>
          <p:nvPr/>
        </p:nvSpPr>
        <p:spPr>
          <a:xfrm>
            <a:off x="9601200" y="36667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21" name="Shape 18"/>
          <p:cNvSpPr/>
          <p:nvPr/>
        </p:nvSpPr>
        <p:spPr>
          <a:xfrm>
            <a:off x="1097280" y="4005072"/>
            <a:ext cx="9966960" cy="0"/>
          </a:xfrm>
          <a:prstGeom prst="line">
            <a:avLst/>
          </a:prstGeom>
          <a:noFill/>
          <a:ln w="9525">
            <a:solidFill>
              <a:srgbClr val="3A3025"/>
            </a:solidFill>
            <a:prstDash val="solid"/>
          </a:ln>
        </p:spPr>
      </p:sp>
      <p:sp>
        <p:nvSpPr>
          <p:cNvPr id="22" name="Text 19"/>
          <p:cNvSpPr/>
          <p:nvPr/>
        </p:nvSpPr>
        <p:spPr>
          <a:xfrm>
            <a:off x="1188720" y="41148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수선 접수 · 상황 데이터 집계</a:t>
            </a:r>
            <a:endParaRPr lang="en-US" sz="1500" dirty="0"/>
          </a:p>
        </p:txBody>
      </p:sp>
      <p:sp>
        <p:nvSpPr>
          <p:cNvPr id="23" name="Text 20"/>
          <p:cNvSpPr/>
          <p:nvPr/>
        </p:nvSpPr>
        <p:spPr>
          <a:xfrm>
            <a:off x="5212080" y="41330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실사 위 좌표 · 동의 기반 k-익명성</a:t>
            </a:r>
            <a:endParaRPr lang="en-US" sz="1250" dirty="0"/>
          </a:p>
        </p:txBody>
      </p:sp>
      <p:sp>
        <p:nvSpPr>
          <p:cNvPr id="24" name="Text 21"/>
          <p:cNvSpPr/>
          <p:nvPr/>
        </p:nvSpPr>
        <p:spPr>
          <a:xfrm>
            <a:off x="9601200" y="41239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25" name="Shape 22"/>
          <p:cNvSpPr/>
          <p:nvPr/>
        </p:nvSpPr>
        <p:spPr>
          <a:xfrm>
            <a:off x="1097280" y="4462272"/>
            <a:ext cx="9966960" cy="0"/>
          </a:xfrm>
          <a:prstGeom prst="line">
            <a:avLst/>
          </a:prstGeom>
          <a:noFill/>
          <a:ln w="9525">
            <a:solidFill>
              <a:srgbClr val="3A3025"/>
            </a:solidFill>
            <a:prstDash val="solid"/>
          </a:ln>
        </p:spPr>
      </p:sp>
      <p:sp>
        <p:nvSpPr>
          <p:cNvPr id="26" name="Text 23"/>
          <p:cNvSpPr/>
          <p:nvPr/>
        </p:nvSpPr>
        <p:spPr>
          <a:xfrm>
            <a:off x="1188720" y="45720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Care Score · 수선 견적</a:t>
            </a:r>
            <a:endParaRPr lang="en-US" sz="1500" dirty="0"/>
          </a:p>
        </p:txBody>
      </p:sp>
      <p:sp>
        <p:nvSpPr>
          <p:cNvPr id="27" name="Text 24"/>
          <p:cNvSpPr/>
          <p:nvPr/>
        </p:nvSpPr>
        <p:spPr>
          <a:xfrm>
            <a:off x="5212080" y="45902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기록 기반 규칙 계산 · AI 아님</a:t>
            </a:r>
            <a:endParaRPr lang="en-US" sz="1250" dirty="0"/>
          </a:p>
        </p:txBody>
      </p:sp>
      <p:sp>
        <p:nvSpPr>
          <p:cNvPr id="28" name="Text 25"/>
          <p:cNvSpPr/>
          <p:nvPr/>
        </p:nvSpPr>
        <p:spPr>
          <a:xfrm>
            <a:off x="9601200" y="4581144"/>
            <a:ext cx="1463040" cy="274320"/>
          </a:xfrm>
          <a:prstGeom prst="rect">
            <a:avLst/>
          </a:prstGeom>
          <a:noFill/>
          <a:ln/>
        </p:spPr>
        <p:txBody>
          <a:bodyPr wrap="square" lIns="0" tIns="0" rIns="0" bIns="0" rtlCol="0" anchor="ctr"/>
          <a:lstStyle/>
          <a:p>
            <a:pPr algn="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규칙</a:t>
            </a:r>
            <a:endParaRPr lang="en-US" sz="1250" dirty="0"/>
          </a:p>
        </p:txBody>
      </p:sp>
      <p:sp>
        <p:nvSpPr>
          <p:cNvPr id="29" name="Shape 26"/>
          <p:cNvSpPr/>
          <p:nvPr/>
        </p:nvSpPr>
        <p:spPr>
          <a:xfrm>
            <a:off x="1097280" y="4919472"/>
            <a:ext cx="9966960" cy="0"/>
          </a:xfrm>
          <a:prstGeom prst="line">
            <a:avLst/>
          </a:prstGeom>
          <a:noFill/>
          <a:ln w="9525">
            <a:solidFill>
              <a:srgbClr val="3A3025"/>
            </a:solidFill>
            <a:prstDash val="solid"/>
          </a:ln>
        </p:spPr>
      </p:sp>
      <p:sp>
        <p:nvSpPr>
          <p:cNvPr id="30" name="Text 27"/>
          <p:cNvSpPr/>
          <p:nvPr/>
        </p:nvSpPr>
        <p:spPr>
          <a:xfrm>
            <a:off x="1188720" y="50292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여권 수치 · 결제</a:t>
            </a:r>
            <a:endParaRPr lang="en-US" sz="1500" dirty="0"/>
          </a:p>
        </p:txBody>
      </p:sp>
      <p:sp>
        <p:nvSpPr>
          <p:cNvPr id="31" name="Text 28"/>
          <p:cNvSpPr/>
          <p:nvPr/>
        </p:nvSpPr>
        <p:spPr>
          <a:xfrm>
            <a:off x="5212080" y="50474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시연용 가정치 · 실제 정산 없음</a:t>
            </a:r>
            <a:endParaRPr lang="en-US" sz="1250" dirty="0"/>
          </a:p>
        </p:txBody>
      </p:sp>
      <p:sp>
        <p:nvSpPr>
          <p:cNvPr id="32" name="Text 29"/>
          <p:cNvSpPr/>
          <p:nvPr/>
        </p:nvSpPr>
        <p:spPr>
          <a:xfrm>
            <a:off x="9601200" y="5038344"/>
            <a:ext cx="1463040" cy="274320"/>
          </a:xfrm>
          <a:prstGeom prst="rect">
            <a:avLst/>
          </a:prstGeom>
          <a:noFill/>
          <a:ln/>
        </p:spPr>
        <p:txBody>
          <a:bodyPr wrap="square" lIns="0" tIns="0" rIns="0" bIns="0" rtlCol="0" anchor="ctr"/>
          <a:lstStyle/>
          <a:p>
            <a:pPr algn="r" indent="0" marL="0">
              <a:buNone/>
            </a:pPr>
            <a:r>
              <a:rPr lang="en-US" sz="1250" b="1" dirty="0">
                <a:solidFill>
                  <a:srgbClr val="9A8F84"/>
                </a:solidFill>
                <a:latin typeface="Apple SD Gothic Neo" pitchFamily="34" charset="0"/>
                <a:ea typeface="Apple SD Gothic Neo" pitchFamily="34" charset="-122"/>
                <a:cs typeface="Apple SD Gothic Neo" pitchFamily="34" charset="-120"/>
              </a:rPr>
              <a:t>데모</a:t>
            </a:r>
            <a:endParaRPr lang="en-US" sz="1250" dirty="0"/>
          </a:p>
        </p:txBody>
      </p:sp>
      <p:sp>
        <p:nvSpPr>
          <p:cNvPr id="33" name="Shape 30"/>
          <p:cNvSpPr/>
          <p:nvPr/>
        </p:nvSpPr>
        <p:spPr>
          <a:xfrm>
            <a:off x="1097280" y="5376672"/>
            <a:ext cx="9966960" cy="0"/>
          </a:xfrm>
          <a:prstGeom prst="line">
            <a:avLst/>
          </a:prstGeom>
          <a:noFill/>
          <a:ln w="9525">
            <a:solidFill>
              <a:srgbClr val="3A3025"/>
            </a:solidFill>
            <a:prstDash val="solid"/>
          </a:ln>
        </p:spPr>
      </p:sp>
      <p:sp>
        <p:nvSpPr>
          <p:cNvPr id="34" name="Text 31"/>
          <p:cNvSpPr/>
          <p:nvPr/>
        </p:nvSpPr>
        <p:spPr>
          <a:xfrm>
            <a:off x="1188720" y="54864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Aura 원장 기록</a:t>
            </a:r>
            <a:endParaRPr lang="en-US" sz="1500" dirty="0"/>
          </a:p>
        </p:txBody>
      </p:sp>
      <p:sp>
        <p:nvSpPr>
          <p:cNvPr id="35" name="Text 32"/>
          <p:cNvSpPr/>
          <p:nvPr/>
        </p:nvSpPr>
        <p:spPr>
          <a:xfrm>
            <a:off x="5212080" y="55046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브랜드 연동 필요</a:t>
            </a:r>
            <a:endParaRPr lang="en-US" sz="1250" dirty="0"/>
          </a:p>
        </p:txBody>
      </p:sp>
      <p:sp>
        <p:nvSpPr>
          <p:cNvPr id="36" name="Text 33"/>
          <p:cNvSpPr/>
          <p:nvPr/>
        </p:nvSpPr>
        <p:spPr>
          <a:xfrm>
            <a:off x="9601200" y="5495544"/>
            <a:ext cx="1463040" cy="274320"/>
          </a:xfrm>
          <a:prstGeom prst="rect">
            <a:avLst/>
          </a:prstGeom>
          <a:noFill/>
          <a:ln/>
        </p:spPr>
        <p:txBody>
          <a:bodyPr wrap="square" lIns="0" tIns="0" rIns="0" bIns="0" rtlCol="0" anchor="ctr"/>
          <a:lstStyle/>
          <a:p>
            <a:pPr algn="r" indent="0" marL="0">
              <a:buNone/>
            </a:pPr>
            <a:r>
              <a:rPr lang="en-US" sz="1250" b="1" dirty="0">
                <a:solidFill>
                  <a:srgbClr val="9A8F84"/>
                </a:solidFill>
                <a:latin typeface="Apple SD Gothic Neo" pitchFamily="34" charset="0"/>
                <a:ea typeface="Apple SD Gothic Neo" pitchFamily="34" charset="-122"/>
                <a:cs typeface="Apple SD Gothic Neo" pitchFamily="34" charset="-120"/>
              </a:rPr>
              <a:t>연동 예정</a:t>
            </a:r>
            <a:endParaRPr lang="en-US" sz="1250" dirty="0"/>
          </a:p>
        </p:txBody>
      </p:sp>
      <p:sp>
        <p:nvSpPr>
          <p:cNvPr id="37" name="Shape 34"/>
          <p:cNvSpPr/>
          <p:nvPr/>
        </p:nvSpPr>
        <p:spPr>
          <a:xfrm>
            <a:off x="1097280" y="5833872"/>
            <a:ext cx="9966960" cy="0"/>
          </a:xfrm>
          <a:prstGeom prst="line">
            <a:avLst/>
          </a:prstGeom>
          <a:noFill/>
          <a:ln w="9525">
            <a:solidFill>
              <a:srgbClr val="3A3025"/>
            </a:solidFill>
            <a:prstDash val="solid"/>
          </a:ln>
        </p:spPr>
      </p:sp>
      <p:sp>
        <p:nvSpPr>
          <p:cNvPr id="38" name="Text 35"/>
          <p:cNvSpPr/>
          <p:nvPr/>
        </p:nvSpPr>
        <p:spPr>
          <a:xfrm>
            <a:off x="1188720" y="59436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캠페인 QR · 소유권 이전</a:t>
            </a:r>
            <a:endParaRPr lang="en-US" sz="1500" dirty="0"/>
          </a:p>
        </p:txBody>
      </p:sp>
      <p:sp>
        <p:nvSpPr>
          <p:cNvPr id="39" name="Text 36"/>
          <p:cNvSpPr/>
          <p:nvPr/>
        </p:nvSpPr>
        <p:spPr>
          <a:xfrm>
            <a:off x="5212080" y="59618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화면 없음</a:t>
            </a:r>
            <a:endParaRPr lang="en-US" sz="1250" dirty="0"/>
          </a:p>
        </p:txBody>
      </p:sp>
      <p:sp>
        <p:nvSpPr>
          <p:cNvPr id="40" name="Text 37"/>
          <p:cNvSpPr/>
          <p:nvPr/>
        </p:nvSpPr>
        <p:spPr>
          <a:xfrm>
            <a:off x="9601200" y="5952744"/>
            <a:ext cx="1463040" cy="274320"/>
          </a:xfrm>
          <a:prstGeom prst="rect">
            <a:avLst/>
          </a:prstGeom>
          <a:noFill/>
          <a:ln/>
        </p:spPr>
        <p:txBody>
          <a:bodyPr wrap="square" lIns="0" tIns="0" rIns="0" bIns="0" rtlCol="0" anchor="ctr"/>
          <a:lstStyle/>
          <a:p>
            <a:pPr algn="r" indent="0" marL="0">
              <a:buNone/>
            </a:pPr>
            <a:r>
              <a:rPr lang="en-US" sz="1250" b="1" dirty="0">
                <a:solidFill>
                  <a:srgbClr val="6E6459"/>
                </a:solidFill>
                <a:latin typeface="Apple SD Gothic Neo" pitchFamily="34" charset="0"/>
                <a:ea typeface="Apple SD Gothic Neo" pitchFamily="34" charset="-122"/>
                <a:cs typeface="Apple SD Gothic Neo" pitchFamily="34" charset="-120"/>
              </a:rPr>
              <a:t>로드맵</a:t>
            </a:r>
            <a:endParaRPr lang="en-US" sz="1250" dirty="0"/>
          </a:p>
        </p:txBody>
      </p:sp>
      <p:sp>
        <p:nvSpPr>
          <p:cNvPr id="41" name="Text 38"/>
          <p:cNvSpPr/>
          <p:nvPr/>
        </p:nvSpPr>
        <p:spPr>
          <a:xfrm>
            <a:off x="914400" y="6345936"/>
            <a:ext cx="10332720" cy="310896"/>
          </a:xfrm>
          <a:prstGeom prst="rect">
            <a:avLst/>
          </a:prstGeom>
          <a:noFill/>
          <a:ln/>
        </p:spPr>
        <p:txBody>
          <a:bodyPr wrap="square" lIns="0" tIns="0" rIns="0" bIns="0" rtlCol="0" anchor="ctr"/>
          <a:lstStyle/>
          <a:p>
            <a:pPr algn="ctr" indent="0" marL="0">
              <a:buNone/>
            </a:pPr>
            <a:r>
              <a:rPr lang="en-US" sz="1350" dirty="0">
                <a:solidFill>
                  <a:srgbClr val="C4915F"/>
                </a:solidFill>
                <a:latin typeface="Apple SD Gothic Neo" pitchFamily="34" charset="0"/>
                <a:ea typeface="Apple SD Gothic Neo" pitchFamily="34" charset="-122"/>
                <a:cs typeface="Apple SD Gothic Neo" pitchFamily="34" charset="-120"/>
              </a:rPr>
              <a:t>제품 상태를 AI가 판정하지 않습니다. 어디에 안 쓰는지도 적어둡니다.</a:t>
            </a:r>
            <a:endParaRPr lang="en-US" sz="1350" dirty="0"/>
          </a:p>
        </p:txBody>
      </p:sp>
      <p:sp>
        <p:nvSpPr>
          <p:cNvPr id="42" name="Text 39"/>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DIGITAL PRODUCT PASSPORT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스캔하면 도착하는 자리입니다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시리얼</a:t>
            </a:r>
            <a:endParaRPr lang="en-US" sz="1250" dirty="0"/>
          </a:p>
        </p:txBody>
      </p:sp>
      <p:sp>
        <p:nvSpPr>
          <p:cNvPr id="7" name="Text 4"/>
          <p:cNvSpPr/>
          <p:nvPr/>
        </p:nvSpPr>
        <p:spPr>
          <a:xfrm>
            <a:off x="2788920" y="2478024"/>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MWKCSVE01C0002</a:t>
            </a:r>
            <a:endParaRPr lang="en-US" sz="1300" dirty="0"/>
          </a:p>
        </p:txBody>
      </p:sp>
      <p:sp>
        <p:nvSpPr>
          <p:cNvPr id="8" name="Shape 5"/>
          <p:cNvSpPr/>
          <p:nvPr/>
        </p:nvSpPr>
        <p:spPr>
          <a:xfrm>
            <a:off x="1188720" y="2907792"/>
            <a:ext cx="4480560" cy="0"/>
          </a:xfrm>
          <a:prstGeom prst="line">
            <a:avLst/>
          </a:prstGeom>
          <a:noFill/>
          <a:ln w="9525">
            <a:solidFill>
              <a:srgbClr val="3A3025"/>
            </a:solidFill>
            <a:prstDash val="solid"/>
          </a:ln>
        </p:spPr>
      </p:sp>
      <p:sp>
        <p:nvSpPr>
          <p:cNvPr id="9" name="Text 6"/>
          <p:cNvSpPr/>
          <p:nvPr/>
        </p:nvSpPr>
        <p:spPr>
          <a:xfrm>
            <a:off x="118872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구매처</a:t>
            </a:r>
            <a:endParaRPr lang="en-US" sz="1250" dirty="0"/>
          </a:p>
        </p:txBody>
      </p:sp>
      <p:sp>
        <p:nvSpPr>
          <p:cNvPr id="10" name="Text 7"/>
          <p:cNvSpPr/>
          <p:nvPr/>
        </p:nvSpPr>
        <p:spPr>
          <a:xfrm>
            <a:off x="2788920" y="3044952"/>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MCM Gangnam</a:t>
            </a:r>
            <a:endParaRPr lang="en-US" sz="1300" dirty="0"/>
          </a:p>
        </p:txBody>
      </p:sp>
      <p:sp>
        <p:nvSpPr>
          <p:cNvPr id="11" name="Shape 8"/>
          <p:cNvSpPr/>
          <p:nvPr/>
        </p:nvSpPr>
        <p:spPr>
          <a:xfrm>
            <a:off x="1188720" y="3474720"/>
            <a:ext cx="4480560" cy="0"/>
          </a:xfrm>
          <a:prstGeom prst="line">
            <a:avLst/>
          </a:prstGeom>
          <a:noFill/>
          <a:ln w="9525">
            <a:solidFill>
              <a:srgbClr val="3A3025"/>
            </a:solidFill>
            <a:prstDash val="solid"/>
          </a:ln>
        </p:spPr>
      </p:sp>
      <p:sp>
        <p:nvSpPr>
          <p:cNvPr id="12" name="Text 9"/>
          <p:cNvSpPr/>
          <p:nvPr/>
        </p:nvSpPr>
        <p:spPr>
          <a:xfrm>
            <a:off x="118872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등록일</a:t>
            </a:r>
            <a:endParaRPr lang="en-US" sz="1250" dirty="0"/>
          </a:p>
        </p:txBody>
      </p:sp>
      <p:sp>
        <p:nvSpPr>
          <p:cNvPr id="13" name="Text 10"/>
          <p:cNvSpPr/>
          <p:nvPr/>
        </p:nvSpPr>
        <p:spPr>
          <a:xfrm>
            <a:off x="2788920" y="3611880"/>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2026.08.19</a:t>
            </a:r>
            <a:endParaRPr lang="en-US" sz="1300" dirty="0"/>
          </a:p>
        </p:txBody>
      </p:sp>
      <p:sp>
        <p:nvSpPr>
          <p:cNvPr id="14" name="Shape 11"/>
          <p:cNvSpPr/>
          <p:nvPr/>
        </p:nvSpPr>
        <p:spPr>
          <a:xfrm>
            <a:off x="1188720" y="4041648"/>
            <a:ext cx="4480560" cy="0"/>
          </a:xfrm>
          <a:prstGeom prst="line">
            <a:avLst/>
          </a:prstGeom>
          <a:noFill/>
          <a:ln w="9525">
            <a:solidFill>
              <a:srgbClr val="3A3025"/>
            </a:solidFill>
            <a:prstDash val="solid"/>
          </a:ln>
        </p:spPr>
      </p:sp>
      <p:sp>
        <p:nvSpPr>
          <p:cNvPr id="15" name="Text 12"/>
          <p:cNvSpPr/>
          <p:nvPr/>
        </p:nvSpPr>
        <p:spPr>
          <a:xfrm>
            <a:off x="118872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GTIN</a:t>
            </a:r>
            <a:endParaRPr lang="en-US" sz="1250" dirty="0"/>
          </a:p>
        </p:txBody>
      </p:sp>
      <p:sp>
        <p:nvSpPr>
          <p:cNvPr id="16" name="Text 13"/>
          <p:cNvSpPr/>
          <p:nvPr/>
        </p:nvSpPr>
        <p:spPr>
          <a:xfrm>
            <a:off x="2788920" y="4178808"/>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2900000000018</a:t>
            </a:r>
            <a:endParaRPr lang="en-US" sz="1300" dirty="0"/>
          </a:p>
        </p:txBody>
      </p:sp>
      <p:sp>
        <p:nvSpPr>
          <p:cNvPr id="17" name="Text 14"/>
          <p:cNvSpPr/>
          <p:nvPr/>
        </p:nvSpPr>
        <p:spPr>
          <a:xfrm>
            <a:off x="630936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원산지</a:t>
            </a:r>
            <a:endParaRPr lang="en-US" sz="1250" dirty="0"/>
          </a:p>
        </p:txBody>
      </p:sp>
      <p:sp>
        <p:nvSpPr>
          <p:cNvPr id="18" name="Text 15"/>
          <p:cNvSpPr/>
          <p:nvPr/>
        </p:nvSpPr>
        <p:spPr>
          <a:xfrm>
            <a:off x="7909560" y="2478024"/>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IT</a:t>
            </a:r>
            <a:endParaRPr lang="en-US" sz="1300" dirty="0"/>
          </a:p>
        </p:txBody>
      </p:sp>
      <p:sp>
        <p:nvSpPr>
          <p:cNvPr id="19" name="Shape 16"/>
          <p:cNvSpPr/>
          <p:nvPr/>
        </p:nvSpPr>
        <p:spPr>
          <a:xfrm>
            <a:off x="6309360" y="2907792"/>
            <a:ext cx="4480560" cy="0"/>
          </a:xfrm>
          <a:prstGeom prst="line">
            <a:avLst/>
          </a:prstGeom>
          <a:noFill/>
          <a:ln w="9525">
            <a:solidFill>
              <a:srgbClr val="3A3025"/>
            </a:solidFill>
            <a:prstDash val="solid"/>
          </a:ln>
        </p:spPr>
      </p:sp>
      <p:sp>
        <p:nvSpPr>
          <p:cNvPr id="20" name="Text 17"/>
          <p:cNvSpPr/>
          <p:nvPr/>
        </p:nvSpPr>
        <p:spPr>
          <a:xfrm>
            <a:off x="630936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소재 구성</a:t>
            </a:r>
            <a:endParaRPr lang="en-US" sz="1250" dirty="0"/>
          </a:p>
        </p:txBody>
      </p:sp>
      <p:sp>
        <p:nvSpPr>
          <p:cNvPr id="21" name="Text 18"/>
          <p:cNvSpPr/>
          <p:nvPr/>
        </p:nvSpPr>
        <p:spPr>
          <a:xfrm>
            <a:off x="7909560" y="3044952"/>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coated canvas 72% · calf 24% · brass 4%</a:t>
            </a:r>
            <a:endParaRPr lang="en-US" sz="1300" dirty="0"/>
          </a:p>
        </p:txBody>
      </p:sp>
      <p:sp>
        <p:nvSpPr>
          <p:cNvPr id="22" name="Shape 19"/>
          <p:cNvSpPr/>
          <p:nvPr/>
        </p:nvSpPr>
        <p:spPr>
          <a:xfrm>
            <a:off x="6309360" y="3474720"/>
            <a:ext cx="4480560" cy="0"/>
          </a:xfrm>
          <a:prstGeom prst="line">
            <a:avLst/>
          </a:prstGeom>
          <a:noFill/>
          <a:ln w="9525">
            <a:solidFill>
              <a:srgbClr val="3A3025"/>
            </a:solidFill>
            <a:prstDash val="solid"/>
          </a:ln>
        </p:spPr>
      </p:sp>
      <p:sp>
        <p:nvSpPr>
          <p:cNvPr id="23" name="Text 20"/>
          <p:cNvSpPr/>
          <p:nvPr/>
        </p:nvSpPr>
        <p:spPr>
          <a:xfrm>
            <a:off x="630936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재활용 함량</a:t>
            </a:r>
            <a:endParaRPr lang="en-US" sz="1250" dirty="0"/>
          </a:p>
        </p:txBody>
      </p:sp>
      <p:sp>
        <p:nvSpPr>
          <p:cNvPr id="24" name="Text 21"/>
          <p:cNvSpPr/>
          <p:nvPr/>
        </p:nvSpPr>
        <p:spPr>
          <a:xfrm>
            <a:off x="7909560" y="3611880"/>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18%</a:t>
            </a:r>
            <a:endParaRPr lang="en-US" sz="1300" dirty="0"/>
          </a:p>
        </p:txBody>
      </p:sp>
      <p:sp>
        <p:nvSpPr>
          <p:cNvPr id="25" name="Shape 22"/>
          <p:cNvSpPr/>
          <p:nvPr/>
        </p:nvSpPr>
        <p:spPr>
          <a:xfrm>
            <a:off x="6309360" y="4041648"/>
            <a:ext cx="4480560" cy="0"/>
          </a:xfrm>
          <a:prstGeom prst="line">
            <a:avLst/>
          </a:prstGeom>
          <a:noFill/>
          <a:ln w="9525">
            <a:solidFill>
              <a:srgbClr val="3A3025"/>
            </a:solidFill>
            <a:prstDash val="solid"/>
          </a:ln>
        </p:spPr>
      </p:sp>
      <p:sp>
        <p:nvSpPr>
          <p:cNvPr id="26" name="Text 23"/>
          <p:cNvSpPr/>
          <p:nvPr/>
        </p:nvSpPr>
        <p:spPr>
          <a:xfrm>
            <a:off x="630936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수리가능성</a:t>
            </a:r>
            <a:endParaRPr lang="en-US" sz="1250" dirty="0"/>
          </a:p>
        </p:txBody>
      </p:sp>
      <p:sp>
        <p:nvSpPr>
          <p:cNvPr id="27" name="Text 24"/>
          <p:cNvSpPr/>
          <p:nvPr/>
        </p:nvSpPr>
        <p:spPr>
          <a:xfrm>
            <a:off x="7909560" y="4178808"/>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8.2 / 10</a:t>
            </a:r>
            <a:endParaRPr lang="en-US" sz="1300" dirty="0"/>
          </a:p>
        </p:txBody>
      </p:sp>
      <p:sp>
        <p:nvSpPr>
          <p:cNvPr id="28" name="Text 25"/>
          <p:cNvSpPr/>
          <p:nvPr/>
        </p:nvSpPr>
        <p:spPr>
          <a:xfrm>
            <a:off x="914400" y="4956048"/>
            <a:ext cx="1033272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EU ESPR 여권 항목을 그대로 채웁니다. GS1 Digital Link 표준 태그로 도착합니다.</a:t>
            </a:r>
            <a:endParaRPr lang="en-US" sz="1700" dirty="0"/>
          </a:p>
        </p:txBody>
      </p:sp>
      <p:sp>
        <p:nvSpPr>
          <p:cNvPr id="29" name="Text 26"/>
          <p:cNvSpPr/>
          <p:nvPr/>
        </p:nvSpPr>
        <p:spPr>
          <a:xfrm>
            <a:off x="914400" y="5413248"/>
            <a:ext cx="10332720" cy="694944"/>
          </a:xfrm>
          <a:prstGeom prst="rect">
            <a:avLst/>
          </a:prstGeom>
          <a:noFill/>
          <a:ln/>
        </p:spPr>
        <p:txBody>
          <a:bodyPr wrap="square" lIns="0" tIns="0" rIns="0" bIns="0" rtlCol="0" anchor="ctr"/>
          <a:lstStyle/>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소재 · 재활용 · 수리가능성 수치는 화면에 “시연용 가정치”라고 함께 띄웁니다.</a:t>
            </a:r>
            <a:endParaRPr lang="en-US" sz="1300" dirty="0"/>
          </a:p>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블록체인 원장 기록은 “아직 연결되지 않았습니다”라고 적습니다.</a:t>
            </a:r>
            <a:endParaRPr lang="en-US" sz="1300" dirty="0"/>
          </a:p>
        </p:txBody>
      </p:sp>
      <p:sp>
        <p:nvSpPr>
          <p:cNvPr id="30" name="Text 2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박스는 손으로 끌어서 엽니다. 속도는 사용자가 정합니다</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020"/>
              </a:lnSpc>
              <a:buNone/>
            </a:pPr>
            <a:r>
              <a:rPr lang="en-US" sz="3000" b="1" dirty="0">
                <a:solidFill>
                  <a:srgbClr val="FFFFFF"/>
                </a:solidFill>
                <a:latin typeface="Apple SD Gothic Neo" pitchFamily="34" charset="0"/>
                <a:ea typeface="Apple SD Gothic Neo" pitchFamily="34" charset="-122"/>
                <a:cs typeface="Apple SD Gothic Neo" pitchFamily="34" charset="-120"/>
              </a:rPr>
              <a:t>대체재는 셋인데, 다섯을 다 가진 곳은 없습니다</a:t>
            </a:r>
            <a:endParaRPr lang="en-US" sz="3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4572000"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개인 추억</a:t>
            </a:r>
            <a:endParaRPr lang="en-US" sz="1150" dirty="0"/>
          </a:p>
        </p:txBody>
      </p:sp>
      <p:sp>
        <p:nvSpPr>
          <p:cNvPr id="7" name="Text 4"/>
          <p:cNvSpPr/>
          <p:nvPr/>
        </p:nvSpPr>
        <p:spPr>
          <a:xfrm>
            <a:off x="5907024"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공식 제품 이력</a:t>
            </a:r>
            <a:endParaRPr lang="en-US" sz="1150" dirty="0"/>
          </a:p>
        </p:txBody>
      </p:sp>
      <p:sp>
        <p:nvSpPr>
          <p:cNvPr id="8" name="Text 5"/>
          <p:cNvSpPr/>
          <p:nvPr/>
        </p:nvSpPr>
        <p:spPr>
          <a:xfrm>
            <a:off x="7242048"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AI Story</a:t>
            </a:r>
            <a:endParaRPr lang="en-US" sz="1150" dirty="0"/>
          </a:p>
        </p:txBody>
      </p:sp>
      <p:sp>
        <p:nvSpPr>
          <p:cNvPr id="9" name="Text 6"/>
          <p:cNvSpPr/>
          <p:nvPr/>
        </p:nvSpPr>
        <p:spPr>
          <a:xfrm>
            <a:off x="8577072"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Care · Repair</a:t>
            </a:r>
            <a:endParaRPr lang="en-US" sz="1150" dirty="0"/>
          </a:p>
        </p:txBody>
      </p:sp>
      <p:sp>
        <p:nvSpPr>
          <p:cNvPr id="10" name="Text 7"/>
          <p:cNvSpPr/>
          <p:nvPr/>
        </p:nvSpPr>
        <p:spPr>
          <a:xfrm>
            <a:off x="9912096"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소유권 이전</a:t>
            </a:r>
            <a:endParaRPr lang="en-US" sz="1150" dirty="0"/>
          </a:p>
        </p:txBody>
      </p:sp>
      <p:sp>
        <p:nvSpPr>
          <p:cNvPr id="11" name="Text 8"/>
          <p:cNvSpPr/>
          <p:nvPr/>
        </p:nvSpPr>
        <p:spPr>
          <a:xfrm>
            <a:off x="1188720" y="3090672"/>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Google Photos · 갤러리</a:t>
            </a:r>
            <a:endParaRPr lang="en-US" sz="1450" dirty="0"/>
          </a:p>
        </p:txBody>
      </p:sp>
      <p:sp>
        <p:nvSpPr>
          <p:cNvPr id="12" name="Text 9"/>
          <p:cNvSpPr/>
          <p:nvPr/>
        </p:nvSpPr>
        <p:spPr>
          <a:xfrm>
            <a:off x="4572000" y="3054096"/>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13" name="Text 10"/>
          <p:cNvSpPr/>
          <p:nvPr/>
        </p:nvSpPr>
        <p:spPr>
          <a:xfrm>
            <a:off x="5907024"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4" name="Text 11"/>
          <p:cNvSpPr/>
          <p:nvPr/>
        </p:nvSpPr>
        <p:spPr>
          <a:xfrm>
            <a:off x="7242048"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5" name="Text 12"/>
          <p:cNvSpPr/>
          <p:nvPr/>
        </p:nvSpPr>
        <p:spPr>
          <a:xfrm>
            <a:off x="8577072"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6" name="Text 13"/>
          <p:cNvSpPr/>
          <p:nvPr/>
        </p:nvSpPr>
        <p:spPr>
          <a:xfrm>
            <a:off x="9912096"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7" name="Shape 14"/>
          <p:cNvSpPr/>
          <p:nvPr/>
        </p:nvSpPr>
        <p:spPr>
          <a:xfrm>
            <a:off x="1097280" y="3621024"/>
            <a:ext cx="9966960" cy="0"/>
          </a:xfrm>
          <a:prstGeom prst="line">
            <a:avLst/>
          </a:prstGeom>
          <a:noFill/>
          <a:ln w="9525">
            <a:solidFill>
              <a:srgbClr val="3A3025"/>
            </a:solidFill>
            <a:prstDash val="solid"/>
          </a:ln>
        </p:spPr>
      </p:sp>
      <p:sp>
        <p:nvSpPr>
          <p:cNvPr id="18" name="Text 15"/>
          <p:cNvSpPr/>
          <p:nvPr/>
        </p:nvSpPr>
        <p:spPr>
          <a:xfrm>
            <a:off x="1188720" y="3803904"/>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브랜드 A/S 창구</a:t>
            </a:r>
            <a:endParaRPr lang="en-US" sz="1450" dirty="0"/>
          </a:p>
        </p:txBody>
      </p:sp>
      <p:sp>
        <p:nvSpPr>
          <p:cNvPr id="19" name="Text 16"/>
          <p:cNvSpPr/>
          <p:nvPr/>
        </p:nvSpPr>
        <p:spPr>
          <a:xfrm>
            <a:off x="4572000"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0" name="Text 17"/>
          <p:cNvSpPr/>
          <p:nvPr/>
        </p:nvSpPr>
        <p:spPr>
          <a:xfrm>
            <a:off x="5907024"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1" name="Text 18"/>
          <p:cNvSpPr/>
          <p:nvPr/>
        </p:nvSpPr>
        <p:spPr>
          <a:xfrm>
            <a:off x="7242048"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2" name="Text 19"/>
          <p:cNvSpPr/>
          <p:nvPr/>
        </p:nvSpPr>
        <p:spPr>
          <a:xfrm>
            <a:off x="8577072"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3" name="Text 20"/>
          <p:cNvSpPr/>
          <p:nvPr/>
        </p:nvSpPr>
        <p:spPr>
          <a:xfrm>
            <a:off x="9912096"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4" name="Shape 21"/>
          <p:cNvSpPr/>
          <p:nvPr/>
        </p:nvSpPr>
        <p:spPr>
          <a:xfrm>
            <a:off x="1097280" y="4334256"/>
            <a:ext cx="9966960" cy="0"/>
          </a:xfrm>
          <a:prstGeom prst="line">
            <a:avLst/>
          </a:prstGeom>
          <a:noFill/>
          <a:ln w="9525">
            <a:solidFill>
              <a:srgbClr val="3A3025"/>
            </a:solidFill>
            <a:prstDash val="solid"/>
          </a:ln>
        </p:spPr>
      </p:sp>
      <p:sp>
        <p:nvSpPr>
          <p:cNvPr id="25" name="Text 22"/>
          <p:cNvSpPr/>
          <p:nvPr/>
        </p:nvSpPr>
        <p:spPr>
          <a:xfrm>
            <a:off x="1188720" y="4517136"/>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DPP 플랫폼 (Aura · Arianee)</a:t>
            </a:r>
            <a:endParaRPr lang="en-US" sz="1450" dirty="0"/>
          </a:p>
        </p:txBody>
      </p:sp>
      <p:sp>
        <p:nvSpPr>
          <p:cNvPr id="26" name="Text 23"/>
          <p:cNvSpPr/>
          <p:nvPr/>
        </p:nvSpPr>
        <p:spPr>
          <a:xfrm>
            <a:off x="4572000"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7" name="Text 24"/>
          <p:cNvSpPr/>
          <p:nvPr/>
        </p:nvSpPr>
        <p:spPr>
          <a:xfrm>
            <a:off x="5907024"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8" name="Text 25"/>
          <p:cNvSpPr/>
          <p:nvPr/>
        </p:nvSpPr>
        <p:spPr>
          <a:xfrm>
            <a:off x="7242048"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9" name="Text 26"/>
          <p:cNvSpPr/>
          <p:nvPr/>
        </p:nvSpPr>
        <p:spPr>
          <a:xfrm>
            <a:off x="8577072"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0" name="Text 27"/>
          <p:cNvSpPr/>
          <p:nvPr/>
        </p:nvSpPr>
        <p:spPr>
          <a:xfrm>
            <a:off x="9912096"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31" name="Shape 28"/>
          <p:cNvSpPr/>
          <p:nvPr/>
        </p:nvSpPr>
        <p:spPr>
          <a:xfrm>
            <a:off x="1097280" y="5047488"/>
            <a:ext cx="9966960" cy="0"/>
          </a:xfrm>
          <a:prstGeom prst="line">
            <a:avLst/>
          </a:prstGeom>
          <a:noFill/>
          <a:ln w="9525">
            <a:solidFill>
              <a:srgbClr val="3A3025"/>
            </a:solidFill>
            <a:prstDash val="solid"/>
          </a:ln>
        </p:spPr>
      </p:sp>
      <p:sp>
        <p:nvSpPr>
          <p:cNvPr id="32" name="Text 29"/>
          <p:cNvSpPr/>
          <p:nvPr/>
        </p:nvSpPr>
        <p:spPr>
          <a:xfrm>
            <a:off x="1188720" y="5230368"/>
            <a:ext cx="3291840" cy="329184"/>
          </a:xfrm>
          <a:prstGeom prst="rect">
            <a:avLst/>
          </a:prstGeom>
          <a:noFill/>
          <a:ln/>
        </p:spPr>
        <p:txBody>
          <a:bodyPr wrap="square" lIns="0" tIns="0" rIns="0" bIns="0" rtlCol="0" anchor="ctr"/>
          <a:lstStyle/>
          <a:p>
            <a:pPr indent="0" marL="0">
              <a:buNone/>
            </a:pPr>
            <a:r>
              <a:rPr lang="en-US" sz="1450" b="1" dirty="0">
                <a:solidFill>
                  <a:srgbClr val="C4915F"/>
                </a:solidFill>
                <a:latin typeface="Apple SD Gothic Neo" pitchFamily="34" charset="0"/>
                <a:ea typeface="Apple SD Gothic Neo" pitchFamily="34" charset="-122"/>
                <a:cs typeface="Apple SD Gothic Neo" pitchFamily="34" charset="-120"/>
              </a:rPr>
              <a:t>MCM Luxury Book</a:t>
            </a:r>
            <a:endParaRPr lang="en-US" sz="1450" dirty="0"/>
          </a:p>
        </p:txBody>
      </p:sp>
      <p:sp>
        <p:nvSpPr>
          <p:cNvPr id="33" name="Text 30"/>
          <p:cNvSpPr/>
          <p:nvPr/>
        </p:nvSpPr>
        <p:spPr>
          <a:xfrm>
            <a:off x="4572000"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4" name="Text 31"/>
          <p:cNvSpPr/>
          <p:nvPr/>
        </p:nvSpPr>
        <p:spPr>
          <a:xfrm>
            <a:off x="5907024"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5" name="Text 32"/>
          <p:cNvSpPr/>
          <p:nvPr/>
        </p:nvSpPr>
        <p:spPr>
          <a:xfrm>
            <a:off x="7242048"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6" name="Text 33"/>
          <p:cNvSpPr/>
          <p:nvPr/>
        </p:nvSpPr>
        <p:spPr>
          <a:xfrm>
            <a:off x="8577072"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7" name="Text 34"/>
          <p:cNvSpPr/>
          <p:nvPr/>
        </p:nvSpPr>
        <p:spPr>
          <a:xfrm>
            <a:off x="9912096"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8" name="Text 35"/>
          <p:cNvSpPr/>
          <p:nvPr/>
        </p:nvSpPr>
        <p:spPr>
          <a:xfrm>
            <a:off x="1097280" y="5797296"/>
            <a:ext cx="9966960" cy="292608"/>
          </a:xfrm>
          <a:prstGeom prst="rect">
            <a:avLst/>
          </a:prstGeom>
          <a:noFill/>
          <a:ln/>
        </p:spPr>
        <p:txBody>
          <a:bodyPr wrap="square" lIns="0" tIns="0" rIns="0" bIns="0" rtlCol="0" anchor="ctr"/>
          <a:lstStyle/>
          <a:p>
            <a:pPr indent="0" marL="0">
              <a:buNone/>
            </a:pPr>
            <a:r>
              <a:rPr lang="en-US" sz="1150" dirty="0">
                <a:solidFill>
                  <a:srgbClr val="6E6459"/>
                </a:solidFill>
                <a:latin typeface="Apple SD Gothic Neo" pitchFamily="34" charset="0"/>
                <a:ea typeface="Apple SD Gothic Neo" pitchFamily="34" charset="-122"/>
                <a:cs typeface="Apple SD Gothic Neo" pitchFamily="34" charset="-120"/>
              </a:rPr>
              <a:t>◐ 소유권 이전은 스키마까지. 화면은 다음 단계입니다.</a:t>
            </a:r>
            <a:endParaRPr lang="en-US" sz="1150" dirty="0"/>
          </a:p>
        </p:txBody>
      </p:sp>
      <p:sp>
        <p:nvSpPr>
          <p:cNvPr id="39" name="Text 36"/>
          <p:cNvSpPr/>
          <p:nvPr/>
        </p:nvSpPr>
        <p:spPr>
          <a:xfrm>
            <a:off x="914400" y="6163056"/>
            <a:ext cx="1033272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결합이 곧 해자입니다. 하나씩은 이미 다 있습니다.</a:t>
            </a:r>
            <a:endParaRPr lang="en-US" sz="1600" dirty="0"/>
          </a:p>
        </p:txBody>
      </p:sp>
      <p:sp>
        <p:nvSpPr>
          <p:cNvPr id="40" name="Text 3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46268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EU ESPR 여권 항목은 이미 화면에 채워져 있습니다</a:t>
            </a:r>
            <a:endParaRPr lang="en-US" sz="1400" dirty="0"/>
          </a:p>
        </p:txBody>
      </p:sp>
      <p:sp>
        <p:nvSpPr>
          <p:cNvPr id="10" name="Text 7"/>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1" name="Text 8"/>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Care · Repair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세척 · 보강 · 부품 교체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2026-08-20T09:45:59Z</dcterms:created>
  <dcterms:modified xsi:type="dcterms:W3CDTF">2026-08-20T09:45:59Z</dcterms:modified>
</cp:coreProperties>
</file>