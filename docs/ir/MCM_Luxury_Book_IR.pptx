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주제를 받고 가장 먼저 한 일은 AI로 무엇을 더 만들까가 아니라, 럭셔리의 본질을 다시 묻는 것이었습니다. 럭셔리는 새것일 때 가장 비쌉니다. 그래서 사람들은 쓰기를 두려워합니다. 저희는 그 방향을 뒤집었습니다.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1번과 2번은 특정 순간을 좋게 만들지만 끊긴 경험은 여전히 끊겨 있습니다. 매장에서 산 박스의 QR을 찍는 순간이 2번이고, 그 뒤 기록을 만드는 게 1번입니다.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브랜드는 구매까지 엄청난 투자를 합니다. 그런데 그 정점 이후는 세일 문자가 전부입니다. 더 근본적인 건 브랜드가 새것 상태만 보여준다는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구매 이후를 채우려는 시도는 계속 있었습니다. 전부 사용자에게 입력을 요구했습니다. 아무도 안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신사임당이 잔칫상에서 남의 치마에 튄 얼룩 위에 포도를 그린 이야기가 있습니다. 치마는 오히려 팔려 새 치마 값이 됐습니다. 흠이 값이 된 겁니다. 그리고 1988년 할렘에서 같은 일이 일어났습니다. Dapper Dan이 MCM 코냑 비세토스를 뜯어서 무대의상으로 다시 꿰맸고, 그게 이 브랜드를 아이콘으로 만들었습니다. 이건 남의 이야기가 아닙니다. MCM이 이미 겪은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큰 지출을 했을 때 두려운 건 통장이 아니라 평판입니다. 그런데 흠이 서사가 되는 순간 관계가 뒤집힙니다. 새것 같은 가방보다 3년 쓰고 한 번 고친 가방이 더 당당해집니다. 연령대 실측은 미확보이며 페르소나는 가설입니다.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내 기록과 브랜드의 기록이 같은 줄에 있다는 점입니다. 사진 앱은 브랜드 기록을 못 갖고 브랜드 시스템은 내 추억을 못 갖습니다. 이 둘이 만나는 곳은 지금 아무 데도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서비스는 사용자에게 입력을 요구했습니다. 저희는 반대로 갑니다. 사진 한 장, 칩 세 번, 여덟 초입니다. 문장은 AI가 씁니다. 그리고 수선입니다. 저희는 수선을 되돌리는 일로 보지 않습니다. 그 자리에 그립니다. AI가 시안 세 개를 만들고 실물은 MCM 장인이 만듭니다. AI가 손을 대체하지 않습니다. 시안까지입니다.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브랜드 자산을 장식으로 쓰지 않았습니다. 비세토스의 마름모는 바이에른 깃발에서 왔고 독일어로 흰-파란 하늘이라는 뜻입니다. 그래서 저희 배경에서 이 마름모는 바람에 흐릅니다. 그리고 마지막 두 줄이 가장 중요합니다. MCM의 헤리티지는 뮌헨 럭셔리가 아니라 재해석입니다. 그리고 MCM은 이미 NFC와 블록체인 패스포트를 갖고 있습니다. 저희는 새 시스템을 제안하지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등록하면 구매 기록이 자동으로 첫 줄에 찍힙니다. 사진 한 장을 올리면 AI가 문장을 씁니다. 그리고 이 화면입니다. 제품 사진 위에서 부위를 직접 누릅니다. 글로 왼쪽 아래 모서리가 까졌어요라고 쓰는 게 아니라 그 자리를 누릅니다.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사용자가 자기 추억을 남기는 과정에서 자연스럽게 얻어집니다. 특히 수선 데이터는 어느 부위가 자주 상하는지를 알려줍니다. 이건 바로 다음 제품 설계에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MCM은 이미 Aura에 있습니다. 저희가 인프라 경쟁에 뛰어들면 집니다. 제조 이력은 한 번 보면 다시 볼 이유가 없습니다. Coachtopia도 제품 중심입니다. 저희는 소유자 중심이라 재방문이 생기고 그 재방문이 데이터가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MCM 공식 패스포트 페이지에 이렇게 적혀 있습니다. 저희 제품이 이 문장의 다음 장입니다. 그리고 EU는 섬유 제품에 디지털 패스포트를 요구하는 방향으로 가고 있습니다. 브랜드는 어차피 해야 합니다. 2027년 의무화라고 말하지 말고 위임법 2027, 시행 2028에서 29로 나눠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사용자는 무료입니다. 브랜드가 냅니다. 그리고 수선이 비용 센터에서 매출과 로열티의 접점으로 바뀝니다. 리셀과 소유권 이전은 로드맵입니다.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브랜드에서 깊게 검증하고 확장합니다.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583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68680" y="2212848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흠을 지우지 않습니다.</a:t>
            </a:r>
            <a:endParaRPr lang="en-US" sz="40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0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값으로 바꿉니다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96112" y="422452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제품과 함께한 시간을 기록으로 남기는 MCM 디지털 라이프 플랫폼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96112" y="46268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03 · 360° 고객 경험    |    QR·NFC · AI Storybook · Care &amp; REMADE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96112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2026.08    |    Hackathon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CHALLENGE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2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03 · 360° 고객 경험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097280" y="18470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 → 구매 → 사용 → 관리 → 수선 → 다음 소유자까지 끊김 없이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51560" y="2852928"/>
            <a:ext cx="10058400" cy="786384"/>
          </a:xfrm>
          <a:prstGeom prst="roundRect">
            <a:avLst>
              <a:gd name="adj" fmla="val 10465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0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01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880360" y="30815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프로덕트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852160" y="310896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Storybook · Recap · REMADE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51560" y="3785616"/>
            <a:ext cx="10058400" cy="786384"/>
          </a:xfrm>
          <a:prstGeom prst="roundRect">
            <a:avLst>
              <a:gd name="adj" fmla="val 10465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71600" y="4041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02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880360" y="401421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인터랙티브 리테일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852160" y="40416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매장 구매 → 박스 QR/NFC → 몰입형 언박싱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51560" y="4718304"/>
            <a:ext cx="10058400" cy="786384"/>
          </a:xfrm>
          <a:prstGeom prst="roundRect">
            <a:avLst>
              <a:gd name="adj" fmla="val 10465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0" y="49743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03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880360" y="494690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360° 고객 경험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852160" y="49743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여정을 하나의 타임라인으로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3번을 제대로 풀면 1번과 2번이 그 안에 들어온다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5786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40" kern="0" dirty="0">
                <a:solidFill>
                  <a:srgbClr val="8B5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87552" y="29992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럭셔리 경험은 어디서 끊기는가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93192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1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구매 이후가 비어 있다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A79E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2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브랜드는 새것만 보여줍니다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097280" y="181051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광고도, 매장도, 패키지도 전부 새것 상태입니다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51560" y="2761488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62456" y="3090672"/>
            <a:ext cx="100584" cy="100584"/>
          </a:xfrm>
          <a:prstGeom prst="ellipse">
            <a:avLst/>
          </a:prstGeom>
          <a:solidFill>
            <a:srgbClr val="C4915F"/>
          </a:solidFill>
          <a:ln/>
        </p:spPr>
      </p:sp>
      <p:sp>
        <p:nvSpPr>
          <p:cNvPr id="8" name="Text 5"/>
          <p:cNvSpPr/>
          <p:nvPr/>
        </p:nvSpPr>
        <p:spPr>
          <a:xfrm>
            <a:off x="1618488" y="2999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구매까지는 완벽합니다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18488" y="33832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매장 · 패키지 · 접객에 막대한 투자가 들어갑니다.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경험의 정점은 구매 순간입니다.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2761488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37376" y="3090672"/>
            <a:ext cx="100584" cy="100584"/>
          </a:xfrm>
          <a:prstGeom prst="ellipse">
            <a:avLst/>
          </a:prstGeom>
          <a:solidFill>
            <a:srgbClr val="C4915F"/>
          </a:solidFill>
          <a:ln/>
        </p:spPr>
      </p:sp>
      <p:sp>
        <p:nvSpPr>
          <p:cNvPr id="12" name="Text 9"/>
          <p:cNvSpPr/>
          <p:nvPr/>
        </p:nvSpPr>
        <p:spPr>
          <a:xfrm>
            <a:off x="6693408" y="2999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이후는 침묵입니다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693408" y="33832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안내 · 프로모션 · A/S.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애착이 큰 시점부터 관계가 비어 있습니다.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51560" y="4334256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62456" y="4663440"/>
            <a:ext cx="100584" cy="100584"/>
          </a:xfrm>
          <a:prstGeom prst="ellipse">
            <a:avLst/>
          </a:prstGeom>
          <a:solidFill>
            <a:srgbClr val="C4915F"/>
          </a:solidFill>
          <a:ln/>
        </p:spPr>
      </p:sp>
      <p:sp>
        <p:nvSpPr>
          <p:cNvPr id="16" name="Text 13"/>
          <p:cNvSpPr/>
          <p:nvPr/>
        </p:nvSpPr>
        <p:spPr>
          <a:xfrm>
            <a:off x="1618488" y="4572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기록은 세 군데로 흩어집니다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18488" y="49560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사진은 SNS, 여행은 캘린더,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수선 이력은 브랜드 내부에 남습니다.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4334256"/>
            <a:ext cx="4572000" cy="1371600"/>
          </a:xfrm>
          <a:prstGeom prst="roundRect">
            <a:avLst>
              <a:gd name="adj" fmla="val 6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37376" y="4663440"/>
            <a:ext cx="100584" cy="100584"/>
          </a:xfrm>
          <a:prstGeom prst="ellipse">
            <a:avLst/>
          </a:prstGeom>
          <a:solidFill>
            <a:srgbClr val="C4915F"/>
          </a:solidFill>
          <a:ln/>
        </p:spPr>
      </p:sp>
      <p:sp>
        <p:nvSpPr>
          <p:cNvPr id="20" name="Text 17"/>
          <p:cNvSpPr/>
          <p:nvPr/>
        </p:nvSpPr>
        <p:spPr>
          <a:xfrm>
            <a:off x="6693408" y="4572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낡아가는 과정을 아무도 안 보여줍니다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693408" y="49560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5년 쓴 가방이 어떻게 생겼는지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보여주는 브랜드는 없습니다.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특정 브랜드가 아니라 럭셔리 산업 전체의 구조적 공백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STAYS EMPTY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2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기록은 마찰입니다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097280" y="181051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문제는 브랜드가 몰라서가 아니라, 사용자가 기록을 남기지 않는다는 것입니다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71600" y="2798064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12100E"/>
          </a:solidFill>
          <a:ln w="9525">
            <a:solidFill>
              <a:srgbClr val="31291F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1572768" y="29077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제목을 입력하세요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1371600" y="3364992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12100E"/>
          </a:solidFill>
          <a:ln w="9525">
            <a:solidFill>
              <a:srgbClr val="31291F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1572768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날짜를 선택하세요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1371600" y="3931920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12100E"/>
          </a:solidFill>
          <a:ln w="9525">
            <a:solidFill>
              <a:srgbClr val="31291F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1572768" y="4041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장소를 입력하세요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371600" y="4498848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12100E"/>
          </a:solidFill>
          <a:ln w="9525">
            <a:solidFill>
              <a:srgbClr val="31291F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1572768" y="4608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설명을 입력하세요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1371600" y="5065776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12100E"/>
          </a:solidFill>
          <a:ln w="9525">
            <a:solidFill>
              <a:srgbClr val="31291F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1572768" y="517550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해시태그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675120" y="2798064"/>
            <a:ext cx="4251960" cy="2761488"/>
          </a:xfrm>
          <a:prstGeom prst="roundRect">
            <a:avLst>
              <a:gd name="adj" fmla="val 298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04304" y="30723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지금까지의 해법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04304" y="34015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입력창을 더 준다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7004304" y="3840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더 안 합니다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004304" y="4334256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40장 중 고르고, 날짜 쓰고, 장소 쓰고,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 쓰고. 아무도 하지 않습니다.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여기가 AI가 들어갈 자리입니다.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5786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40" kern="0" dirty="0">
                <a:solidFill>
                  <a:srgbClr val="8B5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87552" y="29992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흠이 값이 된다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93192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1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우리가 세운 가설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A79E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HYPOTHESIS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288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흠이 값이 됩니다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097280" y="186537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사고방식이 세 문화에 각각 있습니다. 그중 하나는 MCM 자신의 역사입니다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77240" y="2487168"/>
            <a:ext cx="2487168" cy="1737360"/>
          </a:xfrm>
          <a:prstGeom prst="roundRect">
            <a:avLst>
              <a:gd name="adj" fmla="val 473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14984" y="2706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조선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14984" y="29992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신사임당의 포도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14984" y="3419856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얼룩 위에 그림을 그렸다.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흠이 작품이 된다.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74720" y="2487168"/>
            <a:ext cx="2487168" cy="1737360"/>
          </a:xfrm>
          <a:prstGeom prst="roundRect">
            <a:avLst>
              <a:gd name="adj" fmla="val 473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712464" y="2706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712464" y="29992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킨츠기 金継ぎ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712464" y="3419856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깨진 자리를 금으로 잇는다.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흉터를 드러낸다.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72200" y="2487168"/>
            <a:ext cx="2487168" cy="1737360"/>
          </a:xfrm>
          <a:prstGeom prst="roundRect">
            <a:avLst>
              <a:gd name="adj" fmla="val 473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72200" y="2487168"/>
            <a:ext cx="2487168" cy="1737360"/>
          </a:xfrm>
          <a:prstGeom prst="roundRect">
            <a:avLst>
              <a:gd name="adj" fmla="val 4737"/>
            </a:avLst>
          </a:prstGeom>
          <a:ln w="19050">
            <a:solidFill>
              <a:srgbClr val="C4915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9944" y="2706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1988 · 할렘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409944" y="29992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Dapper Dan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9944" y="3419856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비세토스를 뜯어 다시 꿰맸다.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MCM을 아이콘으로 만든 손.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869680" y="2487168"/>
            <a:ext cx="2487168" cy="1737360"/>
          </a:xfrm>
          <a:prstGeom prst="roundRect">
            <a:avLst>
              <a:gd name="adj" fmla="val 473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869680" y="2487168"/>
            <a:ext cx="2487168" cy="1737360"/>
          </a:xfrm>
          <a:prstGeom prst="roundRect">
            <a:avLst>
              <a:gd name="adj" fmla="val 4737"/>
            </a:avLst>
          </a:prstGeom>
          <a:ln w="19050">
            <a:solidFill>
              <a:srgbClr val="C4915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07424" y="2706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· MCM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9107424" y="29992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REMADE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07424" y="3419856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시안을 그리고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장인이 실물을 만든다.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246120" y="4498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3년 썼다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669280" y="4498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126480" y="4498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충동구매가 아니었다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3246120" y="49011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파리에 같이 갔다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669280" y="4901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126480" y="49011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삶에 들어와 있다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3246120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긁혔고, 고쳤다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669280" y="5303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126480" y="5303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나는 관리하는 사람이다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3246120" y="5760720"/>
            <a:ext cx="5806440" cy="0"/>
          </a:xfrm>
          <a:prstGeom prst="line">
            <a:avLst/>
          </a:prstGeom>
          <a:noFill/>
          <a:ln w="9525">
            <a:solidFill>
              <a:srgbClr val="31291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246120" y="5852160"/>
            <a:ext cx="5806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흠이 곧 서사다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신사임당은 전해지는 일화 · Dapper Dan은 브랜드 자체 기록 (Highsnobiety)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BUILD FOR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18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“무리해서 산 거 아니야.</a:t>
            </a:r>
            <a:endParaRPr lang="en-US" sz="2700" dirty="0"/>
          </a:p>
          <a:p>
            <a:pPr algn="ctr" indent="0" marL="0">
              <a:lnSpc>
                <a:spcPts val="3618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3년째 잘 쓰고 있어.”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051560" y="2889504"/>
            <a:ext cx="4663440" cy="2286000"/>
          </a:xfrm>
          <a:prstGeom prst="roundRect">
            <a:avLst>
              <a:gd name="adj" fmla="val 36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71600" y="314553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서지우 · 28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35478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뷰티 브랜드 마케터 4년차 · 서울 1인 가구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백팩 1점 · 주 4회 사용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1371600" y="4224528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과시하고 싶다.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그런데 과시로 보이면 안 된다.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371600" y="4846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필요한 건 자랑 도구가 아니라 정당화 도구입니다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72200" y="2889504"/>
            <a:ext cx="493776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46520" y="30723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3대장을 샀다면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686800" y="30449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“무리했네”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172200" y="3675888"/>
            <a:ext cx="493776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46520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아무것도 안 산다면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686800" y="383133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“포기했네”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72200" y="4462272"/>
            <a:ext cx="4937760" cy="640080"/>
          </a:xfrm>
          <a:prstGeom prst="roundRect">
            <a:avLst>
              <a:gd name="adj" fmla="val 1285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6520" y="46451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MCM을 샀다면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46177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“안목 있네”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172200" y="53218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흠이 서사가 되면, 흠이 있는 쪽이 더 당당해집니다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5786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40" kern="0" dirty="0">
                <a:solidFill>
                  <a:srgbClr val="8B5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87552" y="29992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만들었나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93192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1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타임라인, 그리고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A79E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18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발견부터 다음 소유자까지, 하나의 타임라인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097280" y="181051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내가 남긴 기록과 브랜드가 남긴 기록이 같은 줄에 흐릅니다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05840" y="2871216"/>
            <a:ext cx="1481328" cy="658368"/>
          </a:xfrm>
          <a:prstGeom prst="roundRect">
            <a:avLst>
              <a:gd name="adj" fmla="val 1111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307238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487168" y="3090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706624" y="2871216"/>
            <a:ext cx="1481328" cy="658368"/>
          </a:xfrm>
          <a:prstGeom prst="roundRect">
            <a:avLst>
              <a:gd name="adj" fmla="val 1111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06624" y="307238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구매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87952" y="3090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407408" y="2871216"/>
            <a:ext cx="1481328" cy="658368"/>
          </a:xfrm>
          <a:prstGeom prst="roundRect">
            <a:avLst>
              <a:gd name="adj" fmla="val 1111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07408" y="307238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88736" y="3090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08192" y="2871216"/>
            <a:ext cx="1481328" cy="658368"/>
          </a:xfrm>
          <a:prstGeom prst="roundRect">
            <a:avLst>
              <a:gd name="adj" fmla="val 1111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08192" y="307238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589520" y="3090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808976" y="2871216"/>
            <a:ext cx="1481328" cy="658368"/>
          </a:xfrm>
          <a:prstGeom prst="roundRect">
            <a:avLst>
              <a:gd name="adj" fmla="val 1111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08976" y="307238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수선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290304" y="3090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509760" y="2871216"/>
            <a:ext cx="1481328" cy="658368"/>
          </a:xfrm>
          <a:prstGeom prst="roundRect">
            <a:avLst>
              <a:gd name="adj" fmla="val 1111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509760" y="307238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물려주기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005840" y="3749040"/>
            <a:ext cx="10149840" cy="0"/>
          </a:xfrm>
          <a:prstGeom prst="line">
            <a:avLst/>
          </a:prstGeom>
          <a:noFill/>
          <a:ln w="15875">
            <a:solidFill>
              <a:srgbClr val="C4915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5840" y="384048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기록으로 이어집니다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51560" y="4425696"/>
            <a:ext cx="3108960" cy="1225296"/>
          </a:xfrm>
          <a:prstGeom prst="roundRect">
            <a:avLst>
              <a:gd name="adj" fmla="val 671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307592" y="4645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앱 설치 없음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307592" y="497433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제품의 QR·NFC가 곧 진입점입니다.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434840" y="4425696"/>
            <a:ext cx="3108960" cy="1225296"/>
          </a:xfrm>
          <a:prstGeom prst="roundRect">
            <a:avLst>
              <a:gd name="adj" fmla="val 671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690872" y="4645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브랜드 기록이 함께 흐릅니다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690872" y="497433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앱은 수선 이력을 가질 수 없습니다.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818120" y="4425696"/>
            <a:ext cx="3108960" cy="1225296"/>
          </a:xfrm>
          <a:prstGeom prst="roundRect">
            <a:avLst>
              <a:gd name="adj" fmla="val 671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074152" y="464515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화면을 보여주지 않습니다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074152" y="4974336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구매 이벤트가 첫 줄로 자동 생성됩니다.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USE AI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48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쓰게 하지 않습니다. 대신 써줍니다.</a:t>
            </a:r>
            <a:endParaRPr lang="en-US" sz="2200" dirty="0"/>
          </a:p>
          <a:p>
            <a:pPr algn="ctr" indent="0" marL="0">
              <a:lnSpc>
                <a:spcPts val="2948"/>
              </a:lnSpc>
              <a:buNone/>
            </a:pPr>
            <a:r>
              <a:rPr lang="en-US" sz="22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흠을 지우지 않습니다. 그 자리에 그립니다.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051560" y="25420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2514600" y="25420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하는 일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0" y="25420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하는 일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195560" y="25420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51560" y="2889504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25880" y="30266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기록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514600" y="30358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1장 + 상황 칩 탭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302666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문장으로 만든다 — 장소·날짜·제품을 엮어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104120" y="303580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051560" y="3493008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2588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축적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36393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아무것도 안 함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0" y="3630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생성 — 흩어진 기록을 하나의 이야기로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0104120" y="36393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051560" y="4096512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25880" y="42336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수선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2514600" y="4242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부위 탭 + 사진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0" y="4233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REMADE — 손상 자리에 어울리는 문양 시안 3안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0104120" y="42428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051560" y="4700016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325880" y="48371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스타일링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2514600" y="484632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시대 하나 선택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029200" y="48371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Style — 내 가방을 MCM 전성기 룩으로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0104120" y="48463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051560" y="5303520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325880" y="54406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2514600" y="544982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아무것도 안 함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029200" y="54406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도출 — 누가, 어떤 상황에, 어떤 제품을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10104120" y="544982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Story·Recap·REMADE 구현 완료 · Archive Style은 다음 단계 · 제품 상태 판정에는 AI를 쓰지 않습니다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ASSETS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84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새로 만들지 않았습니다. 이미 있는 것을 썼습니다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1051560" y="2286000"/>
            <a:ext cx="10058400" cy="530352"/>
          </a:xfrm>
          <a:prstGeom prst="roundRect">
            <a:avLst>
              <a:gd name="adj" fmla="val 1551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53312" y="24323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비세토스 마름모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931920" y="24414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바이에른 깃발 = 흰-파란 하늘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23760" y="243230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배경에서 바람에 흐르고, 로그에서 멈춰 쌓인다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1051560" y="2907792"/>
            <a:ext cx="10058400" cy="530352"/>
          </a:xfrm>
          <a:prstGeom prst="roundRect">
            <a:avLst>
              <a:gd name="adj" fmla="val 1551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53312" y="305409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로렐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931920" y="306324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승리 · 명예의 상징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223760" y="305409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정품 인증 배지 · 멤버십 등급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051560" y="3529584"/>
            <a:ext cx="10058400" cy="530352"/>
          </a:xfrm>
          <a:prstGeom prst="roundRect">
            <a:avLst>
              <a:gd name="adj" fmla="val 1551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53312" y="367588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스터드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931920" y="36850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시그니처 하드웨어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223760" y="3675888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수선 부위 핀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51560" y="4151376"/>
            <a:ext cx="10058400" cy="530352"/>
          </a:xfrm>
          <a:prstGeom prst="roundRect">
            <a:avLst>
              <a:gd name="adj" fmla="val 1551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353312" y="42976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1976 뮌헨 · 여행가방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931920" y="430682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창립 품목이 수트케이스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223760" y="429768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스토리북의 서사 근거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051560" y="4773168"/>
            <a:ext cx="10058400" cy="530352"/>
          </a:xfrm>
          <a:prstGeom prst="roundRect">
            <a:avLst>
              <a:gd name="adj" fmla="val 1551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51560" y="4773168"/>
            <a:ext cx="10058400" cy="530352"/>
          </a:xfrm>
          <a:prstGeom prst="roundRect">
            <a:avLst>
              <a:gd name="adj" fmla="val 15517"/>
            </a:avLst>
          </a:prstGeom>
          <a:ln w="15875">
            <a:solidFill>
              <a:srgbClr val="8B5A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353312" y="49194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브랜드 아카이브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931920" y="4928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1988 Dapper Dan의 해체 · 재조합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223760" y="4919472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REMADE — 재해석의 전통을 AI로 계승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1051560" y="5394960"/>
            <a:ext cx="10058400" cy="530352"/>
          </a:xfrm>
          <a:prstGeom prst="roundRect">
            <a:avLst>
              <a:gd name="adj" fmla="val 15517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51560" y="5394960"/>
            <a:ext cx="10058400" cy="530352"/>
          </a:xfrm>
          <a:prstGeom prst="roundRect">
            <a:avLst>
              <a:gd name="adj" fmla="val 15517"/>
            </a:avLst>
          </a:prstGeom>
          <a:ln w="15875">
            <a:solidFill>
              <a:srgbClr val="8B5A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353312" y="55412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NFC + Aura DPP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931920" y="5550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 운영 중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223760" y="5541264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새로 만들지 않는다. 그 위에 얹는다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출처: MCM Heritage · Highsnobiety · MCM Digital Product Passport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18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매장에서 산 박스가 서비스의 시작점입니다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1051560" y="2450592"/>
            <a:ext cx="2340864" cy="2926080"/>
          </a:xfrm>
          <a:prstGeom prst="roundRect">
            <a:avLst>
              <a:gd name="adj" fmla="val 351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289304" y="26883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89304" y="30906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스캔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89304" y="352958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박스 QR·NFC를 찍으면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스크롤에 따라 박스가 열린다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289304" y="49560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02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593592" y="2450592"/>
            <a:ext cx="2340864" cy="2926080"/>
          </a:xfrm>
          <a:prstGeom prst="roundRect">
            <a:avLst>
              <a:gd name="adj" fmla="val 351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31336" y="26883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831336" y="30906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등록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831336" y="352958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타임라인 첫 줄이 자동 생성.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화면을 한 번도 보여주지 않는다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35624" y="2450592"/>
            <a:ext cx="2340864" cy="2926080"/>
          </a:xfrm>
          <a:prstGeom prst="roundRect">
            <a:avLst>
              <a:gd name="adj" fmla="val 351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73368" y="26883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373368" y="30906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기록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373368" y="352958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1장 + 상황 칩 →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문장을 쓴다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373368" y="49560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01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677656" y="2450592"/>
            <a:ext cx="2340864" cy="2926080"/>
          </a:xfrm>
          <a:prstGeom prst="roundRect">
            <a:avLst>
              <a:gd name="adj" fmla="val 351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677656" y="2450592"/>
            <a:ext cx="2340864" cy="2926080"/>
          </a:xfrm>
          <a:prstGeom prst="roundRect">
            <a:avLst>
              <a:gd name="adj" fmla="val 3516"/>
            </a:avLst>
          </a:prstGeom>
          <a:ln w="19050">
            <a:solidFill>
              <a:srgbClr val="C4915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15400" y="26883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8915400" y="309067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수선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915400" y="3529584"/>
            <a:ext cx="1901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실사 위에서 부위를 직접 탭.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자리에 REMADE 시안이 그려진다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915400" y="49560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박스를 여는 속도는 사용자가 정합니다. 스크롤을 멈추면 애니메이션도 멈춥니다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57860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40" kern="0" dirty="0">
                <a:solidFill>
                  <a:srgbClr val="8B5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87552" y="29992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지금, 무엇으로 버는가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93192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1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· 경쟁 · 타이밍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A79E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ASSET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84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기록이 쌓이면, 브랜드가 몰랐던 것이 보입니다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097280" y="1792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브랜드는 무엇이 팔렸는지는 압니다. 언제, 어떤 상황에 쓰이는지는 모릅니다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51560" y="2743200"/>
            <a:ext cx="3108960" cy="1572768"/>
          </a:xfrm>
          <a:prstGeom prst="roundRect">
            <a:avLst>
              <a:gd name="adj" fmla="val 5233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07592" y="29809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상황 분포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07592" y="33467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출근 · 여행 · 전시 · 모임 · 데이트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307592" y="3913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brand_occasion_usage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434840" y="2743200"/>
            <a:ext cx="3108960" cy="1572768"/>
          </a:xfrm>
          <a:prstGeom prst="roundRect">
            <a:avLst>
              <a:gd name="adj" fmla="val 5233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90872" y="29809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수선 부위 히트맵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90872" y="33467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손잡이 · 스트랩 · 지퍼 · 모서리 · 가죽면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690872" y="3913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brand_repair_hotspots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818120" y="2743200"/>
            <a:ext cx="3108960" cy="1572768"/>
          </a:xfrm>
          <a:prstGeom prst="roundRect">
            <a:avLst>
              <a:gd name="adj" fmla="val 5233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74152" y="298094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도시별 사용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074152" y="33467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· 도시 정규화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074152" y="3913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brand_city_usage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51560" y="4553712"/>
            <a:ext cx="10058400" cy="932688"/>
          </a:xfrm>
          <a:prstGeom prst="roundRect">
            <a:avLst>
              <a:gd name="adj" fmla="val 8824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475488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집계는 동의한 사용자만 · 5건 미만 그룹 제외(k-익명성) · 관리자만 조회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371600" y="5065776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동의 없이도 개인 기능은 전부 동작합니다. 코드로 보여드릴 수 있습니다.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16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우리는 DPP를 만들지 않습니다.</a:t>
            </a:r>
            <a:endParaRPr lang="en-US" sz="2400" dirty="0"/>
          </a:p>
          <a:p>
            <a:pPr algn="ctr" indent="0" marL="0">
              <a:lnSpc>
                <a:spcPts val="3216"/>
              </a:lnSpc>
              <a:buNone/>
            </a:pPr>
            <a:r>
              <a:rPr lang="en-US" sz="24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 위에서 사는 사람을 만듭니다.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1051560" y="2670048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53312" y="28072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Aura Consortium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0" y="28163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LVMH 주도 · MCM이 이미 소속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92640" y="28163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051560" y="3273552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53312" y="34107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Arianee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0" y="34198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패스포트 340만+ · 브랜드 50+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92640" y="341985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1051560" y="3877056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53312" y="40142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72000" y="402336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패션 · 텍스타일 DPP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92640" y="40233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1051560" y="4480560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353312" y="46177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Coachtopia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0" y="46268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중심 순환 · 자사 서브브랜드 전용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92640" y="462686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051560" y="5084064"/>
            <a:ext cx="10058400" cy="512064"/>
          </a:xfrm>
          <a:prstGeom prst="roundRect">
            <a:avLst>
              <a:gd name="adj" fmla="val 16071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51560" y="5084064"/>
            <a:ext cx="10058400" cy="512064"/>
          </a:xfrm>
          <a:prstGeom prst="roundRect">
            <a:avLst>
              <a:gd name="adj" fmla="val 16071"/>
            </a:avLst>
          </a:prstGeom>
          <a:ln w="19050">
            <a:solidFill>
              <a:srgbClr val="C4915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353312" y="52212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4572000" y="523036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 위의 경험 · 행동 레이어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9692640" y="5230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경험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051560" y="57790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DPP 사업자가 전부 못 하는 것 — 소비자가 두 번째로 앱을 여는 것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2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가지가 지금 겹칩니다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051560" y="2286000"/>
            <a:ext cx="3108960" cy="1773936"/>
          </a:xfrm>
          <a:prstGeom prst="roundRect">
            <a:avLst>
              <a:gd name="adj" fmla="val 4639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307592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307592" y="28529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브랜드가 준비돼 있다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07592" y="32369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MCM은 NFC + Aura 블록체인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패스포트를 이미 운영 중입니다.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434840" y="2286000"/>
            <a:ext cx="3108960" cy="1773936"/>
          </a:xfrm>
          <a:prstGeom prst="roundRect">
            <a:avLst>
              <a:gd name="adj" fmla="val 4639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690872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690872" y="28529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시장이 증명했다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90872" y="32369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Coach는 같은 접근으로 FY2025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북미 신규 120만 명, 2/3가 Gen Z.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818120" y="2286000"/>
            <a:ext cx="3108960" cy="1773936"/>
          </a:xfrm>
          <a:prstGeom prst="roundRect">
            <a:avLst>
              <a:gd name="adj" fmla="val 4639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74152" y="25054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074152" y="28529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규제가 밀어준다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074152" y="3236976"/>
            <a:ext cx="2688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ESPR 섬유 위임법 2027년 2분기 예상,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시행 2028~29년 전망.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1051560" y="4279392"/>
            <a:ext cx="10058400" cy="1298448"/>
          </a:xfrm>
          <a:prstGeom prst="roundRect">
            <a:avLst>
              <a:gd name="adj" fmla="val 6338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463040" y="451713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“패스포트는 제품의 수명을 지원하고, 보존하고, 연장하기 위한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463040" y="4809744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커뮤니티 내의 향후 서비스와 경험으로의 접근을 연다.”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63040" y="5175504"/>
            <a:ext cx="9509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공식 Digital Product Passport 페이지 · us.mcmworldwide.com/en_US/digital-passport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31520" y="61996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규제 일정은 2026년 8월 기준 · 위임법 2027, 시행 2028~29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52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흠이 값이 되면, 수선이 매출이 됩니다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097280" y="1828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사용자는 무료입니다. 브랜드가 냅니다.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51560" y="2743200"/>
            <a:ext cx="6858000" cy="457200"/>
          </a:xfrm>
          <a:prstGeom prst="roundRect">
            <a:avLst>
              <a:gd name="adj" fmla="val 18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25880" y="28529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구독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3931920" y="286207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브랜드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800600" y="28620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활성 제품 · 사용자 수 기준 월 이용료 + 인사이트 리포트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51560" y="3291840"/>
            <a:ext cx="6858000" cy="457200"/>
          </a:xfrm>
          <a:prstGeom prst="roundRect">
            <a:avLst>
              <a:gd name="adj" fmla="val 18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25880" y="340156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구축비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931920" y="34107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브랜드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00600" y="341071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전용 UI/UX · 제품 DB · 관리자 시스템 초기 도입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051560" y="3840480"/>
            <a:ext cx="6858000" cy="457200"/>
          </a:xfrm>
          <a:prstGeom prst="roundRect">
            <a:avLst>
              <a:gd name="adj" fmla="val 18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25880" y="39502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REMADE · Care 중개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3931920" y="395935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파트너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00600" y="3959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리폼 · 세척 · 수선 예약 연결 수수료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051560" y="4389120"/>
            <a:ext cx="6858000" cy="457200"/>
          </a:xfrm>
          <a:prstGeom prst="roundRect">
            <a:avLst>
              <a:gd name="adj" fmla="val 18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25880" y="449884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프리미엄 콘텐츠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3931920" y="45079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800600" y="450799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고화질 Recap · 기념일 콘텐츠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051560" y="4937760"/>
            <a:ext cx="6858000" cy="457200"/>
          </a:xfrm>
          <a:prstGeom prst="roundRect">
            <a:avLst>
              <a:gd name="adj" fmla="val 18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325880" y="50474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리셀 · 소유권 이전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3931920" y="50566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파트너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800600" y="5056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로드맵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183880" y="2743200"/>
            <a:ext cx="2926080" cy="2743200"/>
          </a:xfrm>
          <a:prstGeom prst="roundRect">
            <a:avLst>
              <a:gd name="adj" fmla="val 3000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58200" y="29626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리셀 가치 역전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458200" y="3328416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보통 리폼하면 진품성이 흔들려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리셀가가 떨어집니다.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브랜드 공식 리폼 + DPP 기록이면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진품성은 유지되고 거기에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세상에 하나뿐이라는 증명이 붙습니다.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458200" y="482803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DPP를 가진 브랜드만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 수 있습니다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home-Desktop-likeGonzi/55b29f25-80a9-40cb-9e3c-00904cc11cc6/scratchpad/bg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66928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31520" y="987552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52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브랜드에서 깊게 검증하고, 확장합니다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1051560" y="2487168"/>
            <a:ext cx="3108960" cy="1920240"/>
          </a:xfrm>
          <a:prstGeom prst="roundRect">
            <a:avLst>
              <a:gd name="adj" fmla="val 428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51560" y="2487168"/>
            <a:ext cx="3108960" cy="1920240"/>
          </a:xfrm>
          <a:prstGeom prst="roundRect">
            <a:avLst>
              <a:gd name="adj" fmla="val 4286"/>
            </a:avLst>
          </a:prstGeom>
          <a:ln w="19050">
            <a:solidFill>
              <a:srgbClr val="C491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07592" y="2724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154680" y="2761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07592" y="3200400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스토리북 + Care/Repair + REMADE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DPP 연동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34840" y="2487168"/>
            <a:ext cx="3108960" cy="1920240"/>
          </a:xfrm>
          <a:prstGeom prst="roundRect">
            <a:avLst>
              <a:gd name="adj" fmla="val 428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90872" y="2724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537960" y="2761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690872" y="3200400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Style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상황 데이터 집계 대시보드 (B2B)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2487168"/>
            <a:ext cx="3108960" cy="1920240"/>
          </a:xfrm>
          <a:prstGeom prst="roundRect">
            <a:avLst>
              <a:gd name="adj" fmla="val 4286"/>
            </a:avLst>
          </a:prstGeom>
          <a:solidFill>
            <a:srgbClr val="1E1A16"/>
          </a:solidFill>
          <a:ln w="9525">
            <a:solidFill>
              <a:srgbClr val="31291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74152" y="2724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921240" y="27614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074152" y="3200400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 브랜드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8C81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리셀 · 소유권 이전 연계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864608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MCM은 이미 인프라를 갖고 있습니다. 저희는 그 위에 경험을 얹습니다.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51560" y="53583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C49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44000" y="62910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35A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MCM LUXURY BOOK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2026-08-20T00:19:35Z</dcterms:created>
  <dcterms:modified xsi:type="dcterms:W3CDTF">2026-08-20T00:19:35Z</dcterms:modified>
</cp:coreProperties>
</file>